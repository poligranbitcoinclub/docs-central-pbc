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Proxima Nova"/>
      <p:regular r:id="rId20"/>
      <p:bold r:id="rId21"/>
      <p:italic r:id="rId22"/>
      <p:boldItalic r:id="rId23"/>
    </p:embeddedFont>
    <p:embeddedFont>
      <p:font typeface="Roboto"/>
      <p:regular r:id="rId24"/>
      <p:bold r:id="rId25"/>
      <p:italic r:id="rId26"/>
      <p:boldItalic r:id="rId27"/>
    </p:embeddedFont>
    <p:embeddedFont>
      <p:font typeface="Proxima Nova Semibold"/>
      <p:regular r:id="rId28"/>
      <p:bold r:id="rId29"/>
      <p:boldItalic r:id="rId30"/>
    </p:embeddedFont>
    <p:embeddedFont>
      <p:font typeface="Barlow"/>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roximaNova-regular.fntdata"/><Relationship Id="rId22" Type="http://schemas.openxmlformats.org/officeDocument/2006/relationships/font" Target="fonts/ProximaNova-italic.fntdata"/><Relationship Id="rId21" Type="http://schemas.openxmlformats.org/officeDocument/2006/relationships/font" Target="fonts/ProximaNova-bold.fntdata"/><Relationship Id="rId24" Type="http://schemas.openxmlformats.org/officeDocument/2006/relationships/font" Target="fonts/Roboto-regular.fntdata"/><Relationship Id="rId23" Type="http://schemas.openxmlformats.org/officeDocument/2006/relationships/font" Target="fonts/ProximaNova-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ProximaNovaSemibold-regular.fntdata"/><Relationship Id="rId27" Type="http://schemas.openxmlformats.org/officeDocument/2006/relationships/font" Target="fonts/Roboto-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roximaNovaSemibold-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Barlow-regular.fntdata"/><Relationship Id="rId30" Type="http://schemas.openxmlformats.org/officeDocument/2006/relationships/font" Target="fonts/ProximaNovaSemibold-boldItalic.fntdata"/><Relationship Id="rId11" Type="http://schemas.openxmlformats.org/officeDocument/2006/relationships/slide" Target="slides/slide7.xml"/><Relationship Id="rId33" Type="http://schemas.openxmlformats.org/officeDocument/2006/relationships/font" Target="fonts/Barlow-italic.fntdata"/><Relationship Id="rId10" Type="http://schemas.openxmlformats.org/officeDocument/2006/relationships/slide" Target="slides/slide6.xml"/><Relationship Id="rId32" Type="http://schemas.openxmlformats.org/officeDocument/2006/relationships/font" Target="fonts/Barlow-bold.fntdata"/><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font" Target="fonts/Barlow-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tc/conference/2024/studen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66d0df8e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66d0df8e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b95bedb7b6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b95bedb7b6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bb0aa8a778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bb0aa8a778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6b02b0e43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6b02b0e43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6b02b0e43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6b02b0e43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6b02b0e43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6b02b0e43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686e27fd3b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686e27fd3b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c53fbdca6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c53fbdca6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c53fbdca6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c53fbdca6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6869403eb0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6869403eb0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https://b.tc/conference/2024/student</a:t>
            </a:r>
            <a:r>
              <a:rPr lang="en"/>
              <a: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c282a304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c282a304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c282a3044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c282a3044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866d0df8e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866d0df8e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6869403eb0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6869403eb0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866d0df8e3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866d0df8e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33" name="Shape 33"/>
        <p:cNvGrpSpPr/>
        <p:nvPr/>
      </p:nvGrpSpPr>
      <p:grpSpPr>
        <a:xfrm>
          <a:off x="0" y="0"/>
          <a:ext cx="0" cy="0"/>
          <a:chOff x="0" y="0"/>
          <a:chExt cx="0" cy="0"/>
        </a:xfrm>
      </p:grpSpPr>
      <p:sp>
        <p:nvSpPr>
          <p:cNvPr id="34" name="Google Shape;34;p6"/>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 name="Google Shape;37;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4" name="Google Shape;44;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 name="Google Shape;47;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2" name="Google Shape;52;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9" name="Google Shape;59;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50B0C"/>
        </a:soli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2" name="Google Shape;62;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63" name="Google Shape;63;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450B0C"/>
        </a:solidFill>
      </p:bgPr>
    </p:bg>
    <p:spTree>
      <p:nvGrpSpPr>
        <p:cNvPr id="64" name="Shape 64"/>
        <p:cNvGrpSpPr/>
        <p:nvPr/>
      </p:nvGrpSpPr>
      <p:grpSpPr>
        <a:xfrm>
          <a:off x="0" y="0"/>
          <a:ext cx="0" cy="0"/>
          <a:chOff x="0" y="0"/>
          <a:chExt cx="0" cy="0"/>
        </a:xfrm>
      </p:grpSpPr>
      <p:sp>
        <p:nvSpPr>
          <p:cNvPr id="65" name="Google Shape;65;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hyperlink" Target="https://www.youtube.com/watch?v=DJeFYsk675k" TargetMode="External"/><Relationship Id="rId4" Type="http://schemas.openxmlformats.org/officeDocument/2006/relationships/image" Target="../media/image9.pn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hyperlink" Target="https://forms.gle/STrYzqvvarv5XGyi8" TargetMode="Externa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1" Type="http://schemas.openxmlformats.org/officeDocument/2006/relationships/hyperlink" Target="https://forms.gle/hYj1Gj3LAqcL7Z5CA" TargetMode="External"/><Relationship Id="rId10" Type="http://schemas.openxmlformats.org/officeDocument/2006/relationships/hyperlink" Target="https://open.spotify.com/playlist/0uFt0RJvfh143lVGQbhWHS?si=95193d92e5094f73&amp;pt=2f012d4e97b62c470b68ca9552905422" TargetMode="External"/><Relationship Id="rId13" Type="http://schemas.openxmlformats.org/officeDocument/2006/relationships/image" Target="../media/image2.png"/><Relationship Id="rId12" Type="http://schemas.openxmlformats.org/officeDocument/2006/relationships/hyperlink" Target="https://forms.gle/xh8JxpqC2XLsb72L7" TargetMode="External"/><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hyperlink" Target="https://join.slack.com/t/cornellbitcoinclub/shared_invite/zt-2bnpz3y01-wOxd_f0NcRRZyRNkzznA5Q" TargetMode="External"/><Relationship Id="rId9" Type="http://schemas.openxmlformats.org/officeDocument/2006/relationships/hyperlink" Target="https://forms.gle/yjLJ1z4EBJXzBLd49" TargetMode="External"/><Relationship Id="rId5" Type="http://schemas.openxmlformats.org/officeDocument/2006/relationships/hyperlink" Target="https://calendar.google.com/calendar/u/0?cid=Y184YjI3M2VlZmYzOTIxMWM1OTA2NGVmOTk5YWRhZDIyNzhjMDg2NDkwMDZhYzRjM2QyZjE4M2E4YzgwMDBhYmE4QGdyb3VwLmNhbGVuZGFyLmdvb2dsZS5jb20" TargetMode="External"/><Relationship Id="rId6" Type="http://schemas.openxmlformats.org/officeDocument/2006/relationships/hyperlink" Target="https://forms.gle/R3wBeLyNpq9vbeXn9" TargetMode="External"/><Relationship Id="rId7" Type="http://schemas.openxmlformats.org/officeDocument/2006/relationships/hyperlink" Target="https://forms.gle/ZwUKC8V61m9v6SWcA" TargetMode="External"/><Relationship Id="rId8" Type="http://schemas.openxmlformats.org/officeDocument/2006/relationships/hyperlink" Target="https://forms.gle/9HEnoXqodNdaPd7W8"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69" name="Shape 69"/>
        <p:cNvGrpSpPr/>
        <p:nvPr/>
      </p:nvGrpSpPr>
      <p:grpSpPr>
        <a:xfrm>
          <a:off x="0" y="0"/>
          <a:ext cx="0" cy="0"/>
          <a:chOff x="0" y="0"/>
          <a:chExt cx="0" cy="0"/>
        </a:xfrm>
      </p:grpSpPr>
      <p:sp>
        <p:nvSpPr>
          <p:cNvPr id="70" name="Google Shape;70;p13"/>
          <p:cNvSpPr txBox="1"/>
          <p:nvPr/>
        </p:nvSpPr>
        <p:spPr>
          <a:xfrm>
            <a:off x="787925" y="3471700"/>
            <a:ext cx="39333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#8: April 11, 2024</a:t>
            </a:r>
            <a:endParaRPr sz="1600">
              <a:solidFill>
                <a:schemeClr val="lt1"/>
              </a:solidFill>
              <a:latin typeface="Proxima Nova Semibold"/>
              <a:ea typeface="Proxima Nova Semibold"/>
              <a:cs typeface="Proxima Nova Semibold"/>
              <a:sym typeface="Proxima Nova Semibold"/>
            </a:endParaRPr>
          </a:p>
        </p:txBody>
      </p:sp>
      <p:sp>
        <p:nvSpPr>
          <p:cNvPr id="71" name="Google Shape;71;p1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a:t>
            </a:r>
            <a:r>
              <a:rPr b="1" lang="en" sz="6000">
                <a:solidFill>
                  <a:schemeClr val="lt1"/>
                </a:solidFill>
                <a:latin typeface="Proxima Nova"/>
                <a:ea typeface="Proxima Nova"/>
                <a:cs typeface="Proxima Nova"/>
                <a:sym typeface="Proxima Nova"/>
              </a:rPr>
              <a:t> Club</a:t>
            </a:r>
            <a:endParaRPr b="1" sz="6000">
              <a:solidFill>
                <a:schemeClr val="lt1"/>
              </a:solidFill>
              <a:latin typeface="Proxima Nova"/>
              <a:ea typeface="Proxima Nova"/>
              <a:cs typeface="Proxima Nova"/>
              <a:sym typeface="Proxima Nova"/>
            </a:endParaRPr>
          </a:p>
        </p:txBody>
      </p:sp>
      <p:pic>
        <p:nvPicPr>
          <p:cNvPr id="72" name="Google Shape;72;p1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Disclosure</a:t>
            </a:r>
            <a:endParaRPr/>
          </a:p>
        </p:txBody>
      </p:sp>
      <p:sp>
        <p:nvSpPr>
          <p:cNvPr id="78" name="Google Shape;78;p14"/>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solidFill>
                  <a:schemeClr val="lt1"/>
                </a:solidFill>
                <a:latin typeface="Proxima Nova"/>
                <a:ea typeface="Proxima Nova"/>
                <a:cs typeface="Proxima Nova"/>
                <a:sym typeface="Proxima Nova"/>
              </a:rPr>
              <a:t>The Cornell Bitcoin Club is an undergraduate student club. The Club’s website and all published and or related materials and audio and visual recordings are not legal, investment, or accounting advice. They are for informational purposes. If any service providers are acknowledged or highlighted, it is for discussion purposes and should not be construed as an endorsement of their services.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82" name="Shape 82"/>
        <p:cNvGrpSpPr/>
        <p:nvPr/>
      </p:nvGrpSpPr>
      <p:grpSpPr>
        <a:xfrm>
          <a:off x="0" y="0"/>
          <a:ext cx="0" cy="0"/>
          <a:chOff x="0" y="0"/>
          <a:chExt cx="0" cy="0"/>
        </a:xfrm>
      </p:grpSpPr>
      <p:sp>
        <p:nvSpPr>
          <p:cNvPr id="83" name="Google Shape;83;p15"/>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p>
            <a:pPr indent="0" lvl="0" marL="0" rtl="0" algn="l">
              <a:spcBef>
                <a:spcPts val="0"/>
              </a:spcBef>
              <a:spcAft>
                <a:spcPts val="0"/>
              </a:spcAft>
              <a:buNone/>
            </a:pPr>
            <a:r>
              <a:rPr b="1" lang="en"/>
              <a:t>Schedule</a:t>
            </a:r>
            <a:endParaRPr b="1"/>
          </a:p>
        </p:txBody>
      </p:sp>
      <p:sp>
        <p:nvSpPr>
          <p:cNvPr id="84" name="Google Shape;84;p15"/>
          <p:cNvSpPr txBox="1"/>
          <p:nvPr/>
        </p:nvSpPr>
        <p:spPr>
          <a:xfrm>
            <a:off x="430300" y="876300"/>
            <a:ext cx="7875300" cy="387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Lesson: </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b="1" lang="en">
                <a:solidFill>
                  <a:schemeClr val="lt1"/>
                </a:solidFill>
                <a:latin typeface="Barlow"/>
                <a:ea typeface="Barlow"/>
                <a:cs typeface="Barlow"/>
                <a:sym typeface="Barlow"/>
              </a:rPr>
              <a:t>Guest Speaker: Elizabeth Stark, CEO and Co-Founder of Lightning Labs</a:t>
            </a:r>
            <a:endParaRPr b="1">
              <a:solidFill>
                <a:schemeClr val="lt1"/>
              </a:solidFill>
              <a:latin typeface="Barlow"/>
              <a:ea typeface="Barlow"/>
              <a:cs typeface="Barlow"/>
              <a:sym typeface="Barlow"/>
            </a:endParaRPr>
          </a:p>
          <a:p>
            <a:pPr indent="-317500" lvl="2" marL="13716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Fireside</a:t>
            </a:r>
            <a:endParaRPr>
              <a:solidFill>
                <a:schemeClr val="lt1"/>
              </a:solidFill>
              <a:latin typeface="Barlow"/>
              <a:ea typeface="Barlow"/>
              <a:cs typeface="Barlow"/>
              <a:sym typeface="Barlow"/>
            </a:endParaRPr>
          </a:p>
          <a:p>
            <a:pPr indent="-317500" lvl="2" marL="13716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Q&amp;A</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News Update</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Important Information &amp; Tasks</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Announcements</a:t>
            </a:r>
            <a:endParaRPr>
              <a:solidFill>
                <a:schemeClr val="lt1"/>
              </a:solidFill>
              <a:latin typeface="Barlow"/>
              <a:ea typeface="Barlow"/>
              <a:cs typeface="Barlow"/>
              <a:sym typeface="Barlo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Lesson #8</a:t>
            </a:r>
            <a:endParaRPr/>
          </a:p>
          <a:p>
            <a:pPr indent="0" lvl="0" marL="0" rtl="0" algn="l">
              <a:spcBef>
                <a:spcPts val="0"/>
              </a:spcBef>
              <a:spcAft>
                <a:spcPts val="0"/>
              </a:spcAft>
              <a:buNone/>
            </a:pPr>
            <a:r>
              <a:t/>
            </a:r>
            <a:endParaRPr sz="2000"/>
          </a:p>
        </p:txBody>
      </p:sp>
      <p:pic>
        <p:nvPicPr>
          <p:cNvPr id="90" name="Google Shape;90;p16"/>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7"/>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96" name="Google Shape;96;p17"/>
          <p:cNvPicPr preferRelativeResize="0"/>
          <p:nvPr/>
        </p:nvPicPr>
        <p:blipFill>
          <a:blip r:embed="rId4">
            <a:alphaModFix/>
          </a:blip>
          <a:stretch>
            <a:fillRect/>
          </a:stretch>
        </p:blipFill>
        <p:spPr>
          <a:xfrm>
            <a:off x="2349408" y="152400"/>
            <a:ext cx="4838700"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sz="2000"/>
          </a:p>
        </p:txBody>
      </p:sp>
      <p:pic>
        <p:nvPicPr>
          <p:cNvPr id="102" name="Google Shape;102;p18"/>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Announcements</a:t>
            </a:r>
            <a:endParaRPr/>
          </a:p>
        </p:txBody>
      </p:sp>
      <p:pic>
        <p:nvPicPr>
          <p:cNvPr id="108" name="Google Shape;108;p19"/>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Logistics</a:t>
            </a:r>
            <a:endParaRPr/>
          </a:p>
        </p:txBody>
      </p:sp>
      <p:sp>
        <p:nvSpPr>
          <p:cNvPr id="114" name="Google Shape;114;p20"/>
          <p:cNvSpPr txBox="1"/>
          <p:nvPr/>
        </p:nvSpPr>
        <p:spPr>
          <a:xfrm>
            <a:off x="371150" y="1000075"/>
            <a:ext cx="8421900" cy="37857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Added everyone to Slack and Campus Groups</a:t>
            </a:r>
            <a:endParaRPr sz="1500">
              <a:solidFill>
                <a:schemeClr val="lt1"/>
              </a:solidFill>
              <a:latin typeface="Proxima Nova"/>
              <a:ea typeface="Proxima Nova"/>
              <a:cs typeface="Proxima Nova"/>
              <a:sym typeface="Proxima Nova"/>
            </a:endParaRPr>
          </a:p>
          <a:p>
            <a:pPr indent="-323850" lvl="1" marL="9144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All events and emails will be sent through Campus Groups</a:t>
            </a:r>
            <a:endParaRPr sz="1500">
              <a:solidFill>
                <a:schemeClr val="lt1"/>
              </a:solidFill>
              <a:latin typeface="Proxima Nova"/>
              <a:ea typeface="Proxima Nova"/>
              <a:cs typeface="Proxima Nova"/>
              <a:sym typeface="Proxima Nova"/>
            </a:endParaRPr>
          </a:p>
          <a:p>
            <a:pPr indent="-323850" lvl="1" marL="9144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Will send updates via slack &amp; text notification through CG (if I can figure it out haha)</a:t>
            </a:r>
            <a:endParaRPr sz="1500">
              <a:solidFill>
                <a:schemeClr val="lt1"/>
              </a:solidFill>
              <a:latin typeface="Proxima Nova"/>
              <a:ea typeface="Proxima Nova"/>
              <a:cs typeface="Proxima Nova"/>
              <a:sym typeface="Proxima Nova"/>
            </a:endParaRPr>
          </a:p>
          <a:p>
            <a:pPr indent="0" lvl="0" marL="91440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323850" lvl="0" marL="4572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Schedule for rest of the semester: </a:t>
            </a:r>
            <a:endParaRPr sz="1500">
              <a:solidFill>
                <a:schemeClr val="lt1"/>
              </a:solidFill>
              <a:latin typeface="Proxima Nova"/>
              <a:ea typeface="Proxima Nova"/>
              <a:cs typeface="Proxima Nova"/>
              <a:sym typeface="Proxima Nova"/>
            </a:endParaRPr>
          </a:p>
          <a:p>
            <a:pPr indent="0" lvl="0" marL="457200" rtl="0" algn="l">
              <a:spcBef>
                <a:spcPts val="0"/>
              </a:spcBef>
              <a:spcAft>
                <a:spcPts val="0"/>
              </a:spcAft>
              <a:buNone/>
            </a:pPr>
            <a:r>
              <a:t/>
            </a:r>
            <a:endParaRPr sz="1500">
              <a:solidFill>
                <a:schemeClr val="lt1"/>
              </a:solidFill>
              <a:latin typeface="Proxima Nova"/>
              <a:ea typeface="Proxima Nova"/>
              <a:cs typeface="Proxima Nova"/>
              <a:sym typeface="Proxima Nova"/>
            </a:endParaRPr>
          </a:p>
        </p:txBody>
      </p:sp>
      <p:pic>
        <p:nvPicPr>
          <p:cNvPr id="115" name="Google Shape;115;p20"/>
          <p:cNvPicPr preferRelativeResize="0"/>
          <p:nvPr/>
        </p:nvPicPr>
        <p:blipFill>
          <a:blip r:embed="rId3">
            <a:alphaModFix/>
          </a:blip>
          <a:stretch>
            <a:fillRect/>
          </a:stretch>
        </p:blipFill>
        <p:spPr>
          <a:xfrm>
            <a:off x="1763025" y="2316750"/>
            <a:ext cx="6050825" cy="26819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21"/>
          <p:cNvPicPr preferRelativeResize="0"/>
          <p:nvPr/>
        </p:nvPicPr>
        <p:blipFill>
          <a:blip r:embed="rId3">
            <a:alphaModFix/>
          </a:blip>
          <a:stretch>
            <a:fillRect/>
          </a:stretch>
        </p:blipFill>
        <p:spPr>
          <a:xfrm>
            <a:off x="782825" y="297825"/>
            <a:ext cx="7701274" cy="4335549"/>
          </a:xfrm>
          <a:prstGeom prst="rect">
            <a:avLst/>
          </a:prstGeom>
          <a:noFill/>
          <a:ln>
            <a:noFill/>
          </a:ln>
        </p:spPr>
      </p:pic>
      <p:pic>
        <p:nvPicPr>
          <p:cNvPr id="121" name="Google Shape;121;p21"/>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2"/>
          <p:cNvPicPr preferRelativeResize="0"/>
          <p:nvPr/>
        </p:nvPicPr>
        <p:blipFill>
          <a:blip r:embed="rId3">
            <a:alphaModFix/>
          </a:blip>
          <a:stretch>
            <a:fillRect/>
          </a:stretch>
        </p:blipFill>
        <p:spPr>
          <a:xfrm>
            <a:off x="1124475" y="804225"/>
            <a:ext cx="6734700" cy="3535049"/>
          </a:xfrm>
          <a:prstGeom prst="rect">
            <a:avLst/>
          </a:prstGeom>
          <a:noFill/>
          <a:ln>
            <a:noFill/>
          </a:ln>
        </p:spPr>
      </p:pic>
      <p:pic>
        <p:nvPicPr>
          <p:cNvPr id="127" name="Google Shape;127;p22"/>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Bitcoin Policy Institute Summit: </a:t>
            </a:r>
            <a:r>
              <a:rPr lang="en" sz="1500" u="sng">
                <a:hlinkClick r:id="rId3"/>
              </a:rPr>
              <a:t>Livestream Link</a:t>
            </a:r>
            <a:endParaRPr sz="1500"/>
          </a:p>
        </p:txBody>
      </p:sp>
      <p:pic>
        <p:nvPicPr>
          <p:cNvPr id="133" name="Google Shape;133;p23"/>
          <p:cNvPicPr preferRelativeResize="0"/>
          <p:nvPr/>
        </p:nvPicPr>
        <p:blipFill>
          <a:blip r:embed="rId4">
            <a:alphaModFix/>
          </a:blip>
          <a:stretch>
            <a:fillRect/>
          </a:stretch>
        </p:blipFill>
        <p:spPr>
          <a:xfrm>
            <a:off x="244675" y="1220475"/>
            <a:ext cx="3955123" cy="2966350"/>
          </a:xfrm>
          <a:prstGeom prst="rect">
            <a:avLst/>
          </a:prstGeom>
          <a:noFill/>
          <a:ln>
            <a:noFill/>
          </a:ln>
        </p:spPr>
      </p:pic>
      <p:pic>
        <p:nvPicPr>
          <p:cNvPr id="134" name="Google Shape;134;p23"/>
          <p:cNvPicPr preferRelativeResize="0"/>
          <p:nvPr/>
        </p:nvPicPr>
        <p:blipFill>
          <a:blip r:embed="rId5">
            <a:alphaModFix/>
          </a:blip>
          <a:stretch>
            <a:fillRect/>
          </a:stretch>
        </p:blipFill>
        <p:spPr>
          <a:xfrm>
            <a:off x="4352198" y="1412875"/>
            <a:ext cx="4639405" cy="25815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Field Research Opportunity: </a:t>
            </a:r>
            <a:r>
              <a:rPr lang="en" sz="1500" u="sng">
                <a:hlinkClick r:id="rId3"/>
              </a:rPr>
              <a:t>https://forms.gle/STrYzqvvarv5XGyi8</a:t>
            </a:r>
            <a:r>
              <a:rPr lang="en" sz="1500"/>
              <a:t>  </a:t>
            </a:r>
            <a:endParaRPr sz="1500"/>
          </a:p>
        </p:txBody>
      </p:sp>
      <p:pic>
        <p:nvPicPr>
          <p:cNvPr id="140" name="Google Shape;140;p24"/>
          <p:cNvPicPr preferRelativeResize="0"/>
          <p:nvPr/>
        </p:nvPicPr>
        <p:blipFill>
          <a:blip r:embed="rId4">
            <a:alphaModFix/>
          </a:blip>
          <a:stretch>
            <a:fillRect/>
          </a:stretch>
        </p:blipFill>
        <p:spPr>
          <a:xfrm>
            <a:off x="2993663" y="802500"/>
            <a:ext cx="3384382" cy="4219650"/>
          </a:xfrm>
          <a:prstGeom prst="rect">
            <a:avLst/>
          </a:prstGeom>
          <a:noFill/>
          <a:ln>
            <a:noFill/>
          </a:ln>
        </p:spPr>
      </p:pic>
      <p:sp>
        <p:nvSpPr>
          <p:cNvPr id="141" name="Google Shape;141;p24"/>
          <p:cNvSpPr/>
          <p:nvPr/>
        </p:nvSpPr>
        <p:spPr>
          <a:xfrm>
            <a:off x="3212900" y="1468650"/>
            <a:ext cx="672600" cy="13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42" name="Google Shape;142;p24"/>
          <p:cNvSpPr/>
          <p:nvPr/>
        </p:nvSpPr>
        <p:spPr>
          <a:xfrm>
            <a:off x="3668250" y="2314450"/>
            <a:ext cx="548400" cy="13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Important Information &amp; Tasks </a:t>
            </a:r>
            <a:endParaRPr sz="1983"/>
          </a:p>
        </p:txBody>
      </p:sp>
      <p:pic>
        <p:nvPicPr>
          <p:cNvPr id="148" name="Google Shape;148;p25"/>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p:nvPr/>
        </p:nvSpPr>
        <p:spPr>
          <a:xfrm>
            <a:off x="5749400" y="1146450"/>
            <a:ext cx="2912700" cy="2850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154" name="Google Shape;154;p26"/>
          <p:cNvPicPr preferRelativeResize="0"/>
          <p:nvPr/>
        </p:nvPicPr>
        <p:blipFill>
          <a:blip r:embed="rId3">
            <a:alphaModFix/>
          </a:blip>
          <a:stretch>
            <a:fillRect/>
          </a:stretch>
        </p:blipFill>
        <p:spPr>
          <a:xfrm>
            <a:off x="5889263" y="1255263"/>
            <a:ext cx="2632975" cy="2632975"/>
          </a:xfrm>
          <a:prstGeom prst="rect">
            <a:avLst/>
          </a:prstGeom>
          <a:noFill/>
          <a:ln>
            <a:noFill/>
          </a:ln>
        </p:spPr>
      </p:pic>
      <p:sp>
        <p:nvSpPr>
          <p:cNvPr id="155" name="Google Shape;155;p26"/>
          <p:cNvSpPr txBox="1"/>
          <p:nvPr>
            <p:ph idx="4294967295" type="body"/>
          </p:nvPr>
        </p:nvSpPr>
        <p:spPr>
          <a:xfrm>
            <a:off x="620213" y="418813"/>
            <a:ext cx="5067600" cy="43059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018"/>
              <a:buNone/>
            </a:pPr>
            <a:r>
              <a:rPr b="1" lang="en" sz="1288">
                <a:solidFill>
                  <a:schemeClr val="lt1"/>
                </a:solidFill>
              </a:rPr>
              <a:t>Join: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u="sng">
                <a:solidFill>
                  <a:schemeClr val="lt1"/>
                </a:solidFill>
                <a:hlinkClick r:id="rId4">
                  <a:extLst>
                    <a:ext uri="{A12FA001-AC4F-418D-AE19-62706E023703}">
                      <ahyp:hlinkClr val="tx"/>
                    </a:ext>
                  </a:extLst>
                </a:hlinkClick>
              </a:rPr>
              <a:t>Slack</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u="sng">
                <a:solidFill>
                  <a:schemeClr val="lt1"/>
                </a:solidFill>
                <a:hlinkClick r:id="rId5">
                  <a:extLst>
                    <a:ext uri="{A12FA001-AC4F-418D-AE19-62706E023703}">
                      <ahyp:hlinkClr val="tx"/>
                    </a:ext>
                  </a:extLst>
                </a:hlinkClick>
              </a:rPr>
              <a:t>Gcal</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Twitter (best Bitcoin news source)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Put @CornellBitcoin in your bio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Add your handle </a:t>
            </a:r>
            <a:r>
              <a:rPr lang="en" sz="1288" u="sng">
                <a:solidFill>
                  <a:srgbClr val="0E101A"/>
                </a:solidFill>
                <a:highlight>
                  <a:schemeClr val="lt1"/>
                </a:highlight>
                <a:hlinkClick r:id="rId6">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Forms:</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Review the Constitution &amp; sign </a:t>
            </a:r>
            <a:r>
              <a:rPr lang="en" sz="1288" u="sng">
                <a:solidFill>
                  <a:schemeClr val="hlink"/>
                </a:solidFill>
                <a:highlight>
                  <a:schemeClr val="lt1"/>
                </a:highlight>
                <a:hlinkClick r:id="rId7"/>
              </a:rPr>
              <a:t>here</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Fill out interest joining form </a:t>
            </a:r>
            <a:r>
              <a:rPr lang="en" sz="1288" u="sng">
                <a:solidFill>
                  <a:srgbClr val="0E101A"/>
                </a:solidFill>
                <a:highlight>
                  <a:schemeClr val="lt1"/>
                </a:highlight>
                <a:hlinkClick r:id="rId8">
                  <a:extLst>
                    <a:ext uri="{A12FA001-AC4F-418D-AE19-62706E023703}">
                      <ahyp:hlinkClr val="tx"/>
                    </a:ext>
                  </a:extLst>
                </a:hlinkClick>
              </a:rPr>
              <a:t>here</a:t>
            </a:r>
            <a:r>
              <a:rPr lang="en" sz="1288">
                <a:solidFill>
                  <a:schemeClr val="lt1"/>
                </a:solidFill>
              </a:rPr>
              <a:t> (if haven’t already)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Suggest topics </a:t>
            </a:r>
            <a:r>
              <a:rPr lang="en" sz="1288" u="sng">
                <a:solidFill>
                  <a:srgbClr val="0E101A"/>
                </a:solidFill>
                <a:highlight>
                  <a:schemeClr val="lt1"/>
                </a:highlight>
                <a:hlinkClick r:id="rId9">
                  <a:extLst>
                    <a:ext uri="{A12FA001-AC4F-418D-AE19-62706E023703}">
                      <ahyp:hlinkClr val="tx"/>
                    </a:ext>
                  </a:extLst>
                </a:hlinkClick>
              </a:rPr>
              <a:t>here</a:t>
            </a:r>
            <a:r>
              <a:rPr lang="en" sz="1288">
                <a:solidFill>
                  <a:srgbClr val="0E101A"/>
                </a:solidFill>
                <a:highlight>
                  <a:schemeClr val="lt1"/>
                </a:highlight>
              </a:rPr>
              <a:t> </a:t>
            </a:r>
            <a:endParaRPr b="1" sz="1288">
              <a:solidFill>
                <a:srgbClr val="0E101A"/>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Club playlist: add favorite songs </a:t>
            </a:r>
            <a:r>
              <a:rPr lang="en" sz="1288" u="sng">
                <a:solidFill>
                  <a:srgbClr val="000000"/>
                </a:solidFill>
                <a:highlight>
                  <a:schemeClr val="lt1"/>
                </a:highlight>
                <a:hlinkClick r:id="rId10">
                  <a:extLst>
                    <a:ext uri="{A12FA001-AC4F-418D-AE19-62706E023703}">
                      <ahyp:hlinkClr val="tx"/>
                    </a:ext>
                  </a:extLst>
                </a:hlinkClick>
              </a:rPr>
              <a:t>here</a:t>
            </a:r>
            <a:r>
              <a:rPr lang="en" sz="1288">
                <a:solidFill>
                  <a:srgbClr val="000000"/>
                </a:solidFill>
                <a:highlight>
                  <a:schemeClr val="lt1"/>
                </a:highlight>
              </a:rPr>
              <a:t> </a:t>
            </a:r>
            <a:endParaRPr sz="1288">
              <a:solidFill>
                <a:srgbClr val="000000"/>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Add favorite snacks </a:t>
            </a:r>
            <a:r>
              <a:rPr lang="en" sz="1288" u="sng">
                <a:solidFill>
                  <a:srgbClr val="0E101A"/>
                </a:solidFill>
                <a:highlight>
                  <a:schemeClr val="lt1"/>
                </a:highlight>
                <a:hlinkClick r:id="rId11">
                  <a:extLst>
                    <a:ext uri="{A12FA001-AC4F-418D-AE19-62706E023703}">
                      <ahyp:hlinkClr val="tx"/>
                    </a:ext>
                  </a:extLst>
                </a:hlinkClick>
              </a:rPr>
              <a:t>here</a:t>
            </a:r>
            <a:r>
              <a:rPr lang="en" sz="1288">
                <a:solidFill>
                  <a:schemeClr val="lt1"/>
                </a:solidFill>
              </a:rPr>
              <a:t>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Resume Book </a:t>
            </a:r>
            <a:r>
              <a:rPr lang="en" sz="1288" u="sng">
                <a:solidFill>
                  <a:srgbClr val="0E101A"/>
                </a:solidFill>
                <a:highlight>
                  <a:schemeClr val="lt1"/>
                </a:highlight>
                <a:hlinkClick r:id="rId12">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Follow: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@CornellBitcoin on Twitter</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@CornellBitcoinClub on Instagram</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 Bitcoin Club on LinkedIn</a:t>
            </a:r>
            <a:endParaRPr sz="1288">
              <a:solidFill>
                <a:schemeClr val="lt1"/>
              </a:solidFill>
            </a:endParaRPr>
          </a:p>
        </p:txBody>
      </p:sp>
      <p:pic>
        <p:nvPicPr>
          <p:cNvPr id="156" name="Google Shape;156;p26"/>
          <p:cNvPicPr preferRelativeResize="0"/>
          <p:nvPr/>
        </p:nvPicPr>
        <p:blipFill>
          <a:blip r:embed="rId1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0" name="Shape 160"/>
        <p:cNvGrpSpPr/>
        <p:nvPr/>
      </p:nvGrpSpPr>
      <p:grpSpPr>
        <a:xfrm>
          <a:off x="0" y="0"/>
          <a:ext cx="0" cy="0"/>
          <a:chOff x="0" y="0"/>
          <a:chExt cx="0" cy="0"/>
        </a:xfrm>
      </p:grpSpPr>
      <p:sp>
        <p:nvSpPr>
          <p:cNvPr id="161" name="Google Shape;161;p27"/>
          <p:cNvSpPr txBox="1"/>
          <p:nvPr>
            <p:ph type="title"/>
          </p:nvPr>
        </p:nvSpPr>
        <p:spPr>
          <a:xfrm>
            <a:off x="460950" y="1590000"/>
            <a:ext cx="8222100" cy="196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t>Thank You</a:t>
            </a:r>
            <a:endParaRPr b="1" sz="6000">
              <a:solidFill>
                <a:schemeClr val="lt1"/>
              </a:solidFill>
            </a:endParaRPr>
          </a:p>
        </p:txBody>
      </p:sp>
      <p:pic>
        <p:nvPicPr>
          <p:cNvPr id="162" name="Google Shape;162;p27"/>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