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5143500" cx="9144000"/>
  <p:notesSz cx="6858000" cy="9144000"/>
  <p:embeddedFontLst>
    <p:embeddedFont>
      <p:font typeface="Proxima Nova"/>
      <p:regular r:id="rId23"/>
      <p:bold r:id="rId24"/>
      <p:italic r:id="rId25"/>
      <p:boldItalic r:id="rId26"/>
    </p:embeddedFont>
    <p:embeddedFont>
      <p:font typeface="Roboto"/>
      <p:regular r:id="rId27"/>
      <p:bold r:id="rId28"/>
      <p:italic r:id="rId29"/>
      <p:boldItalic r:id="rId30"/>
    </p:embeddedFont>
    <p:embeddedFont>
      <p:font typeface="Proxima Nova Semibold"/>
      <p:regular r:id="rId31"/>
      <p:bold r:id="rId32"/>
      <p:boldItalic r:id="rId33"/>
    </p:embeddedFont>
    <p:embeddedFont>
      <p:font typeface="Barlow"/>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ProximaNova-bold.fntdata"/><Relationship Id="rId23" Type="http://schemas.openxmlformats.org/officeDocument/2006/relationships/font" Target="fonts/ProximaNova-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roximaNova-boldItalic.fntdata"/><Relationship Id="rId25" Type="http://schemas.openxmlformats.org/officeDocument/2006/relationships/font" Target="fonts/ProximaNova-italic.fntdata"/><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ProximaNovaSemibold-regular.fntdata"/><Relationship Id="rId30" Type="http://schemas.openxmlformats.org/officeDocument/2006/relationships/font" Target="fonts/Roboto-boldItalic.fntdata"/><Relationship Id="rId11" Type="http://schemas.openxmlformats.org/officeDocument/2006/relationships/slide" Target="slides/slide7.xml"/><Relationship Id="rId33" Type="http://schemas.openxmlformats.org/officeDocument/2006/relationships/font" Target="fonts/ProximaNovaSemibold-boldItalic.fntdata"/><Relationship Id="rId10" Type="http://schemas.openxmlformats.org/officeDocument/2006/relationships/slide" Target="slides/slide6.xml"/><Relationship Id="rId32" Type="http://schemas.openxmlformats.org/officeDocument/2006/relationships/font" Target="fonts/ProximaNovaSemibold-bold.fntdata"/><Relationship Id="rId13" Type="http://schemas.openxmlformats.org/officeDocument/2006/relationships/slide" Target="slides/slide9.xml"/><Relationship Id="rId35" Type="http://schemas.openxmlformats.org/officeDocument/2006/relationships/font" Target="fonts/Barlow-bold.fntdata"/><Relationship Id="rId12" Type="http://schemas.openxmlformats.org/officeDocument/2006/relationships/slide" Target="slides/slide8.xml"/><Relationship Id="rId34" Type="http://schemas.openxmlformats.org/officeDocument/2006/relationships/font" Target="fonts/Barlow-regular.fntdata"/><Relationship Id="rId15" Type="http://schemas.openxmlformats.org/officeDocument/2006/relationships/slide" Target="slides/slide11.xml"/><Relationship Id="rId37" Type="http://schemas.openxmlformats.org/officeDocument/2006/relationships/font" Target="fonts/Barlow-boldItalic.fntdata"/><Relationship Id="rId14" Type="http://schemas.openxmlformats.org/officeDocument/2006/relationships/slide" Target="slides/slide10.xml"/><Relationship Id="rId36" Type="http://schemas.openxmlformats.org/officeDocument/2006/relationships/font" Target="fonts/Barlow-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intelegraph.com/news/sam-bankman-fried-sentenced-years-prison-hold" TargetMode="External"/><Relationship Id="rId3" Type="http://schemas.openxmlformats.org/officeDocument/2006/relationships/hyperlink" Target="https://www.cnbc.com/2023/11/02/sam-bankman-fried-found-guilty-on-all-seven-criminal-fraud-counts.html#:~:text=Sam%20Bankman-Fried%20found%20guilty%20on%20all%20seven%20criminal%20fraud%20counts,-Published%20Thu%2C%20Nov&amp;text=A%20jury%20has%20found%20Sam,of%20Bankman-Fried's%20inner%20circle"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x.com/BitcoinMagazine/status/1773393983726666197?s=20" TargetMode="External"/><Relationship Id="rId3" Type="http://schemas.openxmlformats.org/officeDocument/2006/relationships/hyperlink" Target="https://x.com/jchervinsky/status/1025008589080080384?s=20"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tc/conference/2024/studen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866d0df8e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866d0df8e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b95bedb7b6_0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b95bedb7b6_0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bb0aa8a778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bb0aa8a778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6b02b0e43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6b02b0e43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6b02b0e43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6b02b0e43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6b02b0e43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6b02b0e43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c74e676a9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c74e676a9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https://cointelegraph.com/news/sam-bankman-fried-sentenced-years-prison-hold</a:t>
            </a:r>
            <a:r>
              <a:rPr lang="en"/>
              <a:t> </a:t>
            </a:r>
            <a:endParaRPr/>
          </a:p>
          <a:p>
            <a:pPr indent="0" lvl="0" marL="0" rtl="0" algn="l">
              <a:spcBef>
                <a:spcPts val="0"/>
              </a:spcBef>
              <a:spcAft>
                <a:spcPts val="0"/>
              </a:spcAft>
              <a:buNone/>
            </a:pPr>
            <a:r>
              <a:rPr lang="en" u="sng">
                <a:solidFill>
                  <a:schemeClr val="hlink"/>
                </a:solidFill>
                <a:hlinkClick r:id="rId3"/>
              </a:rPr>
              <a:t>https://www.cnbc.com/2023/11/02/sam-bankman-fried-found-guilty-on-all-seven-criminal-fraud-counts.html#:~:text=Sam%20Bankman-Fried%20found%20guilty%20on%20all%20seven%20criminal%20fraud%20counts,-Published%20Thu%2C%20Nov&amp;text=A%20jury%20has%20found%20Sam,of%20Bankman-Fried's%20inner%20circle</a:t>
            </a:r>
            <a:r>
              <a:rPr lang="en"/>
              <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c74e676a9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c74e676a9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https://x.com/BitcoinMagazine/status/1773393983726666197?s=20</a:t>
            </a:r>
            <a:endParaRPr/>
          </a:p>
          <a:p>
            <a:pPr indent="0" lvl="0" marL="0" rtl="0" algn="l">
              <a:spcBef>
                <a:spcPts val="0"/>
              </a:spcBef>
              <a:spcAft>
                <a:spcPts val="0"/>
              </a:spcAft>
              <a:buNone/>
            </a:pPr>
            <a:r>
              <a:rPr lang="en" u="sng">
                <a:solidFill>
                  <a:schemeClr val="hlink"/>
                </a:solidFill>
                <a:hlinkClick r:id="rId3"/>
              </a:rPr>
              <a:t>https://x.com/jchervinsky/status/1025008589080080384?s=20</a:t>
            </a:r>
            <a:r>
              <a:rPr lang="en"/>
              <a:t>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c74e676a9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c74e676a9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686e27fd3b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686e27fd3b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c53fbdca6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c53fbdca6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c53fbdca6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c53fbdca6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6869403eb0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6869403eb0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https://b.tc/conference/2024/student</a:t>
            </a:r>
            <a:r>
              <a:rPr lang="en"/>
              <a:t>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c282a304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c282a304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c282a3044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c282a3044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866d0df8e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866d0df8e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6869403eb0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6869403eb0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866d0df8e3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866d0df8e3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Font typeface="Proxima Nova"/>
              <a:buNone/>
              <a:defRPr sz="4800">
                <a:latin typeface="Proxima Nova"/>
                <a:ea typeface="Proxima Nova"/>
                <a:cs typeface="Proxima Nova"/>
                <a:sym typeface="Proxima Nova"/>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Font typeface="Proxima Nova"/>
              <a:buNone/>
              <a:defRPr sz="4200">
                <a:latin typeface="Proxima Nova"/>
                <a:ea typeface="Proxima Nova"/>
                <a:cs typeface="Proxima Nova"/>
                <a:sym typeface="Proxima Nova"/>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Font typeface="Proxima Nova"/>
              <a:buNone/>
              <a:defRPr>
                <a:latin typeface="Proxima Nova"/>
                <a:ea typeface="Proxima Nova"/>
                <a:cs typeface="Proxima Nova"/>
                <a:sym typeface="Proxima Nova"/>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4" name="Google Shape;24;p4"/>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B31B1B"/>
        </a:solidFill>
      </p:bgPr>
    </p:bg>
    <p:spTree>
      <p:nvGrpSpPr>
        <p:cNvPr id="25" name="Shape 25"/>
        <p:cNvGrpSpPr/>
        <p:nvPr/>
      </p:nvGrpSpPr>
      <p:grpSpPr>
        <a:xfrm>
          <a:off x="0" y="0"/>
          <a:ext cx="0" cy="0"/>
          <a:chOff x="0" y="0"/>
          <a:chExt cx="0" cy="0"/>
        </a:xfrm>
      </p:grpSpPr>
      <p:sp>
        <p:nvSpPr>
          <p:cNvPr id="26" name="Google Shape;26;p5"/>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9" name="Google Shape;29;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Font typeface="Arial"/>
              <a:buChar char="●"/>
              <a:defRPr b="1" sz="700">
                <a:latin typeface="Arial"/>
                <a:ea typeface="Arial"/>
                <a:cs typeface="Arial"/>
                <a:sym typeface="Arial"/>
              </a:defRPr>
            </a:lvl1pPr>
            <a:lvl2pPr indent="-317500" lvl="1" marL="914400">
              <a:spcBef>
                <a:spcPts val="0"/>
              </a:spcBef>
              <a:spcAft>
                <a:spcPts val="0"/>
              </a:spcAft>
              <a:buClr>
                <a:srgbClr val="000000"/>
              </a:buClr>
              <a:buSzPts val="1400"/>
              <a:buFont typeface="Arial"/>
              <a:buChar char="○"/>
              <a:defRPr sz="1200"/>
            </a:lvl2pPr>
            <a:lvl3pPr indent="-317500" lvl="2" marL="1371600">
              <a:lnSpc>
                <a:spcPct val="100000"/>
              </a:lnSpc>
              <a:spcBef>
                <a:spcPts val="0"/>
              </a:spcBef>
              <a:spcAft>
                <a:spcPts val="0"/>
              </a:spcAft>
              <a:buClr>
                <a:srgbClr val="000000"/>
              </a:buClr>
              <a:buSzPts val="1400"/>
              <a:buFont typeface="Arial"/>
              <a:buChar char="■"/>
              <a:defRPr sz="700">
                <a:latin typeface="Arial"/>
                <a:ea typeface="Arial"/>
                <a:cs typeface="Arial"/>
                <a:sym typeface="Arial"/>
              </a:defRPr>
            </a:lvl3pPr>
            <a:lvl4pPr indent="-317500" lvl="3" marL="1828800">
              <a:spcBef>
                <a:spcPts val="0"/>
              </a:spcBef>
              <a:spcAft>
                <a:spcPts val="0"/>
              </a:spcAft>
              <a:buClr>
                <a:srgbClr val="000000"/>
              </a:buClr>
              <a:buSzPts val="1400"/>
              <a:buFont typeface="Arial"/>
              <a:buChar char="●"/>
              <a:defRPr sz="1200"/>
            </a:lvl4pPr>
            <a:lvl5pPr indent="-317500" lvl="4" marL="2286000">
              <a:spcBef>
                <a:spcPts val="0"/>
              </a:spcBef>
              <a:spcAft>
                <a:spcPts val="0"/>
              </a:spcAft>
              <a:buClr>
                <a:srgbClr val="000000"/>
              </a:buClr>
              <a:buSzPts val="1400"/>
              <a:buFont typeface="Arial"/>
              <a:buChar char="○"/>
              <a:defRPr sz="1200"/>
            </a:lvl5pPr>
            <a:lvl6pPr indent="-317500" lvl="5" marL="2743200">
              <a:spcBef>
                <a:spcPts val="0"/>
              </a:spcBef>
              <a:spcAft>
                <a:spcPts val="0"/>
              </a:spcAft>
              <a:buClr>
                <a:srgbClr val="000000"/>
              </a:buClr>
              <a:buSzPts val="1400"/>
              <a:buFont typeface="Arial"/>
              <a:buChar char="■"/>
              <a:defRPr sz="1200"/>
            </a:lvl6pPr>
            <a:lvl7pPr indent="-317500" lvl="6" marL="3200400">
              <a:spcBef>
                <a:spcPts val="0"/>
              </a:spcBef>
              <a:spcAft>
                <a:spcPts val="0"/>
              </a:spcAft>
              <a:buClr>
                <a:srgbClr val="000000"/>
              </a:buClr>
              <a:buSzPts val="1400"/>
              <a:buFont typeface="Arial"/>
              <a:buChar char="●"/>
              <a:defRPr sz="1200"/>
            </a:lvl7pPr>
            <a:lvl8pPr indent="-317500" lvl="7" marL="3657600">
              <a:spcBef>
                <a:spcPts val="0"/>
              </a:spcBef>
              <a:spcAft>
                <a:spcPts val="0"/>
              </a:spcAft>
              <a:buClr>
                <a:srgbClr val="000000"/>
              </a:buClr>
              <a:buSzPts val="1400"/>
              <a:buFont typeface="Arial"/>
              <a:buChar char="○"/>
              <a:defRPr sz="1200"/>
            </a:lvl8pPr>
            <a:lvl9pPr indent="-317500" lvl="8" marL="4114800">
              <a:spcBef>
                <a:spcPts val="0"/>
              </a:spcBef>
              <a:spcAft>
                <a:spcPts val="0"/>
              </a:spcAft>
              <a:buClr>
                <a:srgbClr val="000000"/>
              </a:buClr>
              <a:buSzPts val="1400"/>
              <a:buFont typeface="Arial"/>
              <a:buChar char="■"/>
              <a:defRPr sz="1200"/>
            </a:lvl9pPr>
          </a:lstStyle>
          <a:p/>
        </p:txBody>
      </p:sp>
      <p:sp>
        <p:nvSpPr>
          <p:cNvPr id="31" name="Google Shape;31;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2" name="Google Shape;32;p5"/>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B31B1B"/>
        </a:solidFill>
      </p:bgPr>
    </p:bg>
    <p:spTree>
      <p:nvGrpSpPr>
        <p:cNvPr id="33" name="Shape 33"/>
        <p:cNvGrpSpPr/>
        <p:nvPr/>
      </p:nvGrpSpPr>
      <p:grpSpPr>
        <a:xfrm>
          <a:off x="0" y="0"/>
          <a:ext cx="0" cy="0"/>
          <a:chOff x="0" y="0"/>
          <a:chExt cx="0" cy="0"/>
        </a:xfrm>
      </p:grpSpPr>
      <p:sp>
        <p:nvSpPr>
          <p:cNvPr id="34" name="Google Shape;34;p6"/>
          <p:cNvSpPr/>
          <p:nvPr/>
        </p:nvSpPr>
        <p:spPr>
          <a:xfrm flipH="1" rot="10800000">
            <a:off x="0" y="656400"/>
            <a:ext cx="9144000" cy="4487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 name="Google Shape;37;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8" name="Google Shape;38;p6"/>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txBox="1"/>
          <p:nvPr/>
        </p:nvSpPr>
        <p:spPr>
          <a:xfrm flipH="1" rot="10800000">
            <a:off x="3276600" y="25"/>
            <a:ext cx="5867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4" name="Google Shape;44;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000000"/>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7" name="Google Shape;47;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flipH="1">
            <a:off x="0" y="0"/>
            <a:ext cx="4572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52" name="Google Shape;52;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sp>
        <p:nvSpPr>
          <p:cNvPr id="56" name="Google Shape;56;p10"/>
          <p:cNvSpPr txBox="1"/>
          <p:nvPr/>
        </p:nvSpPr>
        <p:spPr>
          <a:xfrm flipH="1" rot="10800000">
            <a:off x="0" y="0"/>
            <a:ext cx="9144000" cy="46959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Clr>
                <a:schemeClr val="lt1"/>
              </a:buClr>
              <a:buSzPts val="1200"/>
              <a:buNone/>
              <a:defRPr sz="1200">
                <a:solidFill>
                  <a:schemeClr val="lt1"/>
                </a:solidFill>
              </a:defRPr>
            </a:lvl1pPr>
          </a:lstStyle>
          <a:p/>
        </p:txBody>
      </p:sp>
      <p:sp>
        <p:nvSpPr>
          <p:cNvPr id="59" name="Google Shape;59;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450B0C"/>
        </a:solidFill>
      </p:bgPr>
    </p:bg>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62" name="Google Shape;62;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63" name="Google Shape;63;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450B0C"/>
        </a:solidFill>
      </p:bgPr>
    </p:bg>
    <p:spTree>
      <p:nvGrpSpPr>
        <p:cNvPr id="64" name="Shape 64"/>
        <p:cNvGrpSpPr/>
        <p:nvPr/>
      </p:nvGrpSpPr>
      <p:grpSpPr>
        <a:xfrm>
          <a:off x="0" y="0"/>
          <a:ext cx="0" cy="0"/>
          <a:chOff x="0" y="0"/>
          <a:chExt cx="0" cy="0"/>
        </a:xfrm>
      </p:grpSpPr>
      <p:sp>
        <p:nvSpPr>
          <p:cNvPr id="65" name="Google Shape;65;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Proxima Nova"/>
              <a:buNone/>
              <a:defRPr sz="3200">
                <a:solidFill>
                  <a:schemeClr val="lt1"/>
                </a:solidFill>
                <a:latin typeface="Proxima Nova"/>
                <a:ea typeface="Proxima Nova"/>
                <a:cs typeface="Proxima Nova"/>
                <a:sym typeface="Proxima Nova"/>
              </a:defRPr>
            </a:lvl1pPr>
            <a:lvl2pPr lvl="1">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2pPr>
            <a:lvl3pPr lvl="2">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3pPr>
            <a:lvl4pPr lvl="3">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4pPr>
            <a:lvl5pPr lvl="4">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5pPr>
            <a:lvl6pPr lvl="5">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6pPr>
            <a:lvl7pPr lvl="6">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7pPr>
            <a:lvl8pPr lvl="7">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8pPr>
            <a:lvl9pPr lvl="8">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Proxima Nova"/>
              <a:buChar char="●"/>
              <a:defRPr sz="1800">
                <a:solidFill>
                  <a:schemeClr val="lt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jp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hyperlink" Target="https://forms.gle/vBfuaiJMkbKjn79CA" TargetMode="Externa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hyperlink" Target="https://forms.gle/STrYzqvvarv5XGyi8" TargetMode="Externa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1" Type="http://schemas.openxmlformats.org/officeDocument/2006/relationships/hyperlink" Target="https://forms.gle/hYj1Gj3LAqcL7Z5CA" TargetMode="External"/><Relationship Id="rId10" Type="http://schemas.openxmlformats.org/officeDocument/2006/relationships/hyperlink" Target="https://open.spotify.com/playlist/0uFt0RJvfh143lVGQbhWHS?si=95193d92e5094f73&amp;pt=2f012d4e97b62c470b68ca9552905422" TargetMode="External"/><Relationship Id="rId13" Type="http://schemas.openxmlformats.org/officeDocument/2006/relationships/image" Target="../media/image4.png"/><Relationship Id="rId12" Type="http://schemas.openxmlformats.org/officeDocument/2006/relationships/hyperlink" Target="https://forms.gle/xh8JxpqC2XLsb72L7" TargetMode="External"/><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hyperlink" Target="https://join.slack.com/t/cornellbitcoinclub/shared_invite/zt-2bnpz3y01-wOxd_f0NcRRZyRNkzznA5Q" TargetMode="External"/><Relationship Id="rId9" Type="http://schemas.openxmlformats.org/officeDocument/2006/relationships/hyperlink" Target="https://forms.gle/yjLJ1z4EBJXzBLd49" TargetMode="External"/><Relationship Id="rId5" Type="http://schemas.openxmlformats.org/officeDocument/2006/relationships/hyperlink" Target="https://calendar.google.com/calendar/u/0?cid=Y184YjI3M2VlZmYzOTIxMWM1OTA2NGVmOTk5YWRhZDIyNzhjMDg2NDkwMDZhYzRjM2QyZjE4M2E4YzgwMDBhYmE4QGdyb3VwLmNhbGVuZGFyLmdvb2dsZS5jb20" TargetMode="External"/><Relationship Id="rId6" Type="http://schemas.openxmlformats.org/officeDocument/2006/relationships/hyperlink" Target="https://forms.gle/R3wBeLyNpq9vbeXn9" TargetMode="External"/><Relationship Id="rId7" Type="http://schemas.openxmlformats.org/officeDocument/2006/relationships/hyperlink" Target="https://forms.gle/ZwUKC8V61m9v6SWcA" TargetMode="External"/><Relationship Id="rId8" Type="http://schemas.openxmlformats.org/officeDocument/2006/relationships/hyperlink" Target="https://forms.gle/9HEnoXqodNdaPd7W8"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69" name="Shape 69"/>
        <p:cNvGrpSpPr/>
        <p:nvPr/>
      </p:nvGrpSpPr>
      <p:grpSpPr>
        <a:xfrm>
          <a:off x="0" y="0"/>
          <a:ext cx="0" cy="0"/>
          <a:chOff x="0" y="0"/>
          <a:chExt cx="0" cy="0"/>
        </a:xfrm>
      </p:grpSpPr>
      <p:sp>
        <p:nvSpPr>
          <p:cNvPr id="70" name="Google Shape;70;p13"/>
          <p:cNvSpPr txBox="1"/>
          <p:nvPr/>
        </p:nvSpPr>
        <p:spPr>
          <a:xfrm>
            <a:off x="787925" y="3471700"/>
            <a:ext cx="3933300" cy="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Proxima Nova Semibold"/>
                <a:ea typeface="Proxima Nova Semibold"/>
                <a:cs typeface="Proxima Nova Semibold"/>
                <a:sym typeface="Proxima Nova Semibold"/>
              </a:rPr>
              <a:t>Meeting #7: March 28, 2024</a:t>
            </a:r>
            <a:endParaRPr sz="1600">
              <a:solidFill>
                <a:schemeClr val="lt1"/>
              </a:solidFill>
              <a:latin typeface="Proxima Nova Semibold"/>
              <a:ea typeface="Proxima Nova Semibold"/>
              <a:cs typeface="Proxima Nova Semibold"/>
              <a:sym typeface="Proxima Nova Semibold"/>
            </a:endParaRPr>
          </a:p>
        </p:txBody>
      </p:sp>
      <p:sp>
        <p:nvSpPr>
          <p:cNvPr id="71" name="Google Shape;71;p13"/>
          <p:cNvSpPr txBox="1"/>
          <p:nvPr/>
        </p:nvSpPr>
        <p:spPr>
          <a:xfrm>
            <a:off x="726625" y="1532200"/>
            <a:ext cx="4893000" cy="19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Cornell</a:t>
            </a:r>
            <a:endParaRPr b="1" sz="6000">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Bitcoin</a:t>
            </a:r>
            <a:r>
              <a:rPr b="1" lang="en" sz="6000">
                <a:solidFill>
                  <a:schemeClr val="lt1"/>
                </a:solidFill>
                <a:latin typeface="Proxima Nova"/>
                <a:ea typeface="Proxima Nova"/>
                <a:cs typeface="Proxima Nova"/>
                <a:sym typeface="Proxima Nova"/>
              </a:rPr>
              <a:t> Club</a:t>
            </a:r>
            <a:endParaRPr b="1" sz="6000">
              <a:solidFill>
                <a:schemeClr val="lt1"/>
              </a:solidFill>
              <a:latin typeface="Proxima Nova"/>
              <a:ea typeface="Proxima Nova"/>
              <a:cs typeface="Proxima Nova"/>
              <a:sym typeface="Proxima Nova"/>
            </a:endParaRPr>
          </a:p>
        </p:txBody>
      </p:sp>
      <p:pic>
        <p:nvPicPr>
          <p:cNvPr id="72" name="Google Shape;72;p13"/>
          <p:cNvPicPr preferRelativeResize="0"/>
          <p:nvPr/>
        </p:nvPicPr>
        <p:blipFill>
          <a:blip r:embed="rId3">
            <a:alphaModFix/>
          </a:blip>
          <a:stretch>
            <a:fillRect/>
          </a:stretch>
        </p:blipFill>
        <p:spPr>
          <a:xfrm>
            <a:off x="5619625" y="1129869"/>
            <a:ext cx="3037974" cy="288376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Disclosure</a:t>
            </a:r>
            <a:endParaRPr/>
          </a:p>
        </p:txBody>
      </p:sp>
      <p:sp>
        <p:nvSpPr>
          <p:cNvPr id="78" name="Google Shape;78;p14"/>
          <p:cNvSpPr txBox="1"/>
          <p:nvPr/>
        </p:nvSpPr>
        <p:spPr>
          <a:xfrm>
            <a:off x="909600" y="1919025"/>
            <a:ext cx="7324800" cy="1908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600">
                <a:solidFill>
                  <a:schemeClr val="lt1"/>
                </a:solidFill>
                <a:latin typeface="Proxima Nova"/>
                <a:ea typeface="Proxima Nova"/>
                <a:cs typeface="Proxima Nova"/>
                <a:sym typeface="Proxima Nova"/>
              </a:rPr>
              <a:t>The Cornell Bitcoin Club is an undergraduate student club. The Club’s website and all published and or related materials and audio and visual recordings are not legal, investment, or accounting advice. They are for informational purposes. If any service providers are acknowledged or highlighted, it is for discussion purposes and should not be construed as an endorsement of their services. </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600">
              <a:solidFill>
                <a:schemeClr val="lt1"/>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82" name="Shape 82"/>
        <p:cNvGrpSpPr/>
        <p:nvPr/>
      </p:nvGrpSpPr>
      <p:grpSpPr>
        <a:xfrm>
          <a:off x="0" y="0"/>
          <a:ext cx="0" cy="0"/>
          <a:chOff x="0" y="0"/>
          <a:chExt cx="0" cy="0"/>
        </a:xfrm>
      </p:grpSpPr>
      <p:sp>
        <p:nvSpPr>
          <p:cNvPr id="83" name="Google Shape;83;p15"/>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p>
            <a:pPr indent="0" lvl="0" marL="0" rtl="0" algn="l">
              <a:spcBef>
                <a:spcPts val="0"/>
              </a:spcBef>
              <a:spcAft>
                <a:spcPts val="0"/>
              </a:spcAft>
              <a:buNone/>
            </a:pPr>
            <a:r>
              <a:rPr b="1" lang="en"/>
              <a:t>Schedule</a:t>
            </a:r>
            <a:endParaRPr b="1"/>
          </a:p>
        </p:txBody>
      </p:sp>
      <p:sp>
        <p:nvSpPr>
          <p:cNvPr id="84" name="Google Shape;84;p15"/>
          <p:cNvSpPr txBox="1"/>
          <p:nvPr/>
        </p:nvSpPr>
        <p:spPr>
          <a:xfrm>
            <a:off x="430300" y="876300"/>
            <a:ext cx="7875300" cy="387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Lesson: </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b="1" lang="en">
                <a:solidFill>
                  <a:schemeClr val="lt1"/>
                </a:solidFill>
                <a:latin typeface="Barlow"/>
                <a:ea typeface="Barlow"/>
                <a:cs typeface="Barlow"/>
                <a:sym typeface="Barlow"/>
              </a:rPr>
              <a:t>Guest Speaker: Bradley Rettler, University of Wyoming &amp; Bitcoin Policy </a:t>
            </a:r>
            <a:r>
              <a:rPr b="1" lang="en">
                <a:solidFill>
                  <a:schemeClr val="lt1"/>
                </a:solidFill>
                <a:latin typeface="Barlow"/>
                <a:ea typeface="Barlow"/>
                <a:cs typeface="Barlow"/>
                <a:sym typeface="Barlow"/>
              </a:rPr>
              <a:t>Institute </a:t>
            </a:r>
            <a:endParaRPr b="1">
              <a:solidFill>
                <a:schemeClr val="lt1"/>
              </a:solidFill>
              <a:latin typeface="Barlow"/>
              <a:ea typeface="Barlow"/>
              <a:cs typeface="Barlow"/>
              <a:sym typeface="Barlow"/>
            </a:endParaRPr>
          </a:p>
          <a:p>
            <a:pPr indent="-317500" lvl="2" marL="13716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Presentation </a:t>
            </a:r>
            <a:endParaRPr>
              <a:solidFill>
                <a:schemeClr val="lt1"/>
              </a:solidFill>
              <a:latin typeface="Barlow"/>
              <a:ea typeface="Barlow"/>
              <a:cs typeface="Barlow"/>
              <a:sym typeface="Barlow"/>
            </a:endParaRPr>
          </a:p>
          <a:p>
            <a:pPr indent="-317500" lvl="2" marL="13716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Q&amp;A</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News Update</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Important Information &amp; Tasks</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Announcements</a:t>
            </a:r>
            <a:endParaRPr>
              <a:solidFill>
                <a:schemeClr val="lt1"/>
              </a:solidFill>
              <a:latin typeface="Barlow"/>
              <a:ea typeface="Barlow"/>
              <a:cs typeface="Barlow"/>
              <a:sym typeface="Barlo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Lesson #7</a:t>
            </a:r>
            <a:endParaRPr/>
          </a:p>
          <a:p>
            <a:pPr indent="0" lvl="0" marL="0" rtl="0" algn="l">
              <a:spcBef>
                <a:spcPts val="0"/>
              </a:spcBef>
              <a:spcAft>
                <a:spcPts val="0"/>
              </a:spcAft>
              <a:buNone/>
            </a:pPr>
            <a:r>
              <a:t/>
            </a:r>
            <a:endParaRPr sz="2000"/>
          </a:p>
        </p:txBody>
      </p:sp>
      <p:pic>
        <p:nvPicPr>
          <p:cNvPr id="90" name="Google Shape;90;p16"/>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7"/>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96" name="Google Shape;96;p17"/>
          <p:cNvPicPr preferRelativeResize="0"/>
          <p:nvPr/>
        </p:nvPicPr>
        <p:blipFill>
          <a:blip r:embed="rId4">
            <a:alphaModFix/>
          </a:blip>
          <a:stretch>
            <a:fillRect/>
          </a:stretch>
        </p:blipFill>
        <p:spPr>
          <a:xfrm>
            <a:off x="2152658" y="152400"/>
            <a:ext cx="4838700" cy="483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sz="2000"/>
          </a:p>
        </p:txBody>
      </p:sp>
      <p:pic>
        <p:nvPicPr>
          <p:cNvPr id="102" name="Google Shape;102;p18"/>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Weekly News Update: Legal</a:t>
            </a:r>
            <a:endParaRPr/>
          </a:p>
        </p:txBody>
      </p:sp>
      <p:pic>
        <p:nvPicPr>
          <p:cNvPr id="108" name="Google Shape;108;p19"/>
          <p:cNvPicPr preferRelativeResize="0"/>
          <p:nvPr/>
        </p:nvPicPr>
        <p:blipFill>
          <a:blip r:embed="rId3">
            <a:alphaModFix/>
          </a:blip>
          <a:stretch>
            <a:fillRect/>
          </a:stretch>
        </p:blipFill>
        <p:spPr>
          <a:xfrm>
            <a:off x="98250" y="1854414"/>
            <a:ext cx="3858899" cy="888950"/>
          </a:xfrm>
          <a:prstGeom prst="rect">
            <a:avLst/>
          </a:prstGeom>
          <a:noFill/>
          <a:ln>
            <a:noFill/>
          </a:ln>
        </p:spPr>
      </p:pic>
      <p:pic>
        <p:nvPicPr>
          <p:cNvPr id="109" name="Google Shape;109;p19"/>
          <p:cNvPicPr preferRelativeResize="0"/>
          <p:nvPr/>
        </p:nvPicPr>
        <p:blipFill>
          <a:blip r:embed="rId4">
            <a:alphaModFix/>
          </a:blip>
          <a:stretch>
            <a:fillRect/>
          </a:stretch>
        </p:blipFill>
        <p:spPr>
          <a:xfrm>
            <a:off x="98250" y="2906775"/>
            <a:ext cx="4902314" cy="800375"/>
          </a:xfrm>
          <a:prstGeom prst="rect">
            <a:avLst/>
          </a:prstGeom>
          <a:noFill/>
          <a:ln>
            <a:noFill/>
          </a:ln>
        </p:spPr>
      </p:pic>
      <p:sp>
        <p:nvSpPr>
          <p:cNvPr id="110" name="Google Shape;110;p19"/>
          <p:cNvSpPr txBox="1"/>
          <p:nvPr/>
        </p:nvSpPr>
        <p:spPr>
          <a:xfrm>
            <a:off x="5140300" y="1017925"/>
            <a:ext cx="3502800" cy="12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Proxima Nova"/>
                <a:ea typeface="Proxima Nova"/>
                <a:cs typeface="Proxima Nova"/>
                <a:sym typeface="Proxima Nova"/>
              </a:rPr>
              <a:t>“SBF was the first person tied to FTX and Alameda Research to face prison time following the collapse of the exchange in November 2022.”</a:t>
            </a:r>
            <a:endParaRPr sz="11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1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100">
                <a:solidFill>
                  <a:schemeClr val="lt1"/>
                </a:solidFill>
                <a:latin typeface="Proxima Nova"/>
                <a:ea typeface="Proxima Nova"/>
                <a:cs typeface="Proxima Nova"/>
                <a:sym typeface="Proxima Nova"/>
              </a:rPr>
              <a:t>“Judge Kaplan found that SBF also committed witness tampering based on the events that led him to revoke bail in August 2023 and perjury based on his testimony at trial over FTX user funds.”</a:t>
            </a:r>
            <a:endParaRPr sz="11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100">
              <a:solidFill>
                <a:schemeClr val="lt1"/>
              </a:solidFill>
              <a:latin typeface="Proxima Nova"/>
              <a:ea typeface="Proxima Nova"/>
              <a:cs typeface="Proxima Nova"/>
              <a:sym typeface="Proxima Nova"/>
            </a:endParaRPr>
          </a:p>
          <a:p>
            <a:pPr indent="-298450" lvl="0" marL="4572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convicted of: </a:t>
            </a:r>
            <a:endParaRPr sz="1100">
              <a:solidFill>
                <a:schemeClr val="lt1"/>
              </a:solidFill>
              <a:latin typeface="Proxima Nova"/>
              <a:ea typeface="Proxima Nova"/>
              <a:cs typeface="Proxima Nova"/>
              <a:sym typeface="Proxima Nova"/>
            </a:endParaRPr>
          </a:p>
          <a:p>
            <a:pPr indent="-298450" lvl="1" marL="9144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wire fraud</a:t>
            </a:r>
            <a:endParaRPr sz="1100">
              <a:solidFill>
                <a:schemeClr val="lt1"/>
              </a:solidFill>
              <a:latin typeface="Proxima Nova"/>
              <a:ea typeface="Proxima Nova"/>
              <a:cs typeface="Proxima Nova"/>
              <a:sym typeface="Proxima Nova"/>
            </a:endParaRPr>
          </a:p>
          <a:p>
            <a:pPr indent="-298450" lvl="1" marL="9144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conspiracy to commit wire fraud against FTX customers and against Alameda Research lenders</a:t>
            </a:r>
            <a:endParaRPr sz="1100">
              <a:solidFill>
                <a:schemeClr val="lt1"/>
              </a:solidFill>
              <a:latin typeface="Proxima Nova"/>
              <a:ea typeface="Proxima Nova"/>
              <a:cs typeface="Proxima Nova"/>
              <a:sym typeface="Proxima Nova"/>
            </a:endParaRPr>
          </a:p>
          <a:p>
            <a:pPr indent="-298450" lvl="1" marL="9144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conspiracy to commit securities fraud</a:t>
            </a:r>
            <a:endParaRPr sz="1100">
              <a:solidFill>
                <a:schemeClr val="lt1"/>
              </a:solidFill>
              <a:latin typeface="Proxima Nova"/>
              <a:ea typeface="Proxima Nova"/>
              <a:cs typeface="Proxima Nova"/>
              <a:sym typeface="Proxima Nova"/>
            </a:endParaRPr>
          </a:p>
          <a:p>
            <a:pPr indent="-298450" lvl="1" marL="9144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conspiracy to commit commodities fraud against FTX investors</a:t>
            </a:r>
            <a:endParaRPr sz="1100">
              <a:solidFill>
                <a:schemeClr val="lt1"/>
              </a:solidFill>
              <a:latin typeface="Proxima Nova"/>
              <a:ea typeface="Proxima Nova"/>
              <a:cs typeface="Proxima Nova"/>
              <a:sym typeface="Proxima Nova"/>
            </a:endParaRPr>
          </a:p>
          <a:p>
            <a:pPr indent="-298450" lvl="1" marL="914400" rtl="0" algn="l">
              <a:spcBef>
                <a:spcPts val="0"/>
              </a:spcBef>
              <a:spcAft>
                <a:spcPts val="0"/>
              </a:spcAft>
              <a:buClr>
                <a:schemeClr val="lt1"/>
              </a:buClr>
              <a:buSzPts val="1100"/>
              <a:buFont typeface="Proxima Nova"/>
              <a:buChar char="-"/>
            </a:pPr>
            <a:r>
              <a:rPr lang="en" sz="1100">
                <a:solidFill>
                  <a:schemeClr val="lt1"/>
                </a:solidFill>
                <a:latin typeface="Proxima Nova"/>
                <a:ea typeface="Proxima Nova"/>
                <a:cs typeface="Proxima Nova"/>
                <a:sym typeface="Proxima Nova"/>
              </a:rPr>
              <a:t>conspiracy to commit money laundering.</a:t>
            </a:r>
            <a:endParaRPr sz="1100">
              <a:solidFill>
                <a:schemeClr val="lt1"/>
              </a:solidFill>
              <a:latin typeface="Proxima Nova"/>
              <a:ea typeface="Proxima Nova"/>
              <a:cs typeface="Proxima Nova"/>
              <a:sym typeface="Proxima Nova"/>
            </a:endParaRPr>
          </a:p>
        </p:txBody>
      </p:sp>
      <p:pic>
        <p:nvPicPr>
          <p:cNvPr id="111" name="Google Shape;111;p19"/>
          <p:cNvPicPr preferRelativeResize="0"/>
          <p:nvPr/>
        </p:nvPicPr>
        <p:blipFill>
          <a:blip r:embed="rId5">
            <a:alphaModFix/>
          </a:blip>
          <a:stretch>
            <a:fillRect/>
          </a:stretch>
        </p:blipFill>
        <p:spPr>
          <a:xfrm>
            <a:off x="98251" y="890640"/>
            <a:ext cx="4730874" cy="800375"/>
          </a:xfrm>
          <a:prstGeom prst="rect">
            <a:avLst/>
          </a:prstGeom>
          <a:noFill/>
          <a:ln>
            <a:noFill/>
          </a:ln>
        </p:spPr>
      </p:pic>
      <p:pic>
        <p:nvPicPr>
          <p:cNvPr id="112" name="Google Shape;112;p19"/>
          <p:cNvPicPr preferRelativeResize="0"/>
          <p:nvPr/>
        </p:nvPicPr>
        <p:blipFill>
          <a:blip r:embed="rId6">
            <a:alphaModFix/>
          </a:blip>
          <a:stretch>
            <a:fillRect/>
          </a:stretch>
        </p:blipFill>
        <p:spPr>
          <a:xfrm>
            <a:off x="4501450" y="3534025"/>
            <a:ext cx="1005600" cy="1516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Ross </a:t>
            </a:r>
            <a:r>
              <a:rPr lang="en"/>
              <a:t>Ulbricht</a:t>
            </a:r>
            <a:endParaRPr/>
          </a:p>
        </p:txBody>
      </p:sp>
      <p:pic>
        <p:nvPicPr>
          <p:cNvPr id="118" name="Google Shape;118;p20"/>
          <p:cNvPicPr preferRelativeResize="0"/>
          <p:nvPr/>
        </p:nvPicPr>
        <p:blipFill>
          <a:blip r:embed="rId3">
            <a:alphaModFix/>
          </a:blip>
          <a:stretch>
            <a:fillRect/>
          </a:stretch>
        </p:blipFill>
        <p:spPr>
          <a:xfrm>
            <a:off x="978525" y="828950"/>
            <a:ext cx="3992156" cy="4219650"/>
          </a:xfrm>
          <a:prstGeom prst="rect">
            <a:avLst/>
          </a:prstGeom>
          <a:noFill/>
          <a:ln>
            <a:noFill/>
          </a:ln>
        </p:spPr>
      </p:pic>
      <p:pic>
        <p:nvPicPr>
          <p:cNvPr id="119" name="Google Shape;119;p20"/>
          <p:cNvPicPr preferRelativeResize="0"/>
          <p:nvPr/>
        </p:nvPicPr>
        <p:blipFill>
          <a:blip r:embed="rId4">
            <a:alphaModFix/>
          </a:blip>
          <a:stretch>
            <a:fillRect/>
          </a:stretch>
        </p:blipFill>
        <p:spPr>
          <a:xfrm>
            <a:off x="5123081" y="1159375"/>
            <a:ext cx="3868519" cy="349200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Weekly News Update: World</a:t>
            </a:r>
            <a:endParaRPr/>
          </a:p>
        </p:txBody>
      </p:sp>
      <p:pic>
        <p:nvPicPr>
          <p:cNvPr id="125" name="Google Shape;125;p21"/>
          <p:cNvPicPr preferRelativeResize="0"/>
          <p:nvPr/>
        </p:nvPicPr>
        <p:blipFill>
          <a:blip r:embed="rId3">
            <a:alphaModFix/>
          </a:blip>
          <a:stretch>
            <a:fillRect/>
          </a:stretch>
        </p:blipFill>
        <p:spPr>
          <a:xfrm>
            <a:off x="550550" y="1045726"/>
            <a:ext cx="8143150" cy="3324774"/>
          </a:xfrm>
          <a:prstGeom prst="rect">
            <a:avLst/>
          </a:prstGeom>
          <a:noFill/>
          <a:ln>
            <a:noFill/>
          </a:ln>
        </p:spPr>
      </p:pic>
      <p:sp>
        <p:nvSpPr>
          <p:cNvPr id="126" name="Google Shape;126;p21"/>
          <p:cNvSpPr txBox="1"/>
          <p:nvPr/>
        </p:nvSpPr>
        <p:spPr>
          <a:xfrm>
            <a:off x="5924850" y="4567575"/>
            <a:ext cx="30000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i="1" lang="en" sz="1000">
                <a:solidFill>
                  <a:schemeClr val="lt1"/>
                </a:solidFill>
              </a:rPr>
              <a:t>HRF </a:t>
            </a:r>
            <a:r>
              <a:rPr i="1" lang="en" sz="1000">
                <a:solidFill>
                  <a:schemeClr val="lt1"/>
                </a:solidFill>
              </a:rPr>
              <a:t>Financial Freedom Report #17</a:t>
            </a:r>
            <a:endParaRPr i="1" sz="10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Announcements</a:t>
            </a:r>
            <a:endParaRPr/>
          </a:p>
        </p:txBody>
      </p:sp>
      <p:pic>
        <p:nvPicPr>
          <p:cNvPr id="132" name="Google Shape;132;p22"/>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Logistics</a:t>
            </a:r>
            <a:endParaRPr/>
          </a:p>
        </p:txBody>
      </p:sp>
      <p:sp>
        <p:nvSpPr>
          <p:cNvPr id="138" name="Google Shape;138;p23"/>
          <p:cNvSpPr txBox="1"/>
          <p:nvPr/>
        </p:nvSpPr>
        <p:spPr>
          <a:xfrm>
            <a:off x="371150" y="1000075"/>
            <a:ext cx="8421900" cy="37857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lt1"/>
              </a:buClr>
              <a:buSzPts val="1500"/>
              <a:buFont typeface="Proxima Nova"/>
              <a:buChar char="●"/>
            </a:pPr>
            <a:r>
              <a:rPr lang="en" sz="1500">
                <a:solidFill>
                  <a:schemeClr val="lt1"/>
                </a:solidFill>
                <a:latin typeface="Proxima Nova"/>
                <a:ea typeface="Proxima Nova"/>
                <a:cs typeface="Proxima Nova"/>
                <a:sym typeface="Proxima Nova"/>
              </a:rPr>
              <a:t>Added everyone to Slack and Campus Groups</a:t>
            </a:r>
            <a:endParaRPr sz="1500">
              <a:solidFill>
                <a:schemeClr val="lt1"/>
              </a:solidFill>
              <a:latin typeface="Proxima Nova"/>
              <a:ea typeface="Proxima Nova"/>
              <a:cs typeface="Proxima Nova"/>
              <a:sym typeface="Proxima Nova"/>
            </a:endParaRPr>
          </a:p>
          <a:p>
            <a:pPr indent="-323850" lvl="1" marL="914400" rtl="0" algn="l">
              <a:spcBef>
                <a:spcPts val="0"/>
              </a:spcBef>
              <a:spcAft>
                <a:spcPts val="0"/>
              </a:spcAft>
              <a:buClr>
                <a:schemeClr val="lt1"/>
              </a:buClr>
              <a:buSzPts val="1500"/>
              <a:buFont typeface="Proxima Nova"/>
              <a:buChar char="○"/>
            </a:pPr>
            <a:r>
              <a:rPr lang="en" sz="1500">
                <a:solidFill>
                  <a:schemeClr val="lt1"/>
                </a:solidFill>
                <a:latin typeface="Proxima Nova"/>
                <a:ea typeface="Proxima Nova"/>
                <a:cs typeface="Proxima Nova"/>
                <a:sym typeface="Proxima Nova"/>
              </a:rPr>
              <a:t>All events and emails will be sent through Campus Groups</a:t>
            </a:r>
            <a:endParaRPr sz="1500">
              <a:solidFill>
                <a:schemeClr val="lt1"/>
              </a:solidFill>
              <a:latin typeface="Proxima Nova"/>
              <a:ea typeface="Proxima Nova"/>
              <a:cs typeface="Proxima Nova"/>
              <a:sym typeface="Proxima Nova"/>
            </a:endParaRPr>
          </a:p>
          <a:p>
            <a:pPr indent="-323850" lvl="1" marL="914400" rtl="0" algn="l">
              <a:spcBef>
                <a:spcPts val="0"/>
              </a:spcBef>
              <a:spcAft>
                <a:spcPts val="0"/>
              </a:spcAft>
              <a:buClr>
                <a:schemeClr val="lt1"/>
              </a:buClr>
              <a:buSzPts val="1500"/>
              <a:buFont typeface="Proxima Nova"/>
              <a:buChar char="○"/>
            </a:pPr>
            <a:r>
              <a:rPr lang="en" sz="1500">
                <a:solidFill>
                  <a:schemeClr val="lt1"/>
                </a:solidFill>
                <a:latin typeface="Proxima Nova"/>
                <a:ea typeface="Proxima Nova"/>
                <a:cs typeface="Proxima Nova"/>
                <a:sym typeface="Proxima Nova"/>
              </a:rPr>
              <a:t>Will send updates via slack &amp; text notification through CG (if I can figure it out haha)</a:t>
            </a:r>
            <a:endParaRPr sz="1500">
              <a:solidFill>
                <a:schemeClr val="lt1"/>
              </a:solidFill>
              <a:latin typeface="Proxima Nova"/>
              <a:ea typeface="Proxima Nova"/>
              <a:cs typeface="Proxima Nova"/>
              <a:sym typeface="Proxima Nova"/>
            </a:endParaRPr>
          </a:p>
          <a:p>
            <a:pPr indent="0" lvl="0" marL="914400" rtl="0" algn="l">
              <a:spcBef>
                <a:spcPts val="0"/>
              </a:spcBef>
              <a:spcAft>
                <a:spcPts val="0"/>
              </a:spcAft>
              <a:buNone/>
            </a:pPr>
            <a:r>
              <a:t/>
            </a:r>
            <a:endParaRPr sz="1500">
              <a:solidFill>
                <a:schemeClr val="lt1"/>
              </a:solidFill>
              <a:latin typeface="Proxima Nova"/>
              <a:ea typeface="Proxima Nova"/>
              <a:cs typeface="Proxima Nova"/>
              <a:sym typeface="Proxima Nova"/>
            </a:endParaRPr>
          </a:p>
          <a:p>
            <a:pPr indent="-323850" lvl="0" marL="457200" rtl="0" algn="l">
              <a:spcBef>
                <a:spcPts val="0"/>
              </a:spcBef>
              <a:spcAft>
                <a:spcPts val="0"/>
              </a:spcAft>
              <a:buClr>
                <a:schemeClr val="lt1"/>
              </a:buClr>
              <a:buSzPts val="1500"/>
              <a:buFont typeface="Proxima Nova"/>
              <a:buChar char="●"/>
            </a:pPr>
            <a:r>
              <a:rPr lang="en" sz="1500">
                <a:solidFill>
                  <a:schemeClr val="lt1"/>
                </a:solidFill>
                <a:latin typeface="Proxima Nova"/>
                <a:ea typeface="Proxima Nova"/>
                <a:cs typeface="Proxima Nova"/>
                <a:sym typeface="Proxima Nova"/>
              </a:rPr>
              <a:t>Schedule for rest of the semester: </a:t>
            </a:r>
            <a:endParaRPr sz="1500">
              <a:solidFill>
                <a:schemeClr val="lt1"/>
              </a:solidFill>
              <a:latin typeface="Proxima Nova"/>
              <a:ea typeface="Proxima Nova"/>
              <a:cs typeface="Proxima Nova"/>
              <a:sym typeface="Proxima Nova"/>
            </a:endParaRPr>
          </a:p>
          <a:p>
            <a:pPr indent="0" lvl="0" marL="457200" rtl="0" algn="l">
              <a:spcBef>
                <a:spcPts val="0"/>
              </a:spcBef>
              <a:spcAft>
                <a:spcPts val="0"/>
              </a:spcAft>
              <a:buNone/>
            </a:pPr>
            <a:r>
              <a:t/>
            </a:r>
            <a:endParaRPr sz="1500">
              <a:solidFill>
                <a:schemeClr val="lt1"/>
              </a:solidFill>
              <a:latin typeface="Proxima Nova"/>
              <a:ea typeface="Proxima Nova"/>
              <a:cs typeface="Proxima Nova"/>
              <a:sym typeface="Proxima Nova"/>
            </a:endParaRPr>
          </a:p>
        </p:txBody>
      </p:sp>
      <p:pic>
        <p:nvPicPr>
          <p:cNvPr id="139" name="Google Shape;139;p23"/>
          <p:cNvPicPr preferRelativeResize="0"/>
          <p:nvPr/>
        </p:nvPicPr>
        <p:blipFill>
          <a:blip r:embed="rId3">
            <a:alphaModFix/>
          </a:blip>
          <a:stretch>
            <a:fillRect/>
          </a:stretch>
        </p:blipFill>
        <p:spPr>
          <a:xfrm>
            <a:off x="1763025" y="2316750"/>
            <a:ext cx="6050825" cy="26819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4"/>
          <p:cNvPicPr preferRelativeResize="0"/>
          <p:nvPr/>
        </p:nvPicPr>
        <p:blipFill>
          <a:blip r:embed="rId3">
            <a:alphaModFix/>
          </a:blip>
          <a:stretch>
            <a:fillRect/>
          </a:stretch>
        </p:blipFill>
        <p:spPr>
          <a:xfrm>
            <a:off x="782825" y="297825"/>
            <a:ext cx="7701274" cy="4335549"/>
          </a:xfrm>
          <a:prstGeom prst="rect">
            <a:avLst/>
          </a:prstGeom>
          <a:noFill/>
          <a:ln>
            <a:noFill/>
          </a:ln>
        </p:spPr>
      </p:pic>
      <p:pic>
        <p:nvPicPr>
          <p:cNvPr id="145" name="Google Shape;145;p24"/>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25"/>
          <p:cNvPicPr preferRelativeResize="0"/>
          <p:nvPr/>
        </p:nvPicPr>
        <p:blipFill>
          <a:blip r:embed="rId3">
            <a:alphaModFix/>
          </a:blip>
          <a:stretch>
            <a:fillRect/>
          </a:stretch>
        </p:blipFill>
        <p:spPr>
          <a:xfrm>
            <a:off x="1124475" y="804225"/>
            <a:ext cx="6734700" cy="3535049"/>
          </a:xfrm>
          <a:prstGeom prst="rect">
            <a:avLst/>
          </a:prstGeom>
          <a:noFill/>
          <a:ln>
            <a:noFill/>
          </a:ln>
        </p:spPr>
      </p:pic>
      <p:pic>
        <p:nvPicPr>
          <p:cNvPr id="151" name="Google Shape;151;p25"/>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Bitcoin Policy Institute Summit: </a:t>
            </a:r>
            <a:r>
              <a:rPr lang="en" sz="1500" u="sng">
                <a:hlinkClick r:id="rId3"/>
              </a:rPr>
              <a:t>https://forms.gle/vBfuaiJMkbKjn79CA</a:t>
            </a:r>
            <a:r>
              <a:rPr lang="en" sz="1500"/>
              <a:t> </a:t>
            </a:r>
            <a:endParaRPr sz="1500"/>
          </a:p>
        </p:txBody>
      </p:sp>
      <p:pic>
        <p:nvPicPr>
          <p:cNvPr id="157" name="Google Shape;157;p26"/>
          <p:cNvPicPr preferRelativeResize="0"/>
          <p:nvPr/>
        </p:nvPicPr>
        <p:blipFill>
          <a:blip r:embed="rId4">
            <a:alphaModFix/>
          </a:blip>
          <a:stretch>
            <a:fillRect/>
          </a:stretch>
        </p:blipFill>
        <p:spPr>
          <a:xfrm>
            <a:off x="1215500" y="983800"/>
            <a:ext cx="7354599" cy="38181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Field Research Opportunity: </a:t>
            </a:r>
            <a:r>
              <a:rPr lang="en" sz="1500" u="sng">
                <a:hlinkClick r:id="rId3"/>
              </a:rPr>
              <a:t>https://forms.gle/STrYzqvvarv5XGyi8</a:t>
            </a:r>
            <a:r>
              <a:rPr lang="en" sz="1500"/>
              <a:t>  </a:t>
            </a:r>
            <a:endParaRPr sz="1500"/>
          </a:p>
        </p:txBody>
      </p:sp>
      <p:pic>
        <p:nvPicPr>
          <p:cNvPr id="163" name="Google Shape;163;p27"/>
          <p:cNvPicPr preferRelativeResize="0"/>
          <p:nvPr/>
        </p:nvPicPr>
        <p:blipFill>
          <a:blip r:embed="rId4">
            <a:alphaModFix/>
          </a:blip>
          <a:stretch>
            <a:fillRect/>
          </a:stretch>
        </p:blipFill>
        <p:spPr>
          <a:xfrm>
            <a:off x="2993663" y="802500"/>
            <a:ext cx="3384382" cy="4219650"/>
          </a:xfrm>
          <a:prstGeom prst="rect">
            <a:avLst/>
          </a:prstGeom>
          <a:noFill/>
          <a:ln>
            <a:noFill/>
          </a:ln>
        </p:spPr>
      </p:pic>
      <p:sp>
        <p:nvSpPr>
          <p:cNvPr id="164" name="Google Shape;164;p27"/>
          <p:cNvSpPr/>
          <p:nvPr/>
        </p:nvSpPr>
        <p:spPr>
          <a:xfrm>
            <a:off x="3212900" y="1468650"/>
            <a:ext cx="672600" cy="13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65" name="Google Shape;165;p27"/>
          <p:cNvSpPr/>
          <p:nvPr/>
        </p:nvSpPr>
        <p:spPr>
          <a:xfrm>
            <a:off x="3668250" y="2314450"/>
            <a:ext cx="548400" cy="13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8"/>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Important Information &amp; Tasks </a:t>
            </a:r>
            <a:endParaRPr sz="1983"/>
          </a:p>
        </p:txBody>
      </p:sp>
      <p:pic>
        <p:nvPicPr>
          <p:cNvPr id="171" name="Google Shape;171;p28"/>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p:nvPr/>
        </p:nvSpPr>
        <p:spPr>
          <a:xfrm>
            <a:off x="5749400" y="1146450"/>
            <a:ext cx="2912700" cy="2850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177" name="Google Shape;177;p29"/>
          <p:cNvPicPr preferRelativeResize="0"/>
          <p:nvPr/>
        </p:nvPicPr>
        <p:blipFill>
          <a:blip r:embed="rId3">
            <a:alphaModFix/>
          </a:blip>
          <a:stretch>
            <a:fillRect/>
          </a:stretch>
        </p:blipFill>
        <p:spPr>
          <a:xfrm>
            <a:off x="5889263" y="1255263"/>
            <a:ext cx="2632975" cy="2632975"/>
          </a:xfrm>
          <a:prstGeom prst="rect">
            <a:avLst/>
          </a:prstGeom>
          <a:noFill/>
          <a:ln>
            <a:noFill/>
          </a:ln>
        </p:spPr>
      </p:pic>
      <p:sp>
        <p:nvSpPr>
          <p:cNvPr id="178" name="Google Shape;178;p29"/>
          <p:cNvSpPr txBox="1"/>
          <p:nvPr>
            <p:ph idx="4294967295" type="body"/>
          </p:nvPr>
        </p:nvSpPr>
        <p:spPr>
          <a:xfrm>
            <a:off x="620213" y="418813"/>
            <a:ext cx="5067600" cy="43059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1018"/>
              <a:buNone/>
            </a:pPr>
            <a:r>
              <a:rPr b="1" lang="en" sz="1288">
                <a:solidFill>
                  <a:schemeClr val="lt1"/>
                </a:solidFill>
              </a:rPr>
              <a:t>Join: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u="sng">
                <a:solidFill>
                  <a:schemeClr val="lt1"/>
                </a:solidFill>
                <a:hlinkClick r:id="rId4">
                  <a:extLst>
                    <a:ext uri="{A12FA001-AC4F-418D-AE19-62706E023703}">
                      <ahyp:hlinkClr val="tx"/>
                    </a:ext>
                  </a:extLst>
                </a:hlinkClick>
              </a:rPr>
              <a:t>Slack</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u="sng">
                <a:solidFill>
                  <a:schemeClr val="lt1"/>
                </a:solidFill>
                <a:hlinkClick r:id="rId5">
                  <a:extLst>
                    <a:ext uri="{A12FA001-AC4F-418D-AE19-62706E023703}">
                      <ahyp:hlinkClr val="tx"/>
                    </a:ext>
                  </a:extLst>
                </a:hlinkClick>
              </a:rPr>
              <a:t>Gcal</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Twitter (best Bitcoin news source)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Put @CornellBitcoin in your bio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Add your handle </a:t>
            </a:r>
            <a:r>
              <a:rPr lang="en" sz="1288" u="sng">
                <a:solidFill>
                  <a:srgbClr val="0E101A"/>
                </a:solidFill>
                <a:highlight>
                  <a:schemeClr val="lt1"/>
                </a:highlight>
                <a:hlinkClick r:id="rId6">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Forms:</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Review the Constitution &amp; sign </a:t>
            </a:r>
            <a:r>
              <a:rPr lang="en" sz="1288" u="sng">
                <a:solidFill>
                  <a:schemeClr val="hlink"/>
                </a:solidFill>
                <a:highlight>
                  <a:schemeClr val="lt1"/>
                </a:highlight>
                <a:hlinkClick r:id="rId7"/>
              </a:rPr>
              <a:t>here</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Fill out interest joining form </a:t>
            </a:r>
            <a:r>
              <a:rPr lang="en" sz="1288" u="sng">
                <a:solidFill>
                  <a:srgbClr val="0E101A"/>
                </a:solidFill>
                <a:highlight>
                  <a:schemeClr val="lt1"/>
                </a:highlight>
                <a:hlinkClick r:id="rId8">
                  <a:extLst>
                    <a:ext uri="{A12FA001-AC4F-418D-AE19-62706E023703}">
                      <ahyp:hlinkClr val="tx"/>
                    </a:ext>
                  </a:extLst>
                </a:hlinkClick>
              </a:rPr>
              <a:t>here</a:t>
            </a:r>
            <a:r>
              <a:rPr lang="en" sz="1288">
                <a:solidFill>
                  <a:schemeClr val="lt1"/>
                </a:solidFill>
              </a:rPr>
              <a:t> (if haven’t already)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Suggest topics </a:t>
            </a:r>
            <a:r>
              <a:rPr lang="en" sz="1288" u="sng">
                <a:solidFill>
                  <a:srgbClr val="0E101A"/>
                </a:solidFill>
                <a:highlight>
                  <a:schemeClr val="lt1"/>
                </a:highlight>
                <a:hlinkClick r:id="rId9">
                  <a:extLst>
                    <a:ext uri="{A12FA001-AC4F-418D-AE19-62706E023703}">
                      <ahyp:hlinkClr val="tx"/>
                    </a:ext>
                  </a:extLst>
                </a:hlinkClick>
              </a:rPr>
              <a:t>here</a:t>
            </a:r>
            <a:r>
              <a:rPr lang="en" sz="1288">
                <a:solidFill>
                  <a:srgbClr val="0E101A"/>
                </a:solidFill>
                <a:highlight>
                  <a:schemeClr val="lt1"/>
                </a:highlight>
              </a:rPr>
              <a:t> </a:t>
            </a:r>
            <a:endParaRPr b="1" sz="1288">
              <a:solidFill>
                <a:srgbClr val="0E101A"/>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Club playlist: add favorite songs </a:t>
            </a:r>
            <a:r>
              <a:rPr lang="en" sz="1288" u="sng">
                <a:solidFill>
                  <a:srgbClr val="000000"/>
                </a:solidFill>
                <a:highlight>
                  <a:schemeClr val="lt1"/>
                </a:highlight>
                <a:hlinkClick r:id="rId10">
                  <a:extLst>
                    <a:ext uri="{A12FA001-AC4F-418D-AE19-62706E023703}">
                      <ahyp:hlinkClr val="tx"/>
                    </a:ext>
                  </a:extLst>
                </a:hlinkClick>
              </a:rPr>
              <a:t>here</a:t>
            </a:r>
            <a:r>
              <a:rPr lang="en" sz="1288">
                <a:solidFill>
                  <a:srgbClr val="000000"/>
                </a:solidFill>
                <a:highlight>
                  <a:schemeClr val="lt1"/>
                </a:highlight>
              </a:rPr>
              <a:t> </a:t>
            </a:r>
            <a:endParaRPr sz="1288">
              <a:solidFill>
                <a:srgbClr val="000000"/>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Add favorite snacks </a:t>
            </a:r>
            <a:r>
              <a:rPr lang="en" sz="1288" u="sng">
                <a:solidFill>
                  <a:srgbClr val="0E101A"/>
                </a:solidFill>
                <a:highlight>
                  <a:schemeClr val="lt1"/>
                </a:highlight>
                <a:hlinkClick r:id="rId11">
                  <a:extLst>
                    <a:ext uri="{A12FA001-AC4F-418D-AE19-62706E023703}">
                      <ahyp:hlinkClr val="tx"/>
                    </a:ext>
                  </a:extLst>
                </a:hlinkClick>
              </a:rPr>
              <a:t>here</a:t>
            </a:r>
            <a:r>
              <a:rPr lang="en" sz="1288">
                <a:solidFill>
                  <a:schemeClr val="lt1"/>
                </a:solidFill>
              </a:rPr>
              <a:t>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Resume Book </a:t>
            </a:r>
            <a:r>
              <a:rPr lang="en" sz="1288" u="sng">
                <a:solidFill>
                  <a:srgbClr val="0E101A"/>
                </a:solidFill>
                <a:highlight>
                  <a:schemeClr val="lt1"/>
                </a:highlight>
                <a:hlinkClick r:id="rId12">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Follow: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@CornellBitcoin on Twitter</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@CornellBitcoinClub on Instagram</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 Bitcoin Club on LinkedIn</a:t>
            </a:r>
            <a:endParaRPr sz="1288">
              <a:solidFill>
                <a:schemeClr val="lt1"/>
              </a:solidFill>
            </a:endParaRPr>
          </a:p>
        </p:txBody>
      </p:sp>
      <p:pic>
        <p:nvPicPr>
          <p:cNvPr id="179" name="Google Shape;179;p29"/>
          <p:cNvPicPr preferRelativeResize="0"/>
          <p:nvPr/>
        </p:nvPicPr>
        <p:blipFill>
          <a:blip r:embed="rId1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83" name="Shape 183"/>
        <p:cNvGrpSpPr/>
        <p:nvPr/>
      </p:nvGrpSpPr>
      <p:grpSpPr>
        <a:xfrm>
          <a:off x="0" y="0"/>
          <a:ext cx="0" cy="0"/>
          <a:chOff x="0" y="0"/>
          <a:chExt cx="0" cy="0"/>
        </a:xfrm>
      </p:grpSpPr>
      <p:sp>
        <p:nvSpPr>
          <p:cNvPr id="184" name="Google Shape;184;p30"/>
          <p:cNvSpPr txBox="1"/>
          <p:nvPr>
            <p:ph type="title"/>
          </p:nvPr>
        </p:nvSpPr>
        <p:spPr>
          <a:xfrm>
            <a:off x="460950" y="1590000"/>
            <a:ext cx="8222100" cy="19635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lang="en" sz="6000"/>
              <a:t>Have a great </a:t>
            </a:r>
            <a:endParaRPr b="1" sz="6000"/>
          </a:p>
          <a:p>
            <a:pPr indent="0" lvl="0" marL="0" rtl="0" algn="ctr">
              <a:spcBef>
                <a:spcPts val="0"/>
              </a:spcBef>
              <a:spcAft>
                <a:spcPts val="0"/>
              </a:spcAft>
              <a:buNone/>
            </a:pPr>
            <a:r>
              <a:rPr b="1" lang="en" sz="6000"/>
              <a:t>spring break!</a:t>
            </a:r>
            <a:endParaRPr b="1" sz="6000">
              <a:solidFill>
                <a:schemeClr val="lt1"/>
              </a:solidFill>
            </a:endParaRPr>
          </a:p>
        </p:txBody>
      </p:sp>
      <p:pic>
        <p:nvPicPr>
          <p:cNvPr id="185" name="Google Shape;185;p30"/>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