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5143500" cx="9144000"/>
  <p:notesSz cx="6858000" cy="9144000"/>
  <p:embeddedFontLst>
    <p:embeddedFont>
      <p:font typeface="Proxima Nova"/>
      <p:regular r:id="rId65"/>
      <p:bold r:id="rId66"/>
      <p:italic r:id="rId67"/>
      <p:boldItalic r:id="rId68"/>
    </p:embeddedFont>
    <p:embeddedFont>
      <p:font typeface="Roboto"/>
      <p:regular r:id="rId69"/>
      <p:bold r:id="rId70"/>
      <p:italic r:id="rId71"/>
      <p:boldItalic r:id="rId72"/>
    </p:embeddedFont>
    <p:embeddedFont>
      <p:font typeface="Proxima Nova Semibold"/>
      <p:regular r:id="rId73"/>
      <p:bold r:id="rId74"/>
      <p:boldItalic r:id="rId75"/>
    </p:embeddedFont>
    <p:embeddedFont>
      <p:font typeface="Barlow"/>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ProximaNovaSemibold-regular.fntdata"/><Relationship Id="rId72" Type="http://schemas.openxmlformats.org/officeDocument/2006/relationships/font" Target="fonts/Roboto-boldItalic.fntdata"/><Relationship Id="rId31" Type="http://schemas.openxmlformats.org/officeDocument/2006/relationships/slide" Target="slides/slide27.xml"/><Relationship Id="rId75" Type="http://schemas.openxmlformats.org/officeDocument/2006/relationships/font" Target="fonts/ProximaNovaSemibold-boldItalic.fntdata"/><Relationship Id="rId30" Type="http://schemas.openxmlformats.org/officeDocument/2006/relationships/slide" Target="slides/slide26.xml"/><Relationship Id="rId74" Type="http://schemas.openxmlformats.org/officeDocument/2006/relationships/font" Target="fonts/ProximaNovaSemibold-bold.fntdata"/><Relationship Id="rId33" Type="http://schemas.openxmlformats.org/officeDocument/2006/relationships/slide" Target="slides/slide29.xml"/><Relationship Id="rId77" Type="http://schemas.openxmlformats.org/officeDocument/2006/relationships/font" Target="fonts/Barlow-bold.fntdata"/><Relationship Id="rId32" Type="http://schemas.openxmlformats.org/officeDocument/2006/relationships/slide" Target="slides/slide28.xml"/><Relationship Id="rId76" Type="http://schemas.openxmlformats.org/officeDocument/2006/relationships/font" Target="fonts/Barlow-regular.fntdata"/><Relationship Id="rId35" Type="http://schemas.openxmlformats.org/officeDocument/2006/relationships/slide" Target="slides/slide31.xml"/><Relationship Id="rId79" Type="http://schemas.openxmlformats.org/officeDocument/2006/relationships/font" Target="fonts/Barlow-boldItalic.fntdata"/><Relationship Id="rId34" Type="http://schemas.openxmlformats.org/officeDocument/2006/relationships/slide" Target="slides/slide30.xml"/><Relationship Id="rId78" Type="http://schemas.openxmlformats.org/officeDocument/2006/relationships/font" Target="fonts/Barlow-italic.fntdata"/><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font" Target="fonts/ProximaNova-bold.fntdata"/><Relationship Id="rId21" Type="http://schemas.openxmlformats.org/officeDocument/2006/relationships/slide" Target="slides/slide17.xml"/><Relationship Id="rId65" Type="http://schemas.openxmlformats.org/officeDocument/2006/relationships/font" Target="fonts/ProximaNova-regular.fntdata"/><Relationship Id="rId24" Type="http://schemas.openxmlformats.org/officeDocument/2006/relationships/slide" Target="slides/slide20.xml"/><Relationship Id="rId68" Type="http://schemas.openxmlformats.org/officeDocument/2006/relationships/font" Target="fonts/ProximaNova-boldItalic.fntdata"/><Relationship Id="rId23" Type="http://schemas.openxmlformats.org/officeDocument/2006/relationships/slide" Target="slides/slide19.xml"/><Relationship Id="rId67" Type="http://schemas.openxmlformats.org/officeDocument/2006/relationships/font" Target="fonts/ProximaNova-italic.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Roboto-regular.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TheBTCTherapist/status/1754346224184930752?s=20" TargetMode="External"/><Relationship Id="rId3" Type="http://schemas.openxmlformats.org/officeDocument/2006/relationships/hyperlink" Target="https://x.com/WallStreetSilv/status/1753643063233151428?s=20"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w_s_bitcoin/status/1742551968759816238?s=20"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DocumentingBTC/status/1754545549431230477?s=20" TargetMode="External"/><Relationship Id="rId3" Type="http://schemas.openxmlformats.org/officeDocument/2006/relationships/hyperlink" Target="https://drive.google.com/drive/folders/1UgVDbbgoArMigLTIVju66zgREXyEsF6r?usp=sharing"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ummerofbitcoin/status/1753414874045329505?s=20" TargetMode="External"/><Relationship Id="rId3" Type="http://schemas.openxmlformats.org/officeDocument/2006/relationships/hyperlink" Target="https://www.summerofbitcoin.org/apply"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6869403eb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6869403eb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866d0df8e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866d0df8e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869403eb0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869403eb0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8ccc8ba21c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8ccc8ba21c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to have everyone do a poll in a bit so I can pull news specific to the areas you all are interested in.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86e27fd3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86e27fd3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this is the only meeting you attend, then I hope you know the following…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86e27fd3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86e27fd3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u="sng">
                <a:solidFill>
                  <a:schemeClr val="hlink"/>
                </a:solidFill>
                <a:hlinkClick r:id="rId2"/>
              </a:rPr>
              <a:t>https://x.com/TheBTCTherapist/status/1754346224184930752?s=20</a:t>
            </a:r>
            <a:r>
              <a:rPr lang="en"/>
              <a:t> </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arenR"/>
            </a:pPr>
            <a:r>
              <a:rPr lang="en" u="sng">
                <a:solidFill>
                  <a:schemeClr val="hlink"/>
                </a:solidFill>
                <a:hlinkClick r:id="rId3"/>
              </a:rPr>
              <a:t>https://x.com/WallStreetSilv/status/1753643063233151428?s=20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Jerome Powell: Chair of the Federal Reserve of the United States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Stanley Druckenmiller: American investor and philanthropist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686e27fd3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686e27fd3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686e27fd3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686e27fd3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686e27fd3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686e27fd3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86e27fd3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86e27fd3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86e27fd3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86e27fd3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86e27fd3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86e27fd3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86e27fd3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86e27fd3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86e27fd3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686e27fd3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869403eb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869403eb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86e27fd3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86e27fd3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686e27fd3b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686e27fd3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6869403eb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6869403eb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Cultivating a sense of community will be a priority for the club…want to make sure everyone feels comfortable </a:t>
            </a:r>
            <a:r>
              <a:rPr lang="en"/>
              <a:t>asking</a:t>
            </a:r>
            <a:r>
              <a:rPr lang="en"/>
              <a:t> questions…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6869403eb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6869403eb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what you are interested in, this will help me gear the news updates, lessons, and panels…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686e27fd3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686e27fd3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869403eb0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6869403eb0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6869403eb0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6869403eb0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15 yr history: </a:t>
            </a:r>
            <a:r>
              <a:rPr lang="en" u="sng">
                <a:solidFill>
                  <a:schemeClr val="hlink"/>
                </a:solidFill>
                <a:hlinkClick r:id="rId2"/>
              </a:rPr>
              <a:t>https://x.com/w_s_bitcoin/status/1742551968759816238?s=20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History: </a:t>
            </a:r>
            <a:endParaRPr b="1"/>
          </a:p>
          <a:p>
            <a:pPr indent="0" lvl="0" marL="0" rtl="0" algn="l">
              <a:spcBef>
                <a:spcPts val="0"/>
              </a:spcBef>
              <a:spcAft>
                <a:spcPts val="0"/>
              </a:spcAft>
              <a:buClr>
                <a:schemeClr val="dk1"/>
              </a:buClr>
              <a:buSzPts val="1100"/>
              <a:buFont typeface="Arial"/>
              <a:buNone/>
            </a:pPr>
            <a:r>
              <a:rPr lang="en"/>
              <a:t>On October 31, 2008, Satoshi Nakamoto published the Bitcoin Whitepaper (a 9 page pdf), creating “A purely peer-to-peer version of electronic cash would allow online payments to be sent directly from one party to another without going through a financial institution” and is the result of 40 years of research. 2 key attributes were implicitly stated &amp; shouldn’t be overlooked: (1) There will only ever be 21,000,000 bitcoin (2) bitcoin requires a scarce input/resource (energy) through its consensus method called Proof of Work (PoW) (how it validates the information being stored).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lang="en"/>
              <a:t>Context: </a:t>
            </a:r>
            <a:endParaRPr b="1"/>
          </a:p>
          <a:p>
            <a:pPr indent="0" lvl="0" marL="0" rtl="0" algn="l">
              <a:spcBef>
                <a:spcPts val="0"/>
              </a:spcBef>
              <a:spcAft>
                <a:spcPts val="0"/>
              </a:spcAft>
              <a:buClr>
                <a:schemeClr val="dk1"/>
              </a:buClr>
              <a:buSzPts val="1100"/>
              <a:buFont typeface="Arial"/>
              <a:buNone/>
            </a:pPr>
            <a:r>
              <a:rPr lang="en"/>
              <a:t>At this time, the world was reeling from the biggest financial crisis since the 1920s. Public trust in the financial system was at an all time-low, showing the need for a new financial system that didn’t depend on a few key players who can, and did, fail.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6869403eb0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6869403eb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869403eb0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869403eb0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86e27fd3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86e27fd3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869403eb0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869403eb0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869403eb0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6869403eb0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Personally, I only “got” Bitcoin when I knew about the network </a:t>
            </a:r>
            <a:r>
              <a:rPr lang="en"/>
              <a:t>element</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layer 0 is the human/social </a:t>
            </a:r>
            <a:r>
              <a:rPr lang="en"/>
              <a:t>element</a:t>
            </a:r>
            <a:r>
              <a:rPr lang="en"/>
              <a:t>. Layer 1 is the blockchain.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Money is base layer and energy powers </a:t>
            </a:r>
            <a:r>
              <a:rPr lang="en"/>
              <a:t>everything</a:t>
            </a:r>
            <a:r>
              <a:rPr lang="en"/>
              <a:t>. Economic energy and personal energy </a:t>
            </a:r>
            <a:r>
              <a:rPr lang="en"/>
              <a:t>through</a:t>
            </a:r>
            <a:r>
              <a:rPr lang="en"/>
              <a:t> the network. </a:t>
            </a:r>
            <a:endParaRPr/>
          </a:p>
          <a:p>
            <a:pPr indent="0" lvl="0" marL="0" rtl="0" algn="l">
              <a:spcBef>
                <a:spcPts val="0"/>
              </a:spcBef>
              <a:spcAft>
                <a:spcPts val="0"/>
              </a:spcAft>
              <a:buNone/>
            </a:pPr>
            <a:r>
              <a:rPr lang="en"/>
              <a:t>Dollar designed to debase </a:t>
            </a:r>
            <a:r>
              <a:rPr lang="en"/>
              <a:t>forever</a:t>
            </a:r>
            <a:r>
              <a:rPr lang="en"/>
              <a:t> yet currency </a:t>
            </a:r>
            <a:r>
              <a:rPr lang="en"/>
              <a:t>devaluation</a:t>
            </a:r>
            <a:r>
              <a:rPr lang="en"/>
              <a:t> is not a crime but </a:t>
            </a:r>
            <a:r>
              <a:rPr lang="en"/>
              <a:t>counterfeiting</a:t>
            </a:r>
            <a:r>
              <a:rPr lang="en"/>
              <a:t> is.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86e27fd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686e27fd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869403eb0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6869403eb0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6869403eb0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6869403eb0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869403eb0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869403eb0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6869403eb0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6869403eb0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6869403eb0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6869403eb0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869403eb0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869403eb0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6869403eb0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6869403eb0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869403eb0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869403eb0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6869403eb0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6869403eb0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6869403eb0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6869403eb0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6869403eb0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6869403eb0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8ccc8ba21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8ccc8ba21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8ccc8ba21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8ccc8ba21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you might be thinking, ok, blockchain sounds cool, but how does any information get added to it if no one is in control?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answer lies in consensus protocols. Bitcoin uses Proof of Work (PoW). Ethereum uses Proof of Stake (PoS). Ethereum used PoW until September 15, 2022. We will dive into these in the next article.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8ccc8ba21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8ccc8ba21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to try to use a lot of analogies b/c I think they are helpful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8ccc8ba21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8ccc8ba21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8ccc8ba21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8ccc8ba21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They must choose to ⅔ to “optimize” for. The winning combo is security &amp; decentralization. bitcoin is the only “blockchain” that successfully optimizes for security and decentralization on Layer 1, addressing “scalability” on Layer 2 (think of a building with levels). Basically, bitcoin is super secure and super decentralized. But, it’s super slow at processing transactions.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Security and decentralization must be optimized on the ground level to build a building with a foundation that lasts (like steel for a building vs. sand) (h/t Preston Pysh &amp; Michael Saylor).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Security + Decentralization = building made of steel </a:t>
            </a:r>
            <a:endParaRPr/>
          </a:p>
          <a:p>
            <a:pPr indent="0" lvl="0" marL="0" rtl="0" algn="l">
              <a:spcBef>
                <a:spcPts val="0"/>
              </a:spcBef>
              <a:spcAft>
                <a:spcPts val="0"/>
              </a:spcAft>
              <a:buClr>
                <a:schemeClr val="dk1"/>
              </a:buClr>
              <a:buSzPts val="1100"/>
              <a:buFont typeface="Arial"/>
              <a:buNone/>
            </a:pPr>
            <a:r>
              <a:rPr lang="en"/>
              <a:t>Security + Scalability OR Decentralization + Scalability = building made of sand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8ccc8ba21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8ccc8ba21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686e27fd3b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686e27fd3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6869403eb0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6869403eb0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686e27fd3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686e27fd3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686e27fd3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686e27fd3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6869403eb0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6869403eb0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6869403eb0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6869403eb0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Will be building out a whole list and already have some on my website.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6869403eb0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6869403eb0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https://x.com/DocumentingBTC/status/1754545549431230477?s=20</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https://drive.google.com/drive/folders/1UgVDbbgoArMigLTIVju66zgREXyEsF6r?usp=sharing</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Will be compiling a whole set of resources.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686e27fd3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686e27fd3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869403eb0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6869403eb0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https://twitter.com/summerofbitcoin/status/1753414874045329505?s=20</a:t>
            </a:r>
            <a:r>
              <a:rPr lang="en"/>
              <a:t> </a:t>
            </a:r>
            <a:endParaRPr/>
          </a:p>
          <a:p>
            <a:pPr indent="0" lvl="0" marL="0" rtl="0" algn="l">
              <a:spcBef>
                <a:spcPts val="0"/>
              </a:spcBef>
              <a:spcAft>
                <a:spcPts val="0"/>
              </a:spcAft>
              <a:buNone/>
            </a:pPr>
            <a:r>
              <a:rPr lang="en" u="sng">
                <a:solidFill>
                  <a:schemeClr val="hlink"/>
                </a:solidFill>
                <a:hlinkClick r:id="rId3"/>
              </a:rPr>
              <a:t>https://www.summerofbitcoin.org/apply</a:t>
            </a:r>
            <a:r>
              <a:rPr lang="en"/>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30.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hyperlink" Target="https://forms.gle/SPQiP5ahJuWNL2m28"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s://drive.google.com/drive/folders/1aowUuLtxUgYLbT770pLJ83lF-5Isv-Sp?usp=sharing" TargetMode="External"/><Relationship Id="rId4" Type="http://schemas.openxmlformats.org/officeDocument/2006/relationships/image" Target="../media/image25.png"/><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jp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2.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png"/></Relationships>
</file>

<file path=ppt/slides/_rels/slide59.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7.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 February 8,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Welcome!</a:t>
            </a:r>
            <a:endParaRPr/>
          </a:p>
        </p:txBody>
      </p:sp>
      <p:pic>
        <p:nvPicPr>
          <p:cNvPr id="78" name="Google Shape;78;p1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General Meeting Schedule </a:t>
            </a:r>
            <a:endParaRPr/>
          </a:p>
        </p:txBody>
      </p:sp>
      <p:sp>
        <p:nvSpPr>
          <p:cNvPr id="84" name="Google Shape;84;p15"/>
          <p:cNvSpPr txBox="1"/>
          <p:nvPr/>
        </p:nvSpPr>
        <p:spPr>
          <a:xfrm>
            <a:off x="735525" y="1372125"/>
            <a:ext cx="6480600" cy="2052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lt1"/>
              </a:buClr>
              <a:buSzPts val="2000"/>
              <a:buFont typeface="Barlow"/>
              <a:buChar char="-"/>
            </a:pPr>
            <a:r>
              <a:rPr lang="en" sz="2000">
                <a:solidFill>
                  <a:schemeClr val="lt1"/>
                </a:solidFill>
                <a:latin typeface="Barlow"/>
                <a:ea typeface="Barlow"/>
                <a:cs typeface="Barlow"/>
                <a:sym typeface="Barlow"/>
              </a:rPr>
              <a:t>0-10 min: Welcome &amp; Gather</a:t>
            </a:r>
            <a:endParaRPr sz="2000">
              <a:solidFill>
                <a:schemeClr val="lt1"/>
              </a:solidFill>
              <a:latin typeface="Barlow"/>
              <a:ea typeface="Barlow"/>
              <a:cs typeface="Barlow"/>
              <a:sym typeface="Barlow"/>
            </a:endParaRPr>
          </a:p>
          <a:p>
            <a:pPr indent="-355600" lvl="0" marL="457200" rtl="0" algn="l">
              <a:spcBef>
                <a:spcPts val="0"/>
              </a:spcBef>
              <a:spcAft>
                <a:spcPts val="0"/>
              </a:spcAft>
              <a:buClr>
                <a:schemeClr val="lt1"/>
              </a:buClr>
              <a:buSzPts val="2000"/>
              <a:buFont typeface="Barlow"/>
              <a:buChar char="-"/>
            </a:pPr>
            <a:r>
              <a:rPr lang="en" sz="2000">
                <a:solidFill>
                  <a:schemeClr val="lt1"/>
                </a:solidFill>
                <a:latin typeface="Barlow"/>
                <a:ea typeface="Barlow"/>
                <a:cs typeface="Barlow"/>
                <a:sym typeface="Barlow"/>
              </a:rPr>
              <a:t>10-15 min: News Updates</a:t>
            </a:r>
            <a:endParaRPr sz="2000">
              <a:solidFill>
                <a:schemeClr val="lt1"/>
              </a:solidFill>
              <a:latin typeface="Barlow"/>
              <a:ea typeface="Barlow"/>
              <a:cs typeface="Barlow"/>
              <a:sym typeface="Barlow"/>
            </a:endParaRPr>
          </a:p>
          <a:p>
            <a:pPr indent="-355600" lvl="0" marL="457200" rtl="0" algn="l">
              <a:spcBef>
                <a:spcPts val="0"/>
              </a:spcBef>
              <a:spcAft>
                <a:spcPts val="0"/>
              </a:spcAft>
              <a:buClr>
                <a:schemeClr val="lt1"/>
              </a:buClr>
              <a:buSzPts val="2000"/>
              <a:buFont typeface="Barlow"/>
              <a:buChar char="-"/>
            </a:pPr>
            <a:r>
              <a:rPr lang="en" sz="2000">
                <a:solidFill>
                  <a:schemeClr val="lt1"/>
                </a:solidFill>
                <a:latin typeface="Barlow"/>
                <a:ea typeface="Barlow"/>
                <a:cs typeface="Barlow"/>
                <a:sym typeface="Barlow"/>
              </a:rPr>
              <a:t>15-45: Lesson</a:t>
            </a:r>
            <a:endParaRPr sz="2000">
              <a:solidFill>
                <a:schemeClr val="lt1"/>
              </a:solidFill>
              <a:latin typeface="Barlow"/>
              <a:ea typeface="Barlow"/>
              <a:cs typeface="Barlow"/>
              <a:sym typeface="Barlow"/>
            </a:endParaRPr>
          </a:p>
          <a:p>
            <a:pPr indent="-355600" lvl="0" marL="457200" rtl="0" algn="l">
              <a:spcBef>
                <a:spcPts val="0"/>
              </a:spcBef>
              <a:spcAft>
                <a:spcPts val="0"/>
              </a:spcAft>
              <a:buClr>
                <a:schemeClr val="lt1"/>
              </a:buClr>
              <a:buSzPts val="2000"/>
              <a:buFont typeface="Barlow"/>
              <a:buChar char="-"/>
            </a:pPr>
            <a:r>
              <a:rPr lang="en" sz="2000">
                <a:solidFill>
                  <a:schemeClr val="lt1"/>
                </a:solidFill>
                <a:latin typeface="Barlow"/>
                <a:ea typeface="Barlow"/>
                <a:cs typeface="Barlow"/>
                <a:sym typeface="Barlow"/>
              </a:rPr>
              <a:t>45-60: Q&amp;A</a:t>
            </a:r>
            <a:endParaRPr sz="2000">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8" name="Shape 88"/>
        <p:cNvGrpSpPr/>
        <p:nvPr/>
      </p:nvGrpSpPr>
      <p:grpSpPr>
        <a:xfrm>
          <a:off x="0" y="0"/>
          <a:ext cx="0" cy="0"/>
          <a:chOff x="0" y="0"/>
          <a:chExt cx="0" cy="0"/>
        </a:xfrm>
      </p:grpSpPr>
      <p:sp>
        <p:nvSpPr>
          <p:cNvPr id="89" name="Google Shape;89;p1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Schedule</a:t>
            </a:r>
            <a:endParaRPr/>
          </a:p>
        </p:txBody>
      </p:sp>
      <p:sp>
        <p:nvSpPr>
          <p:cNvPr id="90" name="Google Shape;90;p16"/>
          <p:cNvSpPr txBox="1"/>
          <p:nvPr/>
        </p:nvSpPr>
        <p:spPr>
          <a:xfrm>
            <a:off x="735525" y="897475"/>
            <a:ext cx="6480600" cy="3879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Welcome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Weekly News Update</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If nothing else, know…</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Introductions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Leadership</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Icebreaker</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Some Poll Questions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Short Lesson (Definitions)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Club Norms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Housekeeping </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Tasks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GenB x Bitcoin 2024</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Summer of Bitcoin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Upcoming Dates</a:t>
            </a:r>
            <a:endParaRPr>
              <a:solidFill>
                <a:schemeClr val="lt1"/>
              </a:solidFill>
              <a:latin typeface="Barlow"/>
              <a:ea typeface="Barlow"/>
              <a:cs typeface="Barlow"/>
              <a:sym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sp>
        <p:nvSpPr>
          <p:cNvPr id="96" name="Google Shape;96;p17"/>
          <p:cNvSpPr txBox="1"/>
          <p:nvPr/>
        </p:nvSpPr>
        <p:spPr>
          <a:xfrm>
            <a:off x="479450" y="906800"/>
            <a:ext cx="5715900" cy="4019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Barlow"/>
              <a:buAutoNum type="arabicPeriod"/>
            </a:pPr>
            <a:r>
              <a:rPr b="1" lang="en" sz="1300">
                <a:solidFill>
                  <a:schemeClr val="lt1"/>
                </a:solidFill>
                <a:latin typeface="Barlow"/>
                <a:ea typeface="Barlow"/>
                <a:cs typeface="Barlow"/>
                <a:sym typeface="Barlow"/>
              </a:rPr>
              <a:t>Economy: </a:t>
            </a:r>
            <a:r>
              <a:rPr lang="en" sz="1300" u="sng">
                <a:solidFill>
                  <a:schemeClr val="lt1"/>
                </a:solidFill>
                <a:latin typeface="Barlow"/>
                <a:ea typeface="Barlow"/>
                <a:cs typeface="Barlow"/>
                <a:sym typeface="Barlow"/>
              </a:rPr>
              <a:t>Powell Describes U.S. Fiscal Situation as “Unsustainable”</a:t>
            </a:r>
            <a:endParaRPr sz="1300" u="sng">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U.S. national debt recently crossed $34 trillion</a:t>
            </a:r>
            <a:endParaRPr sz="1300">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Congressional Budget Office projected that the national debt is expected to grow to a massive $144 trillion over the next 30 years, which is equivalent to $1 million per household.</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AutoNum type="arabicPeriod"/>
            </a:pPr>
            <a:r>
              <a:rPr b="1" lang="en" sz="1300">
                <a:solidFill>
                  <a:schemeClr val="lt1"/>
                </a:solidFill>
                <a:latin typeface="Barlow"/>
                <a:ea typeface="Barlow"/>
                <a:cs typeface="Barlow"/>
                <a:sym typeface="Barlow"/>
              </a:rPr>
              <a:t>Energy: </a:t>
            </a:r>
            <a:r>
              <a:rPr lang="en" sz="1300" u="sng">
                <a:solidFill>
                  <a:schemeClr val="lt1"/>
                </a:solidFill>
                <a:latin typeface="Barlow"/>
                <a:ea typeface="Barlow"/>
                <a:cs typeface="Barlow"/>
                <a:sym typeface="Barlow"/>
              </a:rPr>
              <a:t>EIA Announces “Emergency Survey” on Bitcoin Miners</a:t>
            </a:r>
            <a:r>
              <a:rPr b="1" lang="en" sz="1300">
                <a:solidFill>
                  <a:schemeClr val="lt1"/>
                </a:solidFill>
                <a:latin typeface="Barlow"/>
                <a:ea typeface="Barlow"/>
                <a:cs typeface="Barlow"/>
                <a:sym typeface="Barlow"/>
              </a:rPr>
              <a:t> </a:t>
            </a:r>
            <a:r>
              <a:rPr lang="en" sz="1300">
                <a:solidFill>
                  <a:schemeClr val="lt1"/>
                </a:solidFill>
                <a:latin typeface="Barlow"/>
                <a:ea typeface="Barlow"/>
                <a:cs typeface="Barlow"/>
                <a:sym typeface="Barlow"/>
              </a:rPr>
              <a:t>asking miners to provide: how they mine, what they mine, how they get their electricity, all their energy partners, the models of their miners, and all the geographic coordinates of their mining operations.</a:t>
            </a:r>
            <a:endParaRPr b="1" sz="1300">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Bitcoin miners consume maybe </a:t>
            </a:r>
            <a:r>
              <a:rPr b="1" lang="en" sz="1300">
                <a:solidFill>
                  <a:schemeClr val="lt1"/>
                </a:solidFill>
                <a:latin typeface="Barlow"/>
                <a:ea typeface="Barlow"/>
                <a:cs typeface="Barlow"/>
                <a:sym typeface="Barlow"/>
              </a:rPr>
              <a:t>1%</a:t>
            </a:r>
            <a:r>
              <a:rPr lang="en" sz="1300">
                <a:solidFill>
                  <a:schemeClr val="lt1"/>
                </a:solidFill>
                <a:latin typeface="Barlow"/>
                <a:ea typeface="Barlow"/>
                <a:cs typeface="Barlow"/>
                <a:sym typeface="Barlow"/>
              </a:rPr>
              <a:t> of total US power consumption</a:t>
            </a:r>
            <a:endParaRPr sz="1300">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Bitcoiner miners are incentivized to find underutilized, cheap sources of energy, and</a:t>
            </a:r>
            <a:endParaRPr sz="1300">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There have been numerous instances when miners have been proven to help stabilize the grid, not harm it.</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a:p>
            <a:pPr indent="-311150" lvl="0" marL="457200" rtl="0" algn="l">
              <a:spcBef>
                <a:spcPts val="0"/>
              </a:spcBef>
              <a:spcAft>
                <a:spcPts val="0"/>
              </a:spcAft>
              <a:buClr>
                <a:schemeClr val="lt1"/>
              </a:buClr>
              <a:buSzPts val="1300"/>
              <a:buFont typeface="Barlow"/>
              <a:buAutoNum type="arabicPeriod"/>
            </a:pPr>
            <a:r>
              <a:rPr b="1" lang="en" sz="1300">
                <a:solidFill>
                  <a:schemeClr val="lt1"/>
                </a:solidFill>
                <a:latin typeface="Barlow"/>
                <a:ea typeface="Barlow"/>
                <a:cs typeface="Barlow"/>
                <a:sym typeface="Barlow"/>
              </a:rPr>
              <a:t>World: </a:t>
            </a:r>
            <a:r>
              <a:rPr lang="en" sz="1300" u="sng">
                <a:solidFill>
                  <a:schemeClr val="lt1"/>
                </a:solidFill>
                <a:latin typeface="Barlow"/>
                <a:ea typeface="Barlow"/>
                <a:cs typeface="Barlow"/>
                <a:sym typeface="Barlow"/>
              </a:rPr>
              <a:t>Pro-Bitcoin El Salvador President Bukele Wins Re-Election</a:t>
            </a:r>
            <a:endParaRPr sz="1300" u="sng">
              <a:solidFill>
                <a:schemeClr val="lt1"/>
              </a:solidFill>
              <a:latin typeface="Barlow"/>
              <a:ea typeface="Barlow"/>
              <a:cs typeface="Barlow"/>
              <a:sym typeface="Barlow"/>
            </a:endParaRPr>
          </a:p>
          <a:p>
            <a:pPr indent="-311150" lvl="1" marL="914400" rtl="0" algn="l">
              <a:spcBef>
                <a:spcPts val="0"/>
              </a:spcBef>
              <a:spcAft>
                <a:spcPts val="0"/>
              </a:spcAft>
              <a:buClr>
                <a:schemeClr val="lt1"/>
              </a:buClr>
              <a:buSzPts val="1300"/>
              <a:buFont typeface="Barlow"/>
              <a:buAutoNum type="alphaLcPeriod"/>
            </a:pPr>
            <a:r>
              <a:rPr lang="en" sz="1300">
                <a:solidFill>
                  <a:schemeClr val="lt1"/>
                </a:solidFill>
                <a:latin typeface="Barlow"/>
                <a:ea typeface="Barlow"/>
                <a:cs typeface="Barlow"/>
                <a:sym typeface="Barlow"/>
              </a:rPr>
              <a:t>Previous all time widest margin for a free and contested </a:t>
            </a:r>
            <a:r>
              <a:rPr lang="en" sz="1300">
                <a:solidFill>
                  <a:schemeClr val="lt1"/>
                </a:solidFill>
                <a:latin typeface="Barlow"/>
                <a:ea typeface="Barlow"/>
                <a:cs typeface="Barlow"/>
                <a:sym typeface="Barlow"/>
              </a:rPr>
              <a:t>election</a:t>
            </a:r>
            <a:r>
              <a:rPr lang="en" sz="1300">
                <a:solidFill>
                  <a:schemeClr val="lt1"/>
                </a:solidFill>
                <a:latin typeface="Barlow"/>
                <a:ea typeface="Barlow"/>
                <a:cs typeface="Barlow"/>
                <a:sym typeface="Barlow"/>
              </a:rPr>
              <a:t> was 56.2% in Portugal in 1991</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p:txBody>
      </p:sp>
      <p:pic>
        <p:nvPicPr>
          <p:cNvPr id="97" name="Google Shape;97;p17"/>
          <p:cNvPicPr preferRelativeResize="0"/>
          <p:nvPr/>
        </p:nvPicPr>
        <p:blipFill>
          <a:blip r:embed="rId3">
            <a:alphaModFix/>
          </a:blip>
          <a:stretch>
            <a:fillRect/>
          </a:stretch>
        </p:blipFill>
        <p:spPr>
          <a:xfrm>
            <a:off x="6369950" y="1628549"/>
            <a:ext cx="2271924" cy="2576200"/>
          </a:xfrm>
          <a:prstGeom prst="rect">
            <a:avLst/>
          </a:prstGeom>
          <a:noFill/>
          <a:ln>
            <a:noFill/>
          </a:ln>
        </p:spPr>
      </p:pic>
      <p:sp>
        <p:nvSpPr>
          <p:cNvPr id="98" name="Google Shape;98;p17"/>
          <p:cNvSpPr txBox="1"/>
          <p:nvPr/>
        </p:nvSpPr>
        <p:spPr>
          <a:xfrm>
            <a:off x="6239500" y="4853275"/>
            <a:ext cx="2790300" cy="1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Source: The News Block #23 by Natalie Brunell</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If nothing else, know…</a:t>
            </a:r>
            <a:endParaRPr/>
          </a:p>
        </p:txBody>
      </p:sp>
      <p:pic>
        <p:nvPicPr>
          <p:cNvPr id="104" name="Google Shape;104;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9"/>
          <p:cNvPicPr preferRelativeResize="0"/>
          <p:nvPr/>
        </p:nvPicPr>
        <p:blipFill>
          <a:blip r:embed="rId3">
            <a:alphaModFix/>
          </a:blip>
          <a:stretch>
            <a:fillRect/>
          </a:stretch>
        </p:blipFill>
        <p:spPr>
          <a:xfrm>
            <a:off x="1019700" y="400474"/>
            <a:ext cx="3436500" cy="4207351"/>
          </a:xfrm>
          <a:prstGeom prst="rect">
            <a:avLst/>
          </a:prstGeom>
          <a:noFill/>
          <a:ln>
            <a:noFill/>
          </a:ln>
        </p:spPr>
      </p:pic>
      <p:pic>
        <p:nvPicPr>
          <p:cNvPr id="110" name="Google Shape;110;p19"/>
          <p:cNvPicPr preferRelativeResize="0"/>
          <p:nvPr/>
        </p:nvPicPr>
        <p:blipFill>
          <a:blip r:embed="rId4">
            <a:alphaModFix/>
          </a:blip>
          <a:stretch>
            <a:fillRect/>
          </a:stretch>
        </p:blipFill>
        <p:spPr>
          <a:xfrm>
            <a:off x="5329275" y="152400"/>
            <a:ext cx="2779181" cy="4838701"/>
          </a:xfrm>
          <a:prstGeom prst="rect">
            <a:avLst/>
          </a:prstGeom>
          <a:noFill/>
          <a:ln>
            <a:noFill/>
          </a:ln>
        </p:spPr>
      </p:pic>
      <p:pic>
        <p:nvPicPr>
          <p:cNvPr id="111" name="Google Shape;111;p19"/>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460950" y="2065350"/>
            <a:ext cx="8222100" cy="1425300"/>
          </a:xfrm>
          <a:prstGeom prst="rect">
            <a:avLst/>
          </a:prstGeom>
        </p:spPr>
        <p:txBody>
          <a:bodyPr anchorCtr="0" anchor="ctr" bIns="91425" lIns="91425" spcFirstLastPara="1" rIns="91425" wrap="square" tIns="91425">
            <a:normAutofit fontScale="90000"/>
          </a:bodyPr>
          <a:lstStyle/>
          <a:p>
            <a:pPr indent="-468630" lvl="0" marL="457200" rtl="0" algn="l">
              <a:spcBef>
                <a:spcPts val="0"/>
              </a:spcBef>
              <a:spcAft>
                <a:spcPts val="0"/>
              </a:spcAft>
              <a:buSzPct val="100000"/>
              <a:buAutoNum type="arabicPeriod"/>
            </a:pPr>
            <a:r>
              <a:rPr lang="en"/>
              <a:t>bitcoin is a tool in your toolbox. </a:t>
            </a:r>
            <a:endParaRPr/>
          </a:p>
          <a:p>
            <a:pPr indent="-322898" lvl="1" marL="914400" rtl="0" algn="l">
              <a:spcBef>
                <a:spcPts val="0"/>
              </a:spcBef>
              <a:spcAft>
                <a:spcPts val="0"/>
              </a:spcAft>
              <a:buSzPct val="100000"/>
              <a:buChar char="○"/>
            </a:pPr>
            <a:r>
              <a:rPr lang="en" sz="1650"/>
              <a:t>It’s not a “hedge”</a:t>
            </a:r>
            <a:endParaRPr sz="1650"/>
          </a:p>
          <a:p>
            <a:pPr indent="-322898" lvl="1" marL="914400" rtl="0" algn="l">
              <a:spcBef>
                <a:spcPts val="0"/>
              </a:spcBef>
              <a:spcAft>
                <a:spcPts val="0"/>
              </a:spcAft>
              <a:buSzPct val="100000"/>
              <a:buChar char="○"/>
            </a:pPr>
            <a:r>
              <a:rPr lang="en" sz="1650"/>
              <a:t>It’s not a solution in search of a problem</a:t>
            </a:r>
            <a:endParaRPr sz="1650"/>
          </a:p>
          <a:p>
            <a:pPr indent="-322898" lvl="1" marL="914400" rtl="0" algn="l">
              <a:spcBef>
                <a:spcPts val="0"/>
              </a:spcBef>
              <a:spcAft>
                <a:spcPts val="0"/>
              </a:spcAft>
              <a:buSzPct val="100000"/>
              <a:buChar char="○"/>
            </a:pPr>
            <a:r>
              <a:rPr lang="en" sz="1650"/>
              <a:t>It’s a reset button</a:t>
            </a:r>
            <a:endParaRPr sz="1650"/>
          </a:p>
          <a:p>
            <a:pPr indent="0" lvl="0" marL="0" rtl="0" algn="l">
              <a:spcBef>
                <a:spcPts val="0"/>
              </a:spcBef>
              <a:spcAft>
                <a:spcPts val="0"/>
              </a:spcAft>
              <a:buNone/>
            </a:pPr>
            <a:r>
              <a:t/>
            </a:r>
            <a:endParaRPr i="1" sz="1650"/>
          </a:p>
        </p:txBody>
      </p:sp>
      <p:pic>
        <p:nvPicPr>
          <p:cNvPr id="117" name="Google Shape;117;p2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460950" y="2065350"/>
            <a:ext cx="8222100" cy="1425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bitcoin is a tool in your toolbox. </a:t>
            </a:r>
            <a:endParaRPr/>
          </a:p>
          <a:p>
            <a:pPr indent="0" lvl="0" marL="0" rtl="0" algn="l">
              <a:spcBef>
                <a:spcPts val="0"/>
              </a:spcBef>
              <a:spcAft>
                <a:spcPts val="0"/>
              </a:spcAft>
              <a:buNone/>
            </a:pPr>
            <a:r>
              <a:rPr i="1" lang="en" sz="1650"/>
              <a:t>to protect against monetary debasement and uncertainty</a:t>
            </a:r>
            <a:endParaRPr i="1" sz="1650"/>
          </a:p>
          <a:p>
            <a:pPr indent="0" lvl="0" marL="0" rtl="0" algn="l">
              <a:spcBef>
                <a:spcPts val="0"/>
              </a:spcBef>
              <a:spcAft>
                <a:spcPts val="0"/>
              </a:spcAft>
              <a:buNone/>
            </a:pPr>
            <a:r>
              <a:t/>
            </a:r>
            <a:endParaRPr i="1" sz="1650"/>
          </a:p>
          <a:p>
            <a:pPr indent="0" lvl="0" marL="0" rtl="0" algn="l">
              <a:spcBef>
                <a:spcPts val="0"/>
              </a:spcBef>
              <a:spcAft>
                <a:spcPts val="0"/>
              </a:spcAft>
              <a:buNone/>
            </a:pPr>
            <a:r>
              <a:rPr i="1" lang="en" sz="1650"/>
              <a:t>but…remember the norms (later on in slides)</a:t>
            </a:r>
            <a:endParaRPr i="1" sz="1650"/>
          </a:p>
        </p:txBody>
      </p:sp>
      <p:pic>
        <p:nvPicPr>
          <p:cNvPr id="123" name="Google Shape;123;p21"/>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2. Get your bitcoin off exchanges. </a:t>
            </a:r>
            <a:endParaRPr/>
          </a:p>
        </p:txBody>
      </p:sp>
      <p:pic>
        <p:nvPicPr>
          <p:cNvPr id="129" name="Google Shape;129;p2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3. My door is always open. </a:t>
            </a:r>
            <a:endParaRPr/>
          </a:p>
        </p:txBody>
      </p:sp>
      <p:pic>
        <p:nvPicPr>
          <p:cNvPr id="135" name="Google Shape;135;p2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p:cNvPicPr preferRelativeResize="0"/>
          <p:nvPr/>
        </p:nvPicPr>
        <p:blipFill>
          <a:blip r:embed="rId3">
            <a:alphaModFix/>
          </a:blip>
          <a:stretch>
            <a:fillRect/>
          </a:stretch>
        </p:blipFill>
        <p:spPr>
          <a:xfrm>
            <a:off x="1685925" y="872025"/>
            <a:ext cx="5772150" cy="3581400"/>
          </a:xfrm>
          <a:prstGeom prst="rect">
            <a:avLst/>
          </a:prstGeom>
          <a:noFill/>
          <a:ln>
            <a:noFill/>
          </a:ln>
        </p:spPr>
      </p:pic>
      <p:pic>
        <p:nvPicPr>
          <p:cNvPr id="141" name="Google Shape;141;p2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5"/>
          <p:cNvPicPr preferRelativeResize="0"/>
          <p:nvPr/>
        </p:nvPicPr>
        <p:blipFill>
          <a:blip r:embed="rId3">
            <a:alphaModFix/>
          </a:blip>
          <a:stretch>
            <a:fillRect/>
          </a:stretch>
        </p:blipFill>
        <p:spPr>
          <a:xfrm>
            <a:off x="305750" y="199575"/>
            <a:ext cx="4180950" cy="2499200"/>
          </a:xfrm>
          <a:prstGeom prst="rect">
            <a:avLst/>
          </a:prstGeom>
          <a:noFill/>
          <a:ln>
            <a:noFill/>
          </a:ln>
        </p:spPr>
      </p:pic>
      <p:pic>
        <p:nvPicPr>
          <p:cNvPr id="147" name="Google Shape;147;p25"/>
          <p:cNvPicPr preferRelativeResize="0"/>
          <p:nvPr/>
        </p:nvPicPr>
        <p:blipFill>
          <a:blip r:embed="rId4">
            <a:alphaModFix/>
          </a:blip>
          <a:stretch>
            <a:fillRect/>
          </a:stretch>
        </p:blipFill>
        <p:spPr>
          <a:xfrm>
            <a:off x="4572000" y="2228675"/>
            <a:ext cx="4248150" cy="2705100"/>
          </a:xfrm>
          <a:prstGeom prst="rect">
            <a:avLst/>
          </a:prstGeom>
          <a:noFill/>
          <a:ln>
            <a:noFill/>
          </a:ln>
        </p:spPr>
      </p:pic>
      <p:pic>
        <p:nvPicPr>
          <p:cNvPr id="148" name="Google Shape;148;p25"/>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Point: </a:t>
            </a:r>
            <a:r>
              <a:rPr lang="en"/>
              <a:t>We are so early. </a:t>
            </a:r>
            <a:endParaRPr/>
          </a:p>
        </p:txBody>
      </p:sp>
      <p:pic>
        <p:nvPicPr>
          <p:cNvPr id="154" name="Google Shape;154;p2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Leadership</a:t>
            </a:r>
            <a:endParaRPr/>
          </a:p>
        </p:txBody>
      </p:sp>
      <p:pic>
        <p:nvPicPr>
          <p:cNvPr id="160" name="Google Shape;160;p2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8"/>
          <p:cNvPicPr preferRelativeResize="0"/>
          <p:nvPr/>
        </p:nvPicPr>
        <p:blipFill>
          <a:blip r:embed="rId3">
            <a:alphaModFix/>
          </a:blip>
          <a:stretch>
            <a:fillRect/>
          </a:stretch>
        </p:blipFill>
        <p:spPr>
          <a:xfrm>
            <a:off x="790775" y="709125"/>
            <a:ext cx="3915726" cy="3915726"/>
          </a:xfrm>
          <a:prstGeom prst="rect">
            <a:avLst/>
          </a:prstGeom>
          <a:noFill/>
          <a:ln>
            <a:noFill/>
          </a:ln>
        </p:spPr>
      </p:pic>
      <p:pic>
        <p:nvPicPr>
          <p:cNvPr id="166" name="Google Shape;166;p28"/>
          <p:cNvPicPr preferRelativeResize="0"/>
          <p:nvPr/>
        </p:nvPicPr>
        <p:blipFill>
          <a:blip r:embed="rId4">
            <a:alphaModFix/>
          </a:blip>
          <a:stretch>
            <a:fillRect/>
          </a:stretch>
        </p:blipFill>
        <p:spPr>
          <a:xfrm>
            <a:off x="4889075" y="709125"/>
            <a:ext cx="3915726" cy="3915726"/>
          </a:xfrm>
          <a:prstGeom prst="rect">
            <a:avLst/>
          </a:prstGeom>
          <a:noFill/>
          <a:ln>
            <a:noFill/>
          </a:ln>
        </p:spPr>
      </p:pic>
      <p:pic>
        <p:nvPicPr>
          <p:cNvPr id="167" name="Google Shape;167;p28"/>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73" name="Google Shape;173;p29"/>
          <p:cNvPicPr preferRelativeResize="0"/>
          <p:nvPr/>
        </p:nvPicPr>
        <p:blipFill>
          <a:blip r:embed="rId4">
            <a:alphaModFix/>
          </a:blip>
          <a:stretch>
            <a:fillRect/>
          </a:stretch>
        </p:blipFill>
        <p:spPr>
          <a:xfrm>
            <a:off x="753425" y="709125"/>
            <a:ext cx="3915726" cy="3915726"/>
          </a:xfrm>
          <a:prstGeom prst="rect">
            <a:avLst/>
          </a:prstGeom>
          <a:noFill/>
          <a:ln>
            <a:noFill/>
          </a:ln>
        </p:spPr>
      </p:pic>
      <p:pic>
        <p:nvPicPr>
          <p:cNvPr id="174" name="Google Shape;174;p29"/>
          <p:cNvPicPr preferRelativeResize="0"/>
          <p:nvPr/>
        </p:nvPicPr>
        <p:blipFill>
          <a:blip r:embed="rId5">
            <a:alphaModFix/>
          </a:blip>
          <a:stretch>
            <a:fillRect/>
          </a:stretch>
        </p:blipFill>
        <p:spPr>
          <a:xfrm>
            <a:off x="4785725" y="709125"/>
            <a:ext cx="3915726" cy="39157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4650"/>
              <a:t>Icebreaker</a:t>
            </a:r>
            <a:endParaRPr sz="4650"/>
          </a:p>
          <a:p>
            <a:pPr indent="0" lvl="0" marL="0" rtl="0" algn="l">
              <a:spcBef>
                <a:spcPts val="0"/>
              </a:spcBef>
              <a:spcAft>
                <a:spcPts val="0"/>
              </a:spcAft>
              <a:buNone/>
            </a:pPr>
            <a:r>
              <a:rPr lang="en" sz="2000"/>
              <a:t>+ </a:t>
            </a:r>
            <a:r>
              <a:rPr lang="en" sz="2000"/>
              <a:t>Fun Fact</a:t>
            </a:r>
            <a:endParaRPr sz="2000"/>
          </a:p>
        </p:txBody>
      </p:sp>
      <p:pic>
        <p:nvPicPr>
          <p:cNvPr id="180" name="Google Shape;180;p3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4" name="Shape 184"/>
        <p:cNvGrpSpPr/>
        <p:nvPr/>
      </p:nvGrpSpPr>
      <p:grpSpPr>
        <a:xfrm>
          <a:off x="0" y="0"/>
          <a:ext cx="0" cy="0"/>
          <a:chOff x="0" y="0"/>
          <a:chExt cx="0" cy="0"/>
        </a:xfrm>
      </p:grpSpPr>
      <p:sp>
        <p:nvSpPr>
          <p:cNvPr id="185" name="Google Shape;185;p31"/>
          <p:cNvSpPr txBox="1"/>
          <p:nvPr>
            <p:ph type="title"/>
          </p:nvPr>
        </p:nvSpPr>
        <p:spPr>
          <a:xfrm>
            <a:off x="226075" y="1872225"/>
            <a:ext cx="2808000" cy="1189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How do you eat your pizza? Folded? Flat? </a:t>
            </a:r>
            <a:endParaRPr/>
          </a:p>
          <a:p>
            <a:pPr indent="0" lvl="0" marL="0" rtl="0" algn="l">
              <a:spcBef>
                <a:spcPts val="0"/>
              </a:spcBef>
              <a:spcAft>
                <a:spcPts val="0"/>
              </a:spcAft>
              <a:buNone/>
            </a:pPr>
            <a:r>
              <a:t/>
            </a:r>
            <a:endParaRPr/>
          </a:p>
        </p:txBody>
      </p:sp>
      <p:sp>
        <p:nvSpPr>
          <p:cNvPr id="186" name="Google Shape;186;p31"/>
          <p:cNvSpPr txBox="1"/>
          <p:nvPr/>
        </p:nvSpPr>
        <p:spPr>
          <a:xfrm>
            <a:off x="3843850" y="917950"/>
            <a:ext cx="48165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C</a:t>
            </a:r>
            <a:r>
              <a:rPr lang="en">
                <a:solidFill>
                  <a:schemeClr val="lt1"/>
                </a:solidFill>
                <a:latin typeface="Proxima Nova"/>
                <a:ea typeface="Proxima Nova"/>
                <a:cs typeface="Proxima Nova"/>
                <a:sym typeface="Proxima Nova"/>
              </a:rPr>
              <a:t>elebrates bitcoin’s first-ever real-world transaction, which took place 14 years ago</a:t>
            </a:r>
            <a:endParaRPr>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 programmer named Laszlo Hanyecz famously purchased two pizzas for 10,000 BTC from another user on the BitcoinTalk forum on May 22, 2010.</a:t>
            </a:r>
            <a:endParaRPr>
              <a:solidFill>
                <a:schemeClr val="lt1"/>
              </a:solidFill>
              <a:latin typeface="Proxima Nova"/>
              <a:ea typeface="Proxima Nova"/>
              <a:cs typeface="Proxima Nova"/>
              <a:sym typeface="Proxima Nova"/>
            </a:endParaRPr>
          </a:p>
        </p:txBody>
      </p:sp>
      <p:sp>
        <p:nvSpPr>
          <p:cNvPr id="187" name="Google Shape;187;p31"/>
          <p:cNvSpPr txBox="1"/>
          <p:nvPr>
            <p:ph type="title"/>
          </p:nvPr>
        </p:nvSpPr>
        <p:spPr>
          <a:xfrm>
            <a:off x="3755800" y="203375"/>
            <a:ext cx="4992600" cy="63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Bitcoin Pizza Day</a:t>
            </a:r>
            <a:endParaRPr b="1"/>
          </a:p>
        </p:txBody>
      </p:sp>
      <p:pic>
        <p:nvPicPr>
          <p:cNvPr id="188" name="Google Shape;188;p31"/>
          <p:cNvPicPr preferRelativeResize="0"/>
          <p:nvPr/>
        </p:nvPicPr>
        <p:blipFill>
          <a:blip r:embed="rId3">
            <a:alphaModFix/>
          </a:blip>
          <a:stretch>
            <a:fillRect/>
          </a:stretch>
        </p:blipFill>
        <p:spPr>
          <a:xfrm>
            <a:off x="6844025" y="3216575"/>
            <a:ext cx="2045525" cy="1361200"/>
          </a:xfrm>
          <a:prstGeom prst="rect">
            <a:avLst/>
          </a:prstGeom>
          <a:noFill/>
          <a:ln>
            <a:noFill/>
          </a:ln>
        </p:spPr>
      </p:pic>
      <p:pic>
        <p:nvPicPr>
          <p:cNvPr id="189" name="Google Shape;189;p31"/>
          <p:cNvPicPr preferRelativeResize="0"/>
          <p:nvPr/>
        </p:nvPicPr>
        <p:blipFill>
          <a:blip r:embed="rId4">
            <a:alphaModFix/>
          </a:blip>
          <a:stretch>
            <a:fillRect/>
          </a:stretch>
        </p:blipFill>
        <p:spPr>
          <a:xfrm>
            <a:off x="3670400" y="2643525"/>
            <a:ext cx="2866075" cy="2175230"/>
          </a:xfrm>
          <a:prstGeom prst="rect">
            <a:avLst/>
          </a:prstGeom>
          <a:noFill/>
          <a:ln>
            <a:noFill/>
          </a:ln>
        </p:spPr>
      </p:pic>
      <p:pic>
        <p:nvPicPr>
          <p:cNvPr id="190" name="Google Shape;190;p31"/>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Some polls…</a:t>
            </a:r>
            <a:endParaRPr/>
          </a:p>
        </p:txBody>
      </p:sp>
      <p:pic>
        <p:nvPicPr>
          <p:cNvPr id="196" name="Google Shape;196;p3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#1</a:t>
            </a:r>
            <a:endParaRPr/>
          </a:p>
          <a:p>
            <a:pPr indent="0" lvl="0" marL="0" rtl="0" algn="l">
              <a:spcBef>
                <a:spcPts val="0"/>
              </a:spcBef>
              <a:spcAft>
                <a:spcPts val="0"/>
              </a:spcAft>
              <a:buNone/>
            </a:pPr>
            <a:r>
              <a:rPr lang="en" sz="2000"/>
              <a:t>But first…</a:t>
            </a:r>
            <a:endParaRPr sz="2000"/>
          </a:p>
        </p:txBody>
      </p:sp>
      <p:pic>
        <p:nvPicPr>
          <p:cNvPr id="202" name="Google Shape;202;p3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4"/>
          <p:cNvPicPr preferRelativeResize="0"/>
          <p:nvPr/>
        </p:nvPicPr>
        <p:blipFill>
          <a:blip r:embed="rId3">
            <a:alphaModFix/>
          </a:blip>
          <a:stretch>
            <a:fillRect/>
          </a:stretch>
        </p:blipFill>
        <p:spPr>
          <a:xfrm>
            <a:off x="1929950" y="470025"/>
            <a:ext cx="5595098" cy="4203450"/>
          </a:xfrm>
          <a:prstGeom prst="rect">
            <a:avLst/>
          </a:prstGeom>
          <a:noFill/>
          <a:ln>
            <a:noFill/>
          </a:ln>
        </p:spPr>
      </p:pic>
      <p:pic>
        <p:nvPicPr>
          <p:cNvPr id="208" name="Google Shape;208;p3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History of Bitcoin</a:t>
            </a:r>
            <a:endParaRPr/>
          </a:p>
        </p:txBody>
      </p:sp>
      <p:pic>
        <p:nvPicPr>
          <p:cNvPr id="214" name="Google Shape;214;p35"/>
          <p:cNvPicPr preferRelativeResize="0"/>
          <p:nvPr/>
        </p:nvPicPr>
        <p:blipFill rotWithShape="1">
          <a:blip r:embed="rId3">
            <a:alphaModFix/>
          </a:blip>
          <a:srcRect b="0" l="0" r="0" t="7681"/>
          <a:stretch/>
        </p:blipFill>
        <p:spPr>
          <a:xfrm>
            <a:off x="252475" y="945325"/>
            <a:ext cx="5068099" cy="3557375"/>
          </a:xfrm>
          <a:prstGeom prst="rect">
            <a:avLst/>
          </a:prstGeom>
          <a:noFill/>
          <a:ln>
            <a:noFill/>
          </a:ln>
        </p:spPr>
      </p:pic>
      <p:pic>
        <p:nvPicPr>
          <p:cNvPr id="215" name="Google Shape;215;p35"/>
          <p:cNvPicPr preferRelativeResize="0"/>
          <p:nvPr/>
        </p:nvPicPr>
        <p:blipFill>
          <a:blip r:embed="rId4">
            <a:alphaModFix/>
          </a:blip>
          <a:stretch>
            <a:fillRect/>
          </a:stretch>
        </p:blipFill>
        <p:spPr>
          <a:xfrm>
            <a:off x="5488374" y="1207500"/>
            <a:ext cx="3436475" cy="30330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Studying/Learning Bitcoin is…</a:t>
            </a:r>
            <a:endParaRPr/>
          </a:p>
        </p:txBody>
      </p:sp>
      <p:sp>
        <p:nvSpPr>
          <p:cNvPr id="221" name="Google Shape;221;p36"/>
          <p:cNvSpPr txBox="1"/>
          <p:nvPr/>
        </p:nvSpPr>
        <p:spPr>
          <a:xfrm>
            <a:off x="551400" y="1667750"/>
            <a:ext cx="8041200" cy="22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lt1"/>
                </a:solidFill>
                <a:latin typeface="Proxima Nova"/>
                <a:ea typeface="Proxima Nova"/>
                <a:cs typeface="Proxima Nova"/>
                <a:sym typeface="Proxima Nova"/>
              </a:rPr>
              <a:t>math, physics, law, energy, history, finance, money, politics, economics, engineering, game theory, human rights, macroeconomics (Austrian), computer science, cryptography, cognitive science, philosophy, psychology, anthropology, freedom, sovereignty, trade, communication, government, sociology, power projection, praxeology, distributed systems, biology, etc…</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But, mostly, it’s: </a:t>
            </a:r>
            <a:endParaRPr/>
          </a:p>
        </p:txBody>
      </p:sp>
      <p:sp>
        <p:nvSpPr>
          <p:cNvPr id="227" name="Google Shape;227;p37"/>
          <p:cNvSpPr txBox="1"/>
          <p:nvPr/>
        </p:nvSpPr>
        <p:spPr>
          <a:xfrm>
            <a:off x="551400" y="2325450"/>
            <a:ext cx="80412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curiosity, </a:t>
            </a:r>
            <a:endParaRPr sz="2000">
              <a:solidFill>
                <a:schemeClr val="lt1"/>
              </a:solidFill>
              <a:latin typeface="Proxima Nova"/>
              <a:ea typeface="Proxima Nova"/>
              <a:cs typeface="Proxima Nova"/>
              <a:sym typeface="Proxima Nova"/>
            </a:endParaRPr>
          </a:p>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critical thinking, first-principles thinking</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nvSpPr>
        <p:spPr>
          <a:xfrm>
            <a:off x="507825" y="13713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chemeClr val="lt1"/>
                </a:solidFill>
                <a:latin typeface="Proxima Nova"/>
                <a:ea typeface="Proxima Nova"/>
                <a:cs typeface="Proxima Nova"/>
                <a:sym typeface="Proxima Nova"/>
              </a:rPr>
              <a:t>Defining: </a:t>
            </a:r>
            <a:endParaRPr sz="4800">
              <a:solidFill>
                <a:schemeClr val="lt1"/>
              </a:solidFill>
              <a:latin typeface="Proxima Nova"/>
              <a:ea typeface="Proxima Nova"/>
              <a:cs typeface="Proxima Nova"/>
              <a:sym typeface="Proxima Nova"/>
            </a:endParaRPr>
          </a:p>
        </p:txBody>
      </p:sp>
      <p:sp>
        <p:nvSpPr>
          <p:cNvPr id="233" name="Google Shape;233;p38"/>
          <p:cNvSpPr txBox="1"/>
          <p:nvPr>
            <p:ph idx="4294967295" type="subTitle"/>
          </p:nvPr>
        </p:nvSpPr>
        <p:spPr>
          <a:xfrm>
            <a:off x="460950" y="2294701"/>
            <a:ext cx="8222100" cy="147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bitcoin vs. Bitcoin</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Money &amp; Fiat Money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C</a:t>
            </a:r>
            <a:r>
              <a:rPr lang="en">
                <a:solidFill>
                  <a:schemeClr val="lt1"/>
                </a:solidFill>
              </a:rPr>
              <a:t>urrency</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B</a:t>
            </a:r>
            <a:r>
              <a:rPr lang="en">
                <a:solidFill>
                  <a:schemeClr val="lt1"/>
                </a:solidFill>
              </a:rPr>
              <a:t>lockchain</a:t>
            </a:r>
            <a:endParaRPr>
              <a:solidFill>
                <a:schemeClr val="lt1"/>
              </a:solidFill>
            </a:endParaRPr>
          </a:p>
        </p:txBody>
      </p:sp>
      <p:pic>
        <p:nvPicPr>
          <p:cNvPr id="234" name="Google Shape;234;p3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Question: </a:t>
            </a:r>
            <a:r>
              <a:rPr lang="en" sz="3000"/>
              <a:t>What is </a:t>
            </a:r>
            <a:r>
              <a:rPr b="1" lang="en" sz="3000"/>
              <a:t>b</a:t>
            </a:r>
            <a:r>
              <a:rPr lang="en" sz="3000"/>
              <a:t>itcoin? What is </a:t>
            </a:r>
            <a:r>
              <a:rPr b="1" lang="en" sz="3000"/>
              <a:t>B</a:t>
            </a:r>
            <a:r>
              <a:rPr lang="en" sz="3000"/>
              <a:t>itcoin? </a:t>
            </a:r>
            <a:endParaRPr sz="3000"/>
          </a:p>
        </p:txBody>
      </p:sp>
      <p:pic>
        <p:nvPicPr>
          <p:cNvPr id="240" name="Google Shape;240;p3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40"/>
          <p:cNvPicPr preferRelativeResize="0"/>
          <p:nvPr/>
        </p:nvPicPr>
        <p:blipFill>
          <a:blip r:embed="rId3">
            <a:alphaModFix/>
          </a:blip>
          <a:stretch>
            <a:fillRect/>
          </a:stretch>
        </p:blipFill>
        <p:spPr>
          <a:xfrm>
            <a:off x="3622485" y="1181225"/>
            <a:ext cx="5134926" cy="2781050"/>
          </a:xfrm>
          <a:prstGeom prst="rect">
            <a:avLst/>
          </a:prstGeom>
          <a:noFill/>
          <a:ln>
            <a:noFill/>
          </a:ln>
        </p:spPr>
      </p:pic>
      <p:sp>
        <p:nvSpPr>
          <p:cNvPr id="246" name="Google Shape;246;p40"/>
          <p:cNvSpPr txBox="1"/>
          <p:nvPr/>
        </p:nvSpPr>
        <p:spPr>
          <a:xfrm>
            <a:off x="386588" y="1897675"/>
            <a:ext cx="300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1"/>
                </a:solidFill>
                <a:latin typeface="Barlow"/>
                <a:ea typeface="Barlow"/>
                <a:cs typeface="Barlow"/>
                <a:sym typeface="Barlow"/>
              </a:rPr>
              <a:t>B</a:t>
            </a:r>
            <a:r>
              <a:rPr lang="en" sz="2000">
                <a:solidFill>
                  <a:schemeClr val="lt1"/>
                </a:solidFill>
                <a:latin typeface="Barlow"/>
                <a:ea typeface="Barlow"/>
                <a:cs typeface="Barlow"/>
                <a:sym typeface="Barlow"/>
              </a:rPr>
              <a:t>itcoin is the network. </a:t>
            </a:r>
            <a:endParaRPr sz="2000">
              <a:solidFill>
                <a:schemeClr val="lt1"/>
              </a:solidFill>
              <a:latin typeface="Barlow"/>
              <a:ea typeface="Barlow"/>
              <a:cs typeface="Barlow"/>
              <a:sym typeface="Barlow"/>
            </a:endParaRPr>
          </a:p>
          <a:p>
            <a:pPr indent="0" lvl="0" marL="0" rtl="0" algn="l">
              <a:spcBef>
                <a:spcPts val="0"/>
              </a:spcBef>
              <a:spcAft>
                <a:spcPts val="0"/>
              </a:spcAft>
              <a:buNone/>
            </a:pPr>
            <a:r>
              <a:t/>
            </a:r>
            <a:endParaRPr sz="2000">
              <a:solidFill>
                <a:schemeClr val="lt1"/>
              </a:solidFill>
              <a:latin typeface="Barlow"/>
              <a:ea typeface="Barlow"/>
              <a:cs typeface="Barlow"/>
              <a:sym typeface="Barlow"/>
            </a:endParaRPr>
          </a:p>
          <a:p>
            <a:pPr indent="0" lvl="0" marL="0" rtl="0" algn="l">
              <a:spcBef>
                <a:spcPts val="0"/>
              </a:spcBef>
              <a:spcAft>
                <a:spcPts val="0"/>
              </a:spcAft>
              <a:buNone/>
            </a:pPr>
            <a:r>
              <a:rPr b="1" lang="en" sz="2000">
                <a:solidFill>
                  <a:schemeClr val="lt1"/>
                </a:solidFill>
                <a:latin typeface="Barlow"/>
                <a:ea typeface="Barlow"/>
                <a:cs typeface="Barlow"/>
                <a:sym typeface="Barlow"/>
              </a:rPr>
              <a:t>b</a:t>
            </a:r>
            <a:r>
              <a:rPr lang="en" sz="2000">
                <a:solidFill>
                  <a:schemeClr val="lt1"/>
                </a:solidFill>
                <a:latin typeface="Barlow"/>
                <a:ea typeface="Barlow"/>
                <a:cs typeface="Barlow"/>
                <a:sym typeface="Barlow"/>
              </a:rPr>
              <a:t>itcoin is the currency. </a:t>
            </a:r>
            <a:endParaRPr sz="2000">
              <a:solidFill>
                <a:schemeClr val="lt1"/>
              </a:solidFill>
              <a:latin typeface="Barlow"/>
              <a:ea typeface="Barlow"/>
              <a:cs typeface="Barlow"/>
              <a:sym typeface="Barlow"/>
            </a:endParaRPr>
          </a:p>
        </p:txBody>
      </p:sp>
      <p:pic>
        <p:nvPicPr>
          <p:cNvPr id="247" name="Google Shape;247;p4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 Monetary Protocol </a:t>
            </a:r>
            <a:endParaRPr/>
          </a:p>
        </p:txBody>
      </p:sp>
      <p:pic>
        <p:nvPicPr>
          <p:cNvPr id="253" name="Google Shape;253;p41"/>
          <p:cNvPicPr preferRelativeResize="0"/>
          <p:nvPr/>
        </p:nvPicPr>
        <p:blipFill rotWithShape="1">
          <a:blip r:embed="rId3">
            <a:alphaModFix/>
          </a:blip>
          <a:srcRect b="14022" l="11245" r="0" t="19173"/>
          <a:stretch/>
        </p:blipFill>
        <p:spPr>
          <a:xfrm>
            <a:off x="5175211" y="1079250"/>
            <a:ext cx="3308264" cy="3320100"/>
          </a:xfrm>
          <a:prstGeom prst="rect">
            <a:avLst/>
          </a:prstGeom>
          <a:noFill/>
          <a:ln>
            <a:noFill/>
          </a:ln>
        </p:spPr>
      </p:pic>
      <p:sp>
        <p:nvSpPr>
          <p:cNvPr id="254" name="Google Shape;254;p41"/>
          <p:cNvSpPr txBox="1"/>
          <p:nvPr/>
        </p:nvSpPr>
        <p:spPr>
          <a:xfrm>
            <a:off x="367400" y="1079250"/>
            <a:ext cx="4609500" cy="3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Once the wheel was invented, it could never be reinvented. </a:t>
            </a:r>
            <a:endParaRPr b="1">
              <a:solidFill>
                <a:schemeClr val="lt1"/>
              </a:solidFill>
              <a:latin typeface="Barlow"/>
              <a:ea typeface="Barlow"/>
              <a:cs typeface="Barlow"/>
              <a:sym typeface="Barlow"/>
            </a:endParaRPr>
          </a:p>
          <a:p>
            <a:pPr indent="0" lvl="0" marL="457200" rtl="0" algn="l">
              <a:spcBef>
                <a:spcPts val="0"/>
              </a:spcBef>
              <a:spcAft>
                <a:spcPts val="0"/>
              </a:spcAft>
              <a:buNone/>
            </a:pPr>
            <a:r>
              <a:t/>
            </a:r>
            <a:endParaRPr b="1">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The TCP/IP protocol that the internet runs on has been the standard for all computer networking since 1983. It is likely to continue being the standard for a long time.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Once a perfect-solution, base layer technology is discovered that works optimally, it can last for hundreds or thousands of years.”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rPr lang="en" sz="1100">
                <a:solidFill>
                  <a:schemeClr val="lt1"/>
                </a:solidFill>
                <a:latin typeface="Barlow"/>
                <a:ea typeface="Barlow"/>
                <a:cs typeface="Barlow"/>
                <a:sym typeface="Barlow"/>
              </a:rPr>
              <a:t>Credit: Keysa Luna, </a:t>
            </a:r>
            <a:r>
              <a:rPr i="1" lang="en" sz="1100">
                <a:solidFill>
                  <a:schemeClr val="lt1"/>
                </a:solidFill>
                <a:latin typeface="Barlow"/>
                <a:ea typeface="Barlow"/>
                <a:cs typeface="Barlow"/>
                <a:sym typeface="Barlow"/>
              </a:rPr>
              <a:t>The Simplest Bitcoin Book Ever Written</a:t>
            </a:r>
            <a:endParaRPr i="1" sz="1100">
              <a:solidFill>
                <a:schemeClr val="lt1"/>
              </a:solidFill>
              <a:latin typeface="Barlow"/>
              <a:ea typeface="Barlow"/>
              <a:cs typeface="Barlow"/>
              <a:sym typeface="Barlo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42"/>
          <p:cNvPicPr preferRelativeResize="0"/>
          <p:nvPr/>
        </p:nvPicPr>
        <p:blipFill>
          <a:blip r:embed="rId3">
            <a:alphaModFix/>
          </a:blip>
          <a:stretch>
            <a:fillRect/>
          </a:stretch>
        </p:blipFill>
        <p:spPr>
          <a:xfrm>
            <a:off x="3395088" y="895613"/>
            <a:ext cx="4837925" cy="3352275"/>
          </a:xfrm>
          <a:prstGeom prst="rect">
            <a:avLst/>
          </a:prstGeom>
          <a:noFill/>
          <a:ln>
            <a:noFill/>
          </a:ln>
        </p:spPr>
      </p:pic>
      <p:sp>
        <p:nvSpPr>
          <p:cNvPr id="260" name="Google Shape;260;p42"/>
          <p:cNvSpPr txBox="1"/>
          <p:nvPr/>
        </p:nvSpPr>
        <p:spPr>
          <a:xfrm>
            <a:off x="907700" y="2269200"/>
            <a:ext cx="167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Barlow"/>
                <a:ea typeface="Barlow"/>
                <a:cs typeface="Barlow"/>
                <a:sym typeface="Barlow"/>
              </a:rPr>
              <a:t>It’s just math. </a:t>
            </a:r>
            <a:endParaRPr/>
          </a:p>
        </p:txBody>
      </p:sp>
      <p:pic>
        <p:nvPicPr>
          <p:cNvPr id="261" name="Google Shape;261;p4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3"/>
          <p:cNvPicPr preferRelativeResize="0"/>
          <p:nvPr/>
        </p:nvPicPr>
        <p:blipFill>
          <a:blip r:embed="rId3">
            <a:alphaModFix/>
          </a:blip>
          <a:stretch>
            <a:fillRect/>
          </a:stretch>
        </p:blipFill>
        <p:spPr>
          <a:xfrm>
            <a:off x="304800" y="405413"/>
            <a:ext cx="8534400" cy="4105275"/>
          </a:xfrm>
          <a:prstGeom prst="rect">
            <a:avLst/>
          </a:prstGeom>
          <a:noFill/>
          <a:ln>
            <a:noFill/>
          </a:ln>
        </p:spPr>
      </p:pic>
      <p:pic>
        <p:nvPicPr>
          <p:cNvPr id="267" name="Google Shape;267;p43"/>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Question: </a:t>
            </a:r>
            <a:r>
              <a:rPr lang="en" sz="3000"/>
              <a:t>What is </a:t>
            </a:r>
            <a:r>
              <a:rPr lang="en" sz="3000"/>
              <a:t>money? What is </a:t>
            </a:r>
            <a:r>
              <a:rPr b="1" lang="en" sz="3000"/>
              <a:t>fiat</a:t>
            </a:r>
            <a:r>
              <a:rPr lang="en" sz="3000"/>
              <a:t> money?</a:t>
            </a:r>
            <a:endParaRPr sz="3000"/>
          </a:p>
        </p:txBody>
      </p:sp>
      <p:pic>
        <p:nvPicPr>
          <p:cNvPr id="273" name="Google Shape;273;p4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5"/>
          <p:cNvPicPr preferRelativeResize="0"/>
          <p:nvPr/>
        </p:nvPicPr>
        <p:blipFill>
          <a:blip r:embed="rId3">
            <a:alphaModFix/>
          </a:blip>
          <a:stretch>
            <a:fillRect/>
          </a:stretch>
        </p:blipFill>
        <p:spPr>
          <a:xfrm>
            <a:off x="4244850" y="1143875"/>
            <a:ext cx="4735124" cy="2787600"/>
          </a:xfrm>
          <a:prstGeom prst="rect">
            <a:avLst/>
          </a:prstGeom>
          <a:noFill/>
          <a:ln>
            <a:noFill/>
          </a:ln>
        </p:spPr>
      </p:pic>
      <p:sp>
        <p:nvSpPr>
          <p:cNvPr id="279" name="Google Shape;279;p45"/>
          <p:cNvSpPr txBox="1"/>
          <p:nvPr/>
        </p:nvSpPr>
        <p:spPr>
          <a:xfrm>
            <a:off x="400400" y="691250"/>
            <a:ext cx="35568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Proxima Nova"/>
                <a:ea typeface="Proxima Nova"/>
                <a:cs typeface="Proxima Nova"/>
                <a:sym typeface="Proxima Nova"/>
              </a:rPr>
              <a:t>(Properties of) </a:t>
            </a:r>
            <a:r>
              <a:rPr b="1" lang="en" sz="1300">
                <a:solidFill>
                  <a:schemeClr val="lt1"/>
                </a:solidFill>
                <a:latin typeface="Proxima Nova"/>
                <a:ea typeface="Proxima Nova"/>
                <a:cs typeface="Proxima Nova"/>
                <a:sym typeface="Proxima Nova"/>
              </a:rPr>
              <a:t>Money:</a:t>
            </a:r>
            <a:r>
              <a:rPr lang="en" sz="1300">
                <a:solidFill>
                  <a:schemeClr val="lt1"/>
                </a:solidFill>
                <a:latin typeface="Proxima Nova"/>
                <a:ea typeface="Proxima Nova"/>
                <a:cs typeface="Proxima Nova"/>
                <a:sym typeface="Proxima Nova"/>
              </a:rPr>
              <a:t> Salability: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AutoNum type="arabicPeriod"/>
            </a:pPr>
            <a:r>
              <a:rPr lang="en" sz="1300">
                <a:solidFill>
                  <a:schemeClr val="lt1"/>
                </a:solidFill>
                <a:latin typeface="Proxima Nova"/>
                <a:ea typeface="Proxima Nova"/>
                <a:cs typeface="Proxima Nova"/>
                <a:sym typeface="Proxima Nova"/>
              </a:rPr>
              <a:t>across time/ </a:t>
            </a:r>
            <a:r>
              <a:rPr b="1" lang="en" sz="1300">
                <a:solidFill>
                  <a:schemeClr val="lt1"/>
                </a:solidFill>
                <a:latin typeface="Proxima Nova"/>
                <a:ea typeface="Proxima Nova"/>
                <a:cs typeface="Proxima Nova"/>
                <a:sym typeface="Proxima Nova"/>
              </a:rPr>
              <a:t>Store of Value</a:t>
            </a:r>
            <a:r>
              <a:rPr lang="en" sz="1300">
                <a:solidFill>
                  <a:schemeClr val="lt1"/>
                </a:solidFill>
                <a:latin typeface="Proxima Nova"/>
                <a:ea typeface="Proxima Nova"/>
                <a:cs typeface="Proxima Nova"/>
                <a:sym typeface="Proxima Nova"/>
              </a:rPr>
              <a:t>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AutoNum type="alphaLcPeriod"/>
            </a:pPr>
            <a:r>
              <a:rPr lang="en" sz="1300">
                <a:solidFill>
                  <a:schemeClr val="lt1"/>
                </a:solidFill>
                <a:latin typeface="Proxima Nova"/>
                <a:ea typeface="Proxima Nova"/>
                <a:cs typeface="Proxima Nova"/>
                <a:sym typeface="Proxima Nova"/>
              </a:rPr>
              <a:t>(scarcity, durability)</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AutoNum type="arabicPeriod"/>
            </a:pPr>
            <a:r>
              <a:rPr lang="en" sz="1300">
                <a:solidFill>
                  <a:schemeClr val="lt1"/>
                </a:solidFill>
                <a:latin typeface="Proxima Nova"/>
                <a:ea typeface="Proxima Nova"/>
                <a:cs typeface="Proxima Nova"/>
                <a:sym typeface="Proxima Nova"/>
              </a:rPr>
              <a:t>across space/ </a:t>
            </a:r>
            <a:r>
              <a:rPr b="1" lang="en" sz="1300">
                <a:solidFill>
                  <a:schemeClr val="lt1"/>
                </a:solidFill>
                <a:latin typeface="Proxima Nova"/>
                <a:ea typeface="Proxima Nova"/>
                <a:cs typeface="Proxima Nova"/>
                <a:sym typeface="Proxima Nova"/>
              </a:rPr>
              <a:t>Medium of exchange</a:t>
            </a:r>
            <a:endParaRPr b="1"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AutoNum type="alphaLcPeriod"/>
            </a:pPr>
            <a:r>
              <a:rPr lang="en" sz="1300">
                <a:solidFill>
                  <a:schemeClr val="lt1"/>
                </a:solidFill>
                <a:latin typeface="Proxima Nova"/>
                <a:ea typeface="Proxima Nova"/>
                <a:cs typeface="Proxima Nova"/>
                <a:sym typeface="Proxima Nova"/>
              </a:rPr>
              <a:t>(acceptability, portability)</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AutoNum type="arabicPeriod"/>
            </a:pPr>
            <a:r>
              <a:rPr lang="en" sz="1300">
                <a:solidFill>
                  <a:schemeClr val="lt1"/>
                </a:solidFill>
                <a:latin typeface="Proxima Nova"/>
                <a:ea typeface="Proxima Nova"/>
                <a:cs typeface="Proxima Nova"/>
                <a:sym typeface="Proxima Nova"/>
              </a:rPr>
              <a:t>across scales/ </a:t>
            </a:r>
            <a:r>
              <a:rPr b="1" lang="en" sz="1300">
                <a:solidFill>
                  <a:schemeClr val="lt1"/>
                </a:solidFill>
                <a:latin typeface="Proxima Nova"/>
                <a:ea typeface="Proxima Nova"/>
                <a:cs typeface="Proxima Nova"/>
                <a:sym typeface="Proxima Nova"/>
              </a:rPr>
              <a:t>Unit of Account</a:t>
            </a:r>
            <a:endParaRPr b="1"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AutoNum type="alphaLcPeriod"/>
            </a:pPr>
            <a:r>
              <a:rPr lang="en" sz="1300">
                <a:solidFill>
                  <a:schemeClr val="lt1"/>
                </a:solidFill>
                <a:latin typeface="Proxima Nova"/>
                <a:ea typeface="Proxima Nova"/>
                <a:cs typeface="Proxima Nova"/>
                <a:sym typeface="Proxima Nova"/>
              </a:rPr>
              <a:t>(divisibility, fungibility) </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Money: </a:t>
            </a:r>
            <a:r>
              <a:rPr lang="en" sz="1300">
                <a:solidFill>
                  <a:schemeClr val="lt1"/>
                </a:solidFill>
                <a:latin typeface="Proxima Nova"/>
                <a:ea typeface="Proxima Nova"/>
                <a:cs typeface="Proxima Nova"/>
                <a:sym typeface="Proxima Nova"/>
              </a:rPr>
              <a:t>a broader term that refers to an intangible </a:t>
            </a:r>
            <a:r>
              <a:rPr b="1" lang="en" sz="1300">
                <a:solidFill>
                  <a:schemeClr val="lt1"/>
                </a:solidFill>
                <a:latin typeface="Proxima Nova"/>
                <a:ea typeface="Proxima Nova"/>
                <a:cs typeface="Proxima Nova"/>
                <a:sym typeface="Proxima Nova"/>
              </a:rPr>
              <a:t>system of value</a:t>
            </a:r>
            <a:r>
              <a:rPr lang="en" sz="1300">
                <a:solidFill>
                  <a:schemeClr val="lt1"/>
                </a:solidFill>
                <a:latin typeface="Proxima Nova"/>
                <a:ea typeface="Proxima Nova"/>
                <a:cs typeface="Proxima Nova"/>
                <a:sym typeface="Proxima Nova"/>
              </a:rPr>
              <a:t> that makes the exchange of goods and services possible, now and in the future. Money is used to communicate value and to facilitate the exchange of preferences worldwide.</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300">
                <a:solidFill>
                  <a:schemeClr val="lt1"/>
                </a:solidFill>
                <a:latin typeface="Proxima Nova"/>
                <a:ea typeface="Proxima Nova"/>
                <a:cs typeface="Proxima Nova"/>
                <a:sym typeface="Proxima Nova"/>
              </a:rPr>
              <a:t>Perfect money is one that holds its value and cannot be corrupted by an individual or state. </a:t>
            </a:r>
            <a:endParaRPr sz="1300">
              <a:solidFill>
                <a:schemeClr val="lt1"/>
              </a:solidFill>
              <a:latin typeface="Proxima Nova"/>
              <a:ea typeface="Proxima Nova"/>
              <a:cs typeface="Proxima Nova"/>
              <a:sym typeface="Proxima Nova"/>
            </a:endParaRPr>
          </a:p>
        </p:txBody>
      </p:sp>
      <p:pic>
        <p:nvPicPr>
          <p:cNvPr id="280" name="Google Shape;280;p45"/>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nvSpPr>
        <p:spPr>
          <a:xfrm>
            <a:off x="450450" y="1414475"/>
            <a:ext cx="30000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Proxima Nova"/>
                <a:ea typeface="Proxima Nova"/>
                <a:cs typeface="Proxima Nova"/>
                <a:sym typeface="Proxima Nova"/>
              </a:rPr>
              <a:t>Fiat Money: </a:t>
            </a:r>
            <a:r>
              <a:rPr lang="en" sz="1300">
                <a:solidFill>
                  <a:schemeClr val="lt1"/>
                </a:solidFill>
                <a:latin typeface="Proxima Nova"/>
                <a:ea typeface="Proxima Nova"/>
                <a:cs typeface="Proxima Nova"/>
                <a:sym typeface="Proxima Nova"/>
              </a:rPr>
              <a:t>government-issued currency that is </a:t>
            </a:r>
            <a:r>
              <a:rPr lang="en" sz="1300" u="sng">
                <a:solidFill>
                  <a:schemeClr val="lt1"/>
                </a:solidFill>
                <a:latin typeface="Proxima Nova"/>
                <a:ea typeface="Proxima Nova"/>
                <a:cs typeface="Proxima Nova"/>
                <a:sym typeface="Proxima Nova"/>
              </a:rPr>
              <a:t>not backed by a physical commodity,</a:t>
            </a:r>
            <a:r>
              <a:rPr lang="en" sz="1300">
                <a:solidFill>
                  <a:schemeClr val="lt1"/>
                </a:solidFill>
                <a:latin typeface="Proxima Nova"/>
                <a:ea typeface="Proxima Nova"/>
                <a:cs typeface="Proxima Nova"/>
                <a:sym typeface="Proxima Nova"/>
              </a:rPr>
              <a:t> such as gold or silver, but rather by the government that issued it.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(i.e. trust in the government/ issuer). Ex: the dollar, euro, yen, etc.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Our world today/current monetary system. </a:t>
            </a:r>
            <a:endParaRPr sz="13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chemeClr val="lt1"/>
              </a:solidFill>
              <a:latin typeface="Proxima Nova"/>
              <a:ea typeface="Proxima Nova"/>
              <a:cs typeface="Proxima Nova"/>
              <a:sym typeface="Proxima Nova"/>
            </a:endParaRPr>
          </a:p>
        </p:txBody>
      </p:sp>
      <p:pic>
        <p:nvPicPr>
          <p:cNvPr id="286" name="Google Shape;286;p46"/>
          <p:cNvPicPr preferRelativeResize="0"/>
          <p:nvPr/>
        </p:nvPicPr>
        <p:blipFill>
          <a:blip r:embed="rId3">
            <a:alphaModFix/>
          </a:blip>
          <a:stretch>
            <a:fillRect/>
          </a:stretch>
        </p:blipFill>
        <p:spPr>
          <a:xfrm>
            <a:off x="3861000" y="866575"/>
            <a:ext cx="4553000" cy="3410350"/>
          </a:xfrm>
          <a:prstGeom prst="rect">
            <a:avLst/>
          </a:prstGeom>
          <a:noFill/>
          <a:ln>
            <a:noFill/>
          </a:ln>
        </p:spPr>
      </p:pic>
      <p:pic>
        <p:nvPicPr>
          <p:cNvPr id="287" name="Google Shape;287;p46"/>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460950" y="1465125"/>
            <a:ext cx="8222100" cy="2373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000"/>
              <a:t>“The problem with fiat is that simply maintaining the wealth you </a:t>
            </a:r>
            <a:r>
              <a:rPr lang="en" sz="2000"/>
              <a:t>already</a:t>
            </a:r>
            <a:r>
              <a:rPr lang="en" sz="2000"/>
              <a:t> own requires significant active </a:t>
            </a:r>
            <a:r>
              <a:rPr lang="en" sz="2000"/>
              <a:t>management</a:t>
            </a:r>
            <a:r>
              <a:rPr lang="en" sz="2000"/>
              <a:t> and expert decision-making. </a:t>
            </a:r>
            <a:r>
              <a:rPr b="1" lang="en" sz="2000"/>
              <a:t>You need to develop expertise in </a:t>
            </a:r>
            <a:r>
              <a:rPr i="1" lang="en" sz="2000"/>
              <a:t>portfolio allocation, risk </a:t>
            </a:r>
            <a:r>
              <a:rPr i="1" lang="en" sz="2000"/>
              <a:t>management, stock and bond valuation, real estate markets, credit markets, global macro trends, national and international monetary policy, commodity markets, geopolitics, and many other arcane and highly specialized fields</a:t>
            </a:r>
            <a:r>
              <a:rPr lang="en" sz="2000"/>
              <a:t> in order to make informed decisions that allow you to maintain the wealth you already earned….</a:t>
            </a:r>
            <a:endParaRPr sz="2000"/>
          </a:p>
        </p:txBody>
      </p:sp>
      <p:pic>
        <p:nvPicPr>
          <p:cNvPr id="293" name="Google Shape;293;p4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460950" y="1706775"/>
            <a:ext cx="8222100" cy="2192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br>
              <a:rPr lang="en" sz="2000"/>
            </a:br>
            <a:r>
              <a:rPr lang="en" sz="2000"/>
              <a:t>“...You effectively need to </a:t>
            </a:r>
            <a:r>
              <a:rPr b="1" lang="en" sz="2000"/>
              <a:t>earn your money twice with fiat,</a:t>
            </a:r>
            <a:r>
              <a:rPr lang="en" sz="2000"/>
              <a:t> once when you work for it, and once when you invest it to beat inflation. The simple gold coin saved you from all of this before fiat. Why should a </a:t>
            </a:r>
            <a:r>
              <a:rPr i="1" lang="en" sz="2000"/>
              <a:t>doctor, athlete, engineer, entrepreneur, or accountant </a:t>
            </a:r>
            <a:r>
              <a:rPr lang="en" sz="2000"/>
              <a:t>who is successful in their field have to develop expertise in these many fields just to maintain the wealth they already produced and earned freely on the market?” (Saifedean Ammous, </a:t>
            </a:r>
            <a:r>
              <a:rPr i="1" lang="en" sz="2000"/>
              <a:t>The Fiat Standard</a:t>
            </a:r>
            <a:r>
              <a:rPr lang="en" sz="2000"/>
              <a:t>, Pg. 66).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pic>
        <p:nvPicPr>
          <p:cNvPr id="299" name="Google Shape;299;p4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Question: </a:t>
            </a:r>
            <a:r>
              <a:rPr lang="en" sz="3000"/>
              <a:t>What is currency?</a:t>
            </a:r>
            <a:endParaRPr sz="3000"/>
          </a:p>
        </p:txBody>
      </p:sp>
      <p:pic>
        <p:nvPicPr>
          <p:cNvPr id="305" name="Google Shape;305;p4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06" name="Google Shape;306;p4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0"/>
          <p:cNvSpPr txBox="1"/>
          <p:nvPr/>
        </p:nvSpPr>
        <p:spPr>
          <a:xfrm>
            <a:off x="573250" y="2229225"/>
            <a:ext cx="4003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Proxima Nova"/>
                <a:ea typeface="Proxima Nova"/>
                <a:cs typeface="Proxima Nova"/>
                <a:sym typeface="Proxima Nova"/>
              </a:rPr>
              <a:t>Currency: </a:t>
            </a:r>
            <a:r>
              <a:rPr lang="en" sz="1600">
                <a:solidFill>
                  <a:schemeClr val="lt1"/>
                </a:solidFill>
                <a:latin typeface="Proxima Nova"/>
                <a:ea typeface="Proxima Nova"/>
                <a:cs typeface="Proxima Nova"/>
                <a:sym typeface="Proxima Nova"/>
              </a:rPr>
              <a:t>a tangible form of money. </a:t>
            </a:r>
            <a:endParaRPr sz="1600">
              <a:solidFill>
                <a:schemeClr val="lt1"/>
              </a:solidFill>
              <a:latin typeface="Proxima Nova"/>
              <a:ea typeface="Proxima Nova"/>
              <a:cs typeface="Proxima Nova"/>
              <a:sym typeface="Proxima Nova"/>
            </a:endParaRPr>
          </a:p>
        </p:txBody>
      </p:sp>
      <p:pic>
        <p:nvPicPr>
          <p:cNvPr id="312" name="Google Shape;312;p50"/>
          <p:cNvPicPr preferRelativeResize="0"/>
          <p:nvPr/>
        </p:nvPicPr>
        <p:blipFill>
          <a:blip r:embed="rId3">
            <a:alphaModFix/>
          </a:blip>
          <a:stretch>
            <a:fillRect/>
          </a:stretch>
        </p:blipFill>
        <p:spPr>
          <a:xfrm>
            <a:off x="4576450" y="1273700"/>
            <a:ext cx="3901250" cy="2596100"/>
          </a:xfrm>
          <a:prstGeom prst="rect">
            <a:avLst/>
          </a:prstGeom>
          <a:noFill/>
          <a:ln>
            <a:noFill/>
          </a:ln>
        </p:spPr>
      </p:pic>
      <p:pic>
        <p:nvPicPr>
          <p:cNvPr id="313" name="Google Shape;313;p5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51"/>
          <p:cNvPicPr preferRelativeResize="0"/>
          <p:nvPr/>
        </p:nvPicPr>
        <p:blipFill>
          <a:blip r:embed="rId3">
            <a:alphaModFix/>
          </a:blip>
          <a:stretch>
            <a:fillRect/>
          </a:stretch>
        </p:blipFill>
        <p:spPr>
          <a:xfrm>
            <a:off x="1292250" y="190500"/>
            <a:ext cx="7239000" cy="4762500"/>
          </a:xfrm>
          <a:prstGeom prst="rect">
            <a:avLst/>
          </a:prstGeom>
          <a:noFill/>
          <a:ln>
            <a:noFill/>
          </a:ln>
        </p:spPr>
      </p:pic>
      <p:pic>
        <p:nvPicPr>
          <p:cNvPr id="319" name="Google Shape;319;p5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52"/>
          <p:cNvPicPr preferRelativeResize="0"/>
          <p:nvPr/>
        </p:nvPicPr>
        <p:blipFill rotWithShape="1">
          <a:blip r:embed="rId3">
            <a:alphaModFix/>
          </a:blip>
          <a:srcRect b="3219" l="1817" r="47722" t="2654"/>
          <a:stretch/>
        </p:blipFill>
        <p:spPr>
          <a:xfrm>
            <a:off x="2019113" y="770588"/>
            <a:ext cx="2411850" cy="3562975"/>
          </a:xfrm>
          <a:prstGeom prst="rect">
            <a:avLst/>
          </a:prstGeom>
          <a:noFill/>
          <a:ln>
            <a:noFill/>
          </a:ln>
        </p:spPr>
      </p:pic>
      <p:pic>
        <p:nvPicPr>
          <p:cNvPr id="325" name="Google Shape;325;p52"/>
          <p:cNvPicPr preferRelativeResize="0"/>
          <p:nvPr/>
        </p:nvPicPr>
        <p:blipFill rotWithShape="1">
          <a:blip r:embed="rId3">
            <a:alphaModFix/>
          </a:blip>
          <a:srcRect b="3219" l="45900" r="3638" t="2654"/>
          <a:stretch/>
        </p:blipFill>
        <p:spPr>
          <a:xfrm>
            <a:off x="4713037" y="809938"/>
            <a:ext cx="2411850" cy="3562975"/>
          </a:xfrm>
          <a:prstGeom prst="rect">
            <a:avLst/>
          </a:prstGeom>
          <a:noFill/>
          <a:ln>
            <a:noFill/>
          </a:ln>
        </p:spPr>
      </p:pic>
      <p:pic>
        <p:nvPicPr>
          <p:cNvPr id="326" name="Google Shape;326;p5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1000"/>
                                        <p:tgtEl>
                                          <p:spTgt spid="3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1000"/>
                                        <p:tgtEl>
                                          <p:spTgt spid="32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Question: </a:t>
            </a:r>
            <a:r>
              <a:rPr lang="en" sz="3000"/>
              <a:t>What is</a:t>
            </a:r>
            <a:r>
              <a:rPr lang="en" sz="3000"/>
              <a:t> </a:t>
            </a:r>
            <a:r>
              <a:rPr lang="en" sz="3000"/>
              <a:t>b</a:t>
            </a:r>
            <a:r>
              <a:rPr lang="en" sz="3000"/>
              <a:t>lockchain? </a:t>
            </a:r>
            <a:endParaRPr sz="3000"/>
          </a:p>
        </p:txBody>
      </p:sp>
      <p:pic>
        <p:nvPicPr>
          <p:cNvPr id="332" name="Google Shape;332;p5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4"/>
          <p:cNvSpPr txBox="1"/>
          <p:nvPr>
            <p:ph type="title"/>
          </p:nvPr>
        </p:nvSpPr>
        <p:spPr>
          <a:xfrm>
            <a:off x="508725" y="1178400"/>
            <a:ext cx="8222100" cy="278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Answer:</a:t>
            </a:r>
            <a:r>
              <a:rPr b="1" lang="en" sz="2500"/>
              <a:t> </a:t>
            </a:r>
            <a:r>
              <a:rPr lang="en" sz="2400"/>
              <a:t>A way of storing (most commonly financial) information. It is digital, decentralized, immutable, ordered, append-only, verifiable ledger </a:t>
            </a:r>
            <a:r>
              <a:rPr lang="en" sz="1400"/>
              <a:t>(more correctly, an ordered data structure because the data is not organized in a table like a ledger is)</a:t>
            </a:r>
            <a:r>
              <a:rPr lang="en" sz="2400"/>
              <a:t> of information. Bitcoin was the first “blockchain,” but “Bitcoiners” often refer to the bitcoin blockchain instead as the bitcoin “timechain.” </a:t>
            </a:r>
            <a:endParaRPr sz="2500"/>
          </a:p>
          <a:p>
            <a:pPr indent="0" lvl="0" marL="0" rtl="0" algn="l">
              <a:spcBef>
                <a:spcPts val="0"/>
              </a:spcBef>
              <a:spcAft>
                <a:spcPts val="0"/>
              </a:spcAft>
              <a:buNone/>
            </a:pPr>
            <a:r>
              <a:t/>
            </a:r>
            <a:endParaRPr sz="2500"/>
          </a:p>
        </p:txBody>
      </p:sp>
      <p:pic>
        <p:nvPicPr>
          <p:cNvPr id="338" name="Google Shape;338;p5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does all that mean in real-words? </a:t>
            </a:r>
            <a:endParaRPr/>
          </a:p>
        </p:txBody>
      </p:sp>
      <p:sp>
        <p:nvSpPr>
          <p:cNvPr id="344" name="Google Shape;344;p55"/>
          <p:cNvSpPr txBox="1"/>
          <p:nvPr/>
        </p:nvSpPr>
        <p:spPr>
          <a:xfrm>
            <a:off x="623925" y="907325"/>
            <a:ext cx="48729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Fun fact: </a:t>
            </a:r>
            <a:r>
              <a:rPr lang="en">
                <a:solidFill>
                  <a:schemeClr val="lt1"/>
                </a:solidFill>
                <a:latin typeface="Proxima Nova"/>
                <a:ea typeface="Proxima Nova"/>
                <a:cs typeface="Proxima Nova"/>
                <a:sym typeface="Proxima Nova"/>
              </a:rPr>
              <a:t>The longest running blockchain example (in the real world) is The New York Times (1851). Let's break it down...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Proxima Nova"/>
                <a:ea typeface="Proxima Nova"/>
                <a:cs typeface="Proxima Nova"/>
                <a:sym typeface="Proxima Nova"/>
              </a:rPr>
              <a:t>Decentralized*: </a:t>
            </a:r>
            <a:r>
              <a:rPr lang="en">
                <a:solidFill>
                  <a:schemeClr val="lt1"/>
                </a:solidFill>
                <a:latin typeface="Proxima Nova"/>
                <a:ea typeface="Proxima Nova"/>
                <a:cs typeface="Proxima Nova"/>
                <a:sym typeface="Proxima Nova"/>
              </a:rPr>
              <a:t>every person can own the NYT, it doesn't just exist in one place. However* their clearly are people in charge of the NYT and what is printed, etc.</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Proxima Nova"/>
                <a:ea typeface="Proxima Nova"/>
                <a:cs typeface="Proxima Nova"/>
                <a:sym typeface="Proxima Nova"/>
              </a:rPr>
              <a:t>Immutable:</a:t>
            </a:r>
            <a:r>
              <a:rPr b="1"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Once the NYT is printed, it's printed; there is no changing it.</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Proxima Nova"/>
                <a:ea typeface="Proxima Nova"/>
                <a:cs typeface="Proxima Nova"/>
                <a:sym typeface="Proxima Nova"/>
              </a:rPr>
              <a:t>Ordered:</a:t>
            </a:r>
            <a:r>
              <a:rPr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Each NYT is dated to very clearly put the information, the editions, in order.</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Proxima Nova"/>
                <a:ea typeface="Proxima Nova"/>
                <a:cs typeface="Proxima Nova"/>
                <a:sym typeface="Proxima Nova"/>
              </a:rPr>
              <a:t>Append-only:</a:t>
            </a:r>
            <a:r>
              <a:rPr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You can't add a new edition before an old one.</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Proxima Nova"/>
                <a:ea typeface="Proxima Nova"/>
                <a:cs typeface="Proxima Nova"/>
                <a:sym typeface="Proxima Nova"/>
              </a:rPr>
              <a:t>Verifiable: </a:t>
            </a:r>
            <a:r>
              <a:rPr lang="en">
                <a:solidFill>
                  <a:schemeClr val="lt1"/>
                </a:solidFill>
                <a:latin typeface="Proxima Nova"/>
                <a:ea typeface="Proxima Nova"/>
                <a:cs typeface="Proxima Nova"/>
                <a:sym typeface="Proxima Nova"/>
              </a:rPr>
              <a:t>Theoretically, every person could hold their own copy of every single NYT and verify the information in them.</a:t>
            </a:r>
            <a:endParaRPr>
              <a:solidFill>
                <a:schemeClr val="lt1"/>
              </a:solidFill>
              <a:latin typeface="Proxima Nova"/>
              <a:ea typeface="Proxima Nova"/>
              <a:cs typeface="Proxima Nova"/>
              <a:sym typeface="Proxima Nova"/>
            </a:endParaRPr>
          </a:p>
        </p:txBody>
      </p:sp>
      <p:pic>
        <p:nvPicPr>
          <p:cNvPr id="345" name="Google Shape;345;p55"/>
          <p:cNvPicPr preferRelativeResize="0"/>
          <p:nvPr/>
        </p:nvPicPr>
        <p:blipFill>
          <a:blip r:embed="rId3">
            <a:alphaModFix/>
          </a:blip>
          <a:stretch>
            <a:fillRect/>
          </a:stretch>
        </p:blipFill>
        <p:spPr>
          <a:xfrm>
            <a:off x="5851225" y="1198400"/>
            <a:ext cx="2370300" cy="3527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Blockchain Trilemma</a:t>
            </a:r>
            <a:endParaRPr/>
          </a:p>
        </p:txBody>
      </p:sp>
      <p:sp>
        <p:nvSpPr>
          <p:cNvPr id="351" name="Google Shape;351;p56"/>
          <p:cNvSpPr txBox="1"/>
          <p:nvPr/>
        </p:nvSpPr>
        <p:spPr>
          <a:xfrm>
            <a:off x="505750" y="2894475"/>
            <a:ext cx="57645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The blockchain what? </a:t>
            </a:r>
            <a:endParaRPr>
              <a:solidFill>
                <a:schemeClr val="lt1"/>
              </a:solidFill>
              <a:latin typeface="Proxima Nova"/>
              <a:ea typeface="Proxima Nova"/>
              <a:cs typeface="Proxima Nova"/>
              <a:sym typeface="Proxima Nova"/>
            </a:endParaRPr>
          </a:p>
        </p:txBody>
      </p:sp>
      <p:pic>
        <p:nvPicPr>
          <p:cNvPr id="352" name="Google Shape;352;p5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Blockchain Trilemma &amp; Guiding Questions</a:t>
            </a:r>
            <a:endParaRPr/>
          </a:p>
        </p:txBody>
      </p:sp>
      <p:sp>
        <p:nvSpPr>
          <p:cNvPr id="358" name="Google Shape;358;p57"/>
          <p:cNvSpPr txBox="1"/>
          <p:nvPr/>
        </p:nvSpPr>
        <p:spPr>
          <a:xfrm>
            <a:off x="470550" y="1156425"/>
            <a:ext cx="5548500" cy="3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…When building a blockchain, you can pick 2 sides of the triangle to address. Only 2.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What is it trying to solve?</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Where does it fall on the blockchain trilemma? What are the tradeoffs being made?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What’s its consensus mechanism?</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What’s the native token? How are tokens distributed? Is there a cap?</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Is there a founding team?</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Is it a commodity or a </a:t>
            </a:r>
            <a:r>
              <a:rPr lang="en" sz="1500">
                <a:solidFill>
                  <a:schemeClr val="lt1"/>
                </a:solidFill>
                <a:latin typeface="Proxima Nova"/>
                <a:ea typeface="Proxima Nova"/>
                <a:cs typeface="Proxima Nova"/>
                <a:sym typeface="Proxima Nova"/>
              </a:rPr>
              <a:t>security</a:t>
            </a:r>
            <a:r>
              <a:rPr lang="en" sz="1500">
                <a:solidFill>
                  <a:schemeClr val="lt1"/>
                </a:solidFill>
                <a:latin typeface="Proxima Nova"/>
                <a:ea typeface="Proxima Nova"/>
                <a:cs typeface="Proxima Nova"/>
                <a:sym typeface="Proxima Nova"/>
              </a:rPr>
              <a:t>? </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What are its layers? </a:t>
            </a:r>
            <a:endParaRPr sz="1500">
              <a:solidFill>
                <a:schemeClr val="lt1"/>
              </a:solidFill>
              <a:latin typeface="Proxima Nova"/>
              <a:ea typeface="Proxima Nova"/>
              <a:cs typeface="Proxima Nova"/>
              <a:sym typeface="Proxima Nova"/>
            </a:endParaRPr>
          </a:p>
        </p:txBody>
      </p:sp>
      <p:pic>
        <p:nvPicPr>
          <p:cNvPr id="359" name="Google Shape;359;p57"/>
          <p:cNvPicPr preferRelativeResize="0"/>
          <p:nvPr/>
        </p:nvPicPr>
        <p:blipFill>
          <a:blip r:embed="rId3">
            <a:alphaModFix/>
          </a:blip>
          <a:stretch>
            <a:fillRect/>
          </a:stretch>
        </p:blipFill>
        <p:spPr>
          <a:xfrm>
            <a:off x="6148523" y="1697175"/>
            <a:ext cx="2776325" cy="22531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&amp; </a:t>
            </a:r>
            <a:r>
              <a:rPr lang="en"/>
              <a:t>The Blockchain Trilemma </a:t>
            </a:r>
            <a:endParaRPr/>
          </a:p>
        </p:txBody>
      </p:sp>
      <p:sp>
        <p:nvSpPr>
          <p:cNvPr id="365" name="Google Shape;365;p58"/>
          <p:cNvSpPr txBox="1"/>
          <p:nvPr/>
        </p:nvSpPr>
        <p:spPr>
          <a:xfrm>
            <a:off x="354675" y="1069525"/>
            <a:ext cx="5548500" cy="3910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What is it trying to solve?</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Peer-to-peer payment system, decentralize financial transactions and facilitate peer-to-peer transactions, while also solving the double-spending problem &amp; MUCH more.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Where does it fall on the blockchain trilemma?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Decentralization &amp; </a:t>
            </a:r>
            <a:r>
              <a:rPr lang="en" sz="1300">
                <a:solidFill>
                  <a:schemeClr val="lt1"/>
                </a:solidFill>
                <a:latin typeface="Proxima Nova"/>
                <a:ea typeface="Proxima Nova"/>
                <a:cs typeface="Proxima Nova"/>
                <a:sym typeface="Proxima Nova"/>
              </a:rPr>
              <a:t>Security.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What’s its consensus mechanism?</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PoW.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What’s the native token? </a:t>
            </a:r>
            <a:r>
              <a:rPr lang="en" sz="1300">
                <a:solidFill>
                  <a:schemeClr val="lt1"/>
                </a:solidFill>
                <a:latin typeface="Proxima Nova"/>
                <a:ea typeface="Proxima Nova"/>
                <a:cs typeface="Proxima Nova"/>
                <a:sym typeface="Proxima Nova"/>
              </a:rPr>
              <a:t>How are tokens distributed? </a:t>
            </a:r>
            <a:r>
              <a:rPr lang="en" sz="1300">
                <a:solidFill>
                  <a:schemeClr val="lt1"/>
                </a:solidFill>
                <a:latin typeface="Proxima Nova"/>
                <a:ea typeface="Proxima Nova"/>
                <a:cs typeface="Proxima Nova"/>
                <a:sym typeface="Proxima Nova"/>
              </a:rPr>
              <a:t>Is there a cap?</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BTC. Mining. 21 million. </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Is there a founding team?</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No.</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Is it a commodity or a security?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Commodity</a:t>
            </a:r>
            <a:endParaRPr sz="1300">
              <a:solidFill>
                <a:schemeClr val="lt1"/>
              </a:solidFill>
              <a:latin typeface="Proxima Nova"/>
              <a:ea typeface="Proxima Nova"/>
              <a:cs typeface="Proxima Nova"/>
              <a:sym typeface="Proxima Nova"/>
            </a:endParaRPr>
          </a:p>
          <a:p>
            <a:pPr indent="-311150" lvl="0" marL="4572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What are its layers? </a:t>
            </a:r>
            <a:endParaRPr sz="1300">
              <a:solidFill>
                <a:schemeClr val="lt1"/>
              </a:solidFill>
              <a:latin typeface="Proxima Nova"/>
              <a:ea typeface="Proxima Nova"/>
              <a:cs typeface="Proxima Nova"/>
              <a:sym typeface="Proxima Nova"/>
            </a:endParaRPr>
          </a:p>
          <a:p>
            <a:pPr indent="-311150" lvl="1" marL="914400" rtl="0" algn="l">
              <a:spcBef>
                <a:spcPts val="0"/>
              </a:spcBef>
              <a:spcAft>
                <a:spcPts val="0"/>
              </a:spcAft>
              <a:buClr>
                <a:schemeClr val="lt1"/>
              </a:buClr>
              <a:buSzPts val="1300"/>
              <a:buFont typeface="Proxima Nova"/>
              <a:buChar char="○"/>
            </a:pPr>
            <a:r>
              <a:rPr lang="en" sz="1300">
                <a:solidFill>
                  <a:schemeClr val="lt1"/>
                </a:solidFill>
                <a:latin typeface="Proxima Nova"/>
                <a:ea typeface="Proxima Nova"/>
                <a:cs typeface="Proxima Nova"/>
                <a:sym typeface="Proxima Nova"/>
              </a:rPr>
              <a:t>Lightning &amp; Liquid  (to address scalability). </a:t>
            </a:r>
            <a:endParaRPr sz="1300">
              <a:solidFill>
                <a:schemeClr val="lt1"/>
              </a:solidFill>
              <a:latin typeface="Proxima Nova"/>
              <a:ea typeface="Proxima Nova"/>
              <a:cs typeface="Proxima Nova"/>
              <a:sym typeface="Proxima Nova"/>
            </a:endParaRPr>
          </a:p>
        </p:txBody>
      </p:sp>
      <p:pic>
        <p:nvPicPr>
          <p:cNvPr id="366" name="Google Shape;366;p58"/>
          <p:cNvPicPr preferRelativeResize="0"/>
          <p:nvPr/>
        </p:nvPicPr>
        <p:blipFill>
          <a:blip r:embed="rId3">
            <a:alphaModFix/>
          </a:blip>
          <a:stretch>
            <a:fillRect/>
          </a:stretch>
        </p:blipFill>
        <p:spPr>
          <a:xfrm>
            <a:off x="6148523" y="1898212"/>
            <a:ext cx="2776325" cy="2253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pic>
        <p:nvPicPr>
          <p:cNvPr id="372" name="Google Shape;372;p5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Knowledge &gt; Wealth</a:t>
            </a:r>
            <a:endParaRPr/>
          </a:p>
        </p:txBody>
      </p:sp>
      <p:pic>
        <p:nvPicPr>
          <p:cNvPr id="378" name="Google Shape;378;p6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type="title"/>
          </p:nvPr>
        </p:nvSpPr>
        <p:spPr>
          <a:xfrm>
            <a:off x="460950" y="933925"/>
            <a:ext cx="8222100" cy="36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"The real secret of [bitcoin] it's not so much about the cryptography but about the secrets we unlock in ourselves. The ways that </a:t>
            </a:r>
            <a:r>
              <a:rPr b="1" lang="en" sz="1600"/>
              <a:t>we find new understandings of the world</a:t>
            </a:r>
            <a:r>
              <a:rPr lang="en" sz="1600"/>
              <a:t>, new approaches of the world. It's a little corny but that's the deepest ontological part of bitcoin. It's </a:t>
            </a:r>
            <a:r>
              <a:rPr b="1" lang="en" sz="1600"/>
              <a:t>not</a:t>
            </a:r>
            <a:r>
              <a:rPr lang="en" sz="1600"/>
              <a:t> that it's making us </a:t>
            </a:r>
            <a:r>
              <a:rPr b="1" lang="en" sz="1600"/>
              <a:t>rich in terms of its monetary wealth.</a:t>
            </a:r>
            <a:r>
              <a:rPr lang="en" sz="1600"/>
              <a:t> It's making us </a:t>
            </a:r>
            <a:r>
              <a:rPr b="1" lang="en" sz="1600"/>
              <a:t>rich in actual knowledge</a:t>
            </a:r>
            <a:r>
              <a:rPr lang="en" sz="1600"/>
              <a:t> that we have. That is fundamentally changing and transforming us in an important way and it's </a:t>
            </a:r>
            <a:r>
              <a:rPr b="1" lang="en" sz="1600"/>
              <a:t>explicitly doing it through Proof of Work.</a:t>
            </a:r>
            <a:r>
              <a:rPr lang="en" sz="1600"/>
              <a:t> We are not going out and getting our blockchain certificate to prove that we understand bitcoin; we are playing with it and hacking and exchanging and utilizing. It's really important because these are the pedological steps that we need to take to understand that this is a power; it's a real power that we have and when we utilize encryption correctly it protects us in a way that nothing else can and that's very important.”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Erik Cason on The Bitcoin Matrix Podcast (02/26/23)</a:t>
            </a:r>
            <a:endParaRPr sz="1600"/>
          </a:p>
          <a:p>
            <a:pPr indent="0" lvl="0" marL="0" rtl="0" algn="l">
              <a:spcBef>
                <a:spcPts val="0"/>
              </a:spcBef>
              <a:spcAft>
                <a:spcPts val="0"/>
              </a:spcAft>
              <a:buNone/>
            </a:pPr>
            <a:r>
              <a:t/>
            </a:r>
            <a:endParaRPr sz="1600"/>
          </a:p>
        </p:txBody>
      </p:sp>
      <p:pic>
        <p:nvPicPr>
          <p:cNvPr id="384" name="Google Shape;384;p61"/>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2"/>
          <p:cNvSpPr txBox="1"/>
          <p:nvPr>
            <p:ph type="title"/>
          </p:nvPr>
        </p:nvSpPr>
        <p:spPr>
          <a:xfrm>
            <a:off x="460950" y="933925"/>
            <a:ext cx="8222100" cy="36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My intent </a:t>
            </a:r>
            <a:r>
              <a:rPr b="1" lang="en" sz="1600"/>
              <a:t>is not </a:t>
            </a:r>
            <a:r>
              <a:rPr lang="en" sz="1600"/>
              <a:t>for you to leave this room and buy bitcoin.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My intent</a:t>
            </a:r>
            <a:r>
              <a:rPr b="1" lang="en" sz="1600"/>
              <a:t> is</a:t>
            </a:r>
            <a:r>
              <a:rPr lang="en" sz="1600"/>
              <a:t> to provide factual information in an </a:t>
            </a:r>
            <a:r>
              <a:rPr lang="en" sz="1600"/>
              <a:t>unbiased</a:t>
            </a:r>
            <a:r>
              <a:rPr lang="en" sz="1600"/>
              <a:t> </a:t>
            </a:r>
            <a:r>
              <a:rPr lang="en" sz="1600"/>
              <a:t>manner across a variety of topics so that we can </a:t>
            </a:r>
            <a:r>
              <a:rPr lang="en" sz="1600" u="sng"/>
              <a:t>collectively</a:t>
            </a:r>
            <a:r>
              <a:rPr lang="en" sz="1600"/>
              <a:t> think about the transitions in our world underway. </a:t>
            </a:r>
            <a:endParaRPr sz="1600"/>
          </a:p>
        </p:txBody>
      </p:sp>
      <p:pic>
        <p:nvPicPr>
          <p:cNvPr id="390" name="Google Shape;390;p6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sp>
        <p:nvSpPr>
          <p:cNvPr id="396" name="Google Shape;396;p63"/>
          <p:cNvSpPr txBox="1"/>
          <p:nvPr/>
        </p:nvSpPr>
        <p:spPr>
          <a:xfrm>
            <a:off x="372350" y="884300"/>
            <a:ext cx="8519400" cy="36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Proof of Work: </a:t>
            </a:r>
            <a:r>
              <a:rPr lang="en">
                <a:solidFill>
                  <a:schemeClr val="lt1"/>
                </a:solidFill>
                <a:latin typeface="Proxima Nova"/>
                <a:ea typeface="Proxima Nova"/>
                <a:cs typeface="Proxima Nova"/>
                <a:sym typeface="Proxima Nova"/>
              </a:rPr>
              <a:t>Exert energy to do your own work. Don’t stake your opinions/worth/ability on another’s words or actions (especially including mine).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First Principles Thinking; Don’t Trust, Verify. Do Your Own Research: </a:t>
            </a:r>
            <a:r>
              <a:rPr lang="en">
                <a:solidFill>
                  <a:schemeClr val="lt1"/>
                </a:solidFill>
                <a:latin typeface="Proxima Nova"/>
                <a:ea typeface="Proxima Nova"/>
                <a:cs typeface="Proxima Nova"/>
                <a:sym typeface="Proxima Nova"/>
              </a:rPr>
              <a:t>Learn history. Bitcoin restores your agency. Don’t rent out your ability to form your own opinions and do your own research.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Low, Not High, Time Preference: </a:t>
            </a:r>
            <a:r>
              <a:rPr lang="en">
                <a:solidFill>
                  <a:schemeClr val="lt1"/>
                </a:solidFill>
                <a:latin typeface="Proxima Nova"/>
                <a:ea typeface="Proxima Nova"/>
                <a:cs typeface="Proxima Nova"/>
                <a:sym typeface="Proxima Nova"/>
              </a:rPr>
              <a:t>Commit to curiosity and critical thinking. (Try to embrace delayed </a:t>
            </a:r>
            <a:r>
              <a:rPr lang="en">
                <a:solidFill>
                  <a:schemeClr val="lt1"/>
                </a:solidFill>
                <a:latin typeface="Proxima Nova"/>
                <a:ea typeface="Proxima Nova"/>
                <a:cs typeface="Proxima Nova"/>
                <a:sym typeface="Proxima Nova"/>
              </a:rPr>
              <a:t>gratification.</a:t>
            </a:r>
            <a:r>
              <a:rPr lang="en">
                <a:solidFill>
                  <a:schemeClr val="lt1"/>
                </a:solidFill>
                <a:latin typeface="Proxima Nova"/>
                <a:ea typeface="Proxima Nova"/>
                <a:cs typeface="Proxima Nova"/>
                <a:sym typeface="Proxima Nova"/>
              </a:rPr>
              <a:t>)</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Open-Source.</a:t>
            </a:r>
            <a:endParaRPr b="1">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Misc:</a:t>
            </a:r>
            <a:endParaRPr b="1">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Always ask follow-up questions. </a:t>
            </a:r>
            <a:r>
              <a:rPr lang="en">
                <a:solidFill>
                  <a:schemeClr val="lt1"/>
                </a:solidFill>
                <a:latin typeface="Proxima Nova"/>
                <a:ea typeface="Proxima Nova"/>
                <a:cs typeface="Proxima Nova"/>
                <a:sym typeface="Proxima Nova"/>
              </a:rPr>
              <a:t>Sometimes</a:t>
            </a:r>
            <a:r>
              <a:rPr lang="en">
                <a:solidFill>
                  <a:schemeClr val="lt1"/>
                </a:solidFill>
                <a:latin typeface="Proxima Nova"/>
                <a:ea typeface="Proxima Nova"/>
                <a:cs typeface="Proxima Nova"/>
                <a:sym typeface="Proxima Nova"/>
              </a:rPr>
              <a:t> I might just do a poor job of explaining &amp; if I don’t know the answer, I’ll find it for you.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Often will build slides w/ too much info so they can be a resource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Anonymous question form </a:t>
            </a:r>
            <a:r>
              <a:rPr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 </a:t>
            </a:r>
            <a:r>
              <a:rPr lang="en" u="sng">
                <a:solidFill>
                  <a:srgbClr val="0E101A"/>
                </a:solidFill>
                <a:highlight>
                  <a:schemeClr val="lt1"/>
                </a:highlight>
                <a:latin typeface="Proxima Nova"/>
                <a:ea typeface="Proxima Nova"/>
                <a:cs typeface="Proxima Nova"/>
                <a:sym typeface="Proxima Nova"/>
                <a:hlinkClick r:id="rId3">
                  <a:extLst>
                    <a:ext uri="{A12FA001-AC4F-418D-AE19-62706E023703}">
                      <ahyp:hlinkClr val="tx"/>
                    </a:ext>
                  </a:extLst>
                </a:hlinkClick>
              </a:rPr>
              <a:t>https://forms.gle/SPQiP5ahJuWNL2m28</a:t>
            </a:r>
            <a:r>
              <a:rPr lang="en">
                <a:solidFill>
                  <a:srgbClr val="0E101A"/>
                </a:solidFill>
                <a:highlight>
                  <a:schemeClr val="lt1"/>
                </a:highlight>
                <a:latin typeface="Proxima Nova"/>
                <a:ea typeface="Proxima Nova"/>
                <a:cs typeface="Proxima Nova"/>
                <a:sym typeface="Proxima Nova"/>
              </a:rPr>
              <a:t> </a:t>
            </a:r>
            <a:endParaRPr>
              <a:solidFill>
                <a:srgbClr val="0E101A"/>
              </a:solidFill>
              <a:highlight>
                <a:schemeClr val="lt1"/>
              </a:highlight>
              <a:latin typeface="Proxima Nova"/>
              <a:ea typeface="Proxima Nova"/>
              <a:cs typeface="Proxima Nova"/>
              <a:sym typeface="Proxima Nov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4"/>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Resources</a:t>
            </a:r>
            <a:endParaRPr/>
          </a:p>
        </p:txBody>
      </p:sp>
      <p:pic>
        <p:nvPicPr>
          <p:cNvPr id="402" name="Google Shape;402;p64"/>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5"/>
          <p:cNvSpPr txBox="1"/>
          <p:nvPr>
            <p:ph type="title"/>
          </p:nvPr>
        </p:nvSpPr>
        <p:spPr>
          <a:xfrm>
            <a:off x="4413925" y="1665825"/>
            <a:ext cx="3946200" cy="2196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a:t>21 Best </a:t>
            </a:r>
            <a:endParaRPr/>
          </a:p>
          <a:p>
            <a:pPr indent="0" lvl="0" marL="0" rtl="0" algn="l">
              <a:spcBef>
                <a:spcPts val="0"/>
              </a:spcBef>
              <a:spcAft>
                <a:spcPts val="0"/>
              </a:spcAft>
              <a:buNone/>
            </a:pPr>
            <a:r>
              <a:rPr lang="en"/>
              <a:t>Bitcoin Papers </a:t>
            </a:r>
            <a:endParaRPr/>
          </a:p>
          <a:p>
            <a:pPr indent="0" lvl="0" marL="0" rtl="0" algn="l">
              <a:spcBef>
                <a:spcPts val="0"/>
              </a:spcBef>
              <a:spcAft>
                <a:spcPts val="0"/>
              </a:spcAft>
              <a:buNone/>
            </a:pPr>
            <a:r>
              <a:rPr lang="en" u="sng">
                <a:hlinkClick r:id="rId3"/>
              </a:rPr>
              <a:t>Google Folder </a:t>
            </a:r>
            <a:endParaRPr/>
          </a:p>
        </p:txBody>
      </p:sp>
      <p:pic>
        <p:nvPicPr>
          <p:cNvPr id="408" name="Google Shape;408;p65"/>
          <p:cNvPicPr preferRelativeResize="0"/>
          <p:nvPr/>
        </p:nvPicPr>
        <p:blipFill>
          <a:blip r:embed="rId4">
            <a:alphaModFix/>
          </a:blip>
          <a:stretch>
            <a:fillRect/>
          </a:stretch>
        </p:blipFill>
        <p:spPr>
          <a:xfrm>
            <a:off x="1216151" y="226550"/>
            <a:ext cx="2753574" cy="4633050"/>
          </a:xfrm>
          <a:prstGeom prst="rect">
            <a:avLst/>
          </a:prstGeom>
          <a:noFill/>
          <a:ln>
            <a:noFill/>
          </a:ln>
        </p:spPr>
      </p:pic>
      <p:pic>
        <p:nvPicPr>
          <p:cNvPr id="409" name="Google Shape;409;p65"/>
          <p:cNvPicPr preferRelativeResize="0"/>
          <p:nvPr/>
        </p:nvPicPr>
        <p:blipFill>
          <a:blip r:embed="rId5">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6"/>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t>Question: </a:t>
            </a:r>
            <a:r>
              <a:rPr lang="en" sz="3000"/>
              <a:t>Preferred medium…podcasts, books, papers, conference panels, films? </a:t>
            </a:r>
            <a:endParaRPr sz="3000"/>
          </a:p>
        </p:txBody>
      </p:sp>
      <p:pic>
        <p:nvPicPr>
          <p:cNvPr id="415" name="Google Shape;415;p6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421" name="Google Shape;421;p6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68"/>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427" name="Google Shape;427;p68"/>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type="title"/>
          </p:nvPr>
        </p:nvSpPr>
        <p:spPr>
          <a:xfrm>
            <a:off x="351250" y="218500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Summer of Bitcoin</a:t>
            </a:r>
            <a:endParaRPr/>
          </a:p>
          <a:p>
            <a:pPr indent="0" lvl="0" marL="0" rtl="0" algn="l">
              <a:spcBef>
                <a:spcPts val="0"/>
              </a:spcBef>
              <a:spcAft>
                <a:spcPts val="0"/>
              </a:spcAft>
              <a:buNone/>
            </a:pPr>
            <a:r>
              <a:rPr lang="en" sz="2200"/>
              <a:t>$6k stipend (US)</a:t>
            </a:r>
            <a:endParaRPr sz="2200"/>
          </a:p>
        </p:txBody>
      </p:sp>
      <p:pic>
        <p:nvPicPr>
          <p:cNvPr id="433" name="Google Shape;433;p69"/>
          <p:cNvPicPr preferRelativeResize="0"/>
          <p:nvPr/>
        </p:nvPicPr>
        <p:blipFill>
          <a:blip r:embed="rId3">
            <a:alphaModFix/>
          </a:blip>
          <a:stretch>
            <a:fillRect/>
          </a:stretch>
        </p:blipFill>
        <p:spPr>
          <a:xfrm>
            <a:off x="4997725" y="997500"/>
            <a:ext cx="3947225" cy="3171274"/>
          </a:xfrm>
          <a:prstGeom prst="rect">
            <a:avLst/>
          </a:prstGeom>
          <a:noFill/>
          <a:ln>
            <a:noFill/>
          </a:ln>
        </p:spPr>
      </p:pic>
      <p:pic>
        <p:nvPicPr>
          <p:cNvPr id="434" name="Google Shape;434;p69"/>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440" name="Google Shape;440;p7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1"/>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446" name="Google Shape;446;p71"/>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447" name="Google Shape;447;p71"/>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448" name="Google Shape;448;p71"/>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2" name="Shape 452"/>
        <p:cNvGrpSpPr/>
        <p:nvPr/>
      </p:nvGrpSpPr>
      <p:grpSpPr>
        <a:xfrm>
          <a:off x="0" y="0"/>
          <a:ext cx="0" cy="0"/>
          <a:chOff x="0" y="0"/>
          <a:chExt cx="0" cy="0"/>
        </a:xfrm>
      </p:grpSpPr>
      <p:sp>
        <p:nvSpPr>
          <p:cNvPr id="453" name="Google Shape;453;p72"/>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454" name="Google Shape;454;p7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