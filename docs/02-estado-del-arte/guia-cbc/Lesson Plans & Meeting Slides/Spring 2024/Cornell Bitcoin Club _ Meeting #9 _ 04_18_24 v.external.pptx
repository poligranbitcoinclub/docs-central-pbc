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embeddedFontLst>
    <p:embeddedFont>
      <p:font typeface="Proxima Nova"/>
      <p:regular r:id="rId33"/>
      <p:bold r:id="rId34"/>
      <p:italic r:id="rId35"/>
      <p:boldItalic r:id="rId36"/>
    </p:embeddedFont>
    <p:embeddedFont>
      <p:font typeface="Roboto"/>
      <p:regular r:id="rId37"/>
      <p:bold r:id="rId38"/>
      <p:italic r:id="rId39"/>
      <p:boldItalic r:id="rId40"/>
    </p:embeddedFont>
    <p:embeddedFont>
      <p:font typeface="Proxima Nova Semibold"/>
      <p:regular r:id="rId41"/>
      <p:bold r:id="rId42"/>
      <p:boldItalic r:id="rId43"/>
    </p:embeddedFont>
    <p:embeddedFont>
      <p:font typeface="Barlow"/>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6.xml"/><Relationship Id="rId42" Type="http://schemas.openxmlformats.org/officeDocument/2006/relationships/font" Target="fonts/ProximaNovaSemibold-bold.fntdata"/><Relationship Id="rId41" Type="http://schemas.openxmlformats.org/officeDocument/2006/relationships/font" Target="fonts/ProximaNovaSemibold-regular.fntdata"/><Relationship Id="rId22" Type="http://schemas.openxmlformats.org/officeDocument/2006/relationships/slide" Target="slides/slide18.xml"/><Relationship Id="rId44" Type="http://schemas.openxmlformats.org/officeDocument/2006/relationships/font" Target="fonts/Barlow-regular.fntdata"/><Relationship Id="rId21" Type="http://schemas.openxmlformats.org/officeDocument/2006/relationships/slide" Target="slides/slide17.xml"/><Relationship Id="rId43" Type="http://schemas.openxmlformats.org/officeDocument/2006/relationships/font" Target="fonts/ProximaNovaSemibold-boldItalic.fntdata"/><Relationship Id="rId24" Type="http://schemas.openxmlformats.org/officeDocument/2006/relationships/slide" Target="slides/slide20.xml"/><Relationship Id="rId46" Type="http://schemas.openxmlformats.org/officeDocument/2006/relationships/font" Target="fonts/Barlow-italic.fntdata"/><Relationship Id="rId23" Type="http://schemas.openxmlformats.org/officeDocument/2006/relationships/slide" Target="slides/slide19.xml"/><Relationship Id="rId45" Type="http://schemas.openxmlformats.org/officeDocument/2006/relationships/font" Target="fonts/Barlow-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Barlow-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roximaNova-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roximaNova-italic.fntdata"/><Relationship Id="rId12" Type="http://schemas.openxmlformats.org/officeDocument/2006/relationships/slide" Target="slides/slide8.xml"/><Relationship Id="rId34" Type="http://schemas.openxmlformats.org/officeDocument/2006/relationships/font" Target="fonts/ProximaNova-bold.fntdata"/><Relationship Id="rId15" Type="http://schemas.openxmlformats.org/officeDocument/2006/relationships/slide" Target="slides/slide11.xml"/><Relationship Id="rId37" Type="http://schemas.openxmlformats.org/officeDocument/2006/relationships/font" Target="fonts/Roboto-regular.fntdata"/><Relationship Id="rId14" Type="http://schemas.openxmlformats.org/officeDocument/2006/relationships/slide" Target="slides/slide10.xml"/><Relationship Id="rId36" Type="http://schemas.openxmlformats.org/officeDocument/2006/relationships/font" Target="fonts/ProximaNova-boldItalic.fntdata"/><Relationship Id="rId17" Type="http://schemas.openxmlformats.org/officeDocument/2006/relationships/slide" Target="slides/slide13.xml"/><Relationship Id="rId39" Type="http://schemas.openxmlformats.org/officeDocument/2006/relationships/font" Target="fonts/Roboto-italic.fntdata"/><Relationship Id="rId16" Type="http://schemas.openxmlformats.org/officeDocument/2006/relationships/slide" Target="slides/slide12.xml"/><Relationship Id="rId38" Type="http://schemas.openxmlformats.org/officeDocument/2006/relationships/font" Target="fonts/Robot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chained.com/blog/bitcoin-source-code-21-million/"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inmagazine.com/markets/how-halvings-will-bring-the-bitcoin-price-to-400000" TargetMode="External"/><Relationship Id="rId3" Type="http://schemas.openxmlformats.org/officeDocument/2006/relationships/hyperlink" Target="https://x.com/lopp/status/1756490177030303949?s=2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inmagazine.com/culture/the-universe-shows-bitcoin-is-mathematically-perfec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ck_SNARKs/status/1758250923938267352?s=20"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f7b1f497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f7b1f497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f7b1f4973a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f7b1f4973a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7b1f497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7b1f497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f7b1f4973a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f7b1f4973a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f7b1f4973a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f7b1f4973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f7b1f4973a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f7b1f4973a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f7b1f4973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f7b1f4973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f7b1f4973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f7b1f4973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f7b1f4973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f7b1f4973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https://unchained.com/blog/bitcoin-source-code-21-million/</a:t>
            </a:r>
            <a:r>
              <a:rPr lang="en"/>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f7b1f4973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f7b1f4973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https://bitcoinmagazine.com/markets/how-halvings-will-bring-the-bitcoin-price-to-400000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https://x.com/lopp/status/1756490177030303949?s=20</a:t>
            </a:r>
            <a:r>
              <a:rPr lang="en"/>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f7b1f4973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f7b1f4973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7b1f4973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f7b1f4973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https://bitcoinmagazine.com/culture/the-universe-shows-bitcoin-is-mathematically-perfect</a:t>
            </a:r>
            <a:r>
              <a:rPr lang="en"/>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f7b1f4973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f7b1f4973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https://x.com/ck_SNARKs/status/1758250923938267352?s=20</a:t>
            </a: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f7b1f4973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f7b1f4973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f7b1f4973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f7b1f4973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f7b1f4973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f7b1f4973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f7b1f4973a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f7b1f4973a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f7b1f4973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f7b1f4973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f7b1f4973a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f7b1f4973a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hyperlink" Target="https://x.com/coinbase/status/177990272986059174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x.com/BitcoinMagazine/status/1780629445566513231" TargetMode="Externa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hyperlink" Target="https://x.com/D_plus__plus/status/1780452401398571232" TargetMode="External"/><Relationship Id="rId5" Type="http://schemas.openxmlformats.org/officeDocument/2006/relationships/hyperlink" Target="https://dplus.plus/countdow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hyperlink" Target="https://x.com/SDWouters/status/178059455542929031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www.youtube.com/watch?v=NTyQD5CfiKs" TargetMode="Externa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river.com/learn/what-will-happen-after-all-bitcoin-mined/" TargetMode="Externa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www.youtube.com/watch?v=kOufJnNUZU4" TargetMode="External"/><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nostr.com/" TargetMode="Externa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primal.net/" TargetMode="Externa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hyperlink" Target="https://docs.lightning.engineering/community-resources/resource-lis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jp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#9: April 18,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78753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Warm-Up</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Sharing Some Resources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#9: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What is the halving? </a:t>
            </a:r>
            <a:endParaRPr b="1">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Preview Plans for Fall ‘24</a:t>
            </a:r>
            <a:endParaRPr>
              <a:solidFill>
                <a:schemeClr val="lt1"/>
              </a:solidFill>
              <a:latin typeface="Barlow"/>
              <a:ea typeface="Barlow"/>
              <a:cs typeface="Barlow"/>
              <a:sym typeface="Barlow"/>
            </a:endParaRPr>
          </a:p>
          <a:p>
            <a:pPr indent="0" lvl="0" marL="45720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Halving Party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Food</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Receive sats! </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Set up Nostr/Primal &amp; Wallets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Play “Hodl Up: A Bitcoin Mining Game”</a:t>
            </a:r>
            <a:endParaRPr>
              <a:solidFill>
                <a:schemeClr val="lt1"/>
              </a:solidFill>
              <a:latin typeface="Barlow"/>
              <a:ea typeface="Barlow"/>
              <a:cs typeface="Barlow"/>
              <a:sym typeface="Barlow"/>
            </a:endParaRPr>
          </a:p>
          <a:p>
            <a:pPr indent="0" lvl="0" marL="91440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id="90" name="Google Shape;90;p16"/>
          <p:cNvPicPr preferRelativeResize="0"/>
          <p:nvPr/>
        </p:nvPicPr>
        <p:blipFill>
          <a:blip r:embed="rId3">
            <a:alphaModFix/>
          </a:blip>
          <a:stretch>
            <a:fillRect/>
          </a:stretch>
        </p:blipFill>
        <p:spPr>
          <a:xfrm>
            <a:off x="1388875" y="850750"/>
            <a:ext cx="4461488" cy="4219650"/>
          </a:xfrm>
          <a:prstGeom prst="rect">
            <a:avLst/>
          </a:prstGeom>
          <a:noFill/>
          <a:ln>
            <a:noFill/>
          </a:ln>
        </p:spPr>
      </p:pic>
      <p:sp>
        <p:nvSpPr>
          <p:cNvPr id="91" name="Google Shape;91;p16"/>
          <p:cNvSpPr txBox="1"/>
          <p:nvPr/>
        </p:nvSpPr>
        <p:spPr>
          <a:xfrm>
            <a:off x="6144000" y="2811350"/>
            <a:ext cx="2224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hlinkClick r:id="rId4">
                  <a:extLst>
                    <a:ext uri="{A12FA001-AC4F-418D-AE19-62706E023703}">
                      <ahyp:hlinkClr val="tx"/>
                    </a:ext>
                  </a:extLst>
                </a:hlinkClick>
              </a:rPr>
              <a:t>https://x.com/coinbase/status/1779902729860591745</a:t>
            </a:r>
            <a:r>
              <a:rPr lang="en" sz="1100">
                <a:solidFill>
                  <a:schemeClr val="lt1"/>
                </a:solidFill>
              </a:rPr>
              <a:t> </a:t>
            </a:r>
            <a:endParaRPr sz="11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97" name="Google Shape;97;p17"/>
          <p:cNvSpPr txBox="1"/>
          <p:nvPr/>
        </p:nvSpPr>
        <p:spPr>
          <a:xfrm>
            <a:off x="5507575" y="25568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3">
                  <a:extLst>
                    <a:ext uri="{A12FA001-AC4F-418D-AE19-62706E023703}">
                      <ahyp:hlinkClr val="tx"/>
                    </a:ext>
                  </a:extLst>
                </a:hlinkClick>
              </a:rPr>
              <a:t>https://x.com/BitcoinMagazine/status/1780629445566513231</a:t>
            </a:r>
            <a:r>
              <a:rPr lang="en">
                <a:solidFill>
                  <a:schemeClr val="lt1"/>
                </a:solidFill>
              </a:rPr>
              <a:t> </a:t>
            </a:r>
            <a:endParaRPr>
              <a:solidFill>
                <a:schemeClr val="lt1"/>
              </a:solidFill>
            </a:endParaRPr>
          </a:p>
        </p:txBody>
      </p:sp>
      <p:pic>
        <p:nvPicPr>
          <p:cNvPr id="98" name="Google Shape;98;p17"/>
          <p:cNvPicPr preferRelativeResize="0"/>
          <p:nvPr/>
        </p:nvPicPr>
        <p:blipFill>
          <a:blip r:embed="rId4">
            <a:alphaModFix/>
          </a:blip>
          <a:stretch>
            <a:fillRect/>
          </a:stretch>
        </p:blipFill>
        <p:spPr>
          <a:xfrm>
            <a:off x="1231175" y="1076250"/>
            <a:ext cx="3877400" cy="3073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id="104" name="Google Shape;104;p18"/>
          <p:cNvPicPr preferRelativeResize="0"/>
          <p:nvPr/>
        </p:nvPicPr>
        <p:blipFill>
          <a:blip r:embed="rId3">
            <a:alphaModFix/>
          </a:blip>
          <a:stretch>
            <a:fillRect/>
          </a:stretch>
        </p:blipFill>
        <p:spPr>
          <a:xfrm>
            <a:off x="953913" y="1013540"/>
            <a:ext cx="6086525" cy="3071476"/>
          </a:xfrm>
          <a:prstGeom prst="rect">
            <a:avLst/>
          </a:prstGeom>
          <a:noFill/>
          <a:ln>
            <a:noFill/>
          </a:ln>
        </p:spPr>
      </p:pic>
      <p:sp>
        <p:nvSpPr>
          <p:cNvPr id="105" name="Google Shape;105;p18"/>
          <p:cNvSpPr txBox="1"/>
          <p:nvPr/>
        </p:nvSpPr>
        <p:spPr>
          <a:xfrm>
            <a:off x="953925" y="4271375"/>
            <a:ext cx="4553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hlinkClick r:id="rId4">
                  <a:extLst>
                    <a:ext uri="{A12FA001-AC4F-418D-AE19-62706E023703}">
                      <ahyp:hlinkClr val="tx"/>
                    </a:ext>
                  </a:extLst>
                </a:hlinkClick>
              </a:rPr>
              <a:t>https://x.com/D_plus__plus/status/1780452401398571232</a:t>
            </a:r>
            <a:r>
              <a:rPr lang="en" sz="1100">
                <a:solidFill>
                  <a:schemeClr val="lt1"/>
                </a:solidFill>
              </a:rPr>
              <a:t> </a:t>
            </a:r>
            <a:endParaRPr sz="1100">
              <a:solidFill>
                <a:schemeClr val="lt1"/>
              </a:solidFill>
            </a:endParaRPr>
          </a:p>
        </p:txBody>
      </p:sp>
      <p:sp>
        <p:nvSpPr>
          <p:cNvPr id="106" name="Google Shape;106;p18"/>
          <p:cNvSpPr txBox="1"/>
          <p:nvPr/>
        </p:nvSpPr>
        <p:spPr>
          <a:xfrm>
            <a:off x="1003475" y="46253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hlinkClick r:id="rId5">
                  <a:extLst>
                    <a:ext uri="{A12FA001-AC4F-418D-AE19-62706E023703}">
                      <ahyp:hlinkClr val="tx"/>
                    </a:ext>
                  </a:extLst>
                </a:hlinkClick>
              </a:rPr>
              <a:t>https://dplus.plus/countdown</a:t>
            </a:r>
            <a:r>
              <a:rPr lang="en" sz="1100">
                <a:solidFill>
                  <a:schemeClr val="lt1"/>
                </a:solidFill>
              </a:rPr>
              <a:t> </a:t>
            </a:r>
            <a:endParaRPr sz="11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12" name="Google Shape;112;p19"/>
          <p:cNvPicPr preferRelativeResize="0"/>
          <p:nvPr/>
        </p:nvPicPr>
        <p:blipFill>
          <a:blip r:embed="rId3">
            <a:alphaModFix/>
          </a:blip>
          <a:stretch>
            <a:fillRect/>
          </a:stretch>
        </p:blipFill>
        <p:spPr>
          <a:xfrm>
            <a:off x="1044325" y="864400"/>
            <a:ext cx="3611110" cy="4219648"/>
          </a:xfrm>
          <a:prstGeom prst="rect">
            <a:avLst/>
          </a:prstGeom>
          <a:noFill/>
          <a:ln>
            <a:noFill/>
          </a:ln>
        </p:spPr>
      </p:pic>
      <p:sp>
        <p:nvSpPr>
          <p:cNvPr id="113" name="Google Shape;113;p19"/>
          <p:cNvSpPr txBox="1"/>
          <p:nvPr/>
        </p:nvSpPr>
        <p:spPr>
          <a:xfrm>
            <a:off x="5064225" y="25271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4">
                  <a:extLst>
                    <a:ext uri="{A12FA001-AC4F-418D-AE19-62706E023703}">
                      <ahyp:hlinkClr val="tx"/>
                    </a:ext>
                  </a:extLst>
                </a:hlinkClick>
              </a:rPr>
              <a:t>https://x.com/SDWouters/status/1780594555429290311</a:t>
            </a:r>
            <a:r>
              <a:rPr lang="en">
                <a:solidFill>
                  <a:schemeClr val="lt1"/>
                </a:solidFill>
              </a:rPr>
              <a:t> </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descr="Sam sits down with Chris Kuiper, Director of Research at Fidelity Digital Assets, to discuss Bitcoin's emergence as an institutional-grade asset, the merits of Proof of Work, the economics of the Bitcoin halving, the different channels to gain Bitcoin exposure, and how he envisions Bitcoin may mature in the future. &#10; &#10;Connect with Sam: https://twitter.com/samcallah &#10;Connect with Chris: https://twitter.com/ChrisJKuiper&#10;&#10;Time Stamps:&#10;0:00 - 1:02 - Pacific Bitcoin Ad&#10;1:02 - 2:03 - Intro&#10;2:03 - 4:58 - Bitcoin First Fidelity Paper&#10;4:58 - 10:10 - How do you View Bitcoin versus other Cryptos?&#10;10:10 - 15:24 - Proof of Work versus Proof of Stake&#10;15:24 - 18:01 - Why Electricity is Key to Decentralization of Bitcoin?&#10;18:01 - 20:41 - How do other Systems Try to Bypass the Laws of Physics and What are those Risks?&#10;20:41 - 26:50 - What is the Purpose &amp; Meaning of the Bitcoin Halving?&#10;26:50 - 28:25 - Talking about Bitcoin Exchange Traded Products (ETPs)&#10;28:25 - 30:06 - Bitcoin becomes Scarcer than Gold with this Halving&#10;30:06 - 34:20 - Is the Halving Priced in or Not? Or Macro Environment More Important?&#10;34:20 - 38:23 - Halving becoming Less Relevant?&#10;38:23 - 43:35 - How Impressed Have You Been of the ETF Products?&#10;43:35 - 46:56 - What are People's Hold ups with Bitcoin?&#10;46:56 - 51:30 - Monetary Properties of Bitcoin?&#10;51:30 - 57:20 - Concerns of Bitcoin?&#10;57:20 - 59:51 - Outro&#10; &#10;Connect with Swan Bitcoin: &#10;     YouTube: https://youtube.com/@Swan_Bitcoin &#10;     Twitter: https://twitter.com/Swan &#10;     Instagram: https://instagram.com/SwanBitcoin &#10;     Telegram: https://t.me/swanbitcoin &#10;      LinkedIn: https://linkedin.com/company/swanbitcoin &#10; &#10;Swan Bitcoin does not provide any investment, financial, tax, legal or other professional advice. We recommend that you consult with financial and tax advisors to understand the risks and consequences of buying, selling and holding Bitcoin. &#10; &#10; *Swan Bitcoin* is the best way to accumulate Bitcoin with automatic recurring buys and instant buys from $10 to $10 million. Start your Bitcoin journey today, and your first $10 purchase is on us  &#10;     https://swanbitcoin.com/yt &#10; &#10; Download the all-new *Swan Bitcoin App*  &#10;     https://www.swanbitcoin.com/app/?utm_medium=social&amp;utm_source=youtube&amp;utm_campaign=youtube_description &#10; &#10; Get your ticket for the Pacific *Bitcoin Festival 2024* before prices increase! &#10;      https://www.pacificbitcoin.com/?utm_medium=social&amp;utm_source=youtube&amp;utm_campaign=youtube_description &#10; &#10; Secure your bright orange future with the *Swan IRA* today! Real Bitcoin, no taxes &#10;     https://www.swanbitcoin.com/bitcoin-ira/?utm_medium=social&amp;utm_source=youtube&amp;utm_campaign=youtube_description &#10; &#10; For high-net-worth individuals and corporations seeking to build generational wealth with Bitcoin, *Swan Private* is your guide &#10;     https://www.swanbitcoin.com/private/?utm_medium=social&amp;utm_source=youtube&amp;utm_campaign=youtube_description &#10; &#10; Want to learn more about Bitcoin? Check out the *Bitcoin Canon* a curated list of the best Bitcoin resources from your favorite experts   &#10;     https://swanbitcoin.com/cannon/?utm_medium=social&amp;utm_source=youtube&amp;utm_campaign=youtube_description &#10; &#10;  Get paid to recruit new Bitcoiners by joining *Swan Force*  &#10;      https://www.swanbitcoin.com/enlist/?utm_medium=social&amp;utm_source=youtube&amp;utm_campaign=youtube_description" id="119" name="Google Shape;119;p20" title="The Emergence of Bitcoin as a Superior Money with Chris Kuiper | EP 152">
            <a:hlinkClick r:id="rId3"/>
          </p:cNvPr>
          <p:cNvPicPr preferRelativeResize="0"/>
          <p:nvPr/>
        </p:nvPicPr>
        <p:blipFill>
          <a:blip r:embed="rId4">
            <a:alphaModFix/>
          </a:blip>
          <a:stretch>
            <a:fillRect/>
          </a:stretch>
        </p:blipFill>
        <p:spPr>
          <a:xfrm>
            <a:off x="1393125" y="1005175"/>
            <a:ext cx="6754250" cy="379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25" name="Google Shape;125;p21"/>
          <p:cNvPicPr preferRelativeResize="0"/>
          <p:nvPr/>
        </p:nvPicPr>
        <p:blipFill>
          <a:blip r:embed="rId3">
            <a:alphaModFix/>
          </a:blip>
          <a:stretch>
            <a:fillRect/>
          </a:stretch>
        </p:blipFill>
        <p:spPr>
          <a:xfrm>
            <a:off x="1027325" y="960449"/>
            <a:ext cx="7624549" cy="3935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#9</a:t>
            </a:r>
            <a:endParaRPr/>
          </a:p>
          <a:p>
            <a:pPr indent="0" lvl="0" marL="0" rtl="0" algn="l">
              <a:spcBef>
                <a:spcPts val="0"/>
              </a:spcBef>
              <a:spcAft>
                <a:spcPts val="0"/>
              </a:spcAft>
              <a:buNone/>
            </a:pPr>
            <a:r>
              <a:t/>
            </a:r>
            <a:endParaRPr sz="2000"/>
          </a:p>
        </p:txBody>
      </p:sp>
      <p:pic>
        <p:nvPicPr>
          <p:cNvPr id="131" name="Google Shape;131;p2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Proof of Work (PoW)</a:t>
            </a:r>
            <a:endParaRPr/>
          </a:p>
        </p:txBody>
      </p:sp>
      <p:sp>
        <p:nvSpPr>
          <p:cNvPr id="137" name="Google Shape;137;p23"/>
          <p:cNvSpPr txBox="1"/>
          <p:nvPr/>
        </p:nvSpPr>
        <p:spPr>
          <a:xfrm>
            <a:off x="505750" y="2894475"/>
            <a:ext cx="57645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p:txBody>
      </p:sp>
      <p:pic>
        <p:nvPicPr>
          <p:cNvPr id="138" name="Google Shape;138;p2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4"/>
          <p:cNvPicPr preferRelativeResize="0"/>
          <p:nvPr/>
        </p:nvPicPr>
        <p:blipFill>
          <a:blip r:embed="rId3">
            <a:alphaModFix/>
          </a:blip>
          <a:stretch>
            <a:fillRect/>
          </a:stretch>
        </p:blipFill>
        <p:spPr>
          <a:xfrm>
            <a:off x="3395088" y="895613"/>
            <a:ext cx="4837925" cy="3352275"/>
          </a:xfrm>
          <a:prstGeom prst="rect">
            <a:avLst/>
          </a:prstGeom>
          <a:noFill/>
          <a:ln>
            <a:noFill/>
          </a:ln>
        </p:spPr>
      </p:pic>
      <p:sp>
        <p:nvSpPr>
          <p:cNvPr id="144" name="Google Shape;144;p24"/>
          <p:cNvSpPr txBox="1"/>
          <p:nvPr/>
        </p:nvSpPr>
        <p:spPr>
          <a:xfrm>
            <a:off x="907700" y="2269200"/>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Barlow"/>
                <a:ea typeface="Barlow"/>
                <a:cs typeface="Barlow"/>
                <a:sym typeface="Barlow"/>
              </a:rPr>
              <a:t>It’s just math. </a:t>
            </a:r>
            <a:endParaRPr/>
          </a:p>
        </p:txBody>
      </p:sp>
      <p:pic>
        <p:nvPicPr>
          <p:cNvPr id="145" name="Google Shape;145;p2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nvSpPr>
        <p:spPr>
          <a:xfrm>
            <a:off x="281775" y="267975"/>
            <a:ext cx="167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51" name="Google Shape;151;p2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52" name="Google Shape;152;p25"/>
          <p:cNvPicPr preferRelativeResize="0"/>
          <p:nvPr/>
        </p:nvPicPr>
        <p:blipFill>
          <a:blip r:embed="rId4">
            <a:alphaModFix/>
          </a:blip>
          <a:stretch>
            <a:fillRect/>
          </a:stretch>
        </p:blipFill>
        <p:spPr>
          <a:xfrm>
            <a:off x="620300" y="1098875"/>
            <a:ext cx="8071600" cy="3086200"/>
          </a:xfrm>
          <a:prstGeom prst="rect">
            <a:avLst/>
          </a:prstGeom>
          <a:noFill/>
          <a:ln>
            <a:noFill/>
          </a:ln>
        </p:spPr>
      </p:pic>
      <p:sp>
        <p:nvSpPr>
          <p:cNvPr id="153" name="Google Shape;153;p25"/>
          <p:cNvSpPr txBox="1"/>
          <p:nvPr/>
        </p:nvSpPr>
        <p:spPr>
          <a:xfrm>
            <a:off x="4498625" y="4646650"/>
            <a:ext cx="46539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https://unchained.com/blog/bitcoin-source-code-21-million/ </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nvSpPr>
        <p:spPr>
          <a:xfrm>
            <a:off x="125850" y="793175"/>
            <a:ext cx="32652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1: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Jan 3, 2009 → November 28, 2012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2: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November 28, 2012 → July 9, 2016</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3: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July 9, 2016 → May 11, 2020</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4: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May 11, 2020 → April 20, 2024??</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4-20-2024 = 4202-02-4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500">
                <a:solidFill>
                  <a:schemeClr val="lt1"/>
                </a:solidFill>
                <a:latin typeface="Proxima Nova"/>
                <a:ea typeface="Proxima Nova"/>
                <a:cs typeface="Proxima Nova"/>
                <a:sym typeface="Proxima Nova"/>
              </a:rPr>
              <a:t>*Every 210,000 blocks^</a:t>
            </a:r>
            <a:endParaRPr i="1" sz="1500">
              <a:solidFill>
                <a:schemeClr val="lt1"/>
              </a:solidFill>
              <a:latin typeface="Proxima Nova"/>
              <a:ea typeface="Proxima Nova"/>
              <a:cs typeface="Proxima Nova"/>
              <a:sym typeface="Proxima Nova"/>
            </a:endParaRPr>
          </a:p>
        </p:txBody>
      </p:sp>
      <p:pic>
        <p:nvPicPr>
          <p:cNvPr id="159" name="Google Shape;159;p26"/>
          <p:cNvPicPr preferRelativeResize="0"/>
          <p:nvPr/>
        </p:nvPicPr>
        <p:blipFill>
          <a:blip r:embed="rId3">
            <a:alphaModFix/>
          </a:blip>
          <a:stretch>
            <a:fillRect/>
          </a:stretch>
        </p:blipFill>
        <p:spPr>
          <a:xfrm>
            <a:off x="3058150" y="2467075"/>
            <a:ext cx="2410949" cy="2524025"/>
          </a:xfrm>
          <a:prstGeom prst="rect">
            <a:avLst/>
          </a:prstGeom>
          <a:noFill/>
          <a:ln>
            <a:noFill/>
          </a:ln>
        </p:spPr>
      </p:pic>
      <p:pic>
        <p:nvPicPr>
          <p:cNvPr id="160" name="Google Shape;160;p26"/>
          <p:cNvPicPr preferRelativeResize="0"/>
          <p:nvPr/>
        </p:nvPicPr>
        <p:blipFill>
          <a:blip r:embed="rId4">
            <a:alphaModFix/>
          </a:blip>
          <a:stretch>
            <a:fillRect/>
          </a:stretch>
        </p:blipFill>
        <p:spPr>
          <a:xfrm>
            <a:off x="4629100" y="129100"/>
            <a:ext cx="4364325" cy="2780700"/>
          </a:xfrm>
          <a:prstGeom prst="rect">
            <a:avLst/>
          </a:prstGeom>
          <a:noFill/>
          <a:ln>
            <a:noFill/>
          </a:ln>
        </p:spPr>
      </p:pic>
      <p:pic>
        <p:nvPicPr>
          <p:cNvPr id="161" name="Google Shape;161;p26"/>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Interesting Facts: Part I</a:t>
            </a:r>
            <a:endParaRPr/>
          </a:p>
        </p:txBody>
      </p:sp>
      <p:sp>
        <p:nvSpPr>
          <p:cNvPr id="167" name="Google Shape;167;p27"/>
          <p:cNvSpPr txBox="1"/>
          <p:nvPr/>
        </p:nvSpPr>
        <p:spPr>
          <a:xfrm>
            <a:off x="149225" y="947950"/>
            <a:ext cx="7701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1st epoch: 50 bitcoin = reward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2nd epoch: 25 bitcoin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3rd epoch: 12.5 bitcoin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4th epoch: 6.25 bitcoin ← where we are currently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5th epoch: 3.125 bitcoin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In each epoch, block reward = % of bitcoin mined (in that epoch)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50% + 25% + 12.5% + 6.25% = 93.75% &lt;- April 20, 2024 ~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AND how much left to be mined in the future.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50% mined in 1st epoch and 50% left to be mined</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25% mined in 2nd epoch and (100 -(50+25)) = 25% left to be mined</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etc.</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Interesting Facts: Part II</a:t>
            </a:r>
            <a:endParaRPr/>
          </a:p>
        </p:txBody>
      </p:sp>
      <p:sp>
        <p:nvSpPr>
          <p:cNvPr id="173" name="Google Shape;173;p28"/>
          <p:cNvSpPr txBox="1"/>
          <p:nvPr/>
        </p:nvSpPr>
        <p:spPr>
          <a:xfrm>
            <a:off x="149225" y="947950"/>
            <a:ext cx="7701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All bitcoin will be mined over a span of </a:t>
            </a:r>
            <a:r>
              <a:rPr b="1" lang="en">
                <a:solidFill>
                  <a:schemeClr val="lt1"/>
                </a:solidFill>
                <a:latin typeface="Proxima Nova"/>
                <a:ea typeface="Proxima Nova"/>
                <a:cs typeface="Proxima Nova"/>
                <a:sym typeface="Proxima Nova"/>
              </a:rPr>
              <a:t>131 years</a:t>
            </a:r>
            <a:r>
              <a:rPr lang="en">
                <a:solidFill>
                  <a:schemeClr val="lt1"/>
                </a:solidFill>
                <a:latin typeface="Proxima Nova"/>
                <a:ea typeface="Proxima Nova"/>
                <a:cs typeface="Proxima Nova"/>
                <a:sym typeface="Proxima Nova"/>
              </a:rPr>
              <a:t> (same time span as Protestant Reformation)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Jan 3, 2009 - [Month and Day], 2140</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Mining difficulty is updated every 2,016 blocks (about every 2 weeks)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2016 = palindrome of 6102</a:t>
            </a:r>
            <a:endParaRPr>
              <a:solidFill>
                <a:schemeClr val="lt1"/>
              </a:solidFill>
              <a:latin typeface="Proxima Nova"/>
              <a:ea typeface="Proxima Nova"/>
              <a:cs typeface="Proxima Nova"/>
              <a:sym typeface="Proxima Nova"/>
            </a:endParaRPr>
          </a:p>
          <a:p>
            <a:pPr indent="-317500" lvl="1" marL="9144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Executive Order 6102 signed on April 5, 1933, by US President Franklin D. Roosevelt </a:t>
            </a:r>
            <a:r>
              <a:rPr i="1" lang="en">
                <a:solidFill>
                  <a:schemeClr val="lt1"/>
                </a:solidFill>
                <a:latin typeface="Proxima Nova"/>
                <a:ea typeface="Proxima Nova"/>
                <a:cs typeface="Proxima Nova"/>
                <a:sym typeface="Proxima Nova"/>
              </a:rPr>
              <a:t>“forbidding the hoarding of gold coin, gold bullion, and gold certificates within the continental United States.”</a:t>
            </a:r>
            <a:r>
              <a:rPr lang="en">
                <a:solidFill>
                  <a:schemeClr val="lt1"/>
                </a:solidFill>
                <a:latin typeface="Proxima Nova"/>
                <a:ea typeface="Proxima Nova"/>
                <a:cs typeface="Proxima Nova"/>
                <a:sym typeface="Proxima Nova"/>
              </a:rPr>
              <a:t> </a:t>
            </a:r>
            <a:endParaRPr>
              <a:solidFill>
                <a:schemeClr val="lt1"/>
              </a:solidFill>
              <a:latin typeface="Proxima Nova"/>
              <a:ea typeface="Proxima Nova"/>
              <a:cs typeface="Proxima Nova"/>
              <a:sym typeface="Proxima Nova"/>
            </a:endParaRPr>
          </a:p>
          <a:p>
            <a:pPr indent="-317500" lvl="1" marL="9144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Reversal in history, that your property is yours, no one can take it from you, and a reversal in precedent that the money supply is not something that can always be increased.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21,000,000 = 2, 1, and Six “0s”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21st century </a:t>
            </a:r>
            <a:endParaRPr>
              <a:solidFill>
                <a:schemeClr val="lt1"/>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9"/>
          <p:cNvPicPr preferRelativeResize="0"/>
          <p:nvPr/>
        </p:nvPicPr>
        <p:blipFill>
          <a:blip r:embed="rId3">
            <a:alphaModFix/>
          </a:blip>
          <a:stretch>
            <a:fillRect/>
          </a:stretch>
        </p:blipFill>
        <p:spPr>
          <a:xfrm>
            <a:off x="736875" y="102300"/>
            <a:ext cx="8075250" cy="4845150"/>
          </a:xfrm>
          <a:prstGeom prst="rect">
            <a:avLst/>
          </a:prstGeom>
          <a:noFill/>
          <a:ln>
            <a:noFill/>
          </a:ln>
        </p:spPr>
      </p:pic>
      <p:pic>
        <p:nvPicPr>
          <p:cNvPr id="179" name="Google Shape;179;p29"/>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hlinkClick r:id="rId3"/>
              </a:rPr>
              <a:t>What Happens After All Bitcoin Are Mined?</a:t>
            </a:r>
            <a:r>
              <a:rPr lang="en"/>
              <a:t> - River</a:t>
            </a:r>
            <a:endParaRPr/>
          </a:p>
        </p:txBody>
      </p:sp>
      <p:pic>
        <p:nvPicPr>
          <p:cNvPr id="185" name="Google Shape;185;p30"/>
          <p:cNvPicPr preferRelativeResize="0"/>
          <p:nvPr/>
        </p:nvPicPr>
        <p:blipFill>
          <a:blip r:embed="rId4">
            <a:alphaModFix/>
          </a:blip>
          <a:stretch>
            <a:fillRect/>
          </a:stretch>
        </p:blipFill>
        <p:spPr>
          <a:xfrm>
            <a:off x="2402050" y="821025"/>
            <a:ext cx="4101500" cy="4219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miners do NOT solve a “cryptographic math puzzle”</a:t>
            </a:r>
            <a:endParaRPr/>
          </a:p>
        </p:txBody>
      </p:sp>
      <p:pic>
        <p:nvPicPr>
          <p:cNvPr descr="D++ is a computer engineer, coding professor, entrepreneur, and #Bitcoin educator known for her work in pioneering PLEBNET, a community dedicated to furthering Bitcoin's Lightning Network adoption worldwide. She also recently started corporate Bitcoin education company Cypher Institute. Follow her at www.twitter.com/D_plus_plus&#10;&#10;REFERRAL LINKS:&#10;Coin Stories is powered by BITCOIN 2023, which will be the BIGGEST BITCOIN EVENT IN HISTORY held May 18-20 in Miami Beach. If you missed Bitcoin 2022, make sure to head to @BitcoinMagazine to find videos and highlights of all the biggest events and panels. You can get an early bird pass for Bitcoin 2023 at a steep discount if you head to https://b.tc/conference/bitcoin2023. Use code HODL for 10% off your pass. &#10;***&#10;Okcoin is on a mission to make crypto investing and trading easily accessible to anyone around the world. We are building the next generation of tools to help onboard the investors and traders who have been on the fence about crypto. Okcoin is a globally licensed exchange with offices in San Francisco, Miami, Malta, Hong Kong, Singapore and Japan. We are a collective of global citizens with a common passion to help decentralize finance and level the economic playing field for everyone around the world.&#10;Visit https://www.okcoin.com/natalie for $50 in Bitcoin when you sign up.&#10; ***&#10;Fold is the best Bitcoin rewards debit card and shopping app in the world! &#10;Earn Bitcoin on everything you purchase with the Fold's Bitcoin cashback debit card and spin the Daily Wheel to earn free Bitcoin. Head to https://www.foldapp.com/natalie for 5,000 in free sats!&#10;&#10;Producer: Aron Bender&#10;&#10;#bitcoin #cryptocurrency #money &#10;&#10;Timecodes:&#10;&#10;00:00 Promo codes&#10;01:58 Explaining the meaning behind D++ &#10;04:41 What is C++?&#10;05:12 Always interested in computer science?&#10;05:42 Discovering BTC&#10;06:16 Understanding Bitcoin mining&#10;06:48 Simplest explanation of Bitcoin mining&#10;07:38 Hashing operations&#10;10:52 SHA-256&#10;13:15 Same input will yield same output&#10;14:53 SHA-256 demonstration&#10;17:02 Bitcoin mining and blockchain demonstration&#10;18:47 What is a nonce?&#10;22:00 BTC mining computers aren't solving cryptographic puzzles&#10;23:50 Finding the nonce&#10;27:34 Fold app break&#10;28:07 Difficulty target adjustment and importance&#10;30:04 Difficulty target is like a bicycle lock&#10;32:08 Miners and nodes&#10;33:17 Why is understanding BTC intimidating?&#10;34:01 Why is the Bitcoin network rock solid?&#10;34:47 Energy consumption&#10;36:39 Mining pools&#10;38:12 Threats to Bitcoin?&#10;38:31 Cypher Institute: corporate Bitcoin education" id="191" name="Google Shape;191;p31" title="Explaining Bitcoin Mining Simply with D++">
            <a:hlinkClick r:id="rId3"/>
          </p:cNvPr>
          <p:cNvPicPr preferRelativeResize="0"/>
          <p:nvPr/>
        </p:nvPicPr>
        <p:blipFill>
          <a:blip r:embed="rId4">
            <a:alphaModFix/>
          </a:blip>
          <a:stretch>
            <a:fillRect/>
          </a:stretch>
        </p:blipFill>
        <p:spPr>
          <a:xfrm>
            <a:off x="1492725" y="1190300"/>
            <a:ext cx="5857075" cy="329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97" name="Google Shape;197;p3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Food &amp; Receive some sats!</a:t>
            </a:r>
            <a:endParaRPr/>
          </a:p>
          <a:p>
            <a:pPr indent="0" lvl="0" marL="0" rtl="0" algn="l">
              <a:spcBef>
                <a:spcPts val="0"/>
              </a:spcBef>
              <a:spcAft>
                <a:spcPts val="0"/>
              </a:spcAft>
              <a:buNone/>
            </a:pPr>
            <a:r>
              <a:t/>
            </a:r>
            <a:endParaRPr sz="2000"/>
          </a:p>
        </p:txBody>
      </p:sp>
      <p:pic>
        <p:nvPicPr>
          <p:cNvPr id="203" name="Google Shape;203;p3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hlinkClick r:id="rId3"/>
              </a:rPr>
              <a:t>Nostr </a:t>
            </a:r>
            <a:endParaRPr/>
          </a:p>
        </p:txBody>
      </p:sp>
      <p:sp>
        <p:nvSpPr>
          <p:cNvPr id="209" name="Google Shape;209;p34"/>
          <p:cNvSpPr txBox="1"/>
          <p:nvPr/>
        </p:nvSpPr>
        <p:spPr>
          <a:xfrm>
            <a:off x="549600" y="1109575"/>
            <a:ext cx="3395700" cy="306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Nostr is a decentralized network protocol for a distributed social networking system. The name is an acronym for "Notes and Other Stuff Transmitted by Relays"</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Bitcoin is to decentralized money as Nostr is to decentralized media</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p:txBody>
      </p:sp>
      <p:pic>
        <p:nvPicPr>
          <p:cNvPr id="210" name="Google Shape;210;p34"/>
          <p:cNvPicPr preferRelativeResize="0"/>
          <p:nvPr/>
        </p:nvPicPr>
        <p:blipFill>
          <a:blip r:embed="rId4">
            <a:alphaModFix/>
          </a:blip>
          <a:stretch>
            <a:fillRect/>
          </a:stretch>
        </p:blipFill>
        <p:spPr>
          <a:xfrm>
            <a:off x="4396400" y="1222721"/>
            <a:ext cx="4595199" cy="3053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hlinkClick r:id="rId3"/>
              </a:rPr>
              <a:t>Primal</a:t>
            </a:r>
            <a:endParaRPr/>
          </a:p>
        </p:txBody>
      </p:sp>
      <p:pic>
        <p:nvPicPr>
          <p:cNvPr id="216" name="Google Shape;216;p35"/>
          <p:cNvPicPr preferRelativeResize="0"/>
          <p:nvPr/>
        </p:nvPicPr>
        <p:blipFill>
          <a:blip r:embed="rId4">
            <a:alphaModFix/>
          </a:blip>
          <a:stretch>
            <a:fillRect/>
          </a:stretch>
        </p:blipFill>
        <p:spPr>
          <a:xfrm>
            <a:off x="1601675" y="1011075"/>
            <a:ext cx="6675799" cy="39800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Lightning &amp; Wallets</a:t>
            </a:r>
            <a:endParaRPr/>
          </a:p>
        </p:txBody>
      </p:sp>
      <p:pic>
        <p:nvPicPr>
          <p:cNvPr id="222" name="Google Shape;222;p36"/>
          <p:cNvPicPr preferRelativeResize="0"/>
          <p:nvPr/>
        </p:nvPicPr>
        <p:blipFill>
          <a:blip r:embed="rId3">
            <a:alphaModFix/>
          </a:blip>
          <a:stretch>
            <a:fillRect/>
          </a:stretch>
        </p:blipFill>
        <p:spPr>
          <a:xfrm>
            <a:off x="297600" y="1279500"/>
            <a:ext cx="3979500" cy="2872099"/>
          </a:xfrm>
          <a:prstGeom prst="rect">
            <a:avLst/>
          </a:prstGeom>
          <a:noFill/>
          <a:ln>
            <a:noFill/>
          </a:ln>
        </p:spPr>
      </p:pic>
      <p:pic>
        <p:nvPicPr>
          <p:cNvPr id="223" name="Google Shape;223;p36"/>
          <p:cNvPicPr preferRelativeResize="0"/>
          <p:nvPr/>
        </p:nvPicPr>
        <p:blipFill>
          <a:blip r:embed="rId4">
            <a:alphaModFix/>
          </a:blip>
          <a:stretch>
            <a:fillRect/>
          </a:stretch>
        </p:blipFill>
        <p:spPr>
          <a:xfrm>
            <a:off x="4592125" y="1689376"/>
            <a:ext cx="4378748" cy="2067751"/>
          </a:xfrm>
          <a:prstGeom prst="rect">
            <a:avLst/>
          </a:prstGeom>
          <a:noFill/>
          <a:ln>
            <a:noFill/>
          </a:ln>
        </p:spPr>
      </p:pic>
      <p:sp>
        <p:nvSpPr>
          <p:cNvPr id="224" name="Google Shape;224;p36"/>
          <p:cNvSpPr txBox="1"/>
          <p:nvPr/>
        </p:nvSpPr>
        <p:spPr>
          <a:xfrm>
            <a:off x="4873875" y="396132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5">
                  <a:extLst>
                    <a:ext uri="{A12FA001-AC4F-418D-AE19-62706E023703}">
                      <ahyp:hlinkClr val="tx"/>
                    </a:ext>
                  </a:extLst>
                </a:hlinkClick>
              </a:rPr>
              <a:t>https://docs.lightning.engineering/community-resources/resource-list</a:t>
            </a:r>
            <a:r>
              <a:rPr lang="en">
                <a:solidFill>
                  <a:schemeClr val="lt1"/>
                </a:solidFill>
              </a:rPr>
              <a:t> </a:t>
            </a:r>
            <a:endParaRPr>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230" name="Google Shape;230;p3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8"/>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236" name="Google Shape;236;p38"/>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242" name="Google Shape;242;p39"/>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243" name="Google Shape;243;p39"/>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244" name="Google Shape;244;p39"/>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8" name="Shape 248"/>
        <p:cNvGrpSpPr/>
        <p:nvPr/>
      </p:nvGrpSpPr>
      <p:grpSpPr>
        <a:xfrm>
          <a:off x="0" y="0"/>
          <a:ext cx="0" cy="0"/>
          <a:chOff x="0" y="0"/>
          <a:chExt cx="0" cy="0"/>
        </a:xfrm>
      </p:grpSpPr>
      <p:sp>
        <p:nvSpPr>
          <p:cNvPr id="249" name="Google Shape;249;p40"/>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250" name="Google Shape;250;p4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