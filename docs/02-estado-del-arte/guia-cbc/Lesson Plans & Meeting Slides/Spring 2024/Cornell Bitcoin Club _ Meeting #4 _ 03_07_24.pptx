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5143500" cx="9144000"/>
  <p:notesSz cx="6858000" cy="9144000"/>
  <p:embeddedFontLst>
    <p:embeddedFont>
      <p:font typeface="Proxima Nova"/>
      <p:regular r:id="rId35"/>
      <p:bold r:id="rId36"/>
      <p:italic r:id="rId37"/>
      <p:boldItalic r:id="rId38"/>
    </p:embeddedFont>
    <p:embeddedFont>
      <p:font typeface="Roboto"/>
      <p:regular r:id="rId39"/>
      <p:bold r:id="rId40"/>
      <p:italic r:id="rId41"/>
      <p:boldItalic r:id="rId42"/>
    </p:embeddedFont>
    <p:embeddedFont>
      <p:font typeface="Proxima Nova Semibold"/>
      <p:regular r:id="rId43"/>
      <p:bold r:id="rId44"/>
      <p:boldItalic r:id="rId45"/>
    </p:embeddedFont>
    <p:embeddedFont>
      <p:font typeface="Barlow"/>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42" Type="http://schemas.openxmlformats.org/officeDocument/2006/relationships/font" Target="fonts/Roboto-boldItalic.fntdata"/><Relationship Id="rId41" Type="http://schemas.openxmlformats.org/officeDocument/2006/relationships/font" Target="fonts/Roboto-italic.fntdata"/><Relationship Id="rId44" Type="http://schemas.openxmlformats.org/officeDocument/2006/relationships/font" Target="fonts/ProximaNovaSemibold-bold.fntdata"/><Relationship Id="rId43" Type="http://schemas.openxmlformats.org/officeDocument/2006/relationships/font" Target="fonts/ProximaNovaSemibold-regular.fntdata"/><Relationship Id="rId46" Type="http://schemas.openxmlformats.org/officeDocument/2006/relationships/font" Target="fonts/Barlow-regular.fntdata"/><Relationship Id="rId45" Type="http://schemas.openxmlformats.org/officeDocument/2006/relationships/font" Target="fonts/ProximaNovaSemi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Barlow-italic.fntdata"/><Relationship Id="rId47" Type="http://schemas.openxmlformats.org/officeDocument/2006/relationships/font" Target="fonts/Barlow-bold.fntdata"/><Relationship Id="rId49" Type="http://schemas.openxmlformats.org/officeDocument/2006/relationships/font" Target="fonts/Barlow-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font" Target="fonts/ProximaNova-regular.fntdata"/><Relationship Id="rId34" Type="http://schemas.openxmlformats.org/officeDocument/2006/relationships/slide" Target="slides/slide30.xml"/><Relationship Id="rId37" Type="http://schemas.openxmlformats.org/officeDocument/2006/relationships/font" Target="fonts/ProximaNova-italic.fntdata"/><Relationship Id="rId36" Type="http://schemas.openxmlformats.org/officeDocument/2006/relationships/font" Target="fonts/ProximaNova-bold.fntdata"/><Relationship Id="rId39" Type="http://schemas.openxmlformats.org/officeDocument/2006/relationships/font" Target="fonts/Roboto-regular.fntdata"/><Relationship Id="rId38" Type="http://schemas.openxmlformats.org/officeDocument/2006/relationships/font" Target="fonts/ProximaNova-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kolelee_/status/1764745867435921745?s=2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malmi.github.io/satoshi/?utm_source=substack&amp;utm_medium=email"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alexstanczyk/status/1765011338630136159?s=2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itcointalent.co/" TargetMode="External"/><Relationship Id="rId3" Type="http://schemas.openxmlformats.org/officeDocument/2006/relationships/hyperlink" Target="https://bitcoinerjobs.com/"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 Id="rId3" Type="http://schemas.openxmlformats.org/officeDocument/2006/relationships/hyperlink" Target="https://bitcoinmagazine.com/business/generation-bitcoin-to-unite-student-groups-in-worldwide-network"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86e27fd3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86e27fd3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ccc8ba21c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8ccc8ba21c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https://x.com/kolelee_/status/1764745867435921745?s=20</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c0984583e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c0984583e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https://mmalmi.github.io/satoshi/?utm_source=substack&amp;utm_medium=email</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private email conversations were released to the public as part of an ongoing court case in the UK. They are between early Bitcoin collaborator Martti Malmi and Satoshi, and the emails were exchanged between them from 2009 to 2011.”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bbb4e99992_1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bbb4e99992_1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0984583e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0984583e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c05f969fa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c05f969fa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https://x.com/alexstanczyk/status/1765011338630136159?s=20</a:t>
            </a:r>
            <a:r>
              <a:rPr lang="en"/>
              <a: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c05f969fa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c05f969fa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0984583e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0984583e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05f969fa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c05f969fa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05f969fa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05f969fa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https://www.bitcointalent.co/</a:t>
            </a:r>
            <a:r>
              <a:rPr lang="en"/>
              <a:t> </a:t>
            </a:r>
            <a:endParaRPr/>
          </a:p>
          <a:p>
            <a:pPr indent="0" lvl="0" marL="0" rtl="0" algn="l">
              <a:spcBef>
                <a:spcPts val="0"/>
              </a:spcBef>
              <a:spcAft>
                <a:spcPts val="0"/>
              </a:spcAft>
              <a:buNone/>
            </a:pPr>
            <a:r>
              <a:rPr lang="en" u="sng">
                <a:solidFill>
                  <a:schemeClr val="hlink"/>
                </a:solidFill>
                <a:hlinkClick r:id="rId3"/>
              </a:rPr>
              <a:t>https://bitcoinerjobs.com/</a:t>
            </a:r>
            <a:r>
              <a:rPr lang="en"/>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c05f969fa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c05f969fa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c05f969fa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c05f969fa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c05f969fa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c05f969fa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c05f969fa8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c05f969fa8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c05f969fa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c05f969fa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c05f969fa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c05f969fa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c05f969fa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c05f969fa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c05f969fa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c05f969fa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c05f969f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c05f969f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a:p>
            <a:pPr indent="0" lvl="0" marL="0" rtl="0" algn="l">
              <a:spcBef>
                <a:spcPts val="0"/>
              </a:spcBef>
              <a:spcAft>
                <a:spcPts val="0"/>
              </a:spcAft>
              <a:buNone/>
            </a:pPr>
            <a:r>
              <a:rPr lang="en" u="sng">
                <a:solidFill>
                  <a:schemeClr val="hlink"/>
                </a:solidFill>
                <a:hlinkClick r:id="rId3"/>
              </a:rPr>
              <a:t>https://bitcoinmagazine.com/business/generation-bitcoin-to-unite-student-groups-in-worldwide-network</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hyperlink" Target="https://docs.google.com/spreadsheets/d/1dQzRZ_Hp16n6WBRBiBHf6DMp_7QF-O7vTp-iIeUfkkI/edit?usp=sharin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bitcoinatlantis.com/" TargetMode="External"/><Relationship Id="rId4" Type="http://schemas.openxmlformats.org/officeDocument/2006/relationships/image" Target="../media/image2.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hyperlink" Target="http://www.youtube.com/watch?v=63zV8RwPRf8" TargetMode="External"/><Relationship Id="rId5" Type="http://schemas.openxmlformats.org/officeDocument/2006/relationships/image" Target="../media/image3.jpg"/><Relationship Id="rId6" Type="http://schemas.openxmlformats.org/officeDocument/2006/relationships/hyperlink" Target="https://www.youtube.com/@freemadeira/stream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www.youtube.com/watch?v=SKAHlCpwsLc" TargetMode="External"/><Relationship Id="rId4" Type="http://schemas.openxmlformats.org/officeDocument/2006/relationships/image" Target="../media/image1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www.youtube.com/watch?v=h2ljazAVDUE" TargetMode="External"/><Relationship Id="rId4" Type="http://schemas.openxmlformats.org/officeDocument/2006/relationships/image" Target="../media/image1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hyperlink" Target="http://www.youtube.com/watch?v=SKAHlCpwsLc" TargetMode="External"/><Relationship Id="rId4"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www.youtube.com/watch?v=SKAHlCpwsLc" TargetMode="External"/><Relationship Id="rId4" Type="http://schemas.openxmlformats.org/officeDocument/2006/relationships/image" Target="../media/image1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www.youtube.com/watch?v=lRAM6bwS8mU" TargetMode="External"/><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hyperlink" Target="http://www.youtube.com/watch?v=h2ljazAVDUE" TargetMode="External"/><Relationship Id="rId4" Type="http://schemas.openxmlformats.org/officeDocument/2006/relationships/image" Target="../media/image1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jp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http://www.bitcoinstudentsnetwork.org"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0.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#4: March 7,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64806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Part I</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Zach Young, Trammell Venture Partners </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Presentation </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Part II</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Warm Up</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Bitcoin Ecosystem &amp; Job Opportunities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Bitcoin Atlantis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#4: Part I</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196283" y="152400"/>
            <a:ext cx="4838701" cy="483870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#4: Part II</a:t>
            </a:r>
            <a:endParaRPr/>
          </a:p>
          <a:p>
            <a:pPr indent="0" lvl="0" marL="0" rtl="0" algn="l">
              <a:spcBef>
                <a:spcPts val="0"/>
              </a:spcBef>
              <a:spcAft>
                <a:spcPts val="0"/>
              </a:spcAft>
              <a:buNone/>
            </a:pPr>
            <a:r>
              <a:t/>
            </a:r>
            <a:endParaRPr sz="2000"/>
          </a:p>
        </p:txBody>
      </p:sp>
      <p:pic>
        <p:nvPicPr>
          <p:cNvPr id="108" name="Google Shape;108;p1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sp>
        <p:nvSpPr>
          <p:cNvPr id="114" name="Google Shape;114;p20"/>
          <p:cNvSpPr txBox="1"/>
          <p:nvPr/>
        </p:nvSpPr>
        <p:spPr>
          <a:xfrm>
            <a:off x="479450" y="906800"/>
            <a:ext cx="8100000" cy="40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Barlow"/>
                <a:ea typeface="Barlow"/>
                <a:cs typeface="Barlow"/>
                <a:sym typeface="Barlow"/>
              </a:rPr>
              <a:t>ACADEMIC: </a:t>
            </a:r>
            <a:endParaRPr b="1" sz="1300">
              <a:solidFill>
                <a:schemeClr val="lt1"/>
              </a:solidFill>
              <a:latin typeface="Barlow"/>
              <a:ea typeface="Barlow"/>
              <a:cs typeface="Barlow"/>
              <a:sym typeface="Barlow"/>
            </a:endParaRPr>
          </a:p>
          <a:p>
            <a:pPr indent="0" lvl="0" marL="457200" rtl="0" algn="l">
              <a:spcBef>
                <a:spcPts val="0"/>
              </a:spcBef>
              <a:spcAft>
                <a:spcPts val="0"/>
              </a:spcAft>
              <a:buNone/>
            </a:pPr>
            <a:r>
              <a:t/>
            </a:r>
            <a:endParaRPr b="1" sz="1300">
              <a:solidFill>
                <a:schemeClr val="lt1"/>
              </a:solidFill>
              <a:latin typeface="Barlow"/>
              <a:ea typeface="Barlow"/>
              <a:cs typeface="Barlow"/>
              <a:sym typeface="Barlow"/>
            </a:endParaRPr>
          </a:p>
        </p:txBody>
      </p:sp>
      <p:pic>
        <p:nvPicPr>
          <p:cNvPr id="115" name="Google Shape;115;p20"/>
          <p:cNvPicPr preferRelativeResize="0"/>
          <p:nvPr/>
        </p:nvPicPr>
        <p:blipFill>
          <a:blip r:embed="rId3">
            <a:alphaModFix/>
          </a:blip>
          <a:stretch>
            <a:fillRect/>
          </a:stretch>
        </p:blipFill>
        <p:spPr>
          <a:xfrm>
            <a:off x="1727750" y="1197213"/>
            <a:ext cx="3209983" cy="3438874"/>
          </a:xfrm>
          <a:prstGeom prst="rect">
            <a:avLst/>
          </a:prstGeom>
          <a:noFill/>
          <a:ln>
            <a:noFill/>
          </a:ln>
        </p:spPr>
      </p:pic>
      <p:pic>
        <p:nvPicPr>
          <p:cNvPr id="116" name="Google Shape;116;p20"/>
          <p:cNvPicPr preferRelativeResize="0"/>
          <p:nvPr/>
        </p:nvPicPr>
        <p:blipFill>
          <a:blip r:embed="rId4">
            <a:alphaModFix/>
          </a:blip>
          <a:stretch>
            <a:fillRect/>
          </a:stretch>
        </p:blipFill>
        <p:spPr>
          <a:xfrm>
            <a:off x="5276450" y="2497412"/>
            <a:ext cx="3160076" cy="838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sp>
        <p:nvSpPr>
          <p:cNvPr id="122" name="Google Shape;122;p21"/>
          <p:cNvSpPr txBox="1"/>
          <p:nvPr/>
        </p:nvSpPr>
        <p:spPr>
          <a:xfrm>
            <a:off x="479450" y="906800"/>
            <a:ext cx="8100000" cy="40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Barlow"/>
                <a:ea typeface="Barlow"/>
                <a:cs typeface="Barlow"/>
                <a:sym typeface="Barlow"/>
              </a:rPr>
              <a:t>HISTORY</a:t>
            </a:r>
            <a:r>
              <a:rPr b="1" lang="en" sz="1300">
                <a:solidFill>
                  <a:schemeClr val="lt1"/>
                </a:solidFill>
                <a:latin typeface="Barlow"/>
                <a:ea typeface="Barlow"/>
                <a:cs typeface="Barlow"/>
                <a:sym typeface="Barlow"/>
              </a:rPr>
              <a:t>: </a:t>
            </a:r>
            <a:endParaRPr b="1" sz="1300">
              <a:solidFill>
                <a:schemeClr val="lt1"/>
              </a:solidFill>
              <a:latin typeface="Barlow"/>
              <a:ea typeface="Barlow"/>
              <a:cs typeface="Barlow"/>
              <a:sym typeface="Barlow"/>
            </a:endParaRPr>
          </a:p>
          <a:p>
            <a:pPr indent="0" lvl="0" marL="457200" rtl="0" algn="l">
              <a:spcBef>
                <a:spcPts val="0"/>
              </a:spcBef>
              <a:spcAft>
                <a:spcPts val="0"/>
              </a:spcAft>
              <a:buNone/>
            </a:pPr>
            <a:r>
              <a:t/>
            </a:r>
            <a:endParaRPr b="1" sz="1300">
              <a:solidFill>
                <a:schemeClr val="lt1"/>
              </a:solidFill>
              <a:latin typeface="Barlow"/>
              <a:ea typeface="Barlow"/>
              <a:cs typeface="Barlow"/>
              <a:sym typeface="Barlow"/>
            </a:endParaRPr>
          </a:p>
        </p:txBody>
      </p:sp>
      <p:pic>
        <p:nvPicPr>
          <p:cNvPr id="123" name="Google Shape;123;p21"/>
          <p:cNvPicPr preferRelativeResize="0"/>
          <p:nvPr/>
        </p:nvPicPr>
        <p:blipFill>
          <a:blip r:embed="rId3">
            <a:alphaModFix/>
          </a:blip>
          <a:stretch>
            <a:fillRect/>
          </a:stretch>
        </p:blipFill>
        <p:spPr>
          <a:xfrm>
            <a:off x="1191525" y="1441603"/>
            <a:ext cx="6760950" cy="2950101"/>
          </a:xfrm>
          <a:prstGeom prst="rect">
            <a:avLst/>
          </a:prstGeom>
          <a:noFill/>
          <a:ln>
            <a:noFill/>
          </a:ln>
        </p:spPr>
      </p:pic>
      <p:sp>
        <p:nvSpPr>
          <p:cNvPr id="124" name="Google Shape;124;p21"/>
          <p:cNvSpPr txBox="1"/>
          <p:nvPr/>
        </p:nvSpPr>
        <p:spPr>
          <a:xfrm>
            <a:off x="6352050" y="4700125"/>
            <a:ext cx="2572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lt1"/>
                </a:solidFill>
                <a:latin typeface="Proxima Nova"/>
                <a:ea typeface="Proxima Nova"/>
                <a:cs typeface="Proxima Nova"/>
                <a:sym typeface="Proxima Nova"/>
              </a:rPr>
              <a:t>Source: The News Block #26 by Natalie Brunell</a:t>
            </a:r>
            <a:endParaRPr sz="900">
              <a:solidFill>
                <a:schemeClr val="lt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sp>
        <p:nvSpPr>
          <p:cNvPr id="130" name="Google Shape;130;p22"/>
          <p:cNvSpPr txBox="1"/>
          <p:nvPr/>
        </p:nvSpPr>
        <p:spPr>
          <a:xfrm>
            <a:off x="479450" y="906800"/>
            <a:ext cx="7966800" cy="40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Barlow"/>
                <a:ea typeface="Barlow"/>
                <a:cs typeface="Barlow"/>
                <a:sym typeface="Barlow"/>
              </a:rPr>
              <a:t>WORLD: </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p:txBody>
      </p:sp>
      <p:sp>
        <p:nvSpPr>
          <p:cNvPr id="131" name="Google Shape;131;p22"/>
          <p:cNvSpPr txBox="1"/>
          <p:nvPr/>
        </p:nvSpPr>
        <p:spPr>
          <a:xfrm>
            <a:off x="5522975" y="4757600"/>
            <a:ext cx="3496200" cy="16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#14 by Ayelen Osorio</a:t>
            </a:r>
            <a:endParaRPr sz="9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900">
              <a:solidFill>
                <a:schemeClr val="lt1"/>
              </a:solidFill>
              <a:latin typeface="Proxima Nova"/>
              <a:ea typeface="Proxima Nova"/>
              <a:cs typeface="Proxima Nova"/>
              <a:sym typeface="Proxima Nova"/>
            </a:endParaRPr>
          </a:p>
        </p:txBody>
      </p:sp>
      <p:pic>
        <p:nvPicPr>
          <p:cNvPr id="132" name="Google Shape;132;p22"/>
          <p:cNvPicPr preferRelativeResize="0"/>
          <p:nvPr/>
        </p:nvPicPr>
        <p:blipFill>
          <a:blip r:embed="rId3">
            <a:alphaModFix/>
          </a:blip>
          <a:stretch>
            <a:fillRect/>
          </a:stretch>
        </p:blipFill>
        <p:spPr>
          <a:xfrm>
            <a:off x="1472225" y="1009075"/>
            <a:ext cx="6689199" cy="3646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sp>
        <p:nvSpPr>
          <p:cNvPr id="138" name="Google Shape;138;p23"/>
          <p:cNvSpPr txBox="1"/>
          <p:nvPr/>
        </p:nvSpPr>
        <p:spPr>
          <a:xfrm>
            <a:off x="479450" y="906800"/>
            <a:ext cx="7966800" cy="401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chemeClr val="lt1"/>
                </a:solidFill>
                <a:latin typeface="Barlow"/>
                <a:ea typeface="Barlow"/>
                <a:cs typeface="Barlow"/>
                <a:sym typeface="Barlow"/>
              </a:rPr>
              <a:t>FINANCE:</a:t>
            </a:r>
            <a:endParaRPr sz="1300">
              <a:solidFill>
                <a:schemeClr val="lt1"/>
              </a:solidFill>
              <a:latin typeface="Barlow"/>
              <a:ea typeface="Barlow"/>
              <a:cs typeface="Barlow"/>
              <a:sym typeface="Barlow"/>
            </a:endParaRPr>
          </a:p>
          <a:p>
            <a:pPr indent="0" lvl="0" marL="0" rtl="0" algn="l">
              <a:spcBef>
                <a:spcPts val="0"/>
              </a:spcBef>
              <a:spcAft>
                <a:spcPts val="0"/>
              </a:spcAft>
              <a:buNone/>
            </a:pPr>
            <a:r>
              <a:t/>
            </a:r>
            <a:endParaRPr b="1" sz="1300">
              <a:solidFill>
                <a:schemeClr val="lt1"/>
              </a:solidFill>
              <a:latin typeface="Barlow"/>
              <a:ea typeface="Barlow"/>
              <a:cs typeface="Barlow"/>
              <a:sym typeface="Barlow"/>
            </a:endParaRPr>
          </a:p>
        </p:txBody>
      </p:sp>
      <p:sp>
        <p:nvSpPr>
          <p:cNvPr id="139" name="Google Shape;139;p23"/>
          <p:cNvSpPr txBox="1"/>
          <p:nvPr/>
        </p:nvSpPr>
        <p:spPr>
          <a:xfrm>
            <a:off x="5533750" y="4757600"/>
            <a:ext cx="3496200" cy="16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Proxima Nova"/>
                <a:ea typeface="Proxima Nova"/>
                <a:cs typeface="Proxima Nova"/>
                <a:sym typeface="Proxima Nova"/>
              </a:rPr>
              <a:t>Source: HRF’s Financial Freedom Report #14 by Ayelen Osorio</a:t>
            </a:r>
            <a:endParaRPr sz="9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900">
              <a:solidFill>
                <a:schemeClr val="lt1"/>
              </a:solidFill>
              <a:latin typeface="Proxima Nova"/>
              <a:ea typeface="Proxima Nova"/>
              <a:cs typeface="Proxima Nova"/>
              <a:sym typeface="Proxima Nova"/>
            </a:endParaRPr>
          </a:p>
        </p:txBody>
      </p:sp>
      <p:pic>
        <p:nvPicPr>
          <p:cNvPr id="140" name="Google Shape;140;p23"/>
          <p:cNvPicPr preferRelativeResize="0"/>
          <p:nvPr/>
        </p:nvPicPr>
        <p:blipFill>
          <a:blip r:embed="rId3">
            <a:alphaModFix/>
          </a:blip>
          <a:stretch>
            <a:fillRect/>
          </a:stretch>
        </p:blipFill>
        <p:spPr>
          <a:xfrm>
            <a:off x="887350" y="1625774"/>
            <a:ext cx="7558899" cy="2483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44" name="Shape 144"/>
        <p:cNvGrpSpPr/>
        <p:nvPr/>
      </p:nvGrpSpPr>
      <p:grpSpPr>
        <a:xfrm>
          <a:off x="0" y="0"/>
          <a:ext cx="0" cy="0"/>
          <a:chOff x="0" y="0"/>
          <a:chExt cx="0" cy="0"/>
        </a:xfrm>
      </p:grpSpPr>
      <p:sp>
        <p:nvSpPr>
          <p:cNvPr id="145" name="Google Shape;145;p24"/>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Warm-Up</a:t>
            </a:r>
            <a:endParaRPr/>
          </a:p>
        </p:txBody>
      </p:sp>
      <p:pic>
        <p:nvPicPr>
          <p:cNvPr id="146" name="Google Shape;146;p24"/>
          <p:cNvPicPr preferRelativeResize="0"/>
          <p:nvPr/>
        </p:nvPicPr>
        <p:blipFill>
          <a:blip r:embed="rId3">
            <a:alphaModFix/>
          </a:blip>
          <a:stretch>
            <a:fillRect/>
          </a:stretch>
        </p:blipFill>
        <p:spPr>
          <a:xfrm>
            <a:off x="2902075" y="836150"/>
            <a:ext cx="4029041" cy="42196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Bitcoin Ecosystem &amp; Job Searching/Opportunities </a:t>
            </a:r>
            <a:endParaRPr/>
          </a:p>
          <a:p>
            <a:pPr indent="0" lvl="0" marL="0" rtl="0" algn="l">
              <a:spcBef>
                <a:spcPts val="0"/>
              </a:spcBef>
              <a:spcAft>
                <a:spcPts val="0"/>
              </a:spcAft>
              <a:buNone/>
            </a:pPr>
            <a:r>
              <a:t/>
            </a:r>
            <a:endParaRPr sz="2000"/>
          </a:p>
        </p:txBody>
      </p:sp>
      <p:pic>
        <p:nvPicPr>
          <p:cNvPr id="152" name="Google Shape;152;p2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Preface: </a:t>
            </a:r>
            <a:endParaRPr/>
          </a:p>
          <a:p>
            <a:pPr indent="0" lvl="0" marL="0" rtl="0" algn="l">
              <a:spcBef>
                <a:spcPts val="0"/>
              </a:spcBef>
              <a:spcAft>
                <a:spcPts val="0"/>
              </a:spcAft>
              <a:buNone/>
            </a:pPr>
            <a:r>
              <a:rPr lang="en" sz="2200"/>
              <a:t>You don’t have to work for a “Bitcoin” company. You can be the “Bitcoiner” in your company. </a:t>
            </a:r>
            <a:r>
              <a:rPr lang="en" sz="1650"/>
              <a:t>(h/t Rachel Geyer) </a:t>
            </a:r>
            <a:endParaRPr sz="1650"/>
          </a:p>
        </p:txBody>
      </p:sp>
      <p:pic>
        <p:nvPicPr>
          <p:cNvPr id="158" name="Google Shape;158;p2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2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64" name="Google Shape;164;p27"/>
          <p:cNvPicPr preferRelativeResize="0"/>
          <p:nvPr/>
        </p:nvPicPr>
        <p:blipFill>
          <a:blip r:embed="rId4">
            <a:alphaModFix/>
          </a:blip>
          <a:stretch>
            <a:fillRect/>
          </a:stretch>
        </p:blipFill>
        <p:spPr>
          <a:xfrm>
            <a:off x="1035200" y="422575"/>
            <a:ext cx="7168599" cy="3941324"/>
          </a:xfrm>
          <a:prstGeom prst="rect">
            <a:avLst/>
          </a:prstGeom>
          <a:noFill/>
          <a:ln>
            <a:noFill/>
          </a:ln>
        </p:spPr>
      </p:pic>
      <p:sp>
        <p:nvSpPr>
          <p:cNvPr id="165" name="Google Shape;165;p27"/>
          <p:cNvSpPr txBox="1"/>
          <p:nvPr/>
        </p:nvSpPr>
        <p:spPr>
          <a:xfrm>
            <a:off x="1301200" y="4436075"/>
            <a:ext cx="69027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u="sng">
                <a:solidFill>
                  <a:schemeClr val="lt1"/>
                </a:solidFill>
                <a:latin typeface="Proxima Nova"/>
                <a:ea typeface="Proxima Nova"/>
                <a:cs typeface="Proxima Nova"/>
                <a:sym typeface="Proxima Nova"/>
                <a:hlinkClick r:id="rId5">
                  <a:extLst>
                    <a:ext uri="{A12FA001-AC4F-418D-AE19-62706E023703}">
                      <ahyp:hlinkClr val="tx"/>
                    </a:ext>
                  </a:extLst>
                </a:hlinkClick>
              </a:rPr>
              <a:t>https://docs.google.com/spreadsheets/d/1dQzRZ_Hp16n6WBRBiBHf6DMp_7QF-O7vTp-iIeUfkkI/edit?usp=sharing</a:t>
            </a:r>
            <a:r>
              <a:rPr lang="en" sz="1000">
                <a:solidFill>
                  <a:schemeClr val="lt1"/>
                </a:solidFill>
                <a:latin typeface="Proxima Nova"/>
                <a:ea typeface="Proxima Nova"/>
                <a:cs typeface="Proxima Nova"/>
                <a:sym typeface="Proxima Nova"/>
              </a:rPr>
              <a:t> </a:t>
            </a:r>
            <a:endParaRPr sz="1000">
              <a:solidFill>
                <a:schemeClr val="lt1"/>
              </a:solidFill>
              <a:latin typeface="Proxima Nova"/>
              <a:ea typeface="Proxima Nova"/>
              <a:cs typeface="Proxima Nova"/>
              <a:sym typeface="Proxima Nov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71" name="Google Shape;171;p28"/>
          <p:cNvPicPr preferRelativeResize="0"/>
          <p:nvPr/>
        </p:nvPicPr>
        <p:blipFill>
          <a:blip r:embed="rId4">
            <a:alphaModFix/>
          </a:blip>
          <a:stretch>
            <a:fillRect/>
          </a:stretch>
        </p:blipFill>
        <p:spPr>
          <a:xfrm>
            <a:off x="152400" y="152400"/>
            <a:ext cx="5393777" cy="2926024"/>
          </a:xfrm>
          <a:prstGeom prst="rect">
            <a:avLst/>
          </a:prstGeom>
          <a:noFill/>
          <a:ln>
            <a:noFill/>
          </a:ln>
        </p:spPr>
      </p:pic>
      <p:pic>
        <p:nvPicPr>
          <p:cNvPr id="172" name="Google Shape;172;p28"/>
          <p:cNvPicPr preferRelativeResize="0"/>
          <p:nvPr/>
        </p:nvPicPr>
        <p:blipFill>
          <a:blip r:embed="rId5">
            <a:alphaModFix/>
          </a:blip>
          <a:stretch>
            <a:fillRect/>
          </a:stretch>
        </p:blipFill>
        <p:spPr>
          <a:xfrm>
            <a:off x="3710647" y="2459824"/>
            <a:ext cx="5317576" cy="2591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Bitcoin Atlantis</a:t>
            </a:r>
            <a:endParaRPr/>
          </a:p>
          <a:p>
            <a:pPr indent="0" lvl="0" marL="0" rtl="0" algn="l">
              <a:spcBef>
                <a:spcPts val="0"/>
              </a:spcBef>
              <a:spcAft>
                <a:spcPts val="0"/>
              </a:spcAft>
              <a:buNone/>
            </a:pPr>
            <a:r>
              <a:rPr lang="en" sz="1300" u="sng">
                <a:hlinkClick r:id="rId3"/>
              </a:rPr>
              <a:t>https://bitcoinatlantis.com/</a:t>
            </a:r>
            <a:r>
              <a:rPr lang="en" sz="1300"/>
              <a:t> </a:t>
            </a:r>
            <a:endParaRPr sz="1300"/>
          </a:p>
        </p:txBody>
      </p:sp>
      <p:pic>
        <p:nvPicPr>
          <p:cNvPr id="178" name="Google Shape;178;p29"/>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179" name="Google Shape;179;p29"/>
          <p:cNvPicPr preferRelativeResize="0"/>
          <p:nvPr/>
        </p:nvPicPr>
        <p:blipFill>
          <a:blip r:embed="rId5">
            <a:alphaModFix/>
          </a:blip>
          <a:stretch>
            <a:fillRect/>
          </a:stretch>
        </p:blipFill>
        <p:spPr>
          <a:xfrm>
            <a:off x="4465800" y="1746700"/>
            <a:ext cx="4161025" cy="2030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descr="Exciting news for all Bitcoin enthusiasts, innovators, and visionaries!&#10;&#10;Bitcoin Atlantis, the epicenter of pioneering Bitcoin discussions, is all set to take place in the heart of the Atlantic - Madeira. Spanning across three power-packed days, this conference stands as a beacon of financial freedom and the future of the most disruptive technology ever, reflecting the transformative potential of Bitcoin on a global scale.&#10;&#10;This landmark event will gather a constellation of top-tier Bitcoin leaders and thinkers. Get ready to immerse yourself in enlightening sessions and forward-thinking discussions with notable speakers such as Jack Dorsey - the mastermind behind Square, CashApp, Spiral, Block, Tidal; Michael Saylor - the driving force of MicroStrategy; Jack Mallers - the ingenious creator of Strike and many, many more amazing speakers!&#10;&#10;From unveiling the most disruptive trends in Bitcoin to exploring its profound impact on businesses and individuals worldwide, Bitcoin Atlantis promises a deep dive into the technology that will change the world more than the internet did. And guess what? There's more to be announced...&#10;&#10;Join us at Bitcoin Atlantis - your gateway to the future of Bitcoin! 🚀" id="185" name="Google Shape;185;p30" title="Bitcoin Atlantis 2024 Trailer">
            <a:hlinkClick r:id="rId4"/>
          </p:cNvPr>
          <p:cNvPicPr preferRelativeResize="0"/>
          <p:nvPr/>
        </p:nvPicPr>
        <p:blipFill>
          <a:blip r:embed="rId5">
            <a:alphaModFix/>
          </a:blip>
          <a:stretch>
            <a:fillRect/>
          </a:stretch>
        </p:blipFill>
        <p:spPr>
          <a:xfrm>
            <a:off x="1333716" y="583225"/>
            <a:ext cx="6476550" cy="3643050"/>
          </a:xfrm>
          <a:prstGeom prst="rect">
            <a:avLst/>
          </a:prstGeom>
          <a:noFill/>
          <a:ln>
            <a:noFill/>
          </a:ln>
        </p:spPr>
      </p:pic>
      <p:sp>
        <p:nvSpPr>
          <p:cNvPr id="186" name="Google Shape;186;p30"/>
          <p:cNvSpPr txBox="1"/>
          <p:nvPr/>
        </p:nvSpPr>
        <p:spPr>
          <a:xfrm>
            <a:off x="2654100" y="4425425"/>
            <a:ext cx="3835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u="sng">
                <a:solidFill>
                  <a:schemeClr val="lt1"/>
                </a:solidFill>
                <a:latin typeface="Proxima Nova"/>
                <a:ea typeface="Proxima Nova"/>
                <a:cs typeface="Proxima Nova"/>
                <a:sym typeface="Proxima Nova"/>
                <a:hlinkClick r:id="rId6">
                  <a:extLst>
                    <a:ext uri="{A12FA001-AC4F-418D-AE19-62706E023703}">
                      <ahyp:hlinkClr val="tx"/>
                    </a:ext>
                  </a:extLst>
                </a:hlinkClick>
              </a:rPr>
              <a:t>https://www.youtube.com/@freemadeira/streams</a:t>
            </a:r>
            <a:r>
              <a:rPr lang="en" sz="1300">
                <a:solidFill>
                  <a:schemeClr val="lt1"/>
                </a:solidFill>
                <a:latin typeface="Proxima Nova"/>
                <a:ea typeface="Proxima Nova"/>
                <a:cs typeface="Proxima Nova"/>
                <a:sym typeface="Proxima Nova"/>
              </a:rPr>
              <a:t> </a:t>
            </a:r>
            <a:endParaRPr sz="13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0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Michael Saylor</a:t>
            </a:r>
            <a:r>
              <a:rPr lang="en"/>
              <a:t> Keynote</a:t>
            </a:r>
            <a:endParaRPr/>
          </a:p>
        </p:txBody>
      </p:sp>
      <p:pic>
        <p:nvPicPr>
          <p:cNvPr descr="Join us for the live stream of the first Bitcoin conference in the Atlantic at the Satoshi Stage – Brought to you by NYDIG. Here you have the opportunity to 👀 all the talks, workshops and panels happening in the moment." id="192" name="Google Shape;192;p31" title="Bitcoin Atlantis | Day 1 | Satoshi Stage – Brought to you by NYDIG">
            <a:hlinkClick r:id="rId3"/>
          </p:cNvPr>
          <p:cNvPicPr preferRelativeResize="0"/>
          <p:nvPr/>
        </p:nvPicPr>
        <p:blipFill>
          <a:blip r:embed="rId4">
            <a:alphaModFix/>
          </a:blip>
          <a:stretch>
            <a:fillRect/>
          </a:stretch>
        </p:blipFill>
        <p:spPr>
          <a:xfrm>
            <a:off x="1326250" y="993925"/>
            <a:ext cx="6370600" cy="3583450"/>
          </a:xfrm>
          <a:prstGeom prst="rect">
            <a:avLst/>
          </a:prstGeom>
          <a:noFill/>
          <a:ln>
            <a:noFill/>
          </a:ln>
        </p:spPr>
      </p:pic>
      <p:sp>
        <p:nvSpPr>
          <p:cNvPr id="193" name="Google Shape;193;p31"/>
          <p:cNvSpPr txBox="1"/>
          <p:nvPr/>
        </p:nvSpPr>
        <p:spPr>
          <a:xfrm>
            <a:off x="3509550" y="4577375"/>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5:00:54 - 5:52:30</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Jeff Booth </a:t>
            </a:r>
            <a:r>
              <a:rPr lang="en"/>
              <a:t>Keynote</a:t>
            </a:r>
            <a:endParaRPr/>
          </a:p>
        </p:txBody>
      </p:sp>
      <p:pic>
        <p:nvPicPr>
          <p:cNvPr descr="Join us for the live stream of the first Bitcoin conference in the Atlantic at the Open Source Stage. Here you have the opportunity to 👀 all the talks, workshops and panels happening in the moment." id="199" name="Google Shape;199;p32" title="Bitcoin Atlantis | Day 3 | Satoshi Stage - Brought to you by NYDIG">
            <a:hlinkClick r:id="rId3"/>
          </p:cNvPr>
          <p:cNvPicPr preferRelativeResize="0"/>
          <p:nvPr/>
        </p:nvPicPr>
        <p:blipFill>
          <a:blip r:embed="rId4">
            <a:alphaModFix/>
          </a:blip>
          <a:stretch>
            <a:fillRect/>
          </a:stretch>
        </p:blipFill>
        <p:spPr>
          <a:xfrm>
            <a:off x="1353863" y="1040600"/>
            <a:ext cx="6315375" cy="3552400"/>
          </a:xfrm>
          <a:prstGeom prst="rect">
            <a:avLst/>
          </a:prstGeom>
          <a:noFill/>
          <a:ln>
            <a:noFill/>
          </a:ln>
        </p:spPr>
      </p:pic>
      <p:sp>
        <p:nvSpPr>
          <p:cNvPr id="200" name="Google Shape;200;p32"/>
          <p:cNvSpPr txBox="1"/>
          <p:nvPr/>
        </p:nvSpPr>
        <p:spPr>
          <a:xfrm>
            <a:off x="3570000" y="4593000"/>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4:04:50</a:t>
            </a:r>
            <a:r>
              <a:rPr lang="en" sz="1500">
                <a:solidFill>
                  <a:schemeClr val="lt1"/>
                </a:solidFill>
                <a:latin typeface="Proxima Nova"/>
                <a:ea typeface="Proxima Nova"/>
                <a:cs typeface="Proxima Nova"/>
                <a:sym typeface="Proxima Nova"/>
              </a:rPr>
              <a:t> - 4:31:32</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Jack Mallers</a:t>
            </a:r>
            <a:r>
              <a:rPr lang="en"/>
              <a:t> Keynote</a:t>
            </a:r>
            <a:endParaRPr/>
          </a:p>
        </p:txBody>
      </p:sp>
      <p:pic>
        <p:nvPicPr>
          <p:cNvPr descr="Join us for the live stream of the first Bitcoin conference in the Atlantic at the Satoshi Stage – Brought to you by NYDIG. Here you have the opportunity to 👀 all the talks, workshops and panels happening in the moment." id="206" name="Google Shape;206;p33" title="Bitcoin Atlantis | Day 1 | Satoshi Stage – Brought to you by NYDIG">
            <a:hlinkClick r:id="rId3"/>
          </p:cNvPr>
          <p:cNvPicPr preferRelativeResize="0"/>
          <p:nvPr/>
        </p:nvPicPr>
        <p:blipFill>
          <a:blip r:embed="rId4">
            <a:alphaModFix/>
          </a:blip>
          <a:stretch>
            <a:fillRect/>
          </a:stretch>
        </p:blipFill>
        <p:spPr>
          <a:xfrm>
            <a:off x="1326250" y="1010625"/>
            <a:ext cx="6370600" cy="3583450"/>
          </a:xfrm>
          <a:prstGeom prst="rect">
            <a:avLst/>
          </a:prstGeom>
          <a:noFill/>
          <a:ln>
            <a:noFill/>
          </a:ln>
        </p:spPr>
      </p:pic>
      <p:sp>
        <p:nvSpPr>
          <p:cNvPr id="207" name="Google Shape;207;p33"/>
          <p:cNvSpPr txBox="1"/>
          <p:nvPr/>
        </p:nvSpPr>
        <p:spPr>
          <a:xfrm>
            <a:off x="3570000" y="4594075"/>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07:25 - 50:56</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Ella Panel #2: </a:t>
            </a:r>
            <a:r>
              <a:rPr lang="en"/>
              <a:t>Bitcoin Education at the University &amp; Country Level</a:t>
            </a:r>
            <a:endParaRPr/>
          </a:p>
        </p:txBody>
      </p:sp>
      <p:pic>
        <p:nvPicPr>
          <p:cNvPr descr="Join us for the live stream of the first Bitcoin conference in the Atlantic at the Satoshi Stage – Brought to you by NYDIG. Here you have the opportunity to 👀 all the talks, workshops and panels happening in the moment." id="213" name="Google Shape;213;p34" title="Bitcoin Atlantis | Day 1 | Satoshi Stage – Brought to you by NYDIG">
            <a:hlinkClick r:id="rId3"/>
          </p:cNvPr>
          <p:cNvPicPr preferRelativeResize="0"/>
          <p:nvPr/>
        </p:nvPicPr>
        <p:blipFill>
          <a:blip r:embed="rId4">
            <a:alphaModFix/>
          </a:blip>
          <a:stretch>
            <a:fillRect/>
          </a:stretch>
        </p:blipFill>
        <p:spPr>
          <a:xfrm>
            <a:off x="1326250" y="1002275"/>
            <a:ext cx="6370600" cy="3583450"/>
          </a:xfrm>
          <a:prstGeom prst="rect">
            <a:avLst/>
          </a:prstGeom>
          <a:noFill/>
          <a:ln>
            <a:noFill/>
          </a:ln>
        </p:spPr>
      </p:pic>
      <p:sp>
        <p:nvSpPr>
          <p:cNvPr id="214" name="Google Shape;214;p34"/>
          <p:cNvSpPr txBox="1"/>
          <p:nvPr/>
        </p:nvSpPr>
        <p:spPr>
          <a:xfrm>
            <a:off x="3570000" y="4585725"/>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2:40:39 - 3:20:50 </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Ella Panel #3: </a:t>
            </a:r>
            <a:r>
              <a:rPr lang="en"/>
              <a:t>Onboarding New Generations</a:t>
            </a:r>
            <a:endParaRPr/>
          </a:p>
        </p:txBody>
      </p:sp>
      <p:pic>
        <p:nvPicPr>
          <p:cNvPr descr="Join us for the live stream of the first Bitcoin conference in the Atlantic at the Open Source Stage. Here you have the opportunity to 👀 all the talks, workshops and panels happening in the moment." id="220" name="Google Shape;220;p35" title="Bitcoin Atlantis | Day 1 | Open Source Stage">
            <a:hlinkClick r:id="rId3"/>
          </p:cNvPr>
          <p:cNvPicPr preferRelativeResize="0"/>
          <p:nvPr/>
        </p:nvPicPr>
        <p:blipFill>
          <a:blip r:embed="rId4">
            <a:alphaModFix/>
          </a:blip>
          <a:stretch>
            <a:fillRect/>
          </a:stretch>
        </p:blipFill>
        <p:spPr>
          <a:xfrm>
            <a:off x="1567850" y="920975"/>
            <a:ext cx="6084975" cy="3422800"/>
          </a:xfrm>
          <a:prstGeom prst="rect">
            <a:avLst/>
          </a:prstGeom>
          <a:noFill/>
          <a:ln>
            <a:noFill/>
          </a:ln>
        </p:spPr>
      </p:pic>
      <p:sp>
        <p:nvSpPr>
          <p:cNvPr id="221" name="Google Shape;221;p35"/>
          <p:cNvSpPr txBox="1"/>
          <p:nvPr/>
        </p:nvSpPr>
        <p:spPr>
          <a:xfrm>
            <a:off x="3570000" y="4569600"/>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5:27:37 - 6:02:19 </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Ella Panel #4: </a:t>
            </a:r>
            <a:r>
              <a:rPr lang="en"/>
              <a:t>The Global Rise in Consciousness</a:t>
            </a:r>
            <a:endParaRPr/>
          </a:p>
        </p:txBody>
      </p:sp>
      <p:pic>
        <p:nvPicPr>
          <p:cNvPr descr="Join us for the live stream of the first Bitcoin conference in the Atlantic at the Open Source Stage. Here you have the opportunity to 👀 all the talks, workshops and panels happening in the moment." id="227" name="Google Shape;227;p36" title="Bitcoin Atlantis | Day 3 | Satoshi Stage - Brought to you by NYDIG">
            <a:hlinkClick r:id="rId3"/>
          </p:cNvPr>
          <p:cNvPicPr preferRelativeResize="0"/>
          <p:nvPr/>
        </p:nvPicPr>
        <p:blipFill>
          <a:blip r:embed="rId4">
            <a:alphaModFix/>
          </a:blip>
          <a:stretch>
            <a:fillRect/>
          </a:stretch>
        </p:blipFill>
        <p:spPr>
          <a:xfrm>
            <a:off x="1488375" y="1155550"/>
            <a:ext cx="6046350" cy="3401075"/>
          </a:xfrm>
          <a:prstGeom prst="rect">
            <a:avLst/>
          </a:prstGeom>
          <a:noFill/>
          <a:ln>
            <a:noFill/>
          </a:ln>
        </p:spPr>
      </p:pic>
      <p:sp>
        <p:nvSpPr>
          <p:cNvPr id="228" name="Google Shape;228;p36"/>
          <p:cNvSpPr txBox="1"/>
          <p:nvPr/>
        </p:nvSpPr>
        <p:spPr>
          <a:xfrm>
            <a:off x="3509550" y="4556625"/>
            <a:ext cx="2004000" cy="45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lt1"/>
                </a:solidFill>
                <a:latin typeface="Proxima Nova"/>
                <a:ea typeface="Proxima Nova"/>
                <a:cs typeface="Proxima Nova"/>
                <a:sym typeface="Proxima Nova"/>
              </a:rPr>
              <a:t>5:26:33 - 6:28:11</a:t>
            </a:r>
            <a:endParaRPr sz="1500">
              <a:solidFill>
                <a:schemeClr val="lt1"/>
              </a:solidFill>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10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234" name="Google Shape;234;p37"/>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8"/>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240" name="Google Shape;240;p38"/>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46" name="Google Shape;246;p39"/>
          <p:cNvPicPr preferRelativeResize="0"/>
          <p:nvPr/>
        </p:nvPicPr>
        <p:blipFill>
          <a:blip r:embed="rId4">
            <a:alphaModFix/>
          </a:blip>
          <a:stretch>
            <a:fillRect/>
          </a:stretch>
        </p:blipFill>
        <p:spPr>
          <a:xfrm>
            <a:off x="1696238" y="1462801"/>
            <a:ext cx="5751524" cy="2217901"/>
          </a:xfrm>
          <a:prstGeom prst="rect">
            <a:avLst/>
          </a:prstGeom>
          <a:noFill/>
          <a:ln>
            <a:noFill/>
          </a:ln>
        </p:spPr>
      </p:pic>
      <p:sp>
        <p:nvSpPr>
          <p:cNvPr id="247" name="Google Shape;247;p39"/>
          <p:cNvSpPr txBox="1"/>
          <p:nvPr/>
        </p:nvSpPr>
        <p:spPr>
          <a:xfrm>
            <a:off x="3531150" y="4436075"/>
            <a:ext cx="208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lt1"/>
                </a:solidFill>
                <a:latin typeface="Proxima Nova"/>
                <a:ea typeface="Proxima Nova"/>
                <a:cs typeface="Proxima Nova"/>
                <a:sym typeface="Proxima Nova"/>
                <a:hlinkClick r:id="rId5">
                  <a:extLst>
                    <a:ext uri="{A12FA001-AC4F-418D-AE19-62706E023703}">
                      <ahyp:hlinkClr val="tx"/>
                    </a:ext>
                  </a:extLst>
                </a:hlinkClick>
              </a:rPr>
              <a:t>www.bitcoinstudentsnetwork.org</a:t>
            </a:r>
            <a:r>
              <a:rPr lang="en" sz="1000">
                <a:solidFill>
                  <a:schemeClr val="lt1"/>
                </a:solidFill>
                <a:latin typeface="Proxima Nova"/>
                <a:ea typeface="Proxima Nova"/>
                <a:cs typeface="Proxima Nova"/>
                <a:sym typeface="Proxima Nova"/>
              </a:rPr>
              <a:t> </a:t>
            </a:r>
            <a:endParaRPr sz="1000">
              <a:solidFill>
                <a:schemeClr val="lt1"/>
              </a:solidFill>
              <a:latin typeface="Proxima Nova"/>
              <a:ea typeface="Proxima Nova"/>
              <a:cs typeface="Proxima Nova"/>
              <a:sym typeface="Proxima Nova"/>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253" name="Google Shape;253;p40"/>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259" name="Google Shape;259;p41"/>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260" name="Google Shape;260;p41"/>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261" name="Google Shape;261;p41"/>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5" name="Shape 265"/>
        <p:cNvGrpSpPr/>
        <p:nvPr/>
      </p:nvGrpSpPr>
      <p:grpSpPr>
        <a:xfrm>
          <a:off x="0" y="0"/>
          <a:ext cx="0" cy="0"/>
          <a:chOff x="0" y="0"/>
          <a:chExt cx="0" cy="0"/>
        </a:xfrm>
      </p:grpSpPr>
      <p:sp>
        <p:nvSpPr>
          <p:cNvPr id="266" name="Google Shape;266;p42"/>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267" name="Google Shape;267;p4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