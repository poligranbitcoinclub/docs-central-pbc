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y="5143500" cx="9144000"/>
  <p:notesSz cx="6858000" cy="9144000"/>
  <p:embeddedFontLst>
    <p:embeddedFont>
      <p:font typeface="Proxima Nova"/>
      <p:regular r:id="rId28"/>
      <p:bold r:id="rId29"/>
      <p:italic r:id="rId30"/>
      <p:boldItalic r:id="rId31"/>
    </p:embeddedFont>
    <p:embeddedFont>
      <p:font typeface="Roboto"/>
      <p:regular r:id="rId32"/>
      <p:bold r:id="rId33"/>
      <p:italic r:id="rId34"/>
      <p:boldItalic r:id="rId35"/>
    </p:embeddedFont>
    <p:embeddedFont>
      <p:font typeface="Proxima Nova Semibold"/>
      <p:regular r:id="rId36"/>
      <p:bold r:id="rId37"/>
      <p:boldItalic r:id="rId38"/>
    </p:embeddedFont>
    <p:embeddedFont>
      <p:font typeface="Barlow"/>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Barlow-bold.fntdata"/><Relationship Id="rId20" Type="http://schemas.openxmlformats.org/officeDocument/2006/relationships/slide" Target="slides/slide16.xml"/><Relationship Id="rId42" Type="http://schemas.openxmlformats.org/officeDocument/2006/relationships/font" Target="fonts/Barlow-boldItalic.fntdata"/><Relationship Id="rId41" Type="http://schemas.openxmlformats.org/officeDocument/2006/relationships/font" Target="fonts/Barlow-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font" Target="fonts/ProximaNova-regular.fntdata"/><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roximaNova-bold.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ProximaNova-boldItalic.fntdata"/><Relationship Id="rId30" Type="http://schemas.openxmlformats.org/officeDocument/2006/relationships/font" Target="fonts/ProximaNova-italic.fntdata"/><Relationship Id="rId11" Type="http://schemas.openxmlformats.org/officeDocument/2006/relationships/slide" Target="slides/slide7.xml"/><Relationship Id="rId33" Type="http://schemas.openxmlformats.org/officeDocument/2006/relationships/font" Target="fonts/Roboto-bold.fntdata"/><Relationship Id="rId10" Type="http://schemas.openxmlformats.org/officeDocument/2006/relationships/slide" Target="slides/slide6.xml"/><Relationship Id="rId32" Type="http://schemas.openxmlformats.org/officeDocument/2006/relationships/font" Target="fonts/Roboto-regular.fntdata"/><Relationship Id="rId13" Type="http://schemas.openxmlformats.org/officeDocument/2006/relationships/slide" Target="slides/slide9.xml"/><Relationship Id="rId35" Type="http://schemas.openxmlformats.org/officeDocument/2006/relationships/font" Target="fonts/Roboto-boldItalic.fntdata"/><Relationship Id="rId12" Type="http://schemas.openxmlformats.org/officeDocument/2006/relationships/slide" Target="slides/slide8.xml"/><Relationship Id="rId34" Type="http://schemas.openxmlformats.org/officeDocument/2006/relationships/font" Target="fonts/Roboto-italic.fntdata"/><Relationship Id="rId15" Type="http://schemas.openxmlformats.org/officeDocument/2006/relationships/slide" Target="slides/slide11.xml"/><Relationship Id="rId37" Type="http://schemas.openxmlformats.org/officeDocument/2006/relationships/font" Target="fonts/ProximaNovaSemibold-bold.fntdata"/><Relationship Id="rId14" Type="http://schemas.openxmlformats.org/officeDocument/2006/relationships/slide" Target="slides/slide10.xml"/><Relationship Id="rId36" Type="http://schemas.openxmlformats.org/officeDocument/2006/relationships/font" Target="fonts/ProximaNovaSemibold-regular.fntdata"/><Relationship Id="rId17" Type="http://schemas.openxmlformats.org/officeDocument/2006/relationships/slide" Target="slides/slide13.xml"/><Relationship Id="rId39" Type="http://schemas.openxmlformats.org/officeDocument/2006/relationships/font" Target="fonts/Barlow-regular.fntdata"/><Relationship Id="rId16" Type="http://schemas.openxmlformats.org/officeDocument/2006/relationships/slide" Target="slides/slide12.xml"/><Relationship Id="rId38" Type="http://schemas.openxmlformats.org/officeDocument/2006/relationships/font" Target="fonts/ProximaNovaSemibold-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itcoinmagazine.com/tags/craig-wright" TargetMode="External"/><Relationship Id="rId3" Type="http://schemas.openxmlformats.org/officeDocument/2006/relationships/hyperlink" Target="https://www.opencrypto.org/2024-03-13-12-reasons-why-Craig-Wright-is-not-Satoshi-Nakamoto/" TargetMode="External"/><Relationship Id="rId4" Type="http://schemas.openxmlformats.org/officeDocument/2006/relationships/hyperlink" Target="https://x.com/BitcoinMagazine/status/1768267743931818186?s=20" TargetMode="External"/><Relationship Id="rId5" Type="http://schemas.openxmlformats.org/officeDocument/2006/relationships/hyperlink" Target="https://x.com/hodlonaut/status/1768280133629075818?s=20" TargetMode="External"/><Relationship Id="rId6" Type="http://schemas.openxmlformats.org/officeDocument/2006/relationships/hyperlink" Target="https://x.com/jack/status/1768270416533917828?s=20"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BitMEXResearch/status/1768273414156922934?s=20"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b.tc/conference/2024/studen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b95bedb7b6_0_7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b95bedb7b6_0_7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bb0aa8a778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bb0aa8a778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6b02b0e43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6b02b0e43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6b02b0e43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6b02b0e43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6b02b0e43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6b02b0e43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686e27fd3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686e27fd3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8ccc8ba21c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8ccc8ba21c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Craig Wright (Australian computer scientists and businessman) claiming to be Satoshi since 2016.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Crypto Open Patent Alliance (COPA)</a:t>
            </a:r>
            <a:endParaRPr/>
          </a:p>
          <a:p>
            <a:pPr indent="0" lvl="0" marL="0" rtl="0" algn="l">
              <a:spcBef>
                <a:spcPts val="0"/>
              </a:spcBef>
              <a:spcAft>
                <a:spcPts val="0"/>
              </a:spcAft>
              <a:buNone/>
            </a:pPr>
            <a:r>
              <a:rPr lang="en"/>
              <a:t>​​</a:t>
            </a:r>
            <a:r>
              <a:rPr lang="en" u="sng">
                <a:solidFill>
                  <a:schemeClr val="hlink"/>
                </a:solidFill>
                <a:hlinkClick r:id="rId2"/>
              </a:rPr>
              <a:t>https://bitcoinmagazine.com/tags/craig-wright</a:t>
            </a:r>
            <a:r>
              <a:rPr lang="en"/>
              <a:t> </a:t>
            </a:r>
            <a:endParaRPr/>
          </a:p>
          <a:p>
            <a:pPr indent="0" lvl="0" marL="0" rtl="0" algn="l">
              <a:spcBef>
                <a:spcPts val="0"/>
              </a:spcBef>
              <a:spcAft>
                <a:spcPts val="0"/>
              </a:spcAft>
              <a:buNone/>
            </a:pPr>
            <a:r>
              <a:rPr lang="en" u="sng">
                <a:solidFill>
                  <a:schemeClr val="hlink"/>
                </a:solidFill>
                <a:hlinkClick r:id="rId3"/>
              </a:rPr>
              <a:t>https://www.opencrypto.org/2024-03-13-12-reasons-why-Craig-Wright-is-not-Satoshi-Nakamoto/</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4"/>
              </a:rPr>
              <a:t>https://x.com/BitcoinMagazine/status/1768267743931818186?s=20</a:t>
            </a:r>
            <a:endParaRPr/>
          </a:p>
          <a:p>
            <a:pPr indent="0" lvl="0" marL="0" rtl="0" algn="l">
              <a:spcBef>
                <a:spcPts val="0"/>
              </a:spcBef>
              <a:spcAft>
                <a:spcPts val="0"/>
              </a:spcAft>
              <a:buNone/>
            </a:pPr>
            <a:r>
              <a:rPr lang="en" u="sng">
                <a:solidFill>
                  <a:schemeClr val="hlink"/>
                </a:solidFill>
                <a:hlinkClick r:id="rId5"/>
              </a:rPr>
              <a:t>https://x.com/hodlonaut/status/1768280133629075818?s=20</a:t>
            </a:r>
            <a:r>
              <a:rPr lang="en"/>
              <a:t> </a:t>
            </a:r>
            <a:endParaRPr/>
          </a:p>
          <a:p>
            <a:pPr indent="0" lvl="0" marL="0" rtl="0" algn="l">
              <a:spcBef>
                <a:spcPts val="0"/>
              </a:spcBef>
              <a:spcAft>
                <a:spcPts val="0"/>
              </a:spcAft>
              <a:buNone/>
            </a:pPr>
            <a:r>
              <a:rPr lang="en" u="sng">
                <a:solidFill>
                  <a:schemeClr val="hlink"/>
                </a:solidFill>
                <a:hlinkClick r:id="rId6"/>
              </a:rPr>
              <a:t>https://x.com/jack/status/1768270416533917828?s=20</a:t>
            </a:r>
            <a:r>
              <a:rPr lang="en"/>
              <a:t>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f3ee498e13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f3ee498e13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https://x.com/BitMEXResearch/status/1768273414156922934?s=20</a:t>
            </a:r>
            <a:r>
              <a:rPr lang="en"/>
              <a:t>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c05f969fa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2c05f969fa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1f3ee498e13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1f3ee498e13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1f3ee498e13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1f3ee498e13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f3ee498e13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f3ee498e13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f3ee498e13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f3ee498e13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f3ee498e13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f3ee498e13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f3ee498e13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f3ee498e13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686e27fd3b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686e27fd3b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6869403eb0_0_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6869403eb0_0_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https://b.tc/conference/2024/student</a:t>
            </a:r>
            <a:r>
              <a:rPr lang="en"/>
              <a:t>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c282a304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c282a304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c282a3044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c282a3044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hyperlink" Target="https://www.lopp.net/lightning-information.html" TargetMode="Externa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hyperlink" Target="http://www.youtube.com/watch?v=rrr_zPmEiME" TargetMode="External"/><Relationship Id="rId4"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hyperlink" Target="http://www.youtube.com/watch?v=jb-45m9f76I" TargetMode="External"/><Relationship Id="rId4" Type="http://schemas.openxmlformats.org/officeDocument/2006/relationships/image" Target="../media/image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jp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hyperlink" Target="https://forms.gle/vBfuaiJMkbKjn79CA" TargetMode="Externa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s://forms.gle/STrYzqvvarv5XGyi8" TargetMode="Externa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3.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69" name="Shape 69"/>
        <p:cNvGrpSpPr/>
        <p:nvPr/>
      </p:nvGrpSpPr>
      <p:grpSpPr>
        <a:xfrm>
          <a:off x="0" y="0"/>
          <a:ext cx="0" cy="0"/>
          <a:chOff x="0" y="0"/>
          <a:chExt cx="0" cy="0"/>
        </a:xfrm>
      </p:grpSpPr>
      <p:sp>
        <p:nvSpPr>
          <p:cNvPr id="70" name="Google Shape;70;p13"/>
          <p:cNvSpPr txBox="1"/>
          <p:nvPr/>
        </p:nvSpPr>
        <p:spPr>
          <a:xfrm>
            <a:off x="787925" y="3471700"/>
            <a:ext cx="3933300" cy="33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#5: March 14, 2024</a:t>
            </a:r>
            <a:endParaRPr sz="1600">
              <a:solidFill>
                <a:schemeClr val="lt1"/>
              </a:solidFill>
              <a:latin typeface="Proxima Nova Semibold"/>
              <a:ea typeface="Proxima Nova Semibold"/>
              <a:cs typeface="Proxima Nova Semibold"/>
              <a:sym typeface="Proxima Nova Semibold"/>
            </a:endParaRPr>
          </a:p>
        </p:txBody>
      </p:sp>
      <p:sp>
        <p:nvSpPr>
          <p:cNvPr id="71" name="Google Shape;71;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72" name="Google Shape;72;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78" name="Google Shape;78;p1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82" name="Shape 82"/>
        <p:cNvGrpSpPr/>
        <p:nvPr/>
      </p:nvGrpSpPr>
      <p:grpSpPr>
        <a:xfrm>
          <a:off x="0" y="0"/>
          <a:ext cx="0" cy="0"/>
          <a:chOff x="0" y="0"/>
          <a:chExt cx="0" cy="0"/>
        </a:xfrm>
      </p:grpSpPr>
      <p:sp>
        <p:nvSpPr>
          <p:cNvPr id="83" name="Google Shape;83;p15"/>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b="1" lang="en"/>
              <a:t>Schedule</a:t>
            </a:r>
            <a:endParaRPr b="1"/>
          </a:p>
        </p:txBody>
      </p:sp>
      <p:sp>
        <p:nvSpPr>
          <p:cNvPr id="84" name="Google Shape;84;p15"/>
          <p:cNvSpPr txBox="1"/>
          <p:nvPr/>
        </p:nvSpPr>
        <p:spPr>
          <a:xfrm>
            <a:off x="430300" y="876300"/>
            <a:ext cx="6480600" cy="38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Lesson: Part I</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b="1" lang="en">
                <a:solidFill>
                  <a:schemeClr val="lt1"/>
                </a:solidFill>
                <a:latin typeface="Barlow"/>
                <a:ea typeface="Barlow"/>
                <a:cs typeface="Barlow"/>
                <a:sym typeface="Barlow"/>
              </a:rPr>
              <a:t>Guest Speaker: Manuela Rios, Strike</a:t>
            </a:r>
            <a:endParaRPr b="1">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Presentation </a:t>
            </a:r>
            <a:endParaRPr>
              <a:solidFill>
                <a:schemeClr val="lt1"/>
              </a:solidFill>
              <a:latin typeface="Barlow"/>
              <a:ea typeface="Barlow"/>
              <a:cs typeface="Barlow"/>
              <a:sym typeface="Barlow"/>
            </a:endParaRPr>
          </a:p>
          <a:p>
            <a:pPr indent="-317500" lvl="2" marL="13716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Q&amp;A</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Lesson: Part II</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News Update</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Resources</a:t>
            </a:r>
            <a:endParaRPr>
              <a:solidFill>
                <a:schemeClr val="lt1"/>
              </a:solidFill>
              <a:latin typeface="Barlow"/>
              <a:ea typeface="Barlow"/>
              <a:cs typeface="Barlow"/>
              <a:sym typeface="Barlow"/>
            </a:endParaRPr>
          </a:p>
          <a:p>
            <a:pPr indent="-317500" lvl="1" marL="9144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Intro to Lightning Network</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Important Information &amp; Tasks</a:t>
            </a:r>
            <a:endParaRPr>
              <a:solidFill>
                <a:schemeClr val="lt1"/>
              </a:solidFill>
              <a:latin typeface="Barlow"/>
              <a:ea typeface="Barlow"/>
              <a:cs typeface="Barlow"/>
              <a:sym typeface="Barlow"/>
            </a:endParaRPr>
          </a:p>
          <a:p>
            <a:pPr indent="-317500" lvl="0" marL="457200" rtl="0" algn="l">
              <a:spcBef>
                <a:spcPts val="0"/>
              </a:spcBef>
              <a:spcAft>
                <a:spcPts val="0"/>
              </a:spcAft>
              <a:buClr>
                <a:schemeClr val="lt1"/>
              </a:buClr>
              <a:buSzPts val="1400"/>
              <a:buFont typeface="Barlow"/>
              <a:buChar char="●"/>
            </a:pPr>
            <a:r>
              <a:rPr lang="en">
                <a:solidFill>
                  <a:schemeClr val="lt1"/>
                </a:solidFill>
                <a:latin typeface="Barlow"/>
                <a:ea typeface="Barlow"/>
                <a:cs typeface="Barlow"/>
                <a:sym typeface="Barlow"/>
              </a:rPr>
              <a:t>Announcements</a:t>
            </a:r>
            <a:endParaRPr>
              <a:solidFill>
                <a:schemeClr val="lt1"/>
              </a:solidFill>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#5: Part I</a:t>
            </a:r>
            <a:endParaRPr/>
          </a:p>
          <a:p>
            <a:pPr indent="0" lvl="0" marL="0" rtl="0" algn="l">
              <a:spcBef>
                <a:spcPts val="0"/>
              </a:spcBef>
              <a:spcAft>
                <a:spcPts val="0"/>
              </a:spcAft>
              <a:buNone/>
            </a:pPr>
            <a:r>
              <a:t/>
            </a:r>
            <a:endParaRPr sz="2000"/>
          </a:p>
        </p:txBody>
      </p:sp>
      <p:pic>
        <p:nvPicPr>
          <p:cNvPr id="90" name="Google Shape;90;p16"/>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1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96" name="Google Shape;96;p17"/>
          <p:cNvPicPr preferRelativeResize="0"/>
          <p:nvPr/>
        </p:nvPicPr>
        <p:blipFill>
          <a:blip r:embed="rId4">
            <a:alphaModFix/>
          </a:blip>
          <a:stretch>
            <a:fillRect/>
          </a:stretch>
        </p:blipFill>
        <p:spPr>
          <a:xfrm>
            <a:off x="2205988" y="205738"/>
            <a:ext cx="4732025" cy="4732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Q&amp;A</a:t>
            </a:r>
            <a:endParaRPr/>
          </a:p>
          <a:p>
            <a:pPr indent="0" lvl="0" marL="0" rtl="0" algn="l">
              <a:spcBef>
                <a:spcPts val="0"/>
              </a:spcBef>
              <a:spcAft>
                <a:spcPts val="0"/>
              </a:spcAft>
              <a:buNone/>
            </a:pPr>
            <a:r>
              <a:t/>
            </a:r>
            <a:endParaRPr sz="2000"/>
          </a:p>
        </p:txBody>
      </p:sp>
      <p:pic>
        <p:nvPicPr>
          <p:cNvPr id="102" name="Google Shape;102;p18"/>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Lesson #5: Part II</a:t>
            </a:r>
            <a:endParaRPr/>
          </a:p>
          <a:p>
            <a:pPr indent="0" lvl="0" marL="0" rtl="0" algn="l">
              <a:spcBef>
                <a:spcPts val="0"/>
              </a:spcBef>
              <a:spcAft>
                <a:spcPts val="0"/>
              </a:spcAft>
              <a:buNone/>
            </a:pPr>
            <a:r>
              <a:t/>
            </a:r>
            <a:endParaRPr sz="2000"/>
          </a:p>
        </p:txBody>
      </p:sp>
      <p:pic>
        <p:nvPicPr>
          <p:cNvPr id="108" name="Google Shape;108;p1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0"/>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Weekly News Update</a:t>
            </a:r>
            <a:endParaRPr/>
          </a:p>
        </p:txBody>
      </p:sp>
      <p:pic>
        <p:nvPicPr>
          <p:cNvPr id="114" name="Google Shape;114;p20"/>
          <p:cNvPicPr preferRelativeResize="0"/>
          <p:nvPr/>
        </p:nvPicPr>
        <p:blipFill>
          <a:blip r:embed="rId3">
            <a:alphaModFix/>
          </a:blip>
          <a:stretch>
            <a:fillRect/>
          </a:stretch>
        </p:blipFill>
        <p:spPr>
          <a:xfrm>
            <a:off x="731752" y="855713"/>
            <a:ext cx="4478526" cy="4141674"/>
          </a:xfrm>
          <a:prstGeom prst="rect">
            <a:avLst/>
          </a:prstGeom>
          <a:noFill/>
          <a:ln>
            <a:noFill/>
          </a:ln>
        </p:spPr>
      </p:pic>
      <p:pic>
        <p:nvPicPr>
          <p:cNvPr id="115" name="Google Shape;115;p20"/>
          <p:cNvPicPr preferRelativeResize="0"/>
          <p:nvPr/>
        </p:nvPicPr>
        <p:blipFill>
          <a:blip r:embed="rId4">
            <a:alphaModFix/>
          </a:blip>
          <a:stretch>
            <a:fillRect/>
          </a:stretch>
        </p:blipFill>
        <p:spPr>
          <a:xfrm>
            <a:off x="5649549" y="721025"/>
            <a:ext cx="3146475" cy="42763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Weekly News Update</a:t>
            </a:r>
            <a:endParaRPr/>
          </a:p>
        </p:txBody>
      </p:sp>
      <p:pic>
        <p:nvPicPr>
          <p:cNvPr id="121" name="Google Shape;121;p21"/>
          <p:cNvPicPr preferRelativeResize="0"/>
          <p:nvPr/>
        </p:nvPicPr>
        <p:blipFill>
          <a:blip r:embed="rId3">
            <a:alphaModFix/>
          </a:blip>
          <a:stretch>
            <a:fillRect/>
          </a:stretch>
        </p:blipFill>
        <p:spPr>
          <a:xfrm>
            <a:off x="4271325" y="812850"/>
            <a:ext cx="3482175" cy="4219652"/>
          </a:xfrm>
          <a:prstGeom prst="rect">
            <a:avLst/>
          </a:prstGeom>
          <a:noFill/>
          <a:ln>
            <a:noFill/>
          </a:ln>
        </p:spPr>
      </p:pic>
      <p:sp>
        <p:nvSpPr>
          <p:cNvPr id="122" name="Google Shape;122;p21"/>
          <p:cNvSpPr txBox="1"/>
          <p:nvPr/>
        </p:nvSpPr>
        <p:spPr>
          <a:xfrm>
            <a:off x="315150" y="1168525"/>
            <a:ext cx="3435900" cy="60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COPA = </a:t>
            </a:r>
            <a:endParaRPr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Crypto Open Patent Alliance  → </a:t>
            </a:r>
            <a:endParaRPr sz="1800">
              <a:solidFill>
                <a:schemeClr val="lt1"/>
              </a:solidFill>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What is Lightning? </a:t>
            </a:r>
            <a:endParaRPr/>
          </a:p>
          <a:p>
            <a:pPr indent="0" lvl="0" marL="0" rtl="0" algn="l">
              <a:spcBef>
                <a:spcPts val="0"/>
              </a:spcBef>
              <a:spcAft>
                <a:spcPts val="0"/>
              </a:spcAft>
              <a:buNone/>
            </a:pPr>
            <a:r>
              <a:t/>
            </a:r>
            <a:endParaRPr sz="2000"/>
          </a:p>
        </p:txBody>
      </p:sp>
      <p:pic>
        <p:nvPicPr>
          <p:cNvPr id="128" name="Google Shape;128;p22"/>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lnSpc>
                <a:spcPct val="150000"/>
              </a:lnSpc>
              <a:spcBef>
                <a:spcPts val="0"/>
              </a:spcBef>
              <a:spcAft>
                <a:spcPts val="0"/>
              </a:spcAft>
              <a:buNone/>
            </a:pPr>
            <a:r>
              <a:rPr lang="en" sz="1700"/>
              <a:t>What is an L2? What’s the purpose?</a:t>
            </a:r>
            <a:endParaRPr/>
          </a:p>
        </p:txBody>
      </p:sp>
      <p:pic>
        <p:nvPicPr>
          <p:cNvPr id="134" name="Google Shape;134;p23"/>
          <p:cNvPicPr preferRelativeResize="0"/>
          <p:nvPr/>
        </p:nvPicPr>
        <p:blipFill>
          <a:blip r:embed="rId3">
            <a:alphaModFix/>
          </a:blip>
          <a:stretch>
            <a:fillRect/>
          </a:stretch>
        </p:blipFill>
        <p:spPr>
          <a:xfrm>
            <a:off x="2780425" y="1206925"/>
            <a:ext cx="3950425" cy="3077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title"/>
          </p:nvPr>
        </p:nvSpPr>
        <p:spPr>
          <a:xfrm>
            <a:off x="490250" y="488250"/>
            <a:ext cx="7495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i="1" lang="en" sz="2300"/>
              <a:t>“You’re going to want to build your buildings on a solid footing of granite, so bitcoin is made to last forever — high integrity, very durable.”</a:t>
            </a:r>
            <a:r>
              <a:rPr lang="en" sz="2300"/>
              <a:t>  </a:t>
            </a:r>
            <a:endParaRPr sz="2300"/>
          </a:p>
          <a:p>
            <a:pPr indent="0" lvl="0" marL="0" rtl="0" algn="l">
              <a:spcBef>
                <a:spcPts val="0"/>
              </a:spcBef>
              <a:spcAft>
                <a:spcPts val="0"/>
              </a:spcAft>
              <a:buNone/>
            </a:pPr>
            <a:r>
              <a:rPr lang="en" sz="2300"/>
              <a:t>— Michael Saylor, CEO of MicroStrategy</a:t>
            </a:r>
            <a:endParaRPr/>
          </a:p>
        </p:txBody>
      </p:sp>
      <p:pic>
        <p:nvPicPr>
          <p:cNvPr id="140" name="Google Shape;140;p24"/>
          <p:cNvPicPr preferRelativeResize="0"/>
          <p:nvPr/>
        </p:nvPicPr>
        <p:blipFill>
          <a:blip r:embed="rId3">
            <a:alphaModFix/>
          </a:blip>
          <a:stretch>
            <a:fillRect/>
          </a:stretch>
        </p:blipFill>
        <p:spPr>
          <a:xfrm>
            <a:off x="6124825" y="2758725"/>
            <a:ext cx="2640200" cy="1987725"/>
          </a:xfrm>
          <a:prstGeom prst="rect">
            <a:avLst/>
          </a:prstGeom>
          <a:noFill/>
          <a:ln>
            <a:noFill/>
          </a:ln>
        </p:spPr>
      </p:pic>
      <p:pic>
        <p:nvPicPr>
          <p:cNvPr id="141" name="Google Shape;141;p24"/>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pic>
        <p:nvPicPr>
          <p:cNvPr id="146" name="Google Shape;146;p25"/>
          <p:cNvPicPr preferRelativeResize="0"/>
          <p:nvPr/>
        </p:nvPicPr>
        <p:blipFill>
          <a:blip r:embed="rId3">
            <a:alphaModFix/>
          </a:blip>
          <a:stretch>
            <a:fillRect/>
          </a:stretch>
        </p:blipFill>
        <p:spPr>
          <a:xfrm>
            <a:off x="1884750" y="930498"/>
            <a:ext cx="5185702" cy="3409450"/>
          </a:xfrm>
          <a:prstGeom prst="rect">
            <a:avLst/>
          </a:prstGeom>
          <a:noFill/>
          <a:ln>
            <a:noFill/>
          </a:ln>
        </p:spPr>
      </p:pic>
      <p:pic>
        <p:nvPicPr>
          <p:cNvPr id="147" name="Google Shape;147;p25"/>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u="sng">
                <a:hlinkClick r:id="rId3"/>
              </a:rPr>
              <a:t>https://www.lopp.net/lightning-information.html</a:t>
            </a:r>
            <a:r>
              <a:rPr lang="en"/>
              <a:t> </a:t>
            </a:r>
            <a:endParaRPr/>
          </a:p>
        </p:txBody>
      </p:sp>
      <p:pic>
        <p:nvPicPr>
          <p:cNvPr id="153" name="Google Shape;153;p26"/>
          <p:cNvPicPr preferRelativeResize="0"/>
          <p:nvPr/>
        </p:nvPicPr>
        <p:blipFill rotWithShape="1">
          <a:blip r:embed="rId4">
            <a:alphaModFix/>
          </a:blip>
          <a:srcRect b="0" l="6525" r="12221" t="0"/>
          <a:stretch/>
        </p:blipFill>
        <p:spPr>
          <a:xfrm>
            <a:off x="920413" y="1009475"/>
            <a:ext cx="7182275" cy="3798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Lightning Network Explained</a:t>
            </a:r>
            <a:endParaRPr/>
          </a:p>
        </p:txBody>
      </p:sp>
      <p:pic>
        <p:nvPicPr>
          <p:cNvPr descr="Bitcoin has a 7 transaction/second limit, so how can we overcome this? The Lightning Network is one of the proposals and in this video I'll explain how it works.&#10;&#10;💌  Sign up for Simply Explained Newsletter:&#10;https://newsletter.simplyexplained.com&#10;Monthly newsletter with cool stuff I found on the internet (related to science, technology, biology, and other nerdy things)! No spam. Ever. Promise!&#10;&#10;💰 Get $10 of free Bitcoin:&#10;Use my Coinbase affiliate link, and we'll both get $10 of free Bitcoin when you deposit $100:&#10;https://coinbase.com/join/decuyp_9&#10;&#10;🌍 Social&#10;Twitter: https://twitter.com/Savjee&#10;Facebook: https://facebook.com/Savjee&#10;Blog: https://savjee.be&#10;&#10;❤️ Become a Simply Explained member: https://www.youtube.com/channel/UCnxrdFPXJMeHru_b4Q_vTPQ/join&#10;&#10;--------------&#10;&#10;📚 Sources can be found on my website:&#10;https://www.savjee.be/videos/simply-explained/bitcoin-lightning-network/&#10;&#10;#bitcoin #crypto #blockchain #scaling #simplyexplained" id="159" name="Google Shape;159;p27" title="Bitcoin's Lightning Network, Simply Explained!">
            <a:hlinkClick r:id="rId3"/>
          </p:cNvPr>
          <p:cNvPicPr preferRelativeResize="0"/>
          <p:nvPr/>
        </p:nvPicPr>
        <p:blipFill>
          <a:blip r:embed="rId4">
            <a:alphaModFix/>
          </a:blip>
          <a:stretch>
            <a:fillRect/>
          </a:stretch>
        </p:blipFill>
        <p:spPr>
          <a:xfrm>
            <a:off x="1013363" y="885300"/>
            <a:ext cx="7117275" cy="4003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Lightning Network Application: Jack Mallers, CEO @ Strike</a:t>
            </a:r>
            <a:endParaRPr/>
          </a:p>
        </p:txBody>
      </p:sp>
      <p:pic>
        <p:nvPicPr>
          <p:cNvPr descr="My presentation to the IMF on how Bitcoin and Strike is disrupting cross border payments" id="165" name="Google Shape;165;p28" title="Bitcoin: Disrupting Cross Border Payments - IMF Fintech Seminar">
            <a:hlinkClick r:id="rId3"/>
          </p:cNvPr>
          <p:cNvPicPr preferRelativeResize="0"/>
          <p:nvPr/>
        </p:nvPicPr>
        <p:blipFill>
          <a:blip r:embed="rId4">
            <a:alphaModFix/>
          </a:blip>
          <a:stretch>
            <a:fillRect/>
          </a:stretch>
        </p:blipFill>
        <p:spPr>
          <a:xfrm>
            <a:off x="1087213" y="843904"/>
            <a:ext cx="7200525" cy="4050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Announcements</a:t>
            </a:r>
            <a:endParaRPr/>
          </a:p>
        </p:txBody>
      </p:sp>
      <p:pic>
        <p:nvPicPr>
          <p:cNvPr id="171" name="Google Shape;171;p29"/>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30"/>
          <p:cNvPicPr preferRelativeResize="0"/>
          <p:nvPr/>
        </p:nvPicPr>
        <p:blipFill>
          <a:blip r:embed="rId3">
            <a:alphaModFix/>
          </a:blip>
          <a:stretch>
            <a:fillRect/>
          </a:stretch>
        </p:blipFill>
        <p:spPr>
          <a:xfrm>
            <a:off x="1124475" y="804225"/>
            <a:ext cx="6734700" cy="3535049"/>
          </a:xfrm>
          <a:prstGeom prst="rect">
            <a:avLst/>
          </a:prstGeom>
          <a:noFill/>
          <a:ln>
            <a:noFill/>
          </a:ln>
        </p:spPr>
      </p:pic>
      <p:pic>
        <p:nvPicPr>
          <p:cNvPr id="177" name="Google Shape;177;p30"/>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Bitcoin Policy Institute Summit: </a:t>
            </a:r>
            <a:r>
              <a:rPr lang="en" sz="1500" u="sng">
                <a:hlinkClick r:id="rId3"/>
              </a:rPr>
              <a:t>https://forms.gle/vBfuaiJMkbKjn79CA</a:t>
            </a:r>
            <a:r>
              <a:rPr lang="en" sz="1500"/>
              <a:t> </a:t>
            </a:r>
            <a:endParaRPr sz="1500"/>
          </a:p>
        </p:txBody>
      </p:sp>
      <p:pic>
        <p:nvPicPr>
          <p:cNvPr id="183" name="Google Shape;183;p31"/>
          <p:cNvPicPr preferRelativeResize="0"/>
          <p:nvPr/>
        </p:nvPicPr>
        <p:blipFill>
          <a:blip r:embed="rId4">
            <a:alphaModFix/>
          </a:blip>
          <a:stretch>
            <a:fillRect/>
          </a:stretch>
        </p:blipFill>
        <p:spPr>
          <a:xfrm>
            <a:off x="1215500" y="983800"/>
            <a:ext cx="7354599" cy="381817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Field Research Opportunity: </a:t>
            </a:r>
            <a:r>
              <a:rPr lang="en" sz="1500" u="sng">
                <a:hlinkClick r:id="rId3"/>
              </a:rPr>
              <a:t>https://forms.gle/STrYzqvvarv5XGyi8</a:t>
            </a:r>
            <a:r>
              <a:rPr lang="en" sz="1500"/>
              <a:t>  </a:t>
            </a:r>
            <a:endParaRPr sz="1500"/>
          </a:p>
        </p:txBody>
      </p:sp>
      <p:pic>
        <p:nvPicPr>
          <p:cNvPr id="189" name="Google Shape;189;p32"/>
          <p:cNvPicPr preferRelativeResize="0"/>
          <p:nvPr/>
        </p:nvPicPr>
        <p:blipFill>
          <a:blip r:embed="rId4">
            <a:alphaModFix/>
          </a:blip>
          <a:stretch>
            <a:fillRect/>
          </a:stretch>
        </p:blipFill>
        <p:spPr>
          <a:xfrm>
            <a:off x="2993663" y="802500"/>
            <a:ext cx="3384382" cy="4219650"/>
          </a:xfrm>
          <a:prstGeom prst="rect">
            <a:avLst/>
          </a:prstGeom>
          <a:noFill/>
          <a:ln>
            <a:noFill/>
          </a:ln>
        </p:spPr>
      </p:pic>
      <p:sp>
        <p:nvSpPr>
          <p:cNvPr id="190" name="Google Shape;190;p32"/>
          <p:cNvSpPr/>
          <p:nvPr/>
        </p:nvSpPr>
        <p:spPr>
          <a:xfrm>
            <a:off x="3212900" y="1468650"/>
            <a:ext cx="672600" cy="13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
        <p:nvSpPr>
          <p:cNvPr id="191" name="Google Shape;191;p32"/>
          <p:cNvSpPr/>
          <p:nvPr/>
        </p:nvSpPr>
        <p:spPr>
          <a:xfrm>
            <a:off x="3668250" y="2314450"/>
            <a:ext cx="548400" cy="134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197" name="Google Shape;197;p33"/>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203" name="Google Shape;203;p34"/>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204" name="Google Shape;204;p34"/>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205" name="Google Shape;205;p34"/>
          <p:cNvPicPr preferRelativeResize="0"/>
          <p:nvPr/>
        </p:nvPicPr>
        <p:blipFill>
          <a:blip r:embed="rId13">
            <a:alphaModFix/>
          </a:blip>
          <a:stretch>
            <a:fillRect/>
          </a:stretch>
        </p:blipFill>
        <p:spPr>
          <a:xfrm>
            <a:off x="184150" y="4695625"/>
            <a:ext cx="374483" cy="35547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9" name="Shape 209"/>
        <p:cNvGrpSpPr/>
        <p:nvPr/>
      </p:nvGrpSpPr>
      <p:grpSpPr>
        <a:xfrm>
          <a:off x="0" y="0"/>
          <a:ext cx="0" cy="0"/>
          <a:chOff x="0" y="0"/>
          <a:chExt cx="0" cy="0"/>
        </a:xfrm>
      </p:grpSpPr>
      <p:sp>
        <p:nvSpPr>
          <p:cNvPr id="210" name="Google Shape;210;p35"/>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211" name="Google Shape;211;p35"/>
          <p:cNvPicPr preferRelativeResize="0"/>
          <p:nvPr/>
        </p:nvPicPr>
        <p:blipFill>
          <a:blip r:embed="rId3">
            <a:alphaModFix/>
          </a:blip>
          <a:stretch>
            <a:fillRect/>
          </a:stretch>
        </p:blipFill>
        <p:spPr>
          <a:xfrm>
            <a:off x="184150" y="4695625"/>
            <a:ext cx="374483" cy="3554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