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y="5143500" cx="9144000"/>
  <p:notesSz cx="6858000" cy="9144000"/>
  <p:embeddedFontLst>
    <p:embeddedFont>
      <p:font typeface="Proxima Nova"/>
      <p:regular r:id="rId67"/>
      <p:bold r:id="rId68"/>
      <p:italic r:id="rId69"/>
      <p:boldItalic r:id="rId70"/>
    </p:embeddedFont>
    <p:embeddedFont>
      <p:font typeface="Roboto"/>
      <p:regular r:id="rId71"/>
      <p:bold r:id="rId72"/>
      <p:italic r:id="rId73"/>
      <p:boldItalic r:id="rId74"/>
    </p:embeddedFont>
    <p:embeddedFont>
      <p:font typeface="Proxima Nova Semibold"/>
      <p:regular r:id="rId75"/>
      <p:bold r:id="rId76"/>
      <p:boldItalic r:id="rId77"/>
    </p:embeddedFont>
    <p:embeddedFont>
      <p:font typeface="Barlow"/>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Barlow-italic.fntdata"/><Relationship Id="rId81" Type="http://schemas.openxmlformats.org/officeDocument/2006/relationships/font" Target="fonts/Barlow-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Roboto-italic.fntdata"/><Relationship Id="rId72" Type="http://schemas.openxmlformats.org/officeDocument/2006/relationships/font" Target="fonts/Roboto-bold.fntdata"/><Relationship Id="rId31" Type="http://schemas.openxmlformats.org/officeDocument/2006/relationships/slide" Target="slides/slide27.xml"/><Relationship Id="rId75" Type="http://schemas.openxmlformats.org/officeDocument/2006/relationships/font" Target="fonts/ProximaNovaSemibold-regular.fntdata"/><Relationship Id="rId30" Type="http://schemas.openxmlformats.org/officeDocument/2006/relationships/slide" Target="slides/slide26.xml"/><Relationship Id="rId74" Type="http://schemas.openxmlformats.org/officeDocument/2006/relationships/font" Target="fonts/Roboto-boldItalic.fntdata"/><Relationship Id="rId33" Type="http://schemas.openxmlformats.org/officeDocument/2006/relationships/slide" Target="slides/slide29.xml"/><Relationship Id="rId77" Type="http://schemas.openxmlformats.org/officeDocument/2006/relationships/font" Target="fonts/ProximaNovaSemibold-boldItalic.fntdata"/><Relationship Id="rId32" Type="http://schemas.openxmlformats.org/officeDocument/2006/relationships/slide" Target="slides/slide28.xml"/><Relationship Id="rId76" Type="http://schemas.openxmlformats.org/officeDocument/2006/relationships/font" Target="fonts/ProximaNovaSemibold-bold.fntdata"/><Relationship Id="rId35" Type="http://schemas.openxmlformats.org/officeDocument/2006/relationships/slide" Target="slides/slide31.xml"/><Relationship Id="rId79" Type="http://schemas.openxmlformats.org/officeDocument/2006/relationships/font" Target="fonts/Barlow-bold.fntdata"/><Relationship Id="rId34" Type="http://schemas.openxmlformats.org/officeDocument/2006/relationships/slide" Target="slides/slide30.xml"/><Relationship Id="rId78" Type="http://schemas.openxmlformats.org/officeDocument/2006/relationships/font" Target="fonts/Barlow-regular.fntdata"/><Relationship Id="rId71" Type="http://schemas.openxmlformats.org/officeDocument/2006/relationships/font" Target="fonts/Roboto-regular.fntdata"/><Relationship Id="rId70" Type="http://schemas.openxmlformats.org/officeDocument/2006/relationships/font" Target="fonts/ProximaNova-bold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font" Target="fonts/ProximaNova-bold.fntdata"/><Relationship Id="rId23" Type="http://schemas.openxmlformats.org/officeDocument/2006/relationships/slide" Target="slides/slide19.xml"/><Relationship Id="rId67" Type="http://schemas.openxmlformats.org/officeDocument/2006/relationships/font" Target="fonts/ProximaNova-regular.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ProximaNova-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orbes.com/sites/digital-assets/2024/04/25/privacy-centric-bitcoin-wallet-founders-held-under-laundering-charges/?sh=32b0eb996874" TargetMode="External"/><Relationship Id="rId3" Type="http://schemas.openxmlformats.org/officeDocument/2006/relationships/hyperlink" Target="https://bitcoinmagazine.com/legal/samourai-did-nothing-wrong-self-custodial-tools-are-not-money-transmitters" TargetMode="External"/><Relationship Id="rId4" Type="http://schemas.openxmlformats.org/officeDocument/2006/relationships/hyperlink" Target="https://bitcoinmagazine.com/legal/a-further-crackdown-on-bitcoin-mixing-services-will-hurt-human-rights-activist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gladstein/status/1401548600778371074"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inmagazine.com/culture/bitcoin-is-a-trojan-horse-for-freedom"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dergigi/status/1487937745192374278?s=20"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cfd1c18ed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cfd1c18ed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https://www.forbes.com/sites/digital-assets/2024/04/25/privacy-centric-bitcoin-wallet-founders-held-under-laundering-charges/?sh=32b0eb996874</a:t>
            </a:r>
            <a:r>
              <a:rPr lang="en"/>
              <a:t> </a:t>
            </a:r>
            <a:endParaRPr/>
          </a:p>
          <a:p>
            <a:pPr indent="0" lvl="0" marL="0" rtl="0" algn="l">
              <a:spcBef>
                <a:spcPts val="0"/>
              </a:spcBef>
              <a:spcAft>
                <a:spcPts val="0"/>
              </a:spcAft>
              <a:buNone/>
            </a:pPr>
            <a:r>
              <a:rPr lang="en" u="sng">
                <a:solidFill>
                  <a:schemeClr val="hlink"/>
                </a:solidFill>
                <a:hlinkClick r:id="rId3"/>
              </a:rPr>
              <a:t>https://bitcoinmagazine.com/legal/samourai-did-nothing-wrong-self-custodial-tools-are-not-money-transmitters</a:t>
            </a:r>
            <a:r>
              <a:rPr lang="en"/>
              <a:t> </a:t>
            </a:r>
            <a:endParaRPr/>
          </a:p>
          <a:p>
            <a:pPr indent="0" lvl="0" marL="0" rtl="0" algn="l">
              <a:spcBef>
                <a:spcPts val="0"/>
              </a:spcBef>
              <a:spcAft>
                <a:spcPts val="0"/>
              </a:spcAft>
              <a:buNone/>
            </a:pPr>
            <a:r>
              <a:rPr lang="en" u="sng">
                <a:solidFill>
                  <a:schemeClr val="hlink"/>
                </a:solidFill>
                <a:hlinkClick r:id="rId4"/>
              </a:rPr>
              <a:t>https://bitcoinmagazine.com/legal/a-further-crackdown-on-bitcoin-mixing-services-will-hurt-human-rights-activists</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fd1c18ed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fd1c18ed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fd1c18ed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cfd1c18ed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fd1c18ed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cfd1c18ed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160588197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160588197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160588197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160588197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16058819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16058819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d16058819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d16058819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16058819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16058819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Your Financial Privilide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160588197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160588197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160588197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160588197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1857c18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1857c18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16058819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16058819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d16058819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d16058819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d16058819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d16058819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160588197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160588197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d16058819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d16058819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d16058819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d16058819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d16058819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d16058819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d16058819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d16058819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d16058819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d16058819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d16058819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d16058819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d16058819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d16058819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16058819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d16058819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d16058819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d16058819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16058819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d16058819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https://twitter.com/gladstein/status/1401548600778371074</a:t>
            </a:r>
            <a:r>
              <a:rPr lang="en"/>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d16058819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d16058819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d16058819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d16058819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d160588197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d160588197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d160588197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d160588197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d16058819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d16058819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1857c187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d1857c187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d160588197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d160588197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d1857c187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d1857c187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d1857c187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d1857c187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d160588197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d160588197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d160588197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d160588197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d160588197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d160588197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d160588197_1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d160588197_1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d160588197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d160588197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d160588197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d160588197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1857c187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1857c187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https://bitcoinmagazine.com/culture/bitcoin-is-a-trojan-horse-for-freedom</a:t>
            </a:r>
            <a:r>
              <a:rPr lang="en"/>
              <a:t>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d1857c187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d1857c187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https://x.com/dergigi/status/1487937745192374278?s=20</a:t>
            </a:r>
            <a:r>
              <a:rPr lang="en"/>
              <a:t>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d160588197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d160588197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d160588197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d16058819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d160588197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d16058819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d160588197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d160588197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d160588197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d160588197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d160588197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d160588197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d160588197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d160588197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d160588197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d160588197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d160588197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d160588197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d160588197_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d160588197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d160588197_1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d160588197_1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d160588197_1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d160588197_1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B31B1B"/>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B31B1B"/>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hyperlink" Target="https://twitter.com/Matt_Hougan/status/1782525236078100836?ref_src=twsrc%5Egoogle%7Ctwcamp%5Eserp%7Ctwgr%5Etwe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www.youtube.com/watch?v=TI3Xcei8d_I"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www.youtube.com/watch?v=XvdUV2S78uY" TargetMode="Externa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www.youtube.com/watch?v=5JBxBq8U1yI" TargetMode="Externa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www.youtube.com/watch?v=DJeFYsk675k" TargetMode="Externa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www.youtube.com/watch?v=HbTOQfJ3jQk" TargetMode="External"/><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www.youtube.com/watch?v=KG0Q05Lnm7s" TargetMode="Externa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www.youtube.com/watch?v=hDQRxgWIt6Q" TargetMode="External"/><Relationship Id="rId4" Type="http://schemas.openxmlformats.org/officeDocument/2006/relationships/image" Target="../media/image1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hyperlink" Target="http://www.youtube.com/watch?v=bikLdxCKQjc" TargetMode="External"/><Relationship Id="rId4"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hyperlink" Target="http://www.youtube.com/watch?v=DJeFYsk675k" TargetMode="External"/><Relationship Id="rId4"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hyperlink" Target="http://www.youtube.com/watch?v=KSaMBQmrOqs" TargetMode="External"/><Relationship Id="rId4" Type="http://schemas.openxmlformats.org/officeDocument/2006/relationships/image" Target="../media/image28.jpg"/><Relationship Id="rId5" Type="http://schemas.openxmlformats.org/officeDocument/2006/relationships/hyperlink" Target="https://hrf.org/hrf-to-launch-cbdc-tracker-on-nov-14-in-d-c/" TargetMode="External"/><Relationship Id="rId6" Type="http://schemas.openxmlformats.org/officeDocument/2006/relationships/hyperlink" Target="https://cbdctracker.hrf.org/hom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hyperlink" Target="https://x.com/WalkerAmerica/status/1747385001023250857" TargetMode="Externa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2.jp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hyperlink" Target="https://nataliebrunell.substack.com/" TargetMode="External"/><Relationship Id="rId4" Type="http://schemas.openxmlformats.org/officeDocument/2006/relationships/hyperlink" Target="https://mailchi.mp/hrf.org/financial-freedom-newsletter?mc_cid=bf652c0a5a&amp;mc_eid=dcd85f94b2" TargetMode="External"/><Relationship Id="rId9" Type="http://schemas.openxmlformats.org/officeDocument/2006/relationships/hyperlink" Target="https://bitcoinstudentsnetwork.substack.com/" TargetMode="External"/><Relationship Id="rId5" Type="http://schemas.openxmlformats.org/officeDocument/2006/relationships/hyperlink" Target="https://thevibecheck.substack.com/" TargetMode="External"/><Relationship Id="rId6" Type="http://schemas.openxmlformats.org/officeDocument/2006/relationships/hyperlink" Target="https://jameslavish.substack.com/" TargetMode="External"/><Relationship Id="rId7" Type="http://schemas.openxmlformats.org/officeDocument/2006/relationships/hyperlink" Target="https://thebitcoinlayer.substack.com/" TargetMode="External"/><Relationship Id="rId8" Type="http://schemas.openxmlformats.org/officeDocument/2006/relationships/hyperlink" Target="https://lightninglabs.substack.co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5.png"/><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#11: May 2,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Schedule</a:t>
            </a:r>
            <a:endParaRPr/>
          </a:p>
        </p:txBody>
      </p:sp>
      <p:sp>
        <p:nvSpPr>
          <p:cNvPr id="84" name="Google Shape;84;p15"/>
          <p:cNvSpPr txBox="1"/>
          <p:nvPr/>
        </p:nvSpPr>
        <p:spPr>
          <a:xfrm>
            <a:off x="430300" y="876300"/>
            <a:ext cx="78753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#11</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IMF &amp; World Bank Overview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Structural Adjustment &amp; Debt Trap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Freedom Go Up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The Currency Caste System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Elections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Fall 2024</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 Samourai Wallet (non-custodial)</a:t>
            </a:r>
            <a:endParaRPr/>
          </a:p>
        </p:txBody>
      </p:sp>
      <p:pic>
        <p:nvPicPr>
          <p:cNvPr id="90" name="Google Shape;90;p16"/>
          <p:cNvPicPr preferRelativeResize="0"/>
          <p:nvPr/>
        </p:nvPicPr>
        <p:blipFill>
          <a:blip r:embed="rId3">
            <a:alphaModFix/>
          </a:blip>
          <a:stretch>
            <a:fillRect/>
          </a:stretch>
        </p:blipFill>
        <p:spPr>
          <a:xfrm>
            <a:off x="350186" y="960425"/>
            <a:ext cx="3892875" cy="1909851"/>
          </a:xfrm>
          <a:prstGeom prst="rect">
            <a:avLst/>
          </a:prstGeom>
          <a:noFill/>
          <a:ln>
            <a:noFill/>
          </a:ln>
        </p:spPr>
      </p:pic>
      <p:pic>
        <p:nvPicPr>
          <p:cNvPr id="91" name="Google Shape;91;p16"/>
          <p:cNvPicPr preferRelativeResize="0"/>
          <p:nvPr/>
        </p:nvPicPr>
        <p:blipFill>
          <a:blip r:embed="rId4">
            <a:alphaModFix/>
          </a:blip>
          <a:stretch>
            <a:fillRect/>
          </a:stretch>
        </p:blipFill>
        <p:spPr>
          <a:xfrm>
            <a:off x="864075" y="3081251"/>
            <a:ext cx="2865100" cy="1863149"/>
          </a:xfrm>
          <a:prstGeom prst="rect">
            <a:avLst/>
          </a:prstGeom>
          <a:noFill/>
          <a:ln>
            <a:noFill/>
          </a:ln>
        </p:spPr>
      </p:pic>
      <p:pic>
        <p:nvPicPr>
          <p:cNvPr id="92" name="Google Shape;92;p16"/>
          <p:cNvPicPr preferRelativeResize="0"/>
          <p:nvPr/>
        </p:nvPicPr>
        <p:blipFill>
          <a:blip r:embed="rId5">
            <a:alphaModFix/>
          </a:blip>
          <a:stretch>
            <a:fillRect/>
          </a:stretch>
        </p:blipFill>
        <p:spPr>
          <a:xfrm>
            <a:off x="4615400" y="1025263"/>
            <a:ext cx="4309448" cy="1780174"/>
          </a:xfrm>
          <a:prstGeom prst="rect">
            <a:avLst/>
          </a:prstGeom>
          <a:noFill/>
          <a:ln>
            <a:noFill/>
          </a:ln>
        </p:spPr>
      </p:pic>
      <p:pic>
        <p:nvPicPr>
          <p:cNvPr id="93" name="Google Shape;93;p16"/>
          <p:cNvPicPr preferRelativeResize="0"/>
          <p:nvPr/>
        </p:nvPicPr>
        <p:blipFill>
          <a:blip r:embed="rId6">
            <a:alphaModFix/>
          </a:blip>
          <a:stretch>
            <a:fillRect/>
          </a:stretch>
        </p:blipFill>
        <p:spPr>
          <a:xfrm>
            <a:off x="4369660" y="3210950"/>
            <a:ext cx="4614866" cy="1780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 IMF Paper: A Primer on Bitcoin Cross-Border Flows, April 2024</a:t>
            </a:r>
            <a:endParaRPr/>
          </a:p>
        </p:txBody>
      </p:sp>
      <p:pic>
        <p:nvPicPr>
          <p:cNvPr id="99" name="Google Shape;99;p17"/>
          <p:cNvPicPr preferRelativeResize="0"/>
          <p:nvPr/>
        </p:nvPicPr>
        <p:blipFill>
          <a:blip r:embed="rId3">
            <a:alphaModFix/>
          </a:blip>
          <a:stretch>
            <a:fillRect/>
          </a:stretch>
        </p:blipFill>
        <p:spPr>
          <a:xfrm>
            <a:off x="167300" y="1092899"/>
            <a:ext cx="4134901" cy="2957701"/>
          </a:xfrm>
          <a:prstGeom prst="rect">
            <a:avLst/>
          </a:prstGeom>
          <a:noFill/>
          <a:ln>
            <a:noFill/>
          </a:ln>
        </p:spPr>
      </p:pic>
      <p:pic>
        <p:nvPicPr>
          <p:cNvPr id="100" name="Google Shape;100;p17"/>
          <p:cNvPicPr preferRelativeResize="0"/>
          <p:nvPr/>
        </p:nvPicPr>
        <p:blipFill>
          <a:blip r:embed="rId4">
            <a:alphaModFix/>
          </a:blip>
          <a:stretch>
            <a:fillRect/>
          </a:stretch>
        </p:blipFill>
        <p:spPr>
          <a:xfrm>
            <a:off x="4524125" y="1092900"/>
            <a:ext cx="4300686" cy="2957700"/>
          </a:xfrm>
          <a:prstGeom prst="rect">
            <a:avLst/>
          </a:prstGeom>
          <a:noFill/>
          <a:ln>
            <a:noFill/>
          </a:ln>
        </p:spPr>
      </p:pic>
      <p:sp>
        <p:nvSpPr>
          <p:cNvPr id="101" name="Google Shape;101;p17"/>
          <p:cNvSpPr txBox="1"/>
          <p:nvPr/>
        </p:nvSpPr>
        <p:spPr>
          <a:xfrm>
            <a:off x="6059675" y="4276350"/>
            <a:ext cx="1545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u="sng">
                <a:solidFill>
                  <a:schemeClr val="lt1"/>
                </a:solidFill>
                <a:latin typeface="Proxima Nova"/>
                <a:ea typeface="Proxima Nova"/>
                <a:cs typeface="Proxima Nova"/>
                <a:sym typeface="Proxima Nova"/>
                <a:hlinkClick r:id="rId5">
                  <a:extLst>
                    <a:ext uri="{A12FA001-AC4F-418D-AE19-62706E023703}">
                      <ahyp:hlinkClr val="tx"/>
                    </a:ext>
                  </a:extLst>
                </a:hlinkClick>
              </a:rPr>
              <a:t>Link</a:t>
            </a:r>
            <a:r>
              <a:rPr lang="en" sz="1200">
                <a:solidFill>
                  <a:schemeClr val="lt1"/>
                </a:solidFill>
                <a:latin typeface="Proxima Nova"/>
                <a:ea typeface="Proxima Nova"/>
                <a:cs typeface="Proxima Nova"/>
                <a:sym typeface="Proxima Nova"/>
              </a:rPr>
              <a:t>, CIO @ Bitwise</a:t>
            </a:r>
            <a:endParaRPr sz="1200">
              <a:solidFill>
                <a:schemeClr val="lt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a:t>
            </a:r>
            <a:endParaRPr/>
          </a:p>
        </p:txBody>
      </p:sp>
      <p:pic>
        <p:nvPicPr>
          <p:cNvPr id="107" name="Google Shape;107;p18"/>
          <p:cNvPicPr preferRelativeResize="0"/>
          <p:nvPr/>
        </p:nvPicPr>
        <p:blipFill>
          <a:blip r:embed="rId3">
            <a:alphaModFix/>
          </a:blip>
          <a:stretch>
            <a:fillRect/>
          </a:stretch>
        </p:blipFill>
        <p:spPr>
          <a:xfrm>
            <a:off x="785200" y="1132525"/>
            <a:ext cx="7573576" cy="3073325"/>
          </a:xfrm>
          <a:prstGeom prst="rect">
            <a:avLst/>
          </a:prstGeom>
          <a:noFill/>
          <a:ln>
            <a:noFill/>
          </a:ln>
        </p:spPr>
      </p:pic>
      <p:sp>
        <p:nvSpPr>
          <p:cNvPr id="108" name="Google Shape;108;p18"/>
          <p:cNvSpPr txBox="1"/>
          <p:nvPr/>
        </p:nvSpPr>
        <p:spPr>
          <a:xfrm>
            <a:off x="3929300" y="4524425"/>
            <a:ext cx="4932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#21</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a:t>
            </a:r>
            <a:endParaRPr/>
          </a:p>
        </p:txBody>
      </p:sp>
      <p:pic>
        <p:nvPicPr>
          <p:cNvPr id="114" name="Google Shape;114;p19"/>
          <p:cNvPicPr preferRelativeResize="0"/>
          <p:nvPr/>
        </p:nvPicPr>
        <p:blipFill>
          <a:blip r:embed="rId3">
            <a:alphaModFix/>
          </a:blip>
          <a:stretch>
            <a:fillRect/>
          </a:stretch>
        </p:blipFill>
        <p:spPr>
          <a:xfrm>
            <a:off x="310988" y="1247362"/>
            <a:ext cx="8401127" cy="2648775"/>
          </a:xfrm>
          <a:prstGeom prst="rect">
            <a:avLst/>
          </a:prstGeom>
          <a:noFill/>
          <a:ln>
            <a:noFill/>
          </a:ln>
        </p:spPr>
      </p:pic>
      <p:sp>
        <p:nvSpPr>
          <p:cNvPr id="115" name="Google Shape;115;p19"/>
          <p:cNvSpPr txBox="1"/>
          <p:nvPr/>
        </p:nvSpPr>
        <p:spPr>
          <a:xfrm>
            <a:off x="3929300" y="4524425"/>
            <a:ext cx="4932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#21</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#11: Bitcoin &amp; Human Rights</a:t>
            </a:r>
            <a:endParaRPr/>
          </a:p>
          <a:p>
            <a:pPr indent="0" lvl="0" marL="0" rtl="0" algn="l">
              <a:spcBef>
                <a:spcPts val="0"/>
              </a:spcBef>
              <a:spcAft>
                <a:spcPts val="0"/>
              </a:spcAft>
              <a:buNone/>
            </a:pPr>
            <a:r>
              <a:t/>
            </a:r>
            <a:endParaRPr sz="2000"/>
          </a:p>
        </p:txBody>
      </p:sp>
      <p:pic>
        <p:nvPicPr>
          <p:cNvPr id="121" name="Google Shape;121;p2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Definition of “Success” for This Lesson</a:t>
            </a:r>
            <a:endParaRPr/>
          </a:p>
        </p:txBody>
      </p:sp>
      <p:sp>
        <p:nvSpPr>
          <p:cNvPr id="127" name="Google Shape;127;p21"/>
          <p:cNvSpPr txBox="1"/>
          <p:nvPr/>
        </p:nvSpPr>
        <p:spPr>
          <a:xfrm>
            <a:off x="800900" y="1211750"/>
            <a:ext cx="73362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1. </a:t>
            </a:r>
            <a:r>
              <a:rPr lang="en" sz="1800">
                <a:solidFill>
                  <a:schemeClr val="lt1"/>
                </a:solidFill>
                <a:latin typeface="Proxima Nova"/>
                <a:ea typeface="Proxima Nova"/>
                <a:cs typeface="Proxima Nova"/>
                <a:sym typeface="Proxima Nova"/>
              </a:rPr>
              <a:t>Understand concept of hidden repression &amp; exploitation </a:t>
            </a:r>
            <a:endParaRPr sz="1800">
              <a:solidFill>
                <a:schemeClr val="lt2"/>
              </a:solidFill>
              <a:latin typeface="Proxima Nova"/>
              <a:ea typeface="Proxima Nova"/>
              <a:cs typeface="Proxima Nova"/>
              <a:sym typeface="Proxima Nova"/>
            </a:endParaRPr>
          </a:p>
        </p:txBody>
      </p:sp>
      <p:sp>
        <p:nvSpPr>
          <p:cNvPr id="128" name="Google Shape;128;p21"/>
          <p:cNvSpPr txBox="1"/>
          <p:nvPr/>
        </p:nvSpPr>
        <p:spPr>
          <a:xfrm>
            <a:off x="756925" y="1873963"/>
            <a:ext cx="663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2. </a:t>
            </a:r>
            <a:r>
              <a:rPr lang="en" sz="1800">
                <a:solidFill>
                  <a:schemeClr val="lt1"/>
                </a:solidFill>
                <a:latin typeface="Proxima Nova"/>
                <a:ea typeface="Proxima Nova"/>
                <a:cs typeface="Proxima Nova"/>
                <a:sym typeface="Proxima Nova"/>
              </a:rPr>
              <a:t>Acknowledge a global theft in money </a:t>
            </a:r>
            <a:endParaRPr sz="1800">
              <a:solidFill>
                <a:schemeClr val="lt1"/>
              </a:solidFill>
              <a:latin typeface="Proxima Nova"/>
              <a:ea typeface="Proxima Nova"/>
              <a:cs typeface="Proxima Nova"/>
              <a:sym typeface="Proxima Nova"/>
            </a:endParaRPr>
          </a:p>
        </p:txBody>
      </p:sp>
      <p:sp>
        <p:nvSpPr>
          <p:cNvPr id="129" name="Google Shape;129;p21"/>
          <p:cNvSpPr txBox="1"/>
          <p:nvPr/>
        </p:nvSpPr>
        <p:spPr>
          <a:xfrm>
            <a:off x="756150" y="2525700"/>
            <a:ext cx="763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3. </a:t>
            </a:r>
            <a:r>
              <a:rPr lang="en" sz="1800">
                <a:solidFill>
                  <a:schemeClr val="lt1"/>
                </a:solidFill>
                <a:latin typeface="Proxima Nova"/>
                <a:ea typeface="Proxima Nova"/>
                <a:cs typeface="Proxima Nova"/>
                <a:sym typeface="Proxima Nova"/>
              </a:rPr>
              <a:t>Consider checking if you have experienced financial privilege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Ultimate Bitcoin Use Cases with Alex Gladstein | What Bitcoin Did</a:t>
            </a:r>
            <a:endParaRPr/>
          </a:p>
        </p:txBody>
      </p:sp>
      <p:sp>
        <p:nvSpPr>
          <p:cNvPr id="135" name="Google Shape;135;p22"/>
          <p:cNvSpPr txBox="1"/>
          <p:nvPr/>
        </p:nvSpPr>
        <p:spPr>
          <a:xfrm>
            <a:off x="375000" y="1057550"/>
            <a:ext cx="82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A lot of </a:t>
            </a:r>
            <a:r>
              <a:rPr i="1" lang="en" sz="1800">
                <a:solidFill>
                  <a:schemeClr val="lt1"/>
                </a:solidFill>
                <a:latin typeface="Proxima Nova"/>
                <a:ea typeface="Proxima Nova"/>
                <a:cs typeface="Proxima Nova"/>
                <a:sym typeface="Proxima Nova"/>
              </a:rPr>
              <a:t>criticism</a:t>
            </a:r>
            <a:r>
              <a:rPr i="1" lang="en" sz="1800">
                <a:solidFill>
                  <a:schemeClr val="lt1"/>
                </a:solidFill>
                <a:latin typeface="Proxima Nova"/>
                <a:ea typeface="Proxima Nova"/>
                <a:cs typeface="Proxima Nova"/>
                <a:sym typeface="Proxima Nova"/>
              </a:rPr>
              <a:t> for bitcoin comes from people thinking that bitcoin has no use…</a:t>
            </a:r>
            <a:endParaRPr i="1" sz="1800">
              <a:solidFill>
                <a:schemeClr val="lt1"/>
              </a:solidFill>
              <a:latin typeface="Proxima Nova"/>
              <a:ea typeface="Proxima Nova"/>
              <a:cs typeface="Proxima Nova"/>
              <a:sym typeface="Proxima Nova"/>
            </a:endParaRPr>
          </a:p>
        </p:txBody>
      </p:sp>
      <p:pic>
        <p:nvPicPr>
          <p:cNvPr descr="SHOW NOTES:&#10;https://www.whatbitcoindid.com/podcast/the-ultimate-bitcoin-use-cases&#10;&#10;“If you take savings, commerce, freedom, and power, that’s the bedrock of civilization; so if you don’t have these things…you’re living in a very poor country.”&#10;— Alex Gladstein&#10;&#10;Alex Gladstein is Chief Strategy Officer at the Human Rights Foundation. In this interview, we discuss the ultimate bitcoin use cases. How it is used in commerce, for freedom and how it fundamentally changes energy systems.&#10;&#10;THIS EPISODE’S SPONSORS:&#10;IREN - https://www.iren.com/ &#10;Swan - https://swan.com/&#10;Ledger - https://www.ledger.com/&#10;CheatCode - https://www.cheatcode.co.uk/&#10;Casa - https://casa.io/ &#10;&#10;SUPPORT THE SHOW:&#10;→ Become a Patron: https://www.patreon.com/whatbitcoindid/&#10;→ Subscribe on iTunes&#10;→ Leave a review on iTunes&#10;→ Share the show out with your friends and family on social media&#10;→ Drop me a line on hello@whatbitcoindid.com&#10;→ https://www.whatbitcoindid.com/sponsorship/&#10;&#10;SUPPORT BITCOIN&#10;→ Donate to OpenSats https://opensats.org/ &#10;&#10;TIMESTAMPS:&#10;00:00:00 Introduction&#10;00:07:01 Commerce, freedom, &amp; power&#10;00:16:25 Commerce: broken money for billions&#10;00:33:02 Freedom: Bitcoin is bad for dictators&#10;00:45:09 Power: waste &amp; freedom &#10;01:02:11 ignorant naysayers&#10;&#10;WHERE TO FIND THE SHOW:&#10;→ My website: https://www.whatbitcoindid.com/podcast/&#10;→ Apple Podcasts: https://apple.co/2OOlzVV&#10;→ Spotify: https://spoti.fi/2ygc4W1&#10;→ YouTube: https://bit.ly/3nyi9Ez&#10;→ Rumble: http://tinyurl.com/rumblewbd &#10;→ Fountain: tinyurl.com/43rdtnyd&#10;&#10;LISTEN TO OLD EPISODES:&#10;→ By guest: https://www.whatbitcoindid.com/guests/&#10;→ By topic: https://www.whatbitcoindid.com/topics/&#10;→ Transcriptions: https://www.whatbitcoindid.com/transcriptions/&#10;&#10;WHERE TO FOLLOW ME:&#10;→ Twitter: https://twitter.com/whatbitcoindid/&#10;→ Medium: https://medium.com/@whatbitcoindid/&#10;→ Instagram: http://instagram.com/whatbitcoindid/&#10;→ Facebook: https://www.facebook.com/whatbitcoindid/&#10;→ YouTube: https://www.youtube.com/whatbitcoindidpodcast&#10;→ Rumble: http://tinyurl.com/rumblewbd&#10;→ Website: https://www.whatbitcoindid.com/&#10;→ Email list: https://www.whatbitcoindid.com/subscribe/&#10;&#10;LEARN ABOUT BITCOIN:&#10;→ Step by Step Guide: https://www.whatbitcoindid.com/learn-bitcoin&#10;→ Training: https://www.whatbitcoindid.com/training/&#10;→ Resources: https://www.whatbitcoindid.com/resources/&#10;&#10;#Bitcoin #Finance #Economics" id="136" name="Google Shape;136;p22" title="The Ultimate Bitcoin Use Cases with Alex Gladstein">
            <a:hlinkClick r:id="rId3"/>
          </p:cNvPr>
          <p:cNvPicPr preferRelativeResize="0"/>
          <p:nvPr/>
        </p:nvPicPr>
        <p:blipFill>
          <a:blip r:embed="rId4">
            <a:alphaModFix/>
          </a:blip>
          <a:stretch>
            <a:fillRect/>
          </a:stretch>
        </p:blipFill>
        <p:spPr>
          <a:xfrm>
            <a:off x="2125425" y="1834950"/>
            <a:ext cx="4915575" cy="276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descr="#HumanRightsFoundation &#10;&#10;00:00:00 - Ukraine Stands on the Brink of Disaster&#10;00:00:39 - Freedom of Choice in the Face of Injustice&#10;00:01:19 - Human Rights Activists and Dissidents Uniting&#10;00:01:48 - The Power of Connection&#10;00:01:58 - Seeking advice from those who have been through hardships&#10;00:02:14 - HAC North Korea: Fighting for Human Rights&#10;00:02:37 - Promoting Freedom in Society&#10;00:02:53 - The Future of Compassion and Creativity&#10;00:03:14 - HRF as a Support System&#10;00:03:23 - Connecting People Around the World&#10;00:03:36 - Choosing Empathy and Compassio&#10;&#10;Learn more about our work at the Human Rights Foundation!&#10;Website: https://hrf.org&#10;X (formerly known as Twitter): https://twitter.com/HRF&#10;Instagram: https://www.instagram.com/hrf/&#10;LinkedIn: https://www.linkedin.com/company/hrf/&#10;Subscribe to HRF’s Substack: https://humanrightsfoundation.substack.com/&#10;&#10;Join us in promoting freedom where it’s most at risk!&#10;Donate today: https://hrf.org/?form=donate&#10;&#10;#FreedomOfSpeech #HumanRights #Activists #Dissidents #Oppression #Injustice #DisplacedPeople #Peace #Dignity #SharedStruggles #HumanRightsFoundation #HRF #HackNorthKorea #AirdroppingKnowledge #Creativity #Tools #SocialImpact #Empathy #Compassion #Anxiety #Despair #GlobalCommunity #FreedomFighters #StandUpAgainstInjustice #ChooseSides #DailyChoice #FutureOfFreedom #SupportingFreedom #ConnectingActivists #MovingPowersToAct #EmpathyToCompassion #KnittingTogether #PowerOfChoice" id="142" name="Google Shape;142;p23" title="About HRF">
            <a:hlinkClick r:id="rId3"/>
          </p:cNvPr>
          <p:cNvPicPr preferRelativeResize="0"/>
          <p:nvPr/>
        </p:nvPicPr>
        <p:blipFill>
          <a:blip r:embed="rId4">
            <a:alphaModFix/>
          </a:blip>
          <a:stretch>
            <a:fillRect/>
          </a:stretch>
        </p:blipFill>
        <p:spPr>
          <a:xfrm>
            <a:off x="992413" y="1002775"/>
            <a:ext cx="7038275" cy="3959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descr="In an era where governments wield financial control as a weapon against dissidents and activists, Bitcoin emerges as a powerful tool for preserving freedom and fueling protest movements. This eye-opening episode delves into the profound impact of cryptocurrency on political activism, exploring how it empowers individuals and groups to bypass censorship and regain control over their finances.&#10;&#10;#humanrightsfoundation  &#10;&#10;Chapters:&#10;00:00:00 - The Relationship Between Financial and Political Freedom&#10;00:00:09 - Financial Freedom and Banking Access&#10;00:00:22 - Money as a Weapon&#10;00:00:34 - The Economic Crisis in Argentina&#10;00:00:45 - Restoring Economic Control for Freedom&#10;00:00:57 - Fundraising for the Protest Movement&#10;00:01:06 - Bitcoin Fundraiser Success&#10;00:01:14 - Challenges faced by women in society&#10;00:01:27 - The Bitcoin Development Fund&#10;00:01:37 - Empowering Developers and Activists&#10;00:01:48 - Freedom and Financial Security&#10;&#10;&#10;Learn more about our work at the Human Rights Foundation!&#10;Website: https://hrf.org&#10;X (formerly known as Twitter): https://twitter.com/HRF&#10;Instagram: https://www.instagram.com/hrf/&#10;LinkedIn: https://www.linkedin.com/company/hrf/&#10;Subscribe to HRF’s Substack: https://humanrightsfoundation.substack.com/&#10;&#10;Join us in promoting freedom where it’s most at risk!&#10;Donate today: https://hrf.org/?form=donate&#10;&#10;#Bitcoin #Cryptocurrency #FinancialFreedom #PoliticalActivism #ProtestMovements #Dissidents #CensorshipResistance #DecentralizedFinance #FinancialAutonomy #AuthoritarianControl #FreedomOfSpeech #UkraineProtests #ArgentinaEconomicCrisis #BitcoinFundraising #DigitalCurrencies #MonetaryFreedom #EconomicLiberty #FinancialCensorship #FinancialAutonomy #FinancialEmpowerment #FinancialInclusion #FinancialSovereignty #FinancialRevolution #BitcoinActivism #CryptocurrencyActivism #DecentralizedProtest #DecentralizedActivism #FinancialCivilDisobedience #FinancialResistance #MoneyAsAWeapon #FundingRevolutions #BitcoinForWomen #WomenInCrypto" id="148" name="Google Shape;148;p24" title="Financial Freedom">
            <a:hlinkClick r:id="rId3"/>
          </p:cNvPr>
          <p:cNvPicPr preferRelativeResize="0"/>
          <p:nvPr/>
        </p:nvPicPr>
        <p:blipFill>
          <a:blip r:embed="rId4">
            <a:alphaModFix/>
          </a:blip>
          <a:stretch>
            <a:fillRect/>
          </a:stretch>
        </p:blipFill>
        <p:spPr>
          <a:xfrm>
            <a:off x="1255300" y="1098025"/>
            <a:ext cx="6512500" cy="3663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Facts</a:t>
            </a:r>
            <a:endParaRPr/>
          </a:p>
        </p:txBody>
      </p:sp>
      <p:sp>
        <p:nvSpPr>
          <p:cNvPr id="154" name="Google Shape;154;p25"/>
          <p:cNvSpPr txBox="1"/>
          <p:nvPr/>
        </p:nvSpPr>
        <p:spPr>
          <a:xfrm>
            <a:off x="279200" y="965125"/>
            <a:ext cx="8530800" cy="23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Barlow"/>
                <a:ea typeface="Barlow"/>
                <a:cs typeface="Barlow"/>
                <a:sym typeface="Barlow"/>
              </a:rPr>
              <a:t>13%</a:t>
            </a:r>
            <a:r>
              <a:rPr lang="en" sz="1800">
                <a:solidFill>
                  <a:schemeClr val="lt1"/>
                </a:solidFill>
                <a:latin typeface="Barlow"/>
                <a:ea typeface="Barlow"/>
                <a:cs typeface="Barlow"/>
                <a:sym typeface="Barlow"/>
              </a:rPr>
              <a:t> of the planet’s population is born into the dollar (US, AUS, CAN), euro, yen, pound, or Swiss franc</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a:p>
            <a:pPr indent="0" lvl="0" marL="0" rtl="0" algn="l">
              <a:spcBef>
                <a:spcPts val="0"/>
              </a:spcBef>
              <a:spcAft>
                <a:spcPts val="0"/>
              </a:spcAft>
              <a:buNone/>
            </a:pPr>
            <a:r>
              <a:rPr b="1" lang="en" sz="1800">
                <a:solidFill>
                  <a:schemeClr val="lt1"/>
                </a:solidFill>
                <a:latin typeface="Barlow"/>
                <a:ea typeface="Barlow"/>
                <a:cs typeface="Barlow"/>
                <a:sym typeface="Barlow"/>
              </a:rPr>
              <a:t>87%</a:t>
            </a:r>
            <a:r>
              <a:rPr lang="en" sz="1800">
                <a:solidFill>
                  <a:schemeClr val="lt1"/>
                </a:solidFill>
                <a:latin typeface="Barlow"/>
                <a:ea typeface="Barlow"/>
                <a:cs typeface="Barlow"/>
                <a:sym typeface="Barlow"/>
              </a:rPr>
              <a:t> are born into autocracy or considerably less trustworthy currencies. </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a:p>
            <a:pPr indent="0" lvl="0" marL="0" rtl="0" algn="l">
              <a:spcBef>
                <a:spcPts val="0"/>
              </a:spcBef>
              <a:spcAft>
                <a:spcPts val="0"/>
              </a:spcAft>
              <a:buNone/>
            </a:pPr>
            <a:r>
              <a:rPr b="1" lang="en" sz="1800">
                <a:solidFill>
                  <a:schemeClr val="lt1"/>
                </a:solidFill>
                <a:latin typeface="Barlow"/>
                <a:ea typeface="Barlow"/>
                <a:cs typeface="Barlow"/>
                <a:sym typeface="Barlow"/>
              </a:rPr>
              <a:t>4.3 billion</a:t>
            </a:r>
            <a:r>
              <a:rPr lang="en" sz="1800">
                <a:solidFill>
                  <a:schemeClr val="lt1"/>
                </a:solidFill>
                <a:latin typeface="Barlow"/>
                <a:ea typeface="Barlow"/>
                <a:cs typeface="Barlow"/>
                <a:sym typeface="Barlow"/>
              </a:rPr>
              <a:t> people live under authoritarianism (Dec ‘21)</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a:p>
            <a:pPr indent="0" lvl="0" marL="0" rtl="0" algn="l">
              <a:spcBef>
                <a:spcPts val="0"/>
              </a:spcBef>
              <a:spcAft>
                <a:spcPts val="0"/>
              </a:spcAft>
              <a:buNone/>
            </a:pPr>
            <a:r>
              <a:rPr b="1" lang="en" sz="1800">
                <a:solidFill>
                  <a:schemeClr val="lt1"/>
                </a:solidFill>
                <a:latin typeface="Barlow"/>
                <a:ea typeface="Barlow"/>
                <a:cs typeface="Barlow"/>
                <a:sym typeface="Barlow"/>
              </a:rPr>
              <a:t>1.6 billion</a:t>
            </a:r>
            <a:r>
              <a:rPr lang="en" sz="1800">
                <a:solidFill>
                  <a:schemeClr val="lt1"/>
                </a:solidFill>
                <a:latin typeface="Barlow"/>
                <a:ea typeface="Barlow"/>
                <a:cs typeface="Barlow"/>
                <a:sym typeface="Barlow"/>
              </a:rPr>
              <a:t> people live under double-or-triple-digit inflation (Dec ‘21) </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1"/>
              </a:solidFill>
              <a:latin typeface="Barlow"/>
              <a:ea typeface="Barlow"/>
              <a:cs typeface="Barlow"/>
              <a:sym typeface="Barlow"/>
            </a:endParaRPr>
          </a:p>
        </p:txBody>
      </p:sp>
      <p:cxnSp>
        <p:nvCxnSpPr>
          <p:cNvPr id="155" name="Google Shape;155;p25"/>
          <p:cNvCxnSpPr/>
          <p:nvPr/>
        </p:nvCxnSpPr>
        <p:spPr>
          <a:xfrm flipH="1" rot="10800000">
            <a:off x="1521050" y="3553950"/>
            <a:ext cx="6047100" cy="19800"/>
          </a:xfrm>
          <a:prstGeom prst="straightConnector1">
            <a:avLst/>
          </a:prstGeom>
          <a:noFill/>
          <a:ln cap="flat" cmpd="sng" w="9525">
            <a:solidFill>
              <a:schemeClr val="dk2"/>
            </a:solidFill>
            <a:prstDash val="solid"/>
            <a:round/>
            <a:headEnd len="med" w="med" type="none"/>
            <a:tailEnd len="med" w="med" type="none"/>
          </a:ln>
        </p:spPr>
      </p:cxnSp>
      <p:sp>
        <p:nvSpPr>
          <p:cNvPr id="156" name="Google Shape;156;p25"/>
          <p:cNvSpPr txBox="1"/>
          <p:nvPr/>
        </p:nvSpPr>
        <p:spPr>
          <a:xfrm>
            <a:off x="941850" y="3812075"/>
            <a:ext cx="7139400" cy="11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800">
                <a:solidFill>
                  <a:schemeClr val="lt1"/>
                </a:solidFill>
                <a:latin typeface="Barlow"/>
                <a:ea typeface="Barlow"/>
                <a:cs typeface="Barlow"/>
                <a:sym typeface="Barlow"/>
              </a:rPr>
              <a:t>“What would the world look like with an open, neutral, predictable base money instead of one controlled and manipulated by one government representing 4% of the planet’s population? </a:t>
            </a:r>
            <a:endParaRPr b="1" i="1" sz="1800">
              <a:solidFill>
                <a:schemeClr val="lt1"/>
              </a:solidFill>
              <a:latin typeface="Barlow"/>
              <a:ea typeface="Barlow"/>
              <a:cs typeface="Barlow"/>
              <a:sym typeface="Barlow"/>
            </a:endParaRPr>
          </a:p>
          <a:p>
            <a:pPr indent="0" lvl="0" marL="0" rtl="0" algn="l">
              <a:spcBef>
                <a:spcPts val="0"/>
              </a:spcBef>
              <a:spcAft>
                <a:spcPts val="0"/>
              </a:spcAft>
              <a:buNone/>
            </a:pPr>
            <a:r>
              <a:t/>
            </a:r>
            <a:endParaRPr sz="1800">
              <a:solidFill>
                <a:schemeClr val="lt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Keep in Mind: </a:t>
            </a:r>
            <a:r>
              <a:rPr lang="en"/>
              <a:t>The Global Theft in Money </a:t>
            </a:r>
            <a:endParaRPr/>
          </a:p>
        </p:txBody>
      </p:sp>
      <p:sp>
        <p:nvSpPr>
          <p:cNvPr id="162" name="Google Shape;162;p26"/>
          <p:cNvSpPr txBox="1"/>
          <p:nvPr/>
        </p:nvSpPr>
        <p:spPr>
          <a:xfrm>
            <a:off x="595200" y="1168975"/>
            <a:ext cx="7953600" cy="302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Barlow"/>
                <a:ea typeface="Barlow"/>
                <a:cs typeface="Barlow"/>
                <a:sym typeface="Barlow"/>
              </a:rPr>
              <a:t>“A systemic problem is difficult to see from within the system, so it is much easier to believe a lie: That </a:t>
            </a:r>
            <a:r>
              <a:rPr b="1" i="1" lang="en" sz="1900">
                <a:solidFill>
                  <a:schemeClr val="lt1"/>
                </a:solidFill>
                <a:latin typeface="Barlow"/>
                <a:ea typeface="Barlow"/>
                <a:cs typeface="Barlow"/>
                <a:sym typeface="Barlow"/>
              </a:rPr>
              <a:t>inflation (or manipulation of money) is somehow required to live in a productive society.</a:t>
            </a:r>
            <a:r>
              <a:rPr lang="en" sz="1900">
                <a:solidFill>
                  <a:schemeClr val="lt1"/>
                </a:solidFill>
                <a:latin typeface="Barlow"/>
                <a:ea typeface="Barlow"/>
                <a:cs typeface="Barlow"/>
                <a:sym typeface="Barlow"/>
              </a:rPr>
              <a:t> The lie has become so entrenched in society that we take the lie at face value, </a:t>
            </a:r>
            <a:r>
              <a:rPr b="1" i="1" lang="en" sz="1900">
                <a:solidFill>
                  <a:srgbClr val="CB222D"/>
                </a:solidFill>
                <a:latin typeface="Barlow"/>
                <a:ea typeface="Barlow"/>
                <a:cs typeface="Barlow"/>
                <a:sym typeface="Barlow"/>
              </a:rPr>
              <a:t>without asking who wins and who loses from the global theft in money</a:t>
            </a:r>
            <a:r>
              <a:rPr lang="en" sz="1900">
                <a:solidFill>
                  <a:schemeClr val="lt1"/>
                </a:solidFill>
                <a:latin typeface="Barlow"/>
                <a:ea typeface="Barlow"/>
                <a:cs typeface="Barlow"/>
                <a:sym typeface="Barlow"/>
              </a:rPr>
              <a:t>. </a:t>
            </a:r>
            <a:endParaRPr sz="1900">
              <a:solidFill>
                <a:schemeClr val="lt1"/>
              </a:solidFill>
              <a:latin typeface="Barlow"/>
              <a:ea typeface="Barlow"/>
              <a:cs typeface="Barlow"/>
              <a:sym typeface="Barlow"/>
            </a:endParaRPr>
          </a:p>
          <a:p>
            <a:pPr indent="0" lvl="0" marL="0" rtl="0" algn="ctr">
              <a:spcBef>
                <a:spcPts val="0"/>
              </a:spcBef>
              <a:spcAft>
                <a:spcPts val="0"/>
              </a:spcAft>
              <a:buNone/>
            </a:pPr>
            <a:r>
              <a:t/>
            </a:r>
            <a:endParaRPr sz="1900">
              <a:solidFill>
                <a:schemeClr val="lt1"/>
              </a:solidFill>
              <a:latin typeface="Barlow"/>
              <a:ea typeface="Barlow"/>
              <a:cs typeface="Barlow"/>
              <a:sym typeface="Barlow"/>
            </a:endParaRPr>
          </a:p>
          <a:p>
            <a:pPr indent="0" lvl="0" marL="0" rtl="0" algn="ctr">
              <a:spcBef>
                <a:spcPts val="0"/>
              </a:spcBef>
              <a:spcAft>
                <a:spcPts val="0"/>
              </a:spcAft>
              <a:buNone/>
            </a:pPr>
            <a:r>
              <a:rPr lang="en" sz="1900">
                <a:solidFill>
                  <a:schemeClr val="lt1"/>
                </a:solidFill>
                <a:latin typeface="Barlow"/>
                <a:ea typeface="Barlow"/>
                <a:cs typeface="Barlow"/>
                <a:sym typeface="Barlow"/>
              </a:rPr>
              <a:t>The outcome is so surreal that </a:t>
            </a:r>
            <a:r>
              <a:rPr b="1" i="1" lang="en" sz="1900">
                <a:solidFill>
                  <a:schemeClr val="lt1"/>
                </a:solidFill>
                <a:latin typeface="Barlow"/>
                <a:ea typeface="Barlow"/>
                <a:cs typeface="Barlow"/>
                <a:sym typeface="Barlow"/>
              </a:rPr>
              <a:t>we’ve created a world that requires people to literally gamble on where to place their money to avoid it losing its purchasing power</a:t>
            </a:r>
            <a:r>
              <a:rPr lang="en" sz="1900">
                <a:solidFill>
                  <a:schemeClr val="lt1"/>
                </a:solidFill>
                <a:latin typeface="Barlow"/>
                <a:ea typeface="Barlow"/>
                <a:cs typeface="Barlow"/>
                <a:sym typeface="Barlow"/>
              </a:rPr>
              <a:t>, and then we wonder why our world looks the way it does.” </a:t>
            </a:r>
            <a:endParaRPr sz="1900">
              <a:solidFill>
                <a:schemeClr val="lt1"/>
              </a:solidFill>
              <a:latin typeface="Barlow"/>
              <a:ea typeface="Barlow"/>
              <a:cs typeface="Barlow"/>
              <a:sym typeface="Barlow"/>
            </a:endParaRPr>
          </a:p>
          <a:p>
            <a:pPr indent="0" lvl="0" marL="0" rtl="0" algn="ctr">
              <a:spcBef>
                <a:spcPts val="0"/>
              </a:spcBef>
              <a:spcAft>
                <a:spcPts val="0"/>
              </a:spcAft>
              <a:buNone/>
            </a:pPr>
            <a:r>
              <a:t/>
            </a:r>
            <a:endParaRPr sz="1900">
              <a:solidFill>
                <a:schemeClr val="lt1"/>
              </a:solidFill>
              <a:latin typeface="Barlow"/>
              <a:ea typeface="Barlow"/>
              <a:cs typeface="Barlow"/>
              <a:sym typeface="Barlow"/>
            </a:endParaRPr>
          </a:p>
          <a:p>
            <a:pPr indent="0" lvl="0" marL="0" rtl="0" algn="ctr">
              <a:spcBef>
                <a:spcPts val="0"/>
              </a:spcBef>
              <a:spcAft>
                <a:spcPts val="0"/>
              </a:spcAft>
              <a:buNone/>
            </a:pPr>
            <a:r>
              <a:rPr lang="en" sz="1900">
                <a:solidFill>
                  <a:schemeClr val="lt1"/>
                </a:solidFill>
                <a:latin typeface="Barlow"/>
                <a:ea typeface="Barlow"/>
                <a:cs typeface="Barlow"/>
                <a:sym typeface="Barlow"/>
              </a:rPr>
              <a:t>Jeff Booth in </a:t>
            </a:r>
            <a:r>
              <a:rPr i="1" lang="en" sz="1900">
                <a:solidFill>
                  <a:schemeClr val="lt1"/>
                </a:solidFill>
                <a:latin typeface="Barlow"/>
                <a:ea typeface="Barlow"/>
                <a:cs typeface="Barlow"/>
                <a:sym typeface="Barlow"/>
              </a:rPr>
              <a:t>Hidden Repression</a:t>
            </a:r>
            <a:endParaRPr i="1" sz="1900">
              <a:solidFill>
                <a:schemeClr val="lt1"/>
              </a:solidFill>
              <a:latin typeface="Barlow"/>
              <a:ea typeface="Barlow"/>
              <a:cs typeface="Barlow"/>
              <a:sym typeface="Barlo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Jeff Booth: The Future is Watching | Bitcoin Policy Summit 2024</a:t>
            </a:r>
            <a:endParaRPr/>
          </a:p>
        </p:txBody>
      </p:sp>
      <p:pic>
        <p:nvPicPr>
          <p:cNvPr descr="Bitcoin Policy Summit 2024 | April 9th 8:30am EDT | Washington D.C.&#10;&#10;0:00:00 Setup (off air)&#10;0:26:50 Morning Session Introduction&#10;4:33:33 Afternoon Session Introduction&#10;&#10;The Bitcoin Policy Summit convenes academics, policymakers, activists, and industry leaders to share insights and explore critical questions, including:&#10;* Where are Bitcoin and stablecoins owned and used around the world? Who's using them and why?&#10;* What’s unique about Bitcoin? Why did major financial institutions create Bitcoin investment products?&#10;* What are the geopolitical, climate, and economic ramifications of Bitcoin and the proliferation of digital money?  &#10;* How much and what kinds of energy does Bitcoin mining use? Can mining contribute to the growth of renewable energy?&#10;* How do we safeguard civil liberties as payments increasingly happen digitally through intermediaries? &#10;* How are digital assets regulated now? What is the critical proposed legislation, and what should policy look like? &#10;&#10;Join us for a day of bipartisan policy discussions as we parse fact from fiction around Bitcoin.&#10;&#10;Cynthia Lummis&#10;U.S. Senator (R-WY)&#10;&#10;Kirsten Gillibrand&#10;U.S. Senator (D-NY)&#10;&#10;Wiley Nickel&#10;U.S. Representative (D-NC-13)&#10;&#10;Patrick McHenry&#10;U.S. Representative (R-NC-10)&#10;&#10;Marsha Blackburn&#10;U.S. Senator (R-TN)&#10;&#10;Roya Mahboob&#10;Founder, Citadel Software&#10;&#10;Lauren Boyd&#10;Geothermal Technologies Office Director, U.S. Department of Energy&#10;&#10;John Belizaire&#10;CEO, Soluna Holdings&#10;&#10;Margot Paez&#10;Ph.D. Candidate, Georgia Institute of Technology&#10;&#10;Chastity Murphy&#10;Senior Advisor to the Assistant Secretary of Financial Institutions, U.S. Treasury&#10;&#10;Félix Maradiaga&#10;Human Rights Defender &amp; 2024 Nobel Peace Prize Nominee&#10;&#10;Paul Thanos&#10;Director, Office of Finance and Professional Services, U.S. Department of Commerce&#10;&#10;Tom Emmer&#10;U.S. Congressman (R-MN-6)&#10;&#10;Janessa Lopez&#10;Digital Assets, AI &amp; Emerging Tech Policy Lead, Block&#10;&#10;Fred Thiel&#10;CEO, Marathon Digital Holdings&#10;&#10;Arry Yu&#10;Executive Director, US Blockchain Coalition&#10;&#10;Andrew Bailey&#10;Associate Professor, Yale-NUS College&#10;&#10;Ken Egan&#10;Head of Operations, Blocktrace&#10;&#10;Matthew Pines&#10;Director, Security Advisory at Sentinel One&#10;&#10;Mike Brock&#10;CEO, TBD&#10;&#10;Wolf Von Laer&#10;CEO, Students for Liberty&#10;&#10;Charlene Fadirepo&#10;CEO, Mango Digital Strategies&#10;&#10;James Giannantonio&#10;ESG Managing Consultant, ALL4&#10;&#10;Josh Hendrickson&#10;Associate Professor and Chair, Department of Economics, Ole Miss&#10;&#10;Jake Langenkamp&#10;CEO, Bridger Solutions&#10;&#10;Peter Van Valkenburgh&#10;Director of Research, Coin Center&#10;&#10;Tom McDivitt&#10;CRO, Government Solutions, Elliptic&#10;&#10;Bradley Rettler&#10;Professor, University of Wyoming&#10;&#10;Jason Les&#10;CEO, Riot Platforms&#10;&#10;Brian Morgenstern&#10;Head of Public Policy, Riot Platforms&#10;&#10;Avik Roy&#10;President, Foundation for Research On Equal Opprotunity&#10;&#10;Alex Thorn&#10;Head of Research, Galaxy&#10;&#10;Jerry Brito&#10;Executive Director, Coin Center&#10;&#10;Alyse Killeen&#10;Founder and Managing Partner, Stillmark&#10;&#10;Craig Warmke&#10;Associate Professor, Northern Illinois University&#10;&#10;Jason Brett&#10;Former U.S. Capital Markets Regulator&#10;&#10;Yael Ossowski&#10;Deputy Director, Consumer Choice Center&#10;&#10;Lyudmyla Kozlovska&#10;President, Open Dialogue Foundation&#10;&#10;Troy Cross&#10;Professor, Reed College&#10;&#10;C. Wallace DeWitt&#10;Senior Counsel, Allen &amp; Overy LLP&#10;&#10;Brian Consolvo&#10;Managing Director, KPMG&#10;&#10;Fadi Elsalameen&#10;Adjunct Senior Fellow, American Security Project&#10;&#10;Jim McDonald&#10;Director of Enviornmental Impact, Miratech&#10;&#10;Roger Huang&#10;Author &amp; Activist&#10;&#10;Sam Lyman&#10;Director of Public Policy, Riot Platforms&#10;&#10;Tyler Williams&#10;Head of Legislative &amp; Regulatory Affairs, Galaxy&#10;&#10;Arsh Molu&#10;Financial Freedom Associate, Human Rights Foundation&#10;&#10;Shailee Adinolfi&#10;Business Development Lead, Trust Machines&#10;&#10;Ben Gagnon&#10;Chief Mining Officer, Bitfarms&#10;&#10;Meredith Fitzpatrick&#10;Director of Cryptocurrency Investigations and Compliance, Forensic Risk Alliance&#10;&#10;Anna Chekhovich&#10;Financial Director, Anti-Corruption Foundation&#10;&#10;Susan Joseph&#10;Executive Director, Cornell Fintech&#10;&#10;Seth Hertlein&#10;VP and Global Head of Policy, Ledger&#10;&#10;Michael Enright&#10;SVP of Government Affairs, Terawulf&#10;&#10;Jorge Jraissati&#10;President, Organization for Economic Inclusion&#10;&#10;Zack Shapiro&#10;Managing Partner, Rains LLP&#10;&#10;Natalie Smolenski&#10;Executive Director of the Texas Bitcoin Foundation&#10;&#10;Jeff Booth&#10;Author, The Price of Tomorrow&#10;&#10;Sharon Sadler&#10;Sr. Managing Consulting - Data Center Permitting Strategy Lead, ALL4&#10;&#10;Kyle Schneps&#10;VP of Public Policy, Foundry&#10;&#10;Jayson Browder&#10;Head of Public Policy, Marathon Digital Holdings&#10;&#10;----------------------------------------------------------------&#10;&#10;&#10;IMPORTANT DISCLAIMER&#10;&quot;All views expressed by hosts, guests, and interviewees of &quot;Bitcoin Magazine Live&quot; are opinion only and do not reflect the views of Bitcoin Magazine, its ownership, management, any of their associated or affiliated entities, or their inhouse or third party service providers and platforms. This program is informational only, and its content does not contain or construe any offers to buy, sell, or hold any bitcoin, other cryptocurrency, or any securities or other financial instruments in the United States." id="168" name="Google Shape;168;p27" title="Bitcoin Policy Summit 2024">
            <a:hlinkClick r:id="rId3"/>
          </p:cNvPr>
          <p:cNvPicPr preferRelativeResize="0"/>
          <p:nvPr/>
        </p:nvPicPr>
        <p:blipFill>
          <a:blip r:embed="rId4">
            <a:alphaModFix/>
          </a:blip>
          <a:stretch>
            <a:fillRect/>
          </a:stretch>
        </p:blipFill>
        <p:spPr>
          <a:xfrm>
            <a:off x="1270575" y="1125250"/>
            <a:ext cx="6602850" cy="371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Cantillon Effect | River</a:t>
            </a:r>
            <a:endParaRPr/>
          </a:p>
        </p:txBody>
      </p:sp>
      <p:sp>
        <p:nvSpPr>
          <p:cNvPr id="174" name="Google Shape;174;p28"/>
          <p:cNvSpPr txBox="1"/>
          <p:nvPr/>
        </p:nvSpPr>
        <p:spPr>
          <a:xfrm>
            <a:off x="399125" y="961550"/>
            <a:ext cx="7705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The Cantillon Effect describes how the rich get richer and the poor stay poor, as different classes of society benefit from money printing at different rates. The closer you are to the source of money creation, the more you benefit &amp; vice versa.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p:txBody>
      </p:sp>
      <p:pic>
        <p:nvPicPr>
          <p:cNvPr descr="The Cantillon Effect describes how the rich get richer and the poor stay poor, as different classes of society benefit from money printing at different rates.&#10;&#10;Learn more: https://river.com/learn/terms/c/cantillon-effect/" id="175" name="Google Shape;175;p28" title="What is the Cantillon Effect?">
            <a:hlinkClick r:id="rId3"/>
          </p:cNvPr>
          <p:cNvPicPr preferRelativeResize="0"/>
          <p:nvPr/>
        </p:nvPicPr>
        <p:blipFill>
          <a:blip r:embed="rId4">
            <a:alphaModFix/>
          </a:blip>
          <a:stretch>
            <a:fillRect/>
          </a:stretch>
        </p:blipFill>
        <p:spPr>
          <a:xfrm>
            <a:off x="1922575" y="1937925"/>
            <a:ext cx="5339250" cy="300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Why Bitcoin Matters for Human Rights in 2 Minutes</a:t>
            </a:r>
            <a:endParaRPr/>
          </a:p>
        </p:txBody>
      </p:sp>
      <p:pic>
        <p:nvPicPr>
          <p:cNvPr descr="A short description of why Bitcoin matters for human rights, narrated by HRF's Alex Gladstein. #HumanRightsFoundation &#10;&#10;Chapters:&#10;00:00:00 - Bitcoin Matters for Human Rights&#10;00:00:13 - The implications of a cashless society&#10;00:00:29 - The Trade-off of Privacy for Comfort and Convenience&#10;00:00:43 - Privacy in Cash Transactions&#10;00:00:56 - Revealing Personal Information and Control&#10;00:01:09 - The revolutionary potential of a peer-to-peer electronic cash system&#10;00:01:20 - Payment Processing Without Intermediaries&#10;00:01:32 - Bitcoin as the People's Money&#10;00:01:46 - The Impact of Bitcoin on Global Economy&#10;00:01:56 - The Importance of Bitcoin for Human Rights&#10;&#10;Learn more about our work at the Human Rights Foundation!&#10;Website: https://hrf.org&#10;X (formerly known as Twitter): https://twitter.com/HRF&#10;Instagram: https://www.instagram.com/hrf/&#10;LinkedIn: https://www.linkedin.com/company/hrf/&#10;Subscribe to HRF’s Substack: https://humanrightsfoundation.substack.com/&#10;&#10;Join us in promoting freedom where it’s most at risk!&#10;Donate today: https://hrf.org/?form=donate&#10;&#10;#Bitcoin #HumanRights #CashlessSociety #FinancialPrivacy #DigitalTransactions #StateControl #CorporateControl #Censorship #Surveillance #SocialEngineering #PeertoPeer #ElectronicCash #AlternativeCurrency #FinancialAutonomy #DigitalAge #FutureOfMoney #Accessibility #Decentralization #Adoption #Empowerment #CryptoRevolution #MoneyEvolution #DigitalFreedom #FinancialInclusion #EconomicLiberation #PrivacyMatters #ResistControl #EmbraceBitcoin #PowerToThePeople #ProtectRights" id="181" name="Google Shape;181;p29" title="Why Bitcoin matters for human rights, in two minutes">
            <a:hlinkClick r:id="rId3"/>
          </p:cNvPr>
          <p:cNvPicPr preferRelativeResize="0"/>
          <p:nvPr/>
        </p:nvPicPr>
        <p:blipFill>
          <a:blip r:embed="rId4">
            <a:alphaModFix/>
          </a:blip>
          <a:stretch>
            <a:fillRect/>
          </a:stretch>
        </p:blipFill>
        <p:spPr>
          <a:xfrm>
            <a:off x="1200175" y="961950"/>
            <a:ext cx="6915800" cy="389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Book Recommendations</a:t>
            </a:r>
            <a:endParaRPr/>
          </a:p>
        </p:txBody>
      </p:sp>
      <p:pic>
        <p:nvPicPr>
          <p:cNvPr id="187" name="Google Shape;187;p30"/>
          <p:cNvPicPr preferRelativeResize="0"/>
          <p:nvPr/>
        </p:nvPicPr>
        <p:blipFill>
          <a:blip r:embed="rId3">
            <a:alphaModFix/>
          </a:blip>
          <a:stretch>
            <a:fillRect/>
          </a:stretch>
        </p:blipFill>
        <p:spPr>
          <a:xfrm>
            <a:off x="1642051" y="1046550"/>
            <a:ext cx="2485725" cy="3890126"/>
          </a:xfrm>
          <a:prstGeom prst="rect">
            <a:avLst/>
          </a:prstGeom>
          <a:noFill/>
          <a:ln>
            <a:noFill/>
          </a:ln>
        </p:spPr>
      </p:pic>
      <p:pic>
        <p:nvPicPr>
          <p:cNvPr id="188" name="Google Shape;188;p30"/>
          <p:cNvPicPr preferRelativeResize="0"/>
          <p:nvPr/>
        </p:nvPicPr>
        <p:blipFill>
          <a:blip r:embed="rId4">
            <a:alphaModFix/>
          </a:blip>
          <a:stretch>
            <a:fillRect/>
          </a:stretch>
        </p:blipFill>
        <p:spPr>
          <a:xfrm>
            <a:off x="4890450" y="1046550"/>
            <a:ext cx="2867100" cy="3890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Overview: </a:t>
            </a:r>
            <a:r>
              <a:rPr lang="en"/>
              <a:t>World Bank and International Monetary Fund</a:t>
            </a:r>
            <a:endParaRPr/>
          </a:p>
        </p:txBody>
      </p:sp>
      <p:sp>
        <p:nvSpPr>
          <p:cNvPr id="194" name="Google Shape;194;p31"/>
          <p:cNvSpPr txBox="1"/>
          <p:nvPr/>
        </p:nvSpPr>
        <p:spPr>
          <a:xfrm>
            <a:off x="494575" y="859550"/>
            <a:ext cx="8355000" cy="3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Barlow"/>
                <a:ea typeface="Barlow"/>
                <a:cs typeface="Barlow"/>
                <a:sym typeface="Barlow"/>
              </a:rPr>
              <a:t>World Bank (WB):</a:t>
            </a:r>
            <a:r>
              <a:rPr lang="en" sz="1300">
                <a:solidFill>
                  <a:schemeClr val="lt1"/>
                </a:solidFill>
                <a:latin typeface="Barlow"/>
                <a:ea typeface="Barlow"/>
                <a:cs typeface="Barlow"/>
                <a:sym typeface="Barlow"/>
              </a:rPr>
              <a:t>1944, Bretton Woods Conference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Led by an American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World’s  largest development bank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US has largest voting share: 15.6%  (enough to veto any decision)</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a:p>
            <a:pPr indent="0" lvl="0" marL="0" rtl="0" algn="l">
              <a:spcBef>
                <a:spcPts val="0"/>
              </a:spcBef>
              <a:spcAft>
                <a:spcPts val="0"/>
              </a:spcAft>
              <a:buNone/>
            </a:pPr>
            <a:r>
              <a:rPr b="1" lang="en" sz="1300">
                <a:solidFill>
                  <a:schemeClr val="lt1"/>
                </a:solidFill>
                <a:latin typeface="Barlow"/>
                <a:ea typeface="Barlow"/>
                <a:cs typeface="Barlow"/>
                <a:sym typeface="Barlow"/>
              </a:rPr>
              <a:t>International Monetary Fund (IMF): 1</a:t>
            </a:r>
            <a:r>
              <a:rPr lang="en" sz="1300">
                <a:solidFill>
                  <a:schemeClr val="lt1"/>
                </a:solidFill>
                <a:latin typeface="Barlow"/>
                <a:ea typeface="Barlow"/>
                <a:cs typeface="Barlow"/>
                <a:sym typeface="Barlow"/>
              </a:rPr>
              <a:t>944, Bretton Woods Conference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Led by a European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World’s international lender of last resort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US has largest voting share: 16.5% (enough to veto any decision)</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Have to join IMF to get perks of WB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Mints its own currency SDR (The Special Drawing Rights) </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sz="1300">
              <a:solidFill>
                <a:schemeClr val="lt1"/>
              </a:solidFill>
              <a:latin typeface="Barlow"/>
              <a:ea typeface="Barlow"/>
              <a:cs typeface="Barlow"/>
              <a:sym typeface="Barlow"/>
            </a:endParaRPr>
          </a:p>
          <a:p>
            <a:pPr indent="0" lvl="0" marL="0" rtl="0" algn="l">
              <a:spcBef>
                <a:spcPts val="0"/>
              </a:spcBef>
              <a:spcAft>
                <a:spcPts val="0"/>
              </a:spcAft>
              <a:buNone/>
            </a:pPr>
            <a:r>
              <a:rPr lang="en" sz="1300">
                <a:solidFill>
                  <a:schemeClr val="lt1"/>
                </a:solidFill>
                <a:latin typeface="Barlow"/>
                <a:ea typeface="Barlow"/>
                <a:cs typeface="Barlow"/>
                <a:sym typeface="Barlow"/>
              </a:rPr>
              <a:t>Both created to rebuild war torn Europe &amp; Japan after WWII</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WB focus on specific loans for development projects </a:t>
            </a:r>
            <a:endParaRPr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Char char="-"/>
            </a:pPr>
            <a:r>
              <a:rPr lang="en" sz="1300">
                <a:solidFill>
                  <a:schemeClr val="lt1"/>
                </a:solidFill>
                <a:latin typeface="Barlow"/>
                <a:ea typeface="Barlow"/>
                <a:cs typeface="Barlow"/>
                <a:sym typeface="Barlow"/>
              </a:rPr>
              <a:t>IMF to address balance-of-payment issues via “bailouts” to keep trade flowing even if countries couldn’t afford imports </a:t>
            </a:r>
            <a:endParaRPr sz="1300">
              <a:solidFill>
                <a:schemeClr val="lt1"/>
              </a:solidFill>
              <a:latin typeface="Barlow"/>
              <a:ea typeface="Barlow"/>
              <a:cs typeface="Barlow"/>
              <a:sym typeface="Barlow"/>
            </a:endParaRPr>
          </a:p>
          <a:p>
            <a:pPr indent="0" lvl="0" marL="0" rtl="0" algn="l">
              <a:spcBef>
                <a:spcPts val="0"/>
              </a:spcBef>
              <a:spcAft>
                <a:spcPts val="0"/>
              </a:spcAft>
              <a:buNone/>
            </a:pPr>
            <a:r>
              <a:rPr lang="en" sz="1300">
                <a:solidFill>
                  <a:schemeClr val="lt1"/>
                </a:solidFill>
                <a:latin typeface="Barlow"/>
                <a:ea typeface="Barlow"/>
                <a:cs typeface="Barlow"/>
                <a:sym typeface="Barlow"/>
              </a:rPr>
              <a:t>Work carried out by major creditors: US, UK, FRA, GER, JPN</a:t>
            </a:r>
            <a:endParaRPr sz="1300">
              <a:solidFill>
                <a:schemeClr val="lt1"/>
              </a:solidFill>
              <a:latin typeface="Barlow"/>
              <a:ea typeface="Barlow"/>
              <a:cs typeface="Barlow"/>
              <a:sym typeface="Barlo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Examples of “Hidden Repression”</a:t>
            </a:r>
            <a:endParaRPr/>
          </a:p>
        </p:txBody>
      </p:sp>
      <p:pic>
        <p:nvPicPr>
          <p:cNvPr id="200" name="Google Shape;200;p3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The concept of the Third World or the South and the policy of official aid are inseparable. They are two sides of the same coin. The Third World is the creation of the foreign aid: without foreign aid there is no Third World.” - Péter Tamás Bauer (Hungarian-born British development economist)</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“Let us remember that the </a:t>
            </a:r>
            <a:r>
              <a:rPr b="1" lang="en" sz="2000">
                <a:solidFill>
                  <a:srgbClr val="CB222D"/>
                </a:solidFill>
              </a:rPr>
              <a:t>main purpose of aid is not to help other nations but to help ourselves.</a:t>
            </a:r>
            <a:r>
              <a:rPr lang="en" sz="2000"/>
              <a:t>” - Richard Nixon, 37th U.S. President (1969 to 1974)</a:t>
            </a:r>
            <a:endParaRPr sz="2000"/>
          </a:p>
        </p:txBody>
      </p:sp>
      <p:pic>
        <p:nvPicPr>
          <p:cNvPr id="206" name="Google Shape;206;p3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342900" lvl="0" marL="457200" rtl="0" algn="l">
              <a:spcBef>
                <a:spcPts val="0"/>
              </a:spcBef>
              <a:spcAft>
                <a:spcPts val="0"/>
              </a:spcAft>
              <a:buSzPct val="100000"/>
              <a:buAutoNum type="arabicPeriod"/>
            </a:pPr>
            <a:r>
              <a:rPr lang="en" sz="2000"/>
              <a:t>“This book debunks the economic model imposed by the IMF and the World Bank on the basis of a narrative that is validated by the </a:t>
            </a:r>
            <a:r>
              <a:rPr b="1" lang="en" sz="2000">
                <a:solidFill>
                  <a:srgbClr val="CB222D"/>
                </a:solidFill>
              </a:rPr>
              <a:t>myth</a:t>
            </a:r>
            <a:r>
              <a:rPr lang="en" sz="2000"/>
              <a:t> of economic growth as determine by exports. </a:t>
            </a:r>
            <a:endParaRPr sz="2000"/>
          </a:p>
          <a:p>
            <a:pPr indent="0" lvl="0" marL="0" rtl="0" algn="l">
              <a:spcBef>
                <a:spcPts val="0"/>
              </a:spcBef>
              <a:spcAft>
                <a:spcPts val="0"/>
              </a:spcAft>
              <a:buNone/>
            </a:pPr>
            <a:r>
              <a:t/>
            </a:r>
            <a:endParaRPr sz="2000"/>
          </a:p>
          <a:p>
            <a:pPr indent="-342900" lvl="0" marL="457200" rtl="0" algn="l">
              <a:spcBef>
                <a:spcPts val="0"/>
              </a:spcBef>
              <a:spcAft>
                <a:spcPts val="0"/>
              </a:spcAft>
              <a:buSzPct val="100000"/>
              <a:buAutoNum type="arabicPeriod"/>
            </a:pPr>
            <a:r>
              <a:rPr lang="en" sz="2000"/>
              <a:t>Furthermore, the author demonstrates that the continuation of </a:t>
            </a:r>
            <a:r>
              <a:rPr b="1" lang="en" sz="2000">
                <a:solidFill>
                  <a:srgbClr val="CB222D"/>
                </a:solidFill>
              </a:rPr>
              <a:t>predatory economics</a:t>
            </a:r>
            <a:r>
              <a:rPr lang="en" sz="2000"/>
              <a:t> systems is frequently only possible under </a:t>
            </a:r>
            <a:r>
              <a:rPr b="1" lang="en" sz="2000">
                <a:solidFill>
                  <a:srgbClr val="CB222D"/>
                </a:solidFill>
              </a:rPr>
              <a:t>autocratic regimes</a:t>
            </a:r>
            <a:r>
              <a:rPr lang="en" sz="2000"/>
              <a:t> in which the populace has no ability to hold their leaders accountable for their poor decisions. </a:t>
            </a:r>
            <a:endParaRPr sz="2000"/>
          </a:p>
          <a:p>
            <a:pPr indent="0" lvl="0" marL="0" rtl="0" algn="l">
              <a:spcBef>
                <a:spcPts val="0"/>
              </a:spcBef>
              <a:spcAft>
                <a:spcPts val="0"/>
              </a:spcAft>
              <a:buNone/>
            </a:pPr>
            <a:r>
              <a:t/>
            </a:r>
            <a:endParaRPr sz="2000"/>
          </a:p>
          <a:p>
            <a:pPr indent="-342900" lvl="0" marL="457200" rtl="0" algn="l">
              <a:spcBef>
                <a:spcPts val="0"/>
              </a:spcBef>
              <a:spcAft>
                <a:spcPts val="0"/>
              </a:spcAft>
              <a:buSzPct val="100000"/>
              <a:buAutoNum type="arabicPeriod"/>
            </a:pPr>
            <a:r>
              <a:rPr lang="en" sz="2000"/>
              <a:t>The debt system …is a continuation of </a:t>
            </a:r>
            <a:r>
              <a:rPr b="1" lang="en" sz="2000">
                <a:solidFill>
                  <a:srgbClr val="CB222D"/>
                </a:solidFill>
              </a:rPr>
              <a:t>colonization</a:t>
            </a:r>
            <a:r>
              <a:rPr lang="en" sz="2000"/>
              <a:t> that is even more pervasive, as the colonized borrow to finance their own oppression and are required to pay with interest….</a:t>
            </a:r>
            <a:endParaRPr sz="2000"/>
          </a:p>
        </p:txBody>
      </p:sp>
      <p:pic>
        <p:nvPicPr>
          <p:cNvPr id="212" name="Google Shape;212;p3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460950" y="1822800"/>
            <a:ext cx="8222100" cy="166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Structural Adjustment (Loan): </a:t>
            </a:r>
            <a:endParaRPr b="1" sz="2000"/>
          </a:p>
          <a:p>
            <a:pPr indent="0" lvl="0" marL="0" rtl="0" algn="l">
              <a:spcBef>
                <a:spcPts val="0"/>
              </a:spcBef>
              <a:spcAft>
                <a:spcPts val="0"/>
              </a:spcAft>
              <a:buNone/>
            </a:pPr>
            <a:r>
              <a:rPr lang="en" sz="2000"/>
              <a:t>Borrowers pay back principal + interest, agree to change their economies according to WB and IMF demands (almost always stipulate that they maximize exports at the expense of domestic consumption)</a:t>
            </a:r>
            <a:endParaRPr sz="2000"/>
          </a:p>
        </p:txBody>
      </p:sp>
      <p:pic>
        <p:nvPicPr>
          <p:cNvPr id="218" name="Google Shape;218;p3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460950" y="2065350"/>
            <a:ext cx="8222100" cy="1290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“In a testimony in front of U.S. Congress in the 1990s, George Ayittey remarked that “if Africa were able to feed itself, it could save nearly </a:t>
            </a:r>
            <a:r>
              <a:rPr b="1" lang="en" sz="2444">
                <a:solidFill>
                  <a:srgbClr val="CB222D"/>
                </a:solidFill>
              </a:rPr>
              <a:t>$15 billion</a:t>
            </a:r>
            <a:r>
              <a:rPr lang="en" sz="2000"/>
              <a:t> it wastes on food imports. This figure may be compared with the </a:t>
            </a:r>
            <a:r>
              <a:rPr b="1" lang="en" sz="2444">
                <a:solidFill>
                  <a:srgbClr val="CB222D"/>
                </a:solidFill>
              </a:rPr>
              <a:t>$17 billion</a:t>
            </a:r>
            <a:r>
              <a:rPr lang="en" sz="2000"/>
              <a:t> Africa received in foreign aid from all sources in 1997.” </a:t>
            </a:r>
            <a:endParaRPr sz="2000"/>
          </a:p>
        </p:txBody>
      </p:sp>
      <p:pic>
        <p:nvPicPr>
          <p:cNvPr id="224" name="Google Shape;224;p3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“In the last [60] years of World Bank and IMF dominance, countless tyrants and kleptocrats were bailed out - against any financial common sense - so that their nations’ natural resources and labor could </a:t>
            </a:r>
            <a:r>
              <a:rPr b="1" lang="en" sz="2000">
                <a:solidFill>
                  <a:srgbClr val="CB222D"/>
                </a:solidFill>
              </a:rPr>
              <a:t>continue to be exploited by core countries. </a:t>
            </a:r>
            <a:r>
              <a:rPr lang="en" sz="2000"/>
              <a:t>This was possible because the government at the very heart of the system </a:t>
            </a:r>
            <a:r>
              <a:rPr i="1" lang="en" sz="2000" u="sng"/>
              <a:t>could print the reserve currency</a:t>
            </a:r>
            <a:r>
              <a:rPr lang="en" sz="2000"/>
              <a:t>. But in a bitcoin standard, Ammous wonders, who is going to make these high risk, billion-dollar loans in exchange for structural adjustment?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“You,” he asks, “and whose bitcoin?”’ </a:t>
            </a:r>
            <a:endParaRPr sz="2000"/>
          </a:p>
        </p:txBody>
      </p:sp>
      <p:pic>
        <p:nvPicPr>
          <p:cNvPr id="230" name="Google Shape;230;p3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609600" y="543600"/>
            <a:ext cx="8222100" cy="405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1600"/>
              <a:t>“From 1960 to 2017, a grim truth emerged: </a:t>
            </a:r>
            <a:r>
              <a:rPr b="1" lang="en" sz="2200">
                <a:solidFill>
                  <a:srgbClr val="CB222D"/>
                </a:solidFill>
              </a:rPr>
              <a:t>$62 trillion</a:t>
            </a:r>
            <a:r>
              <a:rPr b="1" lang="en" sz="1600">
                <a:solidFill>
                  <a:srgbClr val="CB222D"/>
                </a:solidFill>
              </a:rPr>
              <a:t> was drained out of the developing world…</a:t>
            </a:r>
            <a:r>
              <a:rPr lang="en" sz="1600"/>
              <a:t>The IMF and World Bank were supposed to fix balance of payments issues and help poor countries grow stronger and more sustainable. The evidence has been the </a:t>
            </a:r>
            <a:r>
              <a:rPr i="1" lang="en" sz="1600" u="sng"/>
              <a:t>direct opposite</a:t>
            </a:r>
            <a:r>
              <a:rPr lang="en" sz="1600"/>
              <a:t>. </a:t>
            </a:r>
            <a:endParaRPr sz="1600"/>
          </a:p>
          <a:p>
            <a:pPr indent="0" lvl="0" marL="0" rtl="0" algn="l">
              <a:spcBef>
                <a:spcPts val="0"/>
              </a:spcBef>
              <a:spcAft>
                <a:spcPts val="0"/>
              </a:spcAft>
              <a:buSzPts val="990"/>
              <a:buNone/>
            </a:pPr>
            <a:r>
              <a:t/>
            </a:r>
            <a:endParaRPr sz="1600"/>
          </a:p>
          <a:p>
            <a:pPr indent="0" lvl="0" marL="0" rtl="0" algn="l">
              <a:spcBef>
                <a:spcPts val="0"/>
              </a:spcBef>
              <a:spcAft>
                <a:spcPts val="0"/>
              </a:spcAft>
              <a:buSzPts val="990"/>
              <a:buNone/>
            </a:pPr>
            <a:r>
              <a:rPr lang="en" sz="1600"/>
              <a:t>“For every </a:t>
            </a:r>
            <a:r>
              <a:rPr b="1" lang="en" sz="2200">
                <a:solidFill>
                  <a:srgbClr val="CB222D"/>
                </a:solidFill>
              </a:rPr>
              <a:t>$1 </a:t>
            </a:r>
            <a:r>
              <a:rPr b="1" lang="en" sz="1600">
                <a:solidFill>
                  <a:srgbClr val="CB222D"/>
                </a:solidFill>
              </a:rPr>
              <a:t>of aid</a:t>
            </a:r>
            <a:r>
              <a:rPr lang="en" sz="1600"/>
              <a:t> that developing countries receive…they </a:t>
            </a:r>
            <a:r>
              <a:rPr b="1" lang="en" sz="1600">
                <a:solidFill>
                  <a:srgbClr val="CB222D"/>
                </a:solidFill>
              </a:rPr>
              <a:t>lose </a:t>
            </a:r>
            <a:r>
              <a:rPr b="1" lang="en" sz="2200">
                <a:solidFill>
                  <a:srgbClr val="CB222D"/>
                </a:solidFill>
              </a:rPr>
              <a:t>$24</a:t>
            </a:r>
            <a:r>
              <a:rPr b="1" lang="en" sz="1600">
                <a:solidFill>
                  <a:srgbClr val="CB222D"/>
                </a:solidFill>
              </a:rPr>
              <a:t> in net outflows.</a:t>
            </a:r>
            <a:r>
              <a:rPr lang="en" sz="1600"/>
              <a:t>” … Today, the debt trap for developing countries is deeper than ever. Nigeria, for example, was forced to allocate </a:t>
            </a:r>
            <a:r>
              <a:rPr b="1" lang="en" sz="2200">
                <a:solidFill>
                  <a:srgbClr val="CB222D"/>
                </a:solidFill>
              </a:rPr>
              <a:t>80%</a:t>
            </a:r>
            <a:r>
              <a:rPr b="1" lang="en" sz="1600">
                <a:solidFill>
                  <a:srgbClr val="CB222D"/>
                </a:solidFill>
              </a:rPr>
              <a:t> of its national revenue in 2022 to servicing debt</a:t>
            </a:r>
            <a:r>
              <a:rPr lang="en" sz="1600">
                <a:solidFill>
                  <a:srgbClr val="CB222D"/>
                </a:solidFill>
              </a:rPr>
              <a:t>.</a:t>
            </a:r>
            <a:r>
              <a:rPr lang="en" sz="1600"/>
              <a:t> The country has shaped its economy to try and pay back debt instead of investing in its future…The end result is a </a:t>
            </a:r>
            <a:r>
              <a:rPr b="1" lang="en" sz="1600">
                <a:solidFill>
                  <a:srgbClr val="CB222D"/>
                </a:solidFill>
              </a:rPr>
              <a:t>literal Ponzi scheme</a:t>
            </a:r>
            <a:r>
              <a:rPr lang="en" sz="1600"/>
              <a:t>, where by the 1970s, Third World debt was so big that it was only possible to service with new debt. It has been the same ever since…the foundational goals of the IMF and World Bank are not to fix poverty but rather to </a:t>
            </a:r>
            <a:r>
              <a:rPr lang="en" sz="1600" u="sng"/>
              <a:t>enrich creditor nation at the expense of poor ones</a:t>
            </a:r>
            <a:r>
              <a:rPr lang="en" sz="1600"/>
              <a:t>.”</a:t>
            </a:r>
            <a:endParaRPr sz="1600"/>
          </a:p>
          <a:p>
            <a:pPr indent="0" lvl="0" marL="0" rtl="0" algn="l">
              <a:spcBef>
                <a:spcPts val="0"/>
              </a:spcBef>
              <a:spcAft>
                <a:spcPts val="0"/>
              </a:spcAft>
              <a:buSzPts val="990"/>
              <a:buNone/>
            </a:pPr>
            <a:r>
              <a:t/>
            </a:r>
            <a:endParaRPr sz="1600"/>
          </a:p>
          <a:p>
            <a:pPr indent="0" lvl="0" marL="0" rtl="0" algn="l">
              <a:spcBef>
                <a:spcPts val="0"/>
              </a:spcBef>
              <a:spcAft>
                <a:spcPts val="0"/>
              </a:spcAft>
              <a:buSzPts val="990"/>
              <a:buNone/>
            </a:pPr>
            <a:r>
              <a:rPr lang="en" sz="1600"/>
              <a:t>“...policies that tried to lend as much money as possible to Third World countries to keep the debt Ponzi scheme going and to keep the flow of resources from south to north moving. </a:t>
            </a:r>
            <a:endParaRPr sz="1600"/>
          </a:p>
        </p:txBody>
      </p:sp>
      <p:pic>
        <p:nvPicPr>
          <p:cNvPr id="236" name="Google Shape;236;p3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460950" y="926425"/>
            <a:ext cx="8222100" cy="343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“In 2023, the drain from low- and middle-income countries to rich ones is staggering.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In 2015, it totaled: 10.1 billion tons of raw materials and 182 person-years of labor = 50% of all goods and 28% of all labor used that year by high-income countries.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Now imagine life in the West without ½ of the available resources or nearly ⅓ of the available labor. Or if the West had to pay much higher prices for ½ of the resources it consumes or for nearly ⅓ of the labor it relies on. Then you start to understand how poor countries continue to </a:t>
            </a:r>
            <a:r>
              <a:rPr b="1" lang="en" sz="2000">
                <a:solidFill>
                  <a:srgbClr val="CB222D"/>
                </a:solidFill>
              </a:rPr>
              <a:t>subsidize</a:t>
            </a:r>
            <a:r>
              <a:rPr lang="en" sz="2000"/>
              <a:t> the way of life of people in rich ones.”</a:t>
            </a:r>
            <a:endParaRPr sz="2000"/>
          </a:p>
        </p:txBody>
      </p:sp>
      <p:pic>
        <p:nvPicPr>
          <p:cNvPr id="242" name="Google Shape;242;p3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“This is a double standard which enriches some countries at the expenses of others, with most citizens of rich countries </a:t>
            </a:r>
            <a:r>
              <a:rPr b="1" lang="en" sz="2000">
                <a:solidFill>
                  <a:srgbClr val="CB222D"/>
                </a:solidFill>
              </a:rPr>
              <a:t>blissfully unaware</a:t>
            </a:r>
            <a:r>
              <a:rPr lang="en" sz="2000"/>
              <a: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“Food security advocate Davidson Budhoo claimed that 6 million children died each year in Africa, Asia, and Latin America between 1982 - 1994, as a result of structural adjustment. This would put the World Bank and IMF’s death toll in the same ballpark as the deaths caused by </a:t>
            </a:r>
            <a:r>
              <a:rPr b="1" lang="en" sz="2000">
                <a:solidFill>
                  <a:srgbClr val="CB222D"/>
                </a:solidFill>
              </a:rPr>
              <a:t>Stalin and Mao</a:t>
            </a:r>
            <a:r>
              <a:rPr lang="en" sz="2000"/>
              <a:t>.” </a:t>
            </a:r>
            <a:endParaRPr sz="2000"/>
          </a:p>
        </p:txBody>
      </p:sp>
      <p:pic>
        <p:nvPicPr>
          <p:cNvPr id="248" name="Google Shape;248;p4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460950" y="1363950"/>
            <a:ext cx="8222100" cy="2415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“...Bitcoin, with its liberating philosophy, decentralized technology, and immutable functionality, can help</a:t>
            </a:r>
            <a:r>
              <a:rPr b="1" lang="en" sz="2000">
                <a:solidFill>
                  <a:srgbClr val="CB222D"/>
                </a:solidFill>
              </a:rPr>
              <a:t> free</a:t>
            </a:r>
            <a:r>
              <a:rPr lang="en" sz="2000"/>
              <a:t> nations and peoples </a:t>
            </a:r>
            <a:r>
              <a:rPr b="1" lang="en" sz="2000">
                <a:solidFill>
                  <a:srgbClr val="CB222D"/>
                </a:solidFill>
              </a:rPr>
              <a:t>from the debt trap</a:t>
            </a:r>
            <a:r>
              <a:rPr lang="en" sz="2000"/>
              <a: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Bitcoin will not magically erase centuries of financial exploitation, environmental destruction, and moral abyss, but it offers the world and especially the populations of countries impoverished by the insatiable greed of their leaders and foreigners institutions like the IMF and World Bank, a chance to break free.” </a:t>
            </a:r>
            <a:endParaRPr sz="2000"/>
          </a:p>
          <a:p>
            <a:pPr indent="0" lvl="0" marL="0" rtl="0" algn="l">
              <a:spcBef>
                <a:spcPts val="0"/>
              </a:spcBef>
              <a:spcAft>
                <a:spcPts val="0"/>
              </a:spcAft>
              <a:buNone/>
            </a:pPr>
            <a:r>
              <a:rPr lang="en" sz="2000"/>
              <a:t>- Farida Nabourema</a:t>
            </a:r>
            <a:endParaRPr sz="2000"/>
          </a:p>
        </p:txBody>
      </p:sp>
      <p:pic>
        <p:nvPicPr>
          <p:cNvPr id="254" name="Google Shape;254;p41"/>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42"/>
          <p:cNvPicPr preferRelativeResize="0"/>
          <p:nvPr/>
        </p:nvPicPr>
        <p:blipFill>
          <a:blip r:embed="rId3">
            <a:alphaModFix/>
          </a:blip>
          <a:stretch>
            <a:fillRect/>
          </a:stretch>
        </p:blipFill>
        <p:spPr>
          <a:xfrm>
            <a:off x="2138300" y="152400"/>
            <a:ext cx="5063754" cy="4838699"/>
          </a:xfrm>
          <a:prstGeom prst="rect">
            <a:avLst/>
          </a:prstGeom>
          <a:noFill/>
          <a:ln>
            <a:noFill/>
          </a:ln>
        </p:spPr>
      </p:pic>
      <p:pic>
        <p:nvPicPr>
          <p:cNvPr id="260" name="Google Shape;260;p4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5080"/>
              <a:t>FGU </a:t>
            </a:r>
            <a:endParaRPr b="1" sz="5080"/>
          </a:p>
          <a:p>
            <a:pPr indent="0" lvl="0" marL="0" rtl="0" algn="ctr">
              <a:spcBef>
                <a:spcPts val="0"/>
              </a:spcBef>
              <a:spcAft>
                <a:spcPts val="0"/>
              </a:spcAft>
              <a:buSzPts val="990"/>
              <a:buNone/>
            </a:pPr>
            <a:r>
              <a:rPr lang="en" sz="5080"/>
              <a:t>“Freedom Go Up”</a:t>
            </a:r>
            <a:endParaRPr sz="5080"/>
          </a:p>
        </p:txBody>
      </p:sp>
      <p:pic>
        <p:nvPicPr>
          <p:cNvPr id="266" name="Google Shape;266;p4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“The Currency Caste System”</a:t>
            </a:r>
            <a:endParaRPr b="1"/>
          </a:p>
        </p:txBody>
      </p:sp>
      <p:pic>
        <p:nvPicPr>
          <p:cNvPr descr="Alex Gladstein of the Human Rights Foundation holds a keynote talk from Pacific Bitcoin Festival 2023 about the national currency caste system we have in place globally and how it negatively affects the majority of people who are forced to live under it. &#10;&#10;Pacific Bitcoin is Brought to you by Marathon Digital Holdings&#10;&#10;Connect with Swan Bitcoin:&#10;    🎬 YouTube: https://youtube.com/@Swan_Bitcoin&#10;    🐦 Twitter: https://twitter.com/Swan&#10;    📸 Instagram: https://instagram.com/SwanBitcoin&#10;    💬 Telegram: https://t.me/swanbitcoin&#10;    🔗  LinkedIn: https://linkedin.com/company/swanbitcoin&#10;&#10;📚 *Swan Bitcoin* is the best way to accumulate Bitcoin with automatic recurring buys and instant buys from $10 to $10 million. Start your Bitcoin journey today, and your first $10 purchase is on us &#10;    👉 https://swanbitcoin.com/yt&#10;&#10;📲 Download the all-new *Swan Bitcoin App* &#10;    👉 https://www.swanbitcoin.com/app/?utm_medium=social&amp;utm_source=youtube&amp;utm_campaign=youtube_description&#10;&#10;🎉 Get your ticket for the Pacific *Bitcoin Festival 2023* before prices increase!&#10;    👉  https://www.pacificbitcoin.com/?utm_medium=social&amp;utm_source=youtube&amp;utm_campaign=youtube_description&#10;&#10;🏦 Secure your bright orange future with the *Swan IRA* today! Real Bitcoin, no taxes&#10;    👉 https://www.swanbitcoin.com/bitcoin-ira/?utm_medium=social&amp;utm_source=youtube&amp;utm_campaign=youtube_description&#10;&#10;💼 For high-net-worth individuals and corporations seeking to build generational wealth with Bitcoin, *Swan Private* is your guide&#10;    👉 https://www.swanbitcoin.com/private/?utm_medium=social&amp;utm_source=youtube&amp;utm_campaign=youtube_description&#10;&#10;🎓 Want to learn more about Bitcoin? Check out the *Bitcoin Canon* a curated list of the best Bitcoin resources from your favorite experts  &#10;    👉 https://swanbitcoin.com/cannon/?utm_medium=social&amp;utm_source=youtube&amp;utm_campaign=youtube_description&#10;&#10;🚀  Get paid to recruit new Bitcoiners by joining *Swan Force* &#10;    👉  https://www.swanbitcoin.com/enlist/?utm_medium=social&amp;utm_source=youtube&amp;utm_campaign=youtube_description" id="272" name="Google Shape;272;p44" title="The Currency Caste System with Alex Gladstein - Pacific Bitcoin 2023">
            <a:hlinkClick r:id="rId3"/>
          </p:cNvPr>
          <p:cNvPicPr preferRelativeResize="0"/>
          <p:nvPr/>
        </p:nvPicPr>
        <p:blipFill>
          <a:blip r:embed="rId4">
            <a:alphaModFix/>
          </a:blip>
          <a:stretch>
            <a:fillRect/>
          </a:stretch>
        </p:blipFill>
        <p:spPr>
          <a:xfrm>
            <a:off x="1077675" y="1043550"/>
            <a:ext cx="6752500" cy="3798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Human Rights Track @ Bitcoin Atlantis</a:t>
            </a:r>
            <a:endParaRPr b="1"/>
          </a:p>
        </p:txBody>
      </p:sp>
      <p:pic>
        <p:nvPicPr>
          <p:cNvPr descr="Join us for the live stream of the first Bitcoin conference in the Atlantic on the Satoshi Stage. Here you have the opportunity to 👀 all the talks, workshops and panels happening in the moment." id="278" name="Google Shape;278;p45" title="Bitcoin Atlantis | Day 2 | Satoshi Stage – Brought to you by NYDIG">
            <a:hlinkClick r:id="rId3"/>
          </p:cNvPr>
          <p:cNvPicPr preferRelativeResize="0"/>
          <p:nvPr/>
        </p:nvPicPr>
        <p:blipFill>
          <a:blip r:embed="rId4">
            <a:alphaModFix/>
          </a:blip>
          <a:stretch>
            <a:fillRect/>
          </a:stretch>
        </p:blipFill>
        <p:spPr>
          <a:xfrm>
            <a:off x="933388" y="947300"/>
            <a:ext cx="7156325" cy="4025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Human Rights Track @ Bitcoin Policy Summit</a:t>
            </a:r>
            <a:endParaRPr b="1"/>
          </a:p>
        </p:txBody>
      </p:sp>
      <p:pic>
        <p:nvPicPr>
          <p:cNvPr descr="Bitcoin Policy Summit 2024 | April 9th 8:30am EDT | Washington D.C.&#10;&#10;0:00:00 Setup (off air)&#10;0:26:50 Morning Session Introduction&#10;4:33:33 Afternoon Session Introduction&#10;&#10;The Bitcoin Policy Summit convenes academics, policymakers, activists, and industry leaders to share insights and explore critical questions, including:&#10;* Where are Bitcoin and stablecoins owned and used around the world? Who's using them and why?&#10;* What’s unique about Bitcoin? Why did major financial institutions create Bitcoin investment products?&#10;* What are the geopolitical, climate, and economic ramifications of Bitcoin and the proliferation of digital money?  &#10;* How much and what kinds of energy does Bitcoin mining use? Can mining contribute to the growth of renewable energy?&#10;* How do we safeguard civil liberties as payments increasingly happen digitally through intermediaries? &#10;* How are digital assets regulated now? What is the critical proposed legislation, and what should policy look like? &#10;&#10;Join us for a day of bipartisan policy discussions as we parse fact from fiction around Bitcoin.&#10;&#10;Cynthia Lummis&#10;U.S. Senator (R-WY)&#10;&#10;Kirsten Gillibrand&#10;U.S. Senator (D-NY)&#10;&#10;Wiley Nickel&#10;U.S. Representative (D-NC-13)&#10;&#10;Patrick McHenry&#10;U.S. Representative (R-NC-10)&#10;&#10;Marsha Blackburn&#10;U.S. Senator (R-TN)&#10;&#10;Roya Mahboob&#10;Founder, Citadel Software&#10;&#10;Lauren Boyd&#10;Geothermal Technologies Office Director, U.S. Department of Energy&#10;&#10;John Belizaire&#10;CEO, Soluna Holdings&#10;&#10;Margot Paez&#10;Ph.D. Candidate, Georgia Institute of Technology&#10;&#10;Chastity Murphy&#10;Senior Advisor to the Assistant Secretary of Financial Institutions, U.S. Treasury&#10;&#10;Félix Maradiaga&#10;Human Rights Defender &amp; 2024 Nobel Peace Prize Nominee&#10;&#10;Paul Thanos&#10;Director, Office of Finance and Professional Services, U.S. Department of Commerce&#10;&#10;Tom Emmer&#10;U.S. Congressman (R-MN-6)&#10;&#10;Janessa Lopez&#10;Digital Assets, AI &amp; Emerging Tech Policy Lead, Block&#10;&#10;Fred Thiel&#10;CEO, Marathon Digital Holdings&#10;&#10;Arry Yu&#10;Executive Director, US Blockchain Coalition&#10;&#10;Andrew Bailey&#10;Associate Professor, Yale-NUS College&#10;&#10;Ken Egan&#10;Head of Operations, Blocktrace&#10;&#10;Matthew Pines&#10;Director, Security Advisory at Sentinel One&#10;&#10;Mike Brock&#10;CEO, TBD&#10;&#10;Wolf Von Laer&#10;CEO, Students for Liberty&#10;&#10;Charlene Fadirepo&#10;CEO, Mango Digital Strategies&#10;&#10;James Giannantonio&#10;ESG Managing Consultant, ALL4&#10;&#10;Josh Hendrickson&#10;Associate Professor and Chair, Department of Economics, Ole Miss&#10;&#10;Jake Langenkamp&#10;CEO, Bridger Solutions&#10;&#10;Peter Van Valkenburgh&#10;Director of Research, Coin Center&#10;&#10;Tom McDivitt&#10;CRO, Government Solutions, Elliptic&#10;&#10;Bradley Rettler&#10;Professor, University of Wyoming&#10;&#10;Jason Les&#10;CEO, Riot Platforms&#10;&#10;Brian Morgenstern&#10;Head of Public Policy, Riot Platforms&#10;&#10;Avik Roy&#10;President, Foundation for Research On Equal Opprotunity&#10;&#10;Alex Thorn&#10;Head of Research, Galaxy&#10;&#10;Jerry Brito&#10;Executive Director, Coin Center&#10;&#10;Alyse Killeen&#10;Founder and Managing Partner, Stillmark&#10;&#10;Craig Warmke&#10;Associate Professor, Northern Illinois University&#10;&#10;Jason Brett&#10;Former U.S. Capital Markets Regulator&#10;&#10;Yael Ossowski&#10;Deputy Director, Consumer Choice Center&#10;&#10;Lyudmyla Kozlovska&#10;President, Open Dialogue Foundation&#10;&#10;Troy Cross&#10;Professor, Reed College&#10;&#10;C. Wallace DeWitt&#10;Senior Counsel, Allen &amp; Overy LLP&#10;&#10;Brian Consolvo&#10;Managing Director, KPMG&#10;&#10;Fadi Elsalameen&#10;Adjunct Senior Fellow, American Security Project&#10;&#10;Jim McDonald&#10;Director of Enviornmental Impact, Miratech&#10;&#10;Roger Huang&#10;Author &amp; Activist&#10;&#10;Sam Lyman&#10;Director of Public Policy, Riot Platforms&#10;&#10;Tyler Williams&#10;Head of Legislative &amp; Regulatory Affairs, Galaxy&#10;&#10;Arsh Molu&#10;Financial Freedom Associate, Human Rights Foundation&#10;&#10;Shailee Adinolfi&#10;Business Development Lead, Trust Machines&#10;&#10;Ben Gagnon&#10;Chief Mining Officer, Bitfarms&#10;&#10;Meredith Fitzpatrick&#10;Director of Cryptocurrency Investigations and Compliance, Forensic Risk Alliance&#10;&#10;Anna Chekhovich&#10;Financial Director, Anti-Corruption Foundation&#10;&#10;Susan Joseph&#10;Executive Director, Cornell Fintech&#10;&#10;Seth Hertlein&#10;VP and Global Head of Policy, Ledger&#10;&#10;Michael Enright&#10;SVP of Government Affairs, Terawulf&#10;&#10;Jorge Jraissati&#10;President, Organization for Economic Inclusion&#10;&#10;Zack Shapiro&#10;Managing Partner, Rains LLP&#10;&#10;Natalie Smolenski&#10;Executive Director of the Texas Bitcoin Foundation&#10;&#10;Jeff Booth&#10;Author, The Price of Tomorrow&#10;&#10;Sharon Sadler&#10;Sr. Managing Consulting - Data Center Permitting Strategy Lead, ALL4&#10;&#10;Kyle Schneps&#10;VP of Public Policy, Foundry&#10;&#10;Jayson Browder&#10;Head of Public Policy, Marathon Digital Holdings&#10;&#10;----------------------------------------------------------------&#10;&#10;&#10;IMPORTANT DISCLAIMER&#10;&quot;All views expressed by hosts, guests, and interviewees of &quot;Bitcoin Magazine Live&quot; are opinion only and do not reflect the views of Bitcoin Magazine, its ownership, management, any of their associated or affiliated entities, or their inhouse or third party service providers and platforms. This program is informational only, and its content does not contain or construe any offers to buy, sell, or hold any bitcoin, other cryptocurrency, or any securities or other financial instruments in the United States." id="284" name="Google Shape;284;p46" title="Bitcoin Policy Summit 2024">
            <a:hlinkClick r:id="rId3"/>
          </p:cNvPr>
          <p:cNvPicPr preferRelativeResize="0"/>
          <p:nvPr/>
        </p:nvPicPr>
        <p:blipFill>
          <a:blip r:embed="rId4">
            <a:alphaModFix/>
          </a:blip>
          <a:stretch>
            <a:fillRect/>
          </a:stretch>
        </p:blipFill>
        <p:spPr>
          <a:xfrm>
            <a:off x="1855600" y="1102400"/>
            <a:ext cx="5432800" cy="3055950"/>
          </a:xfrm>
          <a:prstGeom prst="rect">
            <a:avLst/>
          </a:prstGeom>
          <a:noFill/>
          <a:ln>
            <a:noFill/>
          </a:ln>
        </p:spPr>
      </p:pic>
      <p:sp>
        <p:nvSpPr>
          <p:cNvPr id="285" name="Google Shape;285;p46"/>
          <p:cNvSpPr txBox="1"/>
          <p:nvPr/>
        </p:nvSpPr>
        <p:spPr>
          <a:xfrm>
            <a:off x="1522200" y="4277875"/>
            <a:ext cx="59787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1:59:40-2:45:49: Lyudmyla Kozlovska, Anna Chekhovich, Félix Maradiaga</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8:16:39-8:38:10: Roya Mahboob</a:t>
            </a:r>
            <a:endParaRPr>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BEWARE: </a:t>
            </a:r>
            <a:r>
              <a:rPr lang="en"/>
              <a:t>Central Bank Digital Currencies (CBDCs)</a:t>
            </a:r>
            <a:endParaRPr/>
          </a:p>
        </p:txBody>
      </p:sp>
      <p:pic>
        <p:nvPicPr>
          <p:cNvPr descr="A Central Bank Digital Currency, or CBDC is a digital national currency. In the case of the United States, a CBDC would be a digital form of the U.S. dollar whereas, in Nigeria, their CBDC is a digital form of the Naira. Like paper dollars, a CBDC would be a liability of the central bank. But unlike paper dollars, a CBDC would offer neither the privacy protections nor the finality that cash provides. &#10;&#10;The CBDC tracker is a new Human Rights Foundation resource dedicated to tracking the development of central bank digital currencies (CBDCs) and how they relate to violations of civil liberties and human rights.&#10;&#10;#HumanRightsFoundation #CBDCtracker &#10;&#10;Chapters:&#10;00:00:00 - The Attack on Cash&#10;00:00:09 - Two types of money: public and private&#10;00:00:19 - The Direct Liability of the Central Bank&#10;00:00:30 - The Human Rights Issue of Digital Transactions&#10;00:00:42 - Absolute Control and Technology in China&#10;00:00:53 - CBD Scanning and Government Surveillance&#10;00:01:05 - Rapid Deployment of CBDCs&#10;00:01:15 - Introduction to the Digital Currency Tracker&#10;00:01:26 - The release of a resource for policy makers and journalists&#10;&#10;&#10;Learn more at https://cbdchumanrights.org/ &#10;&#10;Learn more about our work at the Human Rights Foundation!&#10;Website: https://hrf.org&#10;X (formerly known as Twitter): https://twitter.com/HRF&#10;Instagram: https://www.instagram.com/hrf/&#10;LinkedIn: https://www.linkedin.com/company/hrf/&#10;Subscribe to HRF’s Substack: https://humanrightsfoundation.substack.com/&#10;&#10;Join us in promoting freedom where it’s most at risk!&#10;Donate today: https://hrf.org/?form=donate&#10;&#10;#CentralBankDigitalCurrencies #CBDCs #FinancialFreedom #Privacy #Surveillance #DigitalYuan #China #AuthoritarianRegimes #HumanRights #CivilLiberties #ProgrammableMoney #Cash #PublicMoney #BankingSystem #FinancialTransactions #Monitoring #Blacklisting #CBDCTracker #HumanRightsFoundation #FinancialPrivacy #Activism #DigitalAuthoritarianism #TotalControl #MoneyFlows #ExpiringSees #TotalitarianRegimes #FinancialAutonomy" id="291" name="Google Shape;291;p47" title="Central Bank Digital Currencies Tracker">
            <a:hlinkClick r:id="rId3"/>
          </p:cNvPr>
          <p:cNvPicPr preferRelativeResize="0"/>
          <p:nvPr/>
        </p:nvPicPr>
        <p:blipFill>
          <a:blip r:embed="rId4">
            <a:alphaModFix/>
          </a:blip>
          <a:stretch>
            <a:fillRect/>
          </a:stretch>
        </p:blipFill>
        <p:spPr>
          <a:xfrm>
            <a:off x="1589812" y="1157825"/>
            <a:ext cx="5964375" cy="3354950"/>
          </a:xfrm>
          <a:prstGeom prst="rect">
            <a:avLst/>
          </a:prstGeom>
          <a:noFill/>
          <a:ln>
            <a:noFill/>
          </a:ln>
        </p:spPr>
      </p:pic>
      <p:sp>
        <p:nvSpPr>
          <p:cNvPr id="292" name="Google Shape;292;p47"/>
          <p:cNvSpPr txBox="1"/>
          <p:nvPr/>
        </p:nvSpPr>
        <p:spPr>
          <a:xfrm>
            <a:off x="1633950" y="4512775"/>
            <a:ext cx="575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HRF to Launch CBDC Tracker on </a:t>
            </a:r>
            <a:r>
              <a:rPr b="1" lang="en">
                <a:solidFill>
                  <a:schemeClr val="lt1"/>
                </a:solidFill>
                <a:latin typeface="Proxima Nova"/>
                <a:ea typeface="Proxima Nova"/>
                <a:cs typeface="Proxima Nova"/>
                <a:sym typeface="Proxima Nova"/>
              </a:rPr>
              <a:t>Nov. 14</a:t>
            </a:r>
            <a:r>
              <a:rPr lang="en">
                <a:solidFill>
                  <a:schemeClr val="lt1"/>
                </a:solidFill>
                <a:latin typeface="Proxima Nova"/>
                <a:ea typeface="Proxima Nova"/>
                <a:cs typeface="Proxima Nova"/>
                <a:sym typeface="Proxima Nova"/>
              </a:rPr>
              <a:t> in D.C. (</a:t>
            </a:r>
            <a:r>
              <a:rPr lang="en" u="sng">
                <a:solidFill>
                  <a:schemeClr val="lt1"/>
                </a:solidFill>
                <a:latin typeface="Proxima Nova"/>
                <a:ea typeface="Proxima Nova"/>
                <a:cs typeface="Proxima Nova"/>
                <a:sym typeface="Proxima Nova"/>
                <a:hlinkClick r:id="rId5">
                  <a:extLst>
                    <a:ext uri="{A12FA001-AC4F-418D-AE19-62706E023703}">
                      <ahyp:hlinkClr val="tx"/>
                    </a:ext>
                  </a:extLst>
                </a:hlinkClick>
              </a:rPr>
              <a:t>Link</a:t>
            </a:r>
            <a:r>
              <a:rPr lang="en">
                <a:solidFill>
                  <a:schemeClr val="lt1"/>
                </a:solidFill>
                <a:latin typeface="Proxima Nova"/>
                <a:ea typeface="Proxima Nova"/>
                <a:cs typeface="Proxima Nova"/>
                <a:sym typeface="Proxima Nova"/>
              </a:rPr>
              <a:t>)  // Tracker (</a:t>
            </a:r>
            <a:r>
              <a:rPr lang="en" u="sng">
                <a:solidFill>
                  <a:schemeClr val="lt1"/>
                </a:solidFill>
                <a:latin typeface="Proxima Nova"/>
                <a:ea typeface="Proxima Nova"/>
                <a:cs typeface="Proxima Nova"/>
                <a:sym typeface="Proxima Nova"/>
                <a:hlinkClick r:id="rId6">
                  <a:extLst>
                    <a:ext uri="{A12FA001-AC4F-418D-AE19-62706E023703}">
                      <ahyp:hlinkClr val="tx"/>
                    </a:ext>
                  </a:extLst>
                </a:hlinkClick>
              </a:rPr>
              <a:t>Link</a:t>
            </a:r>
            <a:r>
              <a:rPr lang="en">
                <a:solidFill>
                  <a:schemeClr val="lt1"/>
                </a:solidFill>
                <a:latin typeface="Proxima Nova"/>
                <a:ea typeface="Proxima Nova"/>
                <a:cs typeface="Proxima Nova"/>
                <a:sym typeface="Proxima Nova"/>
              </a:rPr>
              <a:t>)</a:t>
            </a:r>
            <a:endParaRPr>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This is not a distant issue…</a:t>
            </a:r>
            <a:endParaRPr/>
          </a:p>
        </p:txBody>
      </p:sp>
      <p:sp>
        <p:nvSpPr>
          <p:cNvPr id="298" name="Google Shape;298;p48"/>
          <p:cNvSpPr txBox="1"/>
          <p:nvPr/>
        </p:nvSpPr>
        <p:spPr>
          <a:xfrm>
            <a:off x="702550" y="4426050"/>
            <a:ext cx="3846300" cy="3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lt1"/>
                </a:solidFill>
                <a:latin typeface="Proxima Nova"/>
                <a:ea typeface="Proxima Nova"/>
                <a:cs typeface="Proxima Nova"/>
                <a:sym typeface="Proxima Nova"/>
                <a:hlinkClick r:id="rId3">
                  <a:extLst>
                    <a:ext uri="{A12FA001-AC4F-418D-AE19-62706E023703}">
                      <ahyp:hlinkClr val="tx"/>
                    </a:ext>
                  </a:extLst>
                </a:hlinkClick>
              </a:rPr>
              <a:t>https://x.com/WalkerAmerica/status/1747385001023250857</a:t>
            </a:r>
            <a:r>
              <a:rPr lang="en" sz="1100">
                <a:solidFill>
                  <a:schemeClr val="lt1"/>
                </a:solidFill>
                <a:latin typeface="Proxima Nova"/>
                <a:ea typeface="Proxima Nova"/>
                <a:cs typeface="Proxima Nova"/>
                <a:sym typeface="Proxima Nova"/>
              </a:rPr>
              <a:t> </a:t>
            </a:r>
            <a:endParaRPr sz="1100">
              <a:solidFill>
                <a:schemeClr val="lt1"/>
              </a:solidFill>
              <a:latin typeface="Proxima Nova"/>
              <a:ea typeface="Proxima Nova"/>
              <a:cs typeface="Proxima Nova"/>
              <a:sym typeface="Proxima Nova"/>
            </a:endParaRPr>
          </a:p>
        </p:txBody>
      </p:sp>
      <p:pic>
        <p:nvPicPr>
          <p:cNvPr id="299" name="Google Shape;299;p48"/>
          <p:cNvPicPr preferRelativeResize="0"/>
          <p:nvPr/>
        </p:nvPicPr>
        <p:blipFill>
          <a:blip r:embed="rId4">
            <a:alphaModFix/>
          </a:blip>
          <a:stretch>
            <a:fillRect/>
          </a:stretch>
        </p:blipFill>
        <p:spPr>
          <a:xfrm>
            <a:off x="963825" y="880513"/>
            <a:ext cx="3151250" cy="3382474"/>
          </a:xfrm>
          <a:prstGeom prst="rect">
            <a:avLst/>
          </a:prstGeom>
          <a:noFill/>
          <a:ln>
            <a:noFill/>
          </a:ln>
        </p:spPr>
      </p:pic>
      <p:sp>
        <p:nvSpPr>
          <p:cNvPr id="300" name="Google Shape;300;p48"/>
          <p:cNvSpPr txBox="1"/>
          <p:nvPr/>
        </p:nvSpPr>
        <p:spPr>
          <a:xfrm>
            <a:off x="5034650" y="1850575"/>
            <a:ext cx="3505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Agustín Carstens, General Manager of the Bank for International Settlements</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Christine Lagarde, President of the European Central Bank</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Eswar Prasad, Tolani Senior Professor of International Trade Policy at Cornell University </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John Michael Evans, President of Alibaba Group (previously spent 20 years at Goldman Sachs)</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306" name="Google Shape;306;p4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50"/>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312" name="Google Shape;312;p5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Spring</a:t>
            </a:r>
            <a:r>
              <a:rPr lang="en"/>
              <a:t> 2024: </a:t>
            </a:r>
            <a:r>
              <a:rPr lang="en"/>
              <a:t>Takeaways</a:t>
            </a:r>
            <a:endParaRPr sz="1983"/>
          </a:p>
        </p:txBody>
      </p:sp>
      <p:pic>
        <p:nvPicPr>
          <p:cNvPr id="318" name="Google Shape;318;p51"/>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Studying/Learning Bitcoin is…</a:t>
            </a:r>
            <a:endParaRPr/>
          </a:p>
        </p:txBody>
      </p:sp>
      <p:sp>
        <p:nvSpPr>
          <p:cNvPr id="324" name="Google Shape;324;p52"/>
          <p:cNvSpPr txBox="1"/>
          <p:nvPr/>
        </p:nvSpPr>
        <p:spPr>
          <a:xfrm>
            <a:off x="551400" y="1667750"/>
            <a:ext cx="8041200" cy="22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lt1"/>
                </a:solidFill>
                <a:latin typeface="Proxima Nova"/>
                <a:ea typeface="Proxima Nova"/>
                <a:cs typeface="Proxima Nova"/>
                <a:sym typeface="Proxima Nova"/>
              </a:rPr>
              <a:t>math, physics, law, energy, history, finance, money, politics, economics, engineering, game theory, human rights, macroeconomics (Austrian), computer science, cryptography, cognitive science, philosophy, psychology, anthropology, freedom, sovereignty, trade, communication, government, sociology, power projection, praxeology, distributed systems, biology, etc…</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But, mostly, it’s: </a:t>
            </a:r>
            <a:endParaRPr/>
          </a:p>
        </p:txBody>
      </p:sp>
      <p:sp>
        <p:nvSpPr>
          <p:cNvPr id="330" name="Google Shape;330;p53"/>
          <p:cNvSpPr txBox="1"/>
          <p:nvPr/>
        </p:nvSpPr>
        <p:spPr>
          <a:xfrm>
            <a:off x="551400" y="2325450"/>
            <a:ext cx="80412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curiosity, </a:t>
            </a:r>
            <a:endParaRPr sz="2000">
              <a:solidFill>
                <a:schemeClr val="lt1"/>
              </a:solidFill>
              <a:latin typeface="Proxima Nova"/>
              <a:ea typeface="Proxima Nova"/>
              <a:cs typeface="Proxima Nova"/>
              <a:sym typeface="Proxima Nova"/>
            </a:endParaRPr>
          </a:p>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critical thinking, first-principles thinking</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Spring 2024: Takeaways</a:t>
            </a:r>
            <a:endParaRPr/>
          </a:p>
        </p:txBody>
      </p:sp>
      <p:sp>
        <p:nvSpPr>
          <p:cNvPr id="336" name="Google Shape;336;p54"/>
          <p:cNvSpPr txBox="1"/>
          <p:nvPr/>
        </p:nvSpPr>
        <p:spPr>
          <a:xfrm>
            <a:off x="413700" y="1366950"/>
            <a:ext cx="8316600" cy="4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You don’t need to change your interest to be interested in b(B)itcoin.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p:txBody>
      </p:sp>
      <p:sp>
        <p:nvSpPr>
          <p:cNvPr id="337" name="Google Shape;337;p54"/>
          <p:cNvSpPr txBox="1"/>
          <p:nvPr/>
        </p:nvSpPr>
        <p:spPr>
          <a:xfrm>
            <a:off x="556250" y="2587350"/>
            <a:ext cx="5404200" cy="10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Bitcoin is a tool for…</a:t>
            </a:r>
            <a:endParaRPr sz="1800">
              <a:solidFill>
                <a:schemeClr val="lt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Meeting #1-3: </a:t>
            </a:r>
            <a:endParaRPr/>
          </a:p>
        </p:txBody>
      </p:sp>
      <p:sp>
        <p:nvSpPr>
          <p:cNvPr id="343" name="Google Shape;343;p55"/>
          <p:cNvSpPr txBox="1"/>
          <p:nvPr/>
        </p:nvSpPr>
        <p:spPr>
          <a:xfrm>
            <a:off x="500300" y="1013500"/>
            <a:ext cx="7444500" cy="8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#1: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Definitions</a:t>
            </a:r>
            <a:r>
              <a:rPr lang="en" sz="1800">
                <a:solidFill>
                  <a:schemeClr val="lt1"/>
                </a:solidFill>
                <a:latin typeface="Proxima Nova"/>
                <a:ea typeface="Proxima Nova"/>
                <a:cs typeface="Proxima Nova"/>
                <a:sym typeface="Proxima Nova"/>
              </a:rPr>
              <a:t> of Bitcoin, bitcoin, </a:t>
            </a:r>
            <a:r>
              <a:rPr lang="en" sz="1800">
                <a:solidFill>
                  <a:schemeClr val="lt1"/>
                </a:solidFill>
                <a:latin typeface="Proxima Nova"/>
                <a:ea typeface="Proxima Nova"/>
                <a:cs typeface="Proxima Nova"/>
                <a:sym typeface="Proxima Nova"/>
              </a:rPr>
              <a:t>blockchain</a:t>
            </a:r>
            <a:r>
              <a:rPr lang="en" sz="1800">
                <a:solidFill>
                  <a:schemeClr val="lt1"/>
                </a:solidFill>
                <a:latin typeface="Proxima Nova"/>
                <a:ea typeface="Proxima Nova"/>
                <a:cs typeface="Proxima Nova"/>
                <a:sym typeface="Proxima Nova"/>
              </a:rPr>
              <a:t>, money, &amp; currency.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p:txBody>
      </p:sp>
      <p:sp>
        <p:nvSpPr>
          <p:cNvPr id="344" name="Google Shape;344;p55"/>
          <p:cNvSpPr txBox="1"/>
          <p:nvPr/>
        </p:nvSpPr>
        <p:spPr>
          <a:xfrm>
            <a:off x="460450" y="2019375"/>
            <a:ext cx="7394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#2: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is the sound money solution to our broken money standard.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Timechain, not blockchain</a:t>
            </a:r>
            <a:endParaRPr sz="1800">
              <a:solidFill>
                <a:schemeClr val="lt1"/>
              </a:solidFill>
              <a:latin typeface="Proxima Nova"/>
              <a:ea typeface="Proxima Nova"/>
              <a:cs typeface="Proxima Nova"/>
              <a:sym typeface="Proxima Nova"/>
            </a:endParaRPr>
          </a:p>
        </p:txBody>
      </p:sp>
      <p:sp>
        <p:nvSpPr>
          <p:cNvPr id="345" name="Google Shape;345;p55"/>
          <p:cNvSpPr txBox="1"/>
          <p:nvPr/>
        </p:nvSpPr>
        <p:spPr>
          <a:xfrm>
            <a:off x="508450" y="3197750"/>
            <a:ext cx="7298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#3: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Why to care about energy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Proof of Work &amp; its importance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Energy &amp; renewables misconceptions</a:t>
            </a:r>
            <a:endParaRPr sz="18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Meeting #4-5:</a:t>
            </a:r>
            <a:endParaRPr/>
          </a:p>
        </p:txBody>
      </p:sp>
      <p:sp>
        <p:nvSpPr>
          <p:cNvPr id="351" name="Google Shape;351;p56"/>
          <p:cNvSpPr txBox="1"/>
          <p:nvPr/>
        </p:nvSpPr>
        <p:spPr>
          <a:xfrm>
            <a:off x="487600" y="979300"/>
            <a:ext cx="4159800" cy="15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#4: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Definitions of </a:t>
            </a:r>
            <a:r>
              <a:rPr lang="en" sz="1800">
                <a:solidFill>
                  <a:schemeClr val="lt1"/>
                </a:solidFill>
                <a:latin typeface="Proxima Nova"/>
                <a:ea typeface="Proxima Nova"/>
                <a:cs typeface="Proxima Nova"/>
                <a:sym typeface="Proxima Nova"/>
              </a:rPr>
              <a:t>"Bitcoin-native”</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Insights on deal activity: Bitcoin Pre-Seed deals exploded 360%</a:t>
            </a:r>
            <a:endParaRPr sz="1800">
              <a:solidFill>
                <a:schemeClr val="lt1"/>
              </a:solidFill>
              <a:latin typeface="Proxima Nova"/>
              <a:ea typeface="Proxima Nova"/>
              <a:cs typeface="Proxima Nova"/>
              <a:sym typeface="Proxima Nova"/>
            </a:endParaRPr>
          </a:p>
        </p:txBody>
      </p:sp>
      <p:pic>
        <p:nvPicPr>
          <p:cNvPr id="352" name="Google Shape;352;p56"/>
          <p:cNvPicPr preferRelativeResize="0"/>
          <p:nvPr/>
        </p:nvPicPr>
        <p:blipFill>
          <a:blip r:embed="rId3">
            <a:alphaModFix/>
          </a:blip>
          <a:stretch>
            <a:fillRect/>
          </a:stretch>
        </p:blipFill>
        <p:spPr>
          <a:xfrm>
            <a:off x="4647400" y="1507812"/>
            <a:ext cx="4279449" cy="2417875"/>
          </a:xfrm>
          <a:prstGeom prst="rect">
            <a:avLst/>
          </a:prstGeom>
          <a:noFill/>
          <a:ln>
            <a:noFill/>
          </a:ln>
        </p:spPr>
      </p:pic>
      <p:sp>
        <p:nvSpPr>
          <p:cNvPr id="353" name="Google Shape;353;p56"/>
          <p:cNvSpPr txBox="1"/>
          <p:nvPr/>
        </p:nvSpPr>
        <p:spPr>
          <a:xfrm>
            <a:off x="679925" y="2555625"/>
            <a:ext cx="3674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#5:</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is Better Money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Strike: Accessibility to Bitcoin Globally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Powered Experience (Sending money globally through LN)</a:t>
            </a:r>
            <a:endParaRPr sz="18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Meeting #6-7:</a:t>
            </a:r>
            <a:endParaRPr/>
          </a:p>
        </p:txBody>
      </p:sp>
      <p:sp>
        <p:nvSpPr>
          <p:cNvPr id="359" name="Google Shape;359;p57"/>
          <p:cNvSpPr txBox="1"/>
          <p:nvPr/>
        </p:nvSpPr>
        <p:spPr>
          <a:xfrm>
            <a:off x="487600" y="979300"/>
            <a:ext cx="7444500" cy="21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#6:</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Policy Questions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Before Bitcoin: Internet, Digital Currencies, Privacy, and Decentralization, U.S. Patriot Act, Global Financial Crisis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After Bitcoin: Regulation of Digital Currencies and Centralized Exchanges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Ongoing Bitcoin Policy Issues</a:t>
            </a:r>
            <a:endParaRPr sz="1800">
              <a:solidFill>
                <a:schemeClr val="lt1"/>
              </a:solidFill>
              <a:latin typeface="Proxima Nova"/>
              <a:ea typeface="Proxima Nova"/>
              <a:cs typeface="Proxima Nova"/>
              <a:sym typeface="Proxima Nova"/>
            </a:endParaRPr>
          </a:p>
        </p:txBody>
      </p:sp>
      <p:sp>
        <p:nvSpPr>
          <p:cNvPr id="360" name="Google Shape;360;p57"/>
          <p:cNvSpPr txBox="1"/>
          <p:nvPr/>
        </p:nvSpPr>
        <p:spPr>
          <a:xfrm>
            <a:off x="487600" y="3328325"/>
            <a:ext cx="7020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#7: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Addressed objections that Bitcoin Can't Scale, Enables Crime, Proof of Work is Bad, is Right-Wing, &amp; Blockchain, not Bitcoin, is the true innovation</a:t>
            </a:r>
            <a:endParaRPr sz="18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Meeting #8-10: </a:t>
            </a:r>
            <a:endParaRPr/>
          </a:p>
        </p:txBody>
      </p:sp>
      <p:sp>
        <p:nvSpPr>
          <p:cNvPr id="366" name="Google Shape;366;p58"/>
          <p:cNvSpPr txBox="1"/>
          <p:nvPr/>
        </p:nvSpPr>
        <p:spPr>
          <a:xfrm>
            <a:off x="358225" y="979300"/>
            <a:ext cx="8185200" cy="12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#8: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What Lightning is &amp; its main use cases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Taproot Assets &amp; the verb "Bitcoinize"</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The Bitcoin Renaissance </a:t>
            </a:r>
            <a:endParaRPr sz="1800">
              <a:solidFill>
                <a:schemeClr val="lt1"/>
              </a:solidFill>
              <a:latin typeface="Proxima Nova"/>
              <a:ea typeface="Proxima Nova"/>
              <a:cs typeface="Proxima Nova"/>
              <a:sym typeface="Proxima Nova"/>
            </a:endParaRPr>
          </a:p>
        </p:txBody>
      </p:sp>
      <p:sp>
        <p:nvSpPr>
          <p:cNvPr id="367" name="Google Shape;367;p58"/>
          <p:cNvSpPr txBox="1"/>
          <p:nvPr/>
        </p:nvSpPr>
        <p:spPr>
          <a:xfrm>
            <a:off x="358225" y="2438400"/>
            <a:ext cx="8697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#9: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The Bitcoin Halving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is a rules-based, not a ruler-based system. </a:t>
            </a:r>
            <a:endParaRPr sz="1800">
              <a:solidFill>
                <a:schemeClr val="lt1"/>
              </a:solidFill>
              <a:latin typeface="Proxima Nova"/>
              <a:ea typeface="Proxima Nova"/>
              <a:cs typeface="Proxima Nova"/>
              <a:sym typeface="Proxima Nova"/>
            </a:endParaRPr>
          </a:p>
        </p:txBody>
      </p:sp>
      <p:sp>
        <p:nvSpPr>
          <p:cNvPr id="368" name="Google Shape;368;p58"/>
          <p:cNvSpPr txBox="1"/>
          <p:nvPr/>
        </p:nvSpPr>
        <p:spPr>
          <a:xfrm>
            <a:off x="456000" y="3654500"/>
            <a:ext cx="8111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#10: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Bitcoin’s UTXO model &amp; transaction components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Overview of Bitcoin Addresses &amp; Wallets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Trade-off considerations between fee savings &amp; privacy</a:t>
            </a:r>
            <a:endParaRPr sz="18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Meeting #11: </a:t>
            </a:r>
            <a:endParaRPr/>
          </a:p>
        </p:txBody>
      </p:sp>
      <p:sp>
        <p:nvSpPr>
          <p:cNvPr id="374" name="Google Shape;374;p59"/>
          <p:cNvSpPr txBox="1"/>
          <p:nvPr/>
        </p:nvSpPr>
        <p:spPr>
          <a:xfrm>
            <a:off x="358225" y="979300"/>
            <a:ext cx="8185200" cy="9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#11: </a:t>
            </a:r>
            <a:r>
              <a:rPr lang="en" sz="1800">
                <a:solidFill>
                  <a:schemeClr val="lt1"/>
                </a:solidFill>
                <a:latin typeface="Proxima Nova"/>
                <a:ea typeface="Proxima Nova"/>
                <a:cs typeface="Proxima Nova"/>
                <a:sym typeface="Proxima Nova"/>
              </a:rPr>
              <a:t>Part 1: Bitcoin &amp; Human Rights</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is privacy protecting freedom technology</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p:txBody>
      </p:sp>
      <p:sp>
        <p:nvSpPr>
          <p:cNvPr id="375" name="Google Shape;375;p59"/>
          <p:cNvSpPr txBox="1"/>
          <p:nvPr/>
        </p:nvSpPr>
        <p:spPr>
          <a:xfrm>
            <a:off x="358225" y="2613250"/>
            <a:ext cx="759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Meeting #11: Part 2: Bitcoin &amp; You</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Bitcoin is a tool for you</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Bitcoin…what is it? </a:t>
            </a:r>
            <a:endParaRPr/>
          </a:p>
        </p:txBody>
      </p:sp>
      <p:sp>
        <p:nvSpPr>
          <p:cNvPr id="381" name="Google Shape;381;p60"/>
          <p:cNvSpPr txBox="1"/>
          <p:nvPr/>
        </p:nvSpPr>
        <p:spPr>
          <a:xfrm>
            <a:off x="1860950" y="1261625"/>
            <a:ext cx="5548500" cy="354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latin typeface="Barlow"/>
                <a:ea typeface="Barlow"/>
                <a:cs typeface="Barlow"/>
                <a:sym typeface="Barlow"/>
              </a:rPr>
              <a:t>Money</a:t>
            </a:r>
            <a:r>
              <a:rPr b="1" lang="en" sz="2000">
                <a:solidFill>
                  <a:schemeClr val="lt1"/>
                </a:solidFill>
                <a:latin typeface="Barlow"/>
                <a:ea typeface="Barlow"/>
                <a:cs typeface="Barlow"/>
                <a:sym typeface="Barlow"/>
              </a:rPr>
              <a:t> </a:t>
            </a:r>
            <a:r>
              <a:rPr lang="en" sz="2000">
                <a:solidFill>
                  <a:schemeClr val="lt1"/>
                </a:solidFill>
                <a:latin typeface="Barlow"/>
                <a:ea typeface="Barlow"/>
                <a:cs typeface="Barlow"/>
                <a:sym typeface="Barlow"/>
              </a:rPr>
              <a:t>The Whole World Can Use</a:t>
            </a:r>
            <a:endParaRPr sz="2000">
              <a:solidFill>
                <a:schemeClr val="lt1"/>
              </a:solidFill>
              <a:latin typeface="Barlow"/>
              <a:ea typeface="Barlow"/>
              <a:cs typeface="Barlow"/>
              <a:sym typeface="Barlow"/>
            </a:endParaRPr>
          </a:p>
          <a:p>
            <a:pPr indent="0" lvl="0" marL="0" rtl="0" algn="ctr">
              <a:spcBef>
                <a:spcPts val="0"/>
              </a:spcBef>
              <a:spcAft>
                <a:spcPts val="0"/>
              </a:spcAft>
              <a:buNone/>
            </a:pPr>
            <a:r>
              <a:t/>
            </a:r>
            <a:endParaRPr sz="2000">
              <a:solidFill>
                <a:schemeClr val="lt1"/>
              </a:solidFill>
              <a:latin typeface="Barlow"/>
              <a:ea typeface="Barlow"/>
              <a:cs typeface="Barlow"/>
              <a:sym typeface="Barlow"/>
            </a:endParaRPr>
          </a:p>
          <a:p>
            <a:pPr indent="0" lvl="0" marL="0" rtl="0" algn="ctr">
              <a:spcBef>
                <a:spcPts val="0"/>
              </a:spcBef>
              <a:spcAft>
                <a:spcPts val="0"/>
              </a:spcAft>
              <a:buNone/>
            </a:pPr>
            <a:r>
              <a:rPr b="1" lang="en" sz="2800">
                <a:solidFill>
                  <a:schemeClr val="lt1"/>
                </a:solidFill>
                <a:latin typeface="Barlow"/>
                <a:ea typeface="Barlow"/>
                <a:cs typeface="Barlow"/>
                <a:sym typeface="Barlow"/>
              </a:rPr>
              <a:t>Property</a:t>
            </a:r>
            <a:r>
              <a:rPr b="1" lang="en" sz="2000">
                <a:solidFill>
                  <a:schemeClr val="lt1"/>
                </a:solidFill>
                <a:latin typeface="Barlow"/>
                <a:ea typeface="Barlow"/>
                <a:cs typeface="Barlow"/>
                <a:sym typeface="Barlow"/>
              </a:rPr>
              <a:t> </a:t>
            </a:r>
            <a:r>
              <a:rPr lang="en" sz="2000">
                <a:solidFill>
                  <a:schemeClr val="lt1"/>
                </a:solidFill>
                <a:latin typeface="Barlow"/>
                <a:ea typeface="Barlow"/>
                <a:cs typeface="Barlow"/>
                <a:sym typeface="Barlow"/>
              </a:rPr>
              <a:t>Every Person Can Own</a:t>
            </a:r>
            <a:endParaRPr sz="2000">
              <a:solidFill>
                <a:schemeClr val="lt1"/>
              </a:solidFill>
              <a:latin typeface="Barlow"/>
              <a:ea typeface="Barlow"/>
              <a:cs typeface="Barlow"/>
              <a:sym typeface="Barlow"/>
            </a:endParaRPr>
          </a:p>
          <a:p>
            <a:pPr indent="0" lvl="0" marL="0" rtl="0" algn="ctr">
              <a:spcBef>
                <a:spcPts val="0"/>
              </a:spcBef>
              <a:spcAft>
                <a:spcPts val="0"/>
              </a:spcAft>
              <a:buNone/>
            </a:pPr>
            <a:r>
              <a:t/>
            </a:r>
            <a:endParaRPr sz="2000">
              <a:solidFill>
                <a:schemeClr val="lt1"/>
              </a:solidFill>
              <a:latin typeface="Barlow"/>
              <a:ea typeface="Barlow"/>
              <a:cs typeface="Barlow"/>
              <a:sym typeface="Barlow"/>
            </a:endParaRPr>
          </a:p>
          <a:p>
            <a:pPr indent="0" lvl="0" marL="0" rtl="0" algn="ctr">
              <a:spcBef>
                <a:spcPts val="0"/>
              </a:spcBef>
              <a:spcAft>
                <a:spcPts val="0"/>
              </a:spcAft>
              <a:buNone/>
            </a:pPr>
            <a:r>
              <a:rPr lang="en" sz="2000">
                <a:solidFill>
                  <a:schemeClr val="lt1"/>
                </a:solidFill>
                <a:latin typeface="Barlow"/>
                <a:ea typeface="Barlow"/>
                <a:cs typeface="Barlow"/>
                <a:sym typeface="Barlow"/>
              </a:rPr>
              <a:t>(Digital)</a:t>
            </a:r>
            <a:r>
              <a:rPr lang="en" sz="2800">
                <a:solidFill>
                  <a:schemeClr val="lt1"/>
                </a:solidFill>
                <a:latin typeface="Barlow"/>
                <a:ea typeface="Barlow"/>
                <a:cs typeface="Barlow"/>
                <a:sym typeface="Barlow"/>
              </a:rPr>
              <a:t> </a:t>
            </a:r>
            <a:r>
              <a:rPr b="1" lang="en" sz="2800">
                <a:solidFill>
                  <a:schemeClr val="lt1"/>
                </a:solidFill>
                <a:latin typeface="Barlow"/>
                <a:ea typeface="Barlow"/>
                <a:cs typeface="Barlow"/>
                <a:sym typeface="Barlow"/>
              </a:rPr>
              <a:t>Energy</a:t>
            </a:r>
            <a:r>
              <a:rPr b="1" lang="en" sz="2000">
                <a:solidFill>
                  <a:schemeClr val="lt1"/>
                </a:solidFill>
                <a:latin typeface="Barlow"/>
                <a:ea typeface="Barlow"/>
                <a:cs typeface="Barlow"/>
                <a:sym typeface="Barlow"/>
              </a:rPr>
              <a:t> </a:t>
            </a:r>
            <a:r>
              <a:rPr lang="en" sz="2000">
                <a:solidFill>
                  <a:schemeClr val="lt1"/>
                </a:solidFill>
                <a:latin typeface="Barlow"/>
                <a:ea typeface="Barlow"/>
                <a:cs typeface="Barlow"/>
                <a:sym typeface="Barlow"/>
              </a:rPr>
              <a:t>/ Savings Technology</a:t>
            </a:r>
            <a:endParaRPr sz="2000">
              <a:solidFill>
                <a:schemeClr val="lt1"/>
              </a:solidFill>
              <a:latin typeface="Barlow"/>
              <a:ea typeface="Barlow"/>
              <a:cs typeface="Barlow"/>
              <a:sym typeface="Barlow"/>
            </a:endParaRPr>
          </a:p>
          <a:p>
            <a:pPr indent="0" lvl="0" marL="0" rtl="0" algn="ctr">
              <a:spcBef>
                <a:spcPts val="0"/>
              </a:spcBef>
              <a:spcAft>
                <a:spcPts val="0"/>
              </a:spcAft>
              <a:buNone/>
            </a:pPr>
            <a:r>
              <a:t/>
            </a:r>
            <a:endParaRPr sz="2000">
              <a:solidFill>
                <a:schemeClr val="lt1"/>
              </a:solidFill>
              <a:latin typeface="Barlow"/>
              <a:ea typeface="Barlow"/>
              <a:cs typeface="Barlow"/>
              <a:sym typeface="Barlow"/>
            </a:endParaRPr>
          </a:p>
          <a:p>
            <a:pPr indent="0" lvl="0" marL="0" rtl="0" algn="ctr">
              <a:spcBef>
                <a:spcPts val="0"/>
              </a:spcBef>
              <a:spcAft>
                <a:spcPts val="0"/>
              </a:spcAft>
              <a:buNone/>
            </a:pPr>
            <a:r>
              <a:rPr lang="en" sz="2000">
                <a:solidFill>
                  <a:schemeClr val="lt1"/>
                </a:solidFill>
                <a:latin typeface="Barlow"/>
                <a:ea typeface="Barlow"/>
                <a:cs typeface="Barlow"/>
                <a:sym typeface="Barlow"/>
              </a:rPr>
              <a:t>Privacy-Enabling </a:t>
            </a:r>
            <a:r>
              <a:rPr b="1" lang="en" sz="2800">
                <a:solidFill>
                  <a:schemeClr val="lt1"/>
                </a:solidFill>
                <a:latin typeface="Barlow"/>
                <a:ea typeface="Barlow"/>
                <a:cs typeface="Barlow"/>
                <a:sym typeface="Barlow"/>
              </a:rPr>
              <a:t>Freedom</a:t>
            </a:r>
            <a:r>
              <a:rPr lang="en" sz="2000">
                <a:solidFill>
                  <a:schemeClr val="lt1"/>
                </a:solidFill>
                <a:latin typeface="Barlow"/>
                <a:ea typeface="Barlow"/>
                <a:cs typeface="Barlow"/>
                <a:sym typeface="Barlow"/>
              </a:rPr>
              <a:t> Technology </a:t>
            </a:r>
            <a:endParaRPr sz="2000">
              <a:solidFill>
                <a:schemeClr val="lt1"/>
              </a:solidFill>
              <a:latin typeface="Barlow"/>
              <a:ea typeface="Barlow"/>
              <a:cs typeface="Barlow"/>
              <a:sym typeface="Barlow"/>
            </a:endParaRPr>
          </a:p>
          <a:p>
            <a:pPr indent="0" lvl="0" marL="0" rtl="0" algn="l">
              <a:spcBef>
                <a:spcPts val="0"/>
              </a:spcBef>
              <a:spcAft>
                <a:spcPts val="0"/>
              </a:spcAft>
              <a:buNone/>
            </a:pPr>
            <a:r>
              <a:t/>
            </a:r>
            <a:endParaRPr sz="2000">
              <a:solidFill>
                <a:schemeClr val="lt1"/>
              </a:solidFill>
              <a:latin typeface="Barlow"/>
              <a:ea typeface="Barlow"/>
              <a:cs typeface="Barlow"/>
              <a:sym typeface="Barlow"/>
            </a:endParaRPr>
          </a:p>
          <a:p>
            <a:pPr indent="0" lvl="0" marL="0" rtl="0" algn="ctr">
              <a:spcBef>
                <a:spcPts val="0"/>
              </a:spcBef>
              <a:spcAft>
                <a:spcPts val="0"/>
              </a:spcAft>
              <a:buNone/>
            </a:pPr>
            <a:r>
              <a:rPr b="1" lang="en" sz="2000">
                <a:solidFill>
                  <a:schemeClr val="lt1"/>
                </a:solidFill>
                <a:latin typeface="Barlow"/>
                <a:ea typeface="Barlow"/>
                <a:cs typeface="Barlow"/>
                <a:sym typeface="Barlow"/>
              </a:rPr>
              <a:t>…</a:t>
            </a:r>
            <a:endParaRPr b="1" sz="2000">
              <a:solidFill>
                <a:schemeClr val="lt1"/>
              </a:solidFill>
              <a:latin typeface="Barlow"/>
              <a:ea typeface="Barlow"/>
              <a:cs typeface="Barlow"/>
              <a:sym typeface="Barlow"/>
            </a:endParaRPr>
          </a:p>
          <a:p>
            <a:pPr indent="0" lvl="0" marL="457200" rtl="0" algn="l">
              <a:spcBef>
                <a:spcPts val="0"/>
              </a:spcBef>
              <a:spcAft>
                <a:spcPts val="0"/>
              </a:spcAft>
              <a:buNone/>
            </a:pPr>
            <a:r>
              <a:t/>
            </a:r>
            <a:endParaRPr b="1" sz="2000">
              <a:solidFill>
                <a:schemeClr val="lt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ph type="title"/>
          </p:nvPr>
        </p:nvSpPr>
        <p:spPr>
          <a:xfrm>
            <a:off x="460950" y="2065350"/>
            <a:ext cx="48858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And, so much more. </a:t>
            </a:r>
            <a:endParaRPr/>
          </a:p>
        </p:txBody>
      </p:sp>
      <p:pic>
        <p:nvPicPr>
          <p:cNvPr id="387" name="Google Shape;387;p61"/>
          <p:cNvPicPr preferRelativeResize="0"/>
          <p:nvPr/>
        </p:nvPicPr>
        <p:blipFill>
          <a:blip r:embed="rId3">
            <a:alphaModFix/>
          </a:blip>
          <a:stretch>
            <a:fillRect/>
          </a:stretch>
        </p:blipFill>
        <p:spPr>
          <a:xfrm>
            <a:off x="5346750" y="1161237"/>
            <a:ext cx="3619200" cy="2821024"/>
          </a:xfrm>
          <a:prstGeom prst="rect">
            <a:avLst/>
          </a:prstGeom>
          <a:noFill/>
          <a:ln>
            <a:noFill/>
          </a:ln>
        </p:spPr>
      </p:pic>
      <p:pic>
        <p:nvPicPr>
          <p:cNvPr id="388" name="Google Shape;388;p6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Fall 2024: What’s coming? </a:t>
            </a:r>
            <a:endParaRPr sz="1983"/>
          </a:p>
        </p:txBody>
      </p:sp>
      <p:pic>
        <p:nvPicPr>
          <p:cNvPr id="394" name="Google Shape;394;p6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Recommended Resources</a:t>
            </a:r>
            <a:endParaRPr sz="1983"/>
          </a:p>
        </p:txBody>
      </p:sp>
      <p:pic>
        <p:nvPicPr>
          <p:cNvPr id="400" name="Google Shape;400;p6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Newsletters</a:t>
            </a:r>
            <a:endParaRPr/>
          </a:p>
        </p:txBody>
      </p:sp>
      <p:sp>
        <p:nvSpPr>
          <p:cNvPr id="406" name="Google Shape;406;p64"/>
          <p:cNvSpPr txBox="1"/>
          <p:nvPr/>
        </p:nvSpPr>
        <p:spPr>
          <a:xfrm>
            <a:off x="545600" y="1054000"/>
            <a:ext cx="7411800" cy="3556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General: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3">
                  <a:extLst>
                    <a:ext uri="{A12FA001-AC4F-418D-AE19-62706E023703}">
                      <ahyp:hlinkClr val="tx"/>
                    </a:ext>
                  </a:extLst>
                </a:hlinkClick>
              </a:rPr>
              <a:t>https://nataliebrunell.substack.com/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Human Rights: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4">
                  <a:extLst>
                    <a:ext uri="{A12FA001-AC4F-418D-AE19-62706E023703}">
                      <ahyp:hlinkClr val="tx"/>
                    </a:ext>
                  </a:extLst>
                </a:hlinkClick>
              </a:rPr>
              <a:t>HRF’s Financial Freedom Newsletter</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Mining:</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5">
                  <a:extLst>
                    <a:ext uri="{A12FA001-AC4F-418D-AE19-62706E023703}">
                      <ahyp:hlinkClr val="tx"/>
                    </a:ext>
                  </a:extLst>
                </a:hlinkClick>
              </a:rPr>
              <a:t>https://thevibecheck.substack.com/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Macro: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6">
                  <a:extLst>
                    <a:ext uri="{A12FA001-AC4F-418D-AE19-62706E023703}">
                      <ahyp:hlinkClr val="tx"/>
                    </a:ext>
                  </a:extLst>
                </a:hlinkClick>
              </a:rPr>
              <a:t>https://jameslavish.substack.com/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7">
                  <a:extLst>
                    <a:ext uri="{A12FA001-AC4F-418D-AE19-62706E023703}">
                      <ahyp:hlinkClr val="tx"/>
                    </a:ext>
                  </a:extLst>
                </a:hlinkClick>
              </a:rPr>
              <a:t>https://thebitcoinlayer.substack.com/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Lightning: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8">
                  <a:extLst>
                    <a:ext uri="{A12FA001-AC4F-418D-AE19-62706E023703}">
                      <ahyp:hlinkClr val="tx"/>
                    </a:ext>
                  </a:extLst>
                </a:hlinkClick>
              </a:rPr>
              <a:t>https://lightninglabs.substack.com/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Bitcoin Students Network: </a:t>
            </a:r>
            <a:endParaRPr sz="1600">
              <a:solidFill>
                <a:schemeClr val="lt1"/>
              </a:solidFill>
              <a:latin typeface="Proxima Nova"/>
              <a:ea typeface="Proxima Nova"/>
              <a:cs typeface="Proxima Nova"/>
              <a:sym typeface="Proxima Nova"/>
            </a:endParaRPr>
          </a:p>
          <a:p>
            <a:pPr indent="-330200" lvl="1" marL="914400" rtl="0" algn="l">
              <a:spcBef>
                <a:spcPts val="0"/>
              </a:spcBef>
              <a:spcAft>
                <a:spcPts val="0"/>
              </a:spcAft>
              <a:buClr>
                <a:schemeClr val="lt1"/>
              </a:buClr>
              <a:buSzPts val="1600"/>
              <a:buFont typeface="Proxima Nova"/>
              <a:buChar char="-"/>
            </a:pPr>
            <a:r>
              <a:rPr lang="en" sz="1600" u="sng">
                <a:solidFill>
                  <a:schemeClr val="lt1"/>
                </a:solidFill>
                <a:latin typeface="Proxima Nova"/>
                <a:ea typeface="Proxima Nova"/>
                <a:cs typeface="Proxima Nova"/>
                <a:sym typeface="Proxima Nova"/>
                <a:hlinkClick r:id="rId9">
                  <a:extLst>
                    <a:ext uri="{A12FA001-AC4F-418D-AE19-62706E023703}">
                      <ahyp:hlinkClr val="tx"/>
                    </a:ext>
                  </a:extLst>
                </a:hlinkClick>
              </a:rPr>
              <a:t>https://bitcoinstudentsnetwork.substack.com/</a:t>
            </a:r>
            <a:r>
              <a:rPr lang="en" sz="1600">
                <a:solidFill>
                  <a:schemeClr val="lt1"/>
                </a:solidFill>
                <a:latin typeface="Proxima Nova"/>
                <a:ea typeface="Proxima Nova"/>
                <a:cs typeface="Proxima Nova"/>
                <a:sym typeface="Proxima Nova"/>
              </a:rPr>
              <a:t> </a:t>
            </a:r>
            <a:endParaRPr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lt1"/>
              </a:solidFill>
              <a:latin typeface="Proxima Nova"/>
              <a:ea typeface="Proxima Nova"/>
              <a:cs typeface="Proxima Nova"/>
              <a:sym typeface="Proxima Nov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Podcasts</a:t>
            </a:r>
            <a:endParaRPr/>
          </a:p>
        </p:txBody>
      </p:sp>
      <p:sp>
        <p:nvSpPr>
          <p:cNvPr id="412" name="Google Shape;412;p65"/>
          <p:cNvSpPr txBox="1"/>
          <p:nvPr/>
        </p:nvSpPr>
        <p:spPr>
          <a:xfrm>
            <a:off x="654000" y="880475"/>
            <a:ext cx="8153400" cy="41868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General: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Coin Stories with Natalie Brunell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What Bitcoin Did with Peter McCormack</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a:t>
            </a:r>
            <a:r>
              <a:rPr lang="en" sz="1300">
                <a:solidFill>
                  <a:schemeClr val="lt1"/>
                </a:solidFill>
                <a:latin typeface="Proxima Nova"/>
                <a:ea typeface="Proxima Nova"/>
                <a:cs typeface="Proxima Nova"/>
                <a:sym typeface="Proxima Nova"/>
              </a:rPr>
              <a:t>Investors</a:t>
            </a:r>
            <a:r>
              <a:rPr lang="en" sz="1300">
                <a:solidFill>
                  <a:schemeClr val="lt1"/>
                </a:solidFill>
                <a:latin typeface="Proxima Nova"/>
                <a:ea typeface="Proxima Nova"/>
                <a:cs typeface="Proxima Nova"/>
                <a:sym typeface="Proxima Nova"/>
              </a:rPr>
              <a:t> Podcast </a:t>
            </a:r>
            <a:r>
              <a:rPr lang="en" sz="1300">
                <a:solidFill>
                  <a:schemeClr val="lt1"/>
                </a:solidFill>
                <a:latin typeface="Proxima Nova"/>
                <a:ea typeface="Proxima Nova"/>
                <a:cs typeface="Proxima Nova"/>
                <a:sym typeface="Proxima Nova"/>
              </a:rPr>
              <a:t>Network: Bitcoin Fundamentals </a:t>
            </a:r>
            <a:r>
              <a:rPr lang="en" sz="1300">
                <a:solidFill>
                  <a:schemeClr val="lt1"/>
                </a:solidFill>
                <a:latin typeface="Proxima Nova"/>
                <a:ea typeface="Proxima Nova"/>
                <a:cs typeface="Proxima Nova"/>
                <a:sym typeface="Proxima Nova"/>
              </a:rPr>
              <a:t>with Preston Pysh</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Why Are We Bullish?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Galaxy Brains</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TPB Pod</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Bitcoin </a:t>
            </a:r>
            <a:r>
              <a:rPr lang="en" sz="1300">
                <a:solidFill>
                  <a:schemeClr val="lt1"/>
                </a:solidFill>
                <a:latin typeface="Proxima Nova"/>
                <a:ea typeface="Proxima Nova"/>
                <a:cs typeface="Proxima Nova"/>
                <a:sym typeface="Proxima Nova"/>
              </a:rPr>
              <a:t>Frontier</a:t>
            </a:r>
            <a:r>
              <a:rPr lang="en" sz="1300">
                <a:solidFill>
                  <a:schemeClr val="lt1"/>
                </a:solidFill>
                <a:latin typeface="Proxima Nova"/>
                <a:ea typeface="Proxima Nova"/>
                <a:cs typeface="Proxima Nova"/>
                <a:sym typeface="Proxima Nova"/>
              </a:rPr>
              <a:t>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Mining:</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Energizing Bitcoin</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Mining Pod</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HashrateUp</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High Hash Rate</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Macro: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Bitcoin Layer</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Deep: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“What is Money?” Show</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TFTC: A Bitcoin Podcast</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Rabbit Hole Recap</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The Freedom Footprint Show</a:t>
            </a:r>
            <a:endParaRPr sz="1300">
              <a:solidFill>
                <a:schemeClr val="lt1"/>
              </a:solidFill>
              <a:latin typeface="Proxima Nova"/>
              <a:ea typeface="Proxima Nova"/>
              <a:cs typeface="Proxima Nova"/>
              <a:sym typeface="Proxima Nov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Books</a:t>
            </a:r>
            <a:endParaRPr/>
          </a:p>
        </p:txBody>
      </p:sp>
      <p:sp>
        <p:nvSpPr>
          <p:cNvPr id="418" name="Google Shape;418;p66"/>
          <p:cNvSpPr txBox="1"/>
          <p:nvPr/>
        </p:nvSpPr>
        <p:spPr>
          <a:xfrm>
            <a:off x="499925" y="910875"/>
            <a:ext cx="7938300" cy="35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First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Price of Tomorrow</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Check Your Financial Privilege</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Bullish Case for Bitcoin</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Gradually, then Suddenly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Resistance Money</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Next</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Broken Money</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Bitcoin Standard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Fiat Standard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Layered Money</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Hidden Repression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A Progressive’s Case for Bitcoin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Hidden Cost of Money</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Later</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Sovereign Individual</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Energy and Civilization</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Creature from Jekyll Island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The Blocksize War</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Technical</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Inventing Bitcoin</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Programming Bitcoin</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Mastering Bitcoin</a:t>
            </a:r>
            <a:endParaRPr sz="1100">
              <a:solidFill>
                <a:schemeClr val="lt1"/>
              </a:solidFill>
              <a:latin typeface="Proxima Nova"/>
              <a:ea typeface="Proxima Nova"/>
              <a:cs typeface="Proxima Nova"/>
              <a:sym typeface="Proxima Nov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7"/>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Ending as we began, if </a:t>
            </a:r>
            <a:r>
              <a:rPr lang="en"/>
              <a:t>nothing else, please know…</a:t>
            </a:r>
            <a:endParaRPr/>
          </a:p>
        </p:txBody>
      </p:sp>
      <p:pic>
        <p:nvPicPr>
          <p:cNvPr id="424" name="Google Shape;424;p6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8"/>
          <p:cNvSpPr txBox="1"/>
          <p:nvPr>
            <p:ph type="title"/>
          </p:nvPr>
        </p:nvSpPr>
        <p:spPr>
          <a:xfrm>
            <a:off x="460950" y="2065350"/>
            <a:ext cx="8222100" cy="1425300"/>
          </a:xfrm>
          <a:prstGeom prst="rect">
            <a:avLst/>
          </a:prstGeom>
        </p:spPr>
        <p:txBody>
          <a:bodyPr anchorCtr="0" anchor="ctr" bIns="91425" lIns="91425" spcFirstLastPara="1" rIns="91425" wrap="square" tIns="91425">
            <a:normAutofit fontScale="90000"/>
          </a:bodyPr>
          <a:lstStyle/>
          <a:p>
            <a:pPr indent="-468630" lvl="0" marL="457200" rtl="0" algn="l">
              <a:spcBef>
                <a:spcPts val="0"/>
              </a:spcBef>
              <a:spcAft>
                <a:spcPts val="0"/>
              </a:spcAft>
              <a:buSzPct val="100000"/>
              <a:buAutoNum type="arabicPeriod"/>
            </a:pPr>
            <a:r>
              <a:rPr lang="en"/>
              <a:t>bitcoin is a tool in your toolbox. </a:t>
            </a:r>
            <a:endParaRPr/>
          </a:p>
          <a:p>
            <a:pPr indent="0" lvl="0" marL="0" rtl="0" algn="l">
              <a:spcBef>
                <a:spcPts val="0"/>
              </a:spcBef>
              <a:spcAft>
                <a:spcPts val="0"/>
              </a:spcAft>
              <a:buNone/>
            </a:pPr>
            <a:r>
              <a:rPr i="1" lang="en" sz="1650"/>
              <a:t>to protect against monetary debasement and uncertainty</a:t>
            </a:r>
            <a:endParaRPr/>
          </a:p>
          <a:p>
            <a:pPr indent="0" lvl="0" marL="0" rtl="0" algn="l">
              <a:spcBef>
                <a:spcPts val="0"/>
              </a:spcBef>
              <a:spcAft>
                <a:spcPts val="0"/>
              </a:spcAft>
              <a:buNone/>
            </a:pPr>
            <a:r>
              <a:t/>
            </a:r>
            <a:endParaRPr i="1" sz="1650"/>
          </a:p>
        </p:txBody>
      </p:sp>
      <p:pic>
        <p:nvPicPr>
          <p:cNvPr id="430" name="Google Shape;430;p6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2. Take your bitcoin off exchanges. </a:t>
            </a:r>
            <a:endParaRPr/>
          </a:p>
        </p:txBody>
      </p:sp>
      <p:pic>
        <p:nvPicPr>
          <p:cNvPr id="436" name="Google Shape;436;p6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3. My door is always open. </a:t>
            </a:r>
            <a:endParaRPr/>
          </a:p>
        </p:txBody>
      </p:sp>
      <p:pic>
        <p:nvPicPr>
          <p:cNvPr id="442" name="Google Shape;442;p7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1"/>
          <p:cNvSpPr txBox="1"/>
          <p:nvPr/>
        </p:nvSpPr>
        <p:spPr>
          <a:xfrm>
            <a:off x="900075" y="4245950"/>
            <a:ext cx="2993100" cy="34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How it started </a:t>
            </a:r>
            <a:endParaRPr sz="1800">
              <a:solidFill>
                <a:schemeClr val="lt1"/>
              </a:solidFill>
              <a:latin typeface="Proxima Nova"/>
              <a:ea typeface="Proxima Nova"/>
              <a:cs typeface="Proxima Nova"/>
              <a:sym typeface="Proxima Nova"/>
            </a:endParaRPr>
          </a:p>
        </p:txBody>
      </p:sp>
      <p:sp>
        <p:nvSpPr>
          <p:cNvPr id="448" name="Google Shape;448;p71"/>
          <p:cNvSpPr txBox="1"/>
          <p:nvPr/>
        </p:nvSpPr>
        <p:spPr>
          <a:xfrm>
            <a:off x="5015400" y="4245938"/>
            <a:ext cx="2993100" cy="34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How it’s going</a:t>
            </a:r>
            <a:endParaRPr sz="1800">
              <a:solidFill>
                <a:schemeClr val="lt1"/>
              </a:solidFill>
              <a:latin typeface="Proxima Nova"/>
              <a:ea typeface="Proxima Nova"/>
              <a:cs typeface="Proxima Nova"/>
              <a:sym typeface="Proxima Nova"/>
            </a:endParaRPr>
          </a:p>
        </p:txBody>
      </p:sp>
      <p:pic>
        <p:nvPicPr>
          <p:cNvPr id="449" name="Google Shape;449;p71"/>
          <p:cNvPicPr preferRelativeResize="0"/>
          <p:nvPr/>
        </p:nvPicPr>
        <p:blipFill>
          <a:blip r:embed="rId3">
            <a:alphaModFix/>
          </a:blip>
          <a:stretch>
            <a:fillRect/>
          </a:stretch>
        </p:blipFill>
        <p:spPr>
          <a:xfrm>
            <a:off x="652475" y="1709325"/>
            <a:ext cx="3631950" cy="2485750"/>
          </a:xfrm>
          <a:prstGeom prst="rect">
            <a:avLst/>
          </a:prstGeom>
          <a:noFill/>
          <a:ln>
            <a:noFill/>
          </a:ln>
        </p:spPr>
      </p:pic>
      <p:pic>
        <p:nvPicPr>
          <p:cNvPr id="450" name="Google Shape;450;p71"/>
          <p:cNvPicPr preferRelativeResize="0"/>
          <p:nvPr/>
        </p:nvPicPr>
        <p:blipFill>
          <a:blip r:embed="rId4">
            <a:alphaModFix/>
          </a:blip>
          <a:stretch>
            <a:fillRect/>
          </a:stretch>
        </p:blipFill>
        <p:spPr>
          <a:xfrm>
            <a:off x="4917200" y="912475"/>
            <a:ext cx="3189500" cy="331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72"/>
          <p:cNvPicPr preferRelativeResize="0"/>
          <p:nvPr/>
        </p:nvPicPr>
        <p:blipFill>
          <a:blip r:embed="rId3">
            <a:alphaModFix/>
          </a:blip>
          <a:stretch>
            <a:fillRect/>
          </a:stretch>
        </p:blipFill>
        <p:spPr>
          <a:xfrm>
            <a:off x="2225125" y="413900"/>
            <a:ext cx="4331675" cy="43157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Larger Network</a:t>
            </a:r>
            <a:endParaRPr/>
          </a:p>
        </p:txBody>
      </p:sp>
      <p:pic>
        <p:nvPicPr>
          <p:cNvPr id="461" name="Google Shape;461;p73"/>
          <p:cNvPicPr preferRelativeResize="0"/>
          <p:nvPr/>
        </p:nvPicPr>
        <p:blipFill>
          <a:blip r:embed="rId3">
            <a:alphaModFix/>
          </a:blip>
          <a:stretch>
            <a:fillRect/>
          </a:stretch>
        </p:blipFill>
        <p:spPr>
          <a:xfrm>
            <a:off x="152400" y="1098550"/>
            <a:ext cx="8839200" cy="2946400"/>
          </a:xfrm>
          <a:prstGeom prst="rect">
            <a:avLst/>
          </a:prstGeom>
          <a:noFill/>
          <a:ln>
            <a:noFill/>
          </a:ln>
        </p:spPr>
      </p:pic>
      <p:sp>
        <p:nvSpPr>
          <p:cNvPr id="462" name="Google Shape;462;p73"/>
          <p:cNvSpPr txBox="1"/>
          <p:nvPr/>
        </p:nvSpPr>
        <p:spPr>
          <a:xfrm>
            <a:off x="3187400" y="4237200"/>
            <a:ext cx="22497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Now up to 26 countries!</a:t>
            </a:r>
            <a:endParaRPr>
              <a:solidFill>
                <a:schemeClr val="lt1"/>
              </a:solidFill>
              <a:latin typeface="Proxima Nova"/>
              <a:ea typeface="Proxima Nova"/>
              <a:cs typeface="Proxima Nova"/>
              <a:sym typeface="Proxima Nov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6" name="Shape 466"/>
        <p:cNvGrpSpPr/>
        <p:nvPr/>
      </p:nvGrpSpPr>
      <p:grpSpPr>
        <a:xfrm>
          <a:off x="0" y="0"/>
          <a:ext cx="0" cy="0"/>
          <a:chOff x="0" y="0"/>
          <a:chExt cx="0" cy="0"/>
        </a:xfrm>
      </p:grpSpPr>
      <p:sp>
        <p:nvSpPr>
          <p:cNvPr id="467" name="Google Shape;467;p74"/>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468" name="Google Shape;468;p7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