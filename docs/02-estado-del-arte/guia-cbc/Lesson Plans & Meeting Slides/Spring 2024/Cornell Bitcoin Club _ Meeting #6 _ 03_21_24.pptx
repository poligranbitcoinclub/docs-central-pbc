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Proxima Nova"/>
      <p:regular r:id="rId20"/>
      <p:bold r:id="rId21"/>
      <p:italic r:id="rId22"/>
      <p:boldItalic r:id="rId23"/>
    </p:embeddedFont>
    <p:embeddedFont>
      <p:font typeface="Roboto"/>
      <p:regular r:id="rId24"/>
      <p:bold r:id="rId25"/>
      <p:italic r:id="rId26"/>
      <p:boldItalic r:id="rId27"/>
    </p:embeddedFont>
    <p:embeddedFont>
      <p:font typeface="Proxima Nova Semibold"/>
      <p:regular r:id="rId28"/>
      <p:bold r:id="rId29"/>
      <p:boldItalic r:id="rId30"/>
    </p:embeddedFont>
    <p:embeddedFont>
      <p:font typeface="Barl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Roboto-regular.fntdata"/><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roximaNovaSemibold-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roximaNova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regular.fntdata"/><Relationship Id="rId30" Type="http://schemas.openxmlformats.org/officeDocument/2006/relationships/font" Target="fonts/ProximaNovaSemibold-boldItalic.fntdata"/><Relationship Id="rId11" Type="http://schemas.openxmlformats.org/officeDocument/2006/relationships/slide" Target="slides/slide7.xml"/><Relationship Id="rId33" Type="http://schemas.openxmlformats.org/officeDocument/2006/relationships/font" Target="fonts/Barlow-italic.fntdata"/><Relationship Id="rId10" Type="http://schemas.openxmlformats.org/officeDocument/2006/relationships/slide" Target="slides/slide6.xml"/><Relationship Id="rId32" Type="http://schemas.openxmlformats.org/officeDocument/2006/relationships/font" Target="fonts/Barlow-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Barlow-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53fbdca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c53fbdca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53fbdca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c53fbdca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282a304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c282a304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c282a304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c282a304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forms.gle/vBfuaiJMkbKjn79CA" TargetMode="Externa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forms.gle/STrYzqvvarv5XGyi8"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#6: March 21,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64806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Jason Brett, Bitcoin Policy </a:t>
            </a:r>
            <a:r>
              <a:rPr b="1" lang="en">
                <a:solidFill>
                  <a:schemeClr val="lt1"/>
                </a:solidFill>
                <a:latin typeface="Barlow"/>
                <a:ea typeface="Barlow"/>
                <a:cs typeface="Barlow"/>
                <a:sym typeface="Barlow"/>
              </a:rPr>
              <a:t>Institute</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Presentation </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#6</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152658"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108" name="Google Shape;108;p1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Logistics</a:t>
            </a:r>
            <a:endParaRPr/>
          </a:p>
        </p:txBody>
      </p:sp>
      <p:sp>
        <p:nvSpPr>
          <p:cNvPr id="114" name="Google Shape;114;p20"/>
          <p:cNvSpPr txBox="1"/>
          <p:nvPr/>
        </p:nvSpPr>
        <p:spPr>
          <a:xfrm>
            <a:off x="371150" y="1000075"/>
            <a:ext cx="8421900" cy="3785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Added everyone to Slack and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All events and emails will be sent through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Will send updates via slack &amp; text notification through CG (if I can figure it out haha)</a:t>
            </a:r>
            <a:endParaRPr sz="1500">
              <a:solidFill>
                <a:schemeClr val="lt1"/>
              </a:solidFill>
              <a:latin typeface="Proxima Nova"/>
              <a:ea typeface="Proxima Nova"/>
              <a:cs typeface="Proxima Nova"/>
              <a:sym typeface="Proxima Nova"/>
            </a:endParaRPr>
          </a:p>
          <a:p>
            <a:pPr indent="0" lvl="0" marL="91440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Schedule for rest of the semester: </a:t>
            </a:r>
            <a:endParaRPr sz="15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lt1"/>
              </a:solidFill>
              <a:latin typeface="Proxima Nova"/>
              <a:ea typeface="Proxima Nova"/>
              <a:cs typeface="Proxima Nova"/>
              <a:sym typeface="Proxima Nova"/>
            </a:endParaRPr>
          </a:p>
        </p:txBody>
      </p:sp>
      <p:pic>
        <p:nvPicPr>
          <p:cNvPr id="115" name="Google Shape;115;p20"/>
          <p:cNvPicPr preferRelativeResize="0"/>
          <p:nvPr/>
        </p:nvPicPr>
        <p:blipFill>
          <a:blip r:embed="rId3">
            <a:alphaModFix/>
          </a:blip>
          <a:stretch>
            <a:fillRect/>
          </a:stretch>
        </p:blipFill>
        <p:spPr>
          <a:xfrm>
            <a:off x="1763025" y="2316750"/>
            <a:ext cx="6050825" cy="2681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1"/>
          <p:cNvPicPr preferRelativeResize="0"/>
          <p:nvPr/>
        </p:nvPicPr>
        <p:blipFill>
          <a:blip r:embed="rId3">
            <a:alphaModFix/>
          </a:blip>
          <a:stretch>
            <a:fillRect/>
          </a:stretch>
        </p:blipFill>
        <p:spPr>
          <a:xfrm>
            <a:off x="782825" y="297825"/>
            <a:ext cx="7701274" cy="4335549"/>
          </a:xfrm>
          <a:prstGeom prst="rect">
            <a:avLst/>
          </a:prstGeom>
          <a:noFill/>
          <a:ln>
            <a:noFill/>
          </a:ln>
        </p:spPr>
      </p:pic>
      <p:pic>
        <p:nvPicPr>
          <p:cNvPr id="121" name="Google Shape;121;p2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2"/>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127" name="Google Shape;127;p2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Policy Institute Summit: </a:t>
            </a:r>
            <a:r>
              <a:rPr lang="en" sz="1500" u="sng">
                <a:hlinkClick r:id="rId3"/>
              </a:rPr>
              <a:t>https://forms.gle/vBfuaiJMkbKjn79CA</a:t>
            </a:r>
            <a:r>
              <a:rPr lang="en" sz="1500"/>
              <a:t> </a:t>
            </a:r>
            <a:endParaRPr sz="1500"/>
          </a:p>
        </p:txBody>
      </p:sp>
      <p:pic>
        <p:nvPicPr>
          <p:cNvPr id="133" name="Google Shape;133;p23"/>
          <p:cNvPicPr preferRelativeResize="0"/>
          <p:nvPr/>
        </p:nvPicPr>
        <p:blipFill>
          <a:blip r:embed="rId4">
            <a:alphaModFix/>
          </a:blip>
          <a:stretch>
            <a:fillRect/>
          </a:stretch>
        </p:blipFill>
        <p:spPr>
          <a:xfrm>
            <a:off x="1215500" y="983800"/>
            <a:ext cx="7354599" cy="3818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Field Research Opportunity: </a:t>
            </a:r>
            <a:r>
              <a:rPr lang="en" sz="1500" u="sng">
                <a:hlinkClick r:id="rId3"/>
              </a:rPr>
              <a:t>https://forms.gle/STrYzqvvarv5XGyi8</a:t>
            </a:r>
            <a:r>
              <a:rPr lang="en" sz="1500"/>
              <a:t>  </a:t>
            </a:r>
            <a:endParaRPr sz="1500"/>
          </a:p>
        </p:txBody>
      </p:sp>
      <p:pic>
        <p:nvPicPr>
          <p:cNvPr id="139" name="Google Shape;139;p24"/>
          <p:cNvPicPr preferRelativeResize="0"/>
          <p:nvPr/>
        </p:nvPicPr>
        <p:blipFill>
          <a:blip r:embed="rId4">
            <a:alphaModFix/>
          </a:blip>
          <a:stretch>
            <a:fillRect/>
          </a:stretch>
        </p:blipFill>
        <p:spPr>
          <a:xfrm>
            <a:off x="2993663" y="802500"/>
            <a:ext cx="3384382" cy="4219650"/>
          </a:xfrm>
          <a:prstGeom prst="rect">
            <a:avLst/>
          </a:prstGeom>
          <a:noFill/>
          <a:ln>
            <a:noFill/>
          </a:ln>
        </p:spPr>
      </p:pic>
      <p:sp>
        <p:nvSpPr>
          <p:cNvPr id="140" name="Google Shape;140;p24"/>
          <p:cNvSpPr/>
          <p:nvPr/>
        </p:nvSpPr>
        <p:spPr>
          <a:xfrm>
            <a:off x="3212900" y="1468650"/>
            <a:ext cx="6726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1" name="Google Shape;141;p24"/>
          <p:cNvSpPr/>
          <p:nvPr/>
        </p:nvSpPr>
        <p:spPr>
          <a:xfrm>
            <a:off x="3668250" y="2314450"/>
            <a:ext cx="5484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47" name="Google Shape;147;p2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3" name="Google Shape;153;p26"/>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54" name="Google Shape;154;p26"/>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55" name="Google Shape;155;p26"/>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9" name="Shape 159"/>
        <p:cNvGrpSpPr/>
        <p:nvPr/>
      </p:nvGrpSpPr>
      <p:grpSpPr>
        <a:xfrm>
          <a:off x="0" y="0"/>
          <a:ext cx="0" cy="0"/>
          <a:chOff x="0" y="0"/>
          <a:chExt cx="0" cy="0"/>
        </a:xfrm>
      </p:grpSpPr>
      <p:sp>
        <p:nvSpPr>
          <p:cNvPr id="160" name="Google Shape;160;p27"/>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61" name="Google Shape;161;p2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