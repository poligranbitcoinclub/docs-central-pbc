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Proxima Nova"/>
      <p:regular r:id="rId16"/>
      <p:bold r:id="rId17"/>
      <p:italic r:id="rId18"/>
      <p:boldItalic r:id="rId19"/>
    </p:embeddedFont>
    <p:embeddedFont>
      <p:font typeface="Roboto"/>
      <p:regular r:id="rId20"/>
      <p:bold r:id="rId21"/>
      <p:italic r:id="rId22"/>
      <p:boldItalic r:id="rId23"/>
    </p:embeddedFont>
    <p:embeddedFont>
      <p:font typeface="Proxima Nova Semibold"/>
      <p:regular r:id="rId24"/>
      <p:bold r:id="rId25"/>
      <p:boldItalic r:id="rId26"/>
    </p:embeddedFont>
    <p:embeddedFont>
      <p:font typeface="Barlow"/>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ProximaNovaSemibold-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roximaNovaSemibold-boldItalic.fntdata"/><Relationship Id="rId25" Type="http://schemas.openxmlformats.org/officeDocument/2006/relationships/font" Target="fonts/ProximaNovaSemibold-bold.fntdata"/><Relationship Id="rId28" Type="http://schemas.openxmlformats.org/officeDocument/2006/relationships/font" Target="fonts/Barlow-bold.fntdata"/><Relationship Id="rId27" Type="http://schemas.openxmlformats.org/officeDocument/2006/relationships/font" Target="fonts/Barlow-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Barlow-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roximaNova-bold.fntdata"/><Relationship Id="rId16" Type="http://schemas.openxmlformats.org/officeDocument/2006/relationships/font" Target="fonts/ProximaNova-regular.fntdata"/><Relationship Id="rId19" Type="http://schemas.openxmlformats.org/officeDocument/2006/relationships/font" Target="fonts/ProximaNova-boldItalic.fntdata"/><Relationship Id="rId18" Type="http://schemas.openxmlformats.org/officeDocument/2006/relationships/font" Target="fonts/ProximaNova-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SovereignMatt/introducing-nostr-a-decentralised-social-network-for-sovereign-individuals-3b75b49dee9c"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SovereignMatt/introducing-nostr-a-decentralised-social-network-for-sovereign-individuals-3b75b49dee9c"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49145d8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149145d8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49145d89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49145d89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149145d89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149145d89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https://medium.com/@SovereignMatt/introducing-nostr-a-decentralised-social-network-for-sovereign-individuals-3b75b49dee9c</a:t>
            </a: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149145d89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149145d89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Computers that send short messages to each other and comprise the lowest layer of the network are called relays. Applications, like a social network or a marketplace built on top of the relays are called clients.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49145d89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49145d89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149145d89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149145d89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149145d89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149145d89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https://medium.com/@SovereignMatt/introducing-nostr-a-decentralised-social-network-for-sovereign-individuals-3b75b49dee9c</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49145d89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149145d89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mailto:derekross@nostrplebs.com" TargetMode="External"/><Relationship Id="rId11" Type="http://schemas.openxmlformats.org/officeDocument/2006/relationships/hyperlink" Target="mailto:patrick@patrickdosreis.com" TargetMode="External"/><Relationship Id="rId10" Type="http://schemas.openxmlformats.org/officeDocument/2006/relationships/image" Target="../media/image7.png"/><Relationship Id="rId12" Type="http://schemas.openxmlformats.org/officeDocument/2006/relationships/image" Target="../media/image1.png"/><Relationship Id="rId9" Type="http://schemas.openxmlformats.org/officeDocument/2006/relationships/hyperlink" Target="mailto:jeroen@nostrplebs.com" TargetMode="External"/><Relationship Id="rId5" Type="http://schemas.openxmlformats.org/officeDocument/2006/relationships/hyperlink" Target="http://nostrplebs.com" TargetMode="External"/><Relationship Id="rId6" Type="http://schemas.openxmlformats.org/officeDocument/2006/relationships/image" Target="../media/image10.png"/><Relationship Id="rId7" Type="http://schemas.openxmlformats.org/officeDocument/2006/relationships/hyperlink" Target="mailto:marko@primal.net" TargetMode="External"/><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s://nostr.com/" TargetMode="External"/><Relationship Id="rId4" Type="http://schemas.openxmlformats.org/officeDocument/2006/relationships/hyperlink" Target="https://github.com/nostr-protocol/nostr" TargetMode="External"/><Relationship Id="rId11" Type="http://schemas.openxmlformats.org/officeDocument/2006/relationships/image" Target="../media/image1.png"/><Relationship Id="rId10" Type="http://schemas.openxmlformats.org/officeDocument/2006/relationships/hyperlink" Target="https://www.forbes.com/sites/digital-assets/2023/05/30/bitcoin-social-network-nostr-creator-fiatjaf-/#:~:text=By%20early%202020%2C%20@Fiatjaf%20had,related%20to%20bitcoin%2C%20and%20Nostr." TargetMode="External"/><Relationship Id="rId9" Type="http://schemas.openxmlformats.org/officeDocument/2006/relationships/hyperlink" Target="https://www.youtube.com/watch?v=aA-jiiepOrE" TargetMode="External"/><Relationship Id="rId5" Type="http://schemas.openxmlformats.org/officeDocument/2006/relationships/hyperlink" Target="https://fiatjaf.com/nostr.html" TargetMode="External"/><Relationship Id="rId6" Type="http://schemas.openxmlformats.org/officeDocument/2006/relationships/hyperlink" Target="http://www.youtube.com/@nostrworld" TargetMode="External"/><Relationship Id="rId7" Type="http://schemas.openxmlformats.org/officeDocument/2006/relationships/hyperlink" Target="https://www.youtube.com/watch?v=0YDj1QdL2Zs" TargetMode="External"/><Relationship Id="rId8" Type="http://schemas.openxmlformats.org/officeDocument/2006/relationships/hyperlink" Target="https://youtu.be/5W-jtbbh3eA?si=uI9H3-cZ7_l6tYgi"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#20: November 13,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79" name="Google Shape;79;p1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Panelists </a:t>
            </a:r>
            <a:endParaRPr/>
          </a:p>
        </p:txBody>
      </p:sp>
      <p:pic>
        <p:nvPicPr>
          <p:cNvPr id="85" name="Google Shape;85;p15"/>
          <p:cNvPicPr preferRelativeResize="0"/>
          <p:nvPr/>
        </p:nvPicPr>
        <p:blipFill>
          <a:blip r:embed="rId3">
            <a:alphaModFix/>
          </a:blip>
          <a:stretch>
            <a:fillRect/>
          </a:stretch>
        </p:blipFill>
        <p:spPr>
          <a:xfrm>
            <a:off x="641375" y="962725"/>
            <a:ext cx="1681550" cy="1590601"/>
          </a:xfrm>
          <a:prstGeom prst="rect">
            <a:avLst/>
          </a:prstGeom>
          <a:noFill/>
          <a:ln>
            <a:noFill/>
          </a:ln>
        </p:spPr>
      </p:pic>
      <p:sp>
        <p:nvSpPr>
          <p:cNvPr id="86" name="Google Shape;86;p15"/>
          <p:cNvSpPr txBox="1"/>
          <p:nvPr/>
        </p:nvSpPr>
        <p:spPr>
          <a:xfrm>
            <a:off x="603600" y="2704400"/>
            <a:ext cx="1757100" cy="203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Derek Ross </a:t>
            </a:r>
            <a:endParaRPr b="1"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u="sng">
                <a:solidFill>
                  <a:schemeClr val="lt1"/>
                </a:solidFill>
                <a:latin typeface="Proxima Nova"/>
                <a:ea typeface="Proxima Nova"/>
                <a:cs typeface="Proxima Nova"/>
                <a:sym typeface="Proxima Nova"/>
                <a:hlinkClick r:id="rId4">
                  <a:extLst>
                    <a:ext uri="{A12FA001-AC4F-418D-AE19-62706E023703}">
                      <ahyp:hlinkClr val="tx"/>
                    </a:ext>
                  </a:extLst>
                </a:hlinkClick>
              </a:rPr>
              <a:t>derekross@nostrplebs.com</a:t>
            </a:r>
            <a:r>
              <a:rPr lang="en" sz="1000">
                <a:solidFill>
                  <a:schemeClr val="lt1"/>
                </a:solidFill>
                <a:latin typeface="Proxima Nova"/>
                <a:ea typeface="Proxima Nova"/>
                <a:cs typeface="Proxima Nova"/>
                <a:sym typeface="Proxima Nova"/>
              </a:rPr>
              <a:t> </a:t>
            </a:r>
            <a:endParaRPr sz="1000">
              <a:solidFill>
                <a:schemeClr val="lt1"/>
              </a:solidFill>
              <a:latin typeface="Proxima Nova"/>
              <a:ea typeface="Proxima Nova"/>
              <a:cs typeface="Proxima Nova"/>
              <a:sym typeface="Proxima Nova"/>
            </a:endParaRPr>
          </a:p>
          <a:p>
            <a:pPr indent="0" lvl="0" marL="7620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Building </a:t>
            </a:r>
            <a:r>
              <a:rPr lang="en" sz="1000" u="sng">
                <a:solidFill>
                  <a:schemeClr val="lt1"/>
                </a:solidFill>
                <a:latin typeface="Proxima Nova"/>
                <a:ea typeface="Proxima Nova"/>
                <a:cs typeface="Proxima Nova"/>
                <a:sym typeface="Proxima Nova"/>
                <a:hlinkClick r:id="rId5">
                  <a:extLst>
                    <a:ext uri="{A12FA001-AC4F-418D-AE19-62706E023703}">
                      <ahyp:hlinkClr val="tx"/>
                    </a:ext>
                  </a:extLst>
                </a:hlinkClick>
              </a:rPr>
              <a:t>NostrPlebs.com</a:t>
            </a:r>
            <a:r>
              <a:rPr lang="en" sz="1000">
                <a:solidFill>
                  <a:schemeClr val="lt1"/>
                </a:solidFill>
                <a:latin typeface="Proxima Nova"/>
                <a:ea typeface="Proxima Nova"/>
                <a:cs typeface="Proxima Nova"/>
                <a:sym typeface="Proxima Nova"/>
              </a:rPr>
              <a:t> and NostrNests.com</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N</a:t>
            </a:r>
            <a:r>
              <a:rPr lang="en" sz="1000">
                <a:solidFill>
                  <a:schemeClr val="lt1"/>
                </a:solidFill>
                <a:latin typeface="Proxima Nova"/>
                <a:ea typeface="Proxima Nova"/>
                <a:cs typeface="Proxima Nova"/>
                <a:sym typeface="Proxima Nova"/>
              </a:rPr>
              <a:t>pub18ams6ewn5aj2n3wt2qawzglx9mr4nzksxhvrdc4gzrecw7n5tvjqctp424</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p:txBody>
      </p:sp>
      <p:pic>
        <p:nvPicPr>
          <p:cNvPr id="87" name="Google Shape;87;p15"/>
          <p:cNvPicPr preferRelativeResize="0"/>
          <p:nvPr/>
        </p:nvPicPr>
        <p:blipFill rotWithShape="1">
          <a:blip r:embed="rId6">
            <a:alphaModFix/>
          </a:blip>
          <a:srcRect b="0" l="0" r="20710" t="0"/>
          <a:stretch/>
        </p:blipFill>
        <p:spPr>
          <a:xfrm>
            <a:off x="2810225" y="962713"/>
            <a:ext cx="1681548" cy="1590600"/>
          </a:xfrm>
          <a:prstGeom prst="rect">
            <a:avLst/>
          </a:prstGeom>
          <a:noFill/>
          <a:ln>
            <a:noFill/>
          </a:ln>
        </p:spPr>
      </p:pic>
      <p:sp>
        <p:nvSpPr>
          <p:cNvPr id="88" name="Google Shape;88;p15"/>
          <p:cNvSpPr txBox="1"/>
          <p:nvPr/>
        </p:nvSpPr>
        <p:spPr>
          <a:xfrm>
            <a:off x="2806213" y="2704400"/>
            <a:ext cx="1681500" cy="172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Marko</a:t>
            </a:r>
            <a:endParaRPr b="1"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u="sng">
                <a:solidFill>
                  <a:schemeClr val="lt1"/>
                </a:solidFill>
                <a:latin typeface="Proxima Nova"/>
                <a:ea typeface="Proxima Nova"/>
                <a:cs typeface="Proxima Nova"/>
                <a:sym typeface="Proxima Nova"/>
                <a:hlinkClick r:id="rId7">
                  <a:extLst>
                    <a:ext uri="{A12FA001-AC4F-418D-AE19-62706E023703}">
                      <ahyp:hlinkClr val="tx"/>
                    </a:ext>
                  </a:extLst>
                </a:hlinkClick>
              </a:rPr>
              <a:t>marko@primal.net</a:t>
            </a:r>
            <a:endParaRPr sz="10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Building Primal</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npub1zga04e73s7ard4kaektaha9vckdwll3y8auztyhl3uj764ua7vrqc7ppvc</a:t>
            </a:r>
            <a:endParaRPr sz="1000">
              <a:solidFill>
                <a:schemeClr val="lt1"/>
              </a:solidFill>
              <a:latin typeface="Proxima Nova"/>
              <a:ea typeface="Proxima Nova"/>
              <a:cs typeface="Proxima Nova"/>
              <a:sym typeface="Proxima Nova"/>
            </a:endParaRPr>
          </a:p>
        </p:txBody>
      </p:sp>
      <p:pic>
        <p:nvPicPr>
          <p:cNvPr id="89" name="Google Shape;89;p15"/>
          <p:cNvPicPr preferRelativeResize="0"/>
          <p:nvPr/>
        </p:nvPicPr>
        <p:blipFill>
          <a:blip r:embed="rId8">
            <a:alphaModFix/>
          </a:blip>
          <a:stretch>
            <a:fillRect/>
          </a:stretch>
        </p:blipFill>
        <p:spPr>
          <a:xfrm>
            <a:off x="6974650" y="962725"/>
            <a:ext cx="1589767" cy="1590600"/>
          </a:xfrm>
          <a:prstGeom prst="rect">
            <a:avLst/>
          </a:prstGeom>
          <a:noFill/>
          <a:ln>
            <a:noFill/>
          </a:ln>
        </p:spPr>
      </p:pic>
      <p:sp>
        <p:nvSpPr>
          <p:cNvPr id="90" name="Google Shape;90;p15"/>
          <p:cNvSpPr txBox="1"/>
          <p:nvPr/>
        </p:nvSpPr>
        <p:spPr>
          <a:xfrm>
            <a:off x="6928775" y="2704400"/>
            <a:ext cx="1681500" cy="172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Jeroen</a:t>
            </a:r>
            <a:endParaRPr b="1"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u="sng">
                <a:solidFill>
                  <a:schemeClr val="lt1"/>
                </a:solidFill>
                <a:latin typeface="Proxima Nova"/>
                <a:ea typeface="Proxima Nova"/>
                <a:cs typeface="Proxima Nova"/>
                <a:sym typeface="Proxima Nova"/>
                <a:hlinkClick r:id="rId9">
                  <a:extLst>
                    <a:ext uri="{A12FA001-AC4F-418D-AE19-62706E023703}">
                      <ahyp:hlinkClr val="tx"/>
                    </a:ext>
                  </a:extLst>
                </a:hlinkClick>
              </a:rPr>
              <a:t>jeroen@nostrplebs.com</a:t>
            </a:r>
            <a:r>
              <a:rPr lang="en" sz="1000">
                <a:solidFill>
                  <a:schemeClr val="lt1"/>
                </a:solidFill>
                <a:latin typeface="Proxima Nova"/>
                <a:ea typeface="Proxima Nova"/>
                <a:cs typeface="Proxima Nova"/>
                <a:sym typeface="Proxima Nova"/>
              </a:rPr>
              <a:t> </a:t>
            </a:r>
            <a:endParaRPr sz="10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Building Damus</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npub17plqkxhsv66g8quxxc9p5t9mxazzn20m426exqnl8lxnh5a4cdns7jezx0</a:t>
            </a:r>
            <a:endParaRPr sz="1000">
              <a:solidFill>
                <a:schemeClr val="lt1"/>
              </a:solidFill>
              <a:latin typeface="Proxima Nova"/>
              <a:ea typeface="Proxima Nova"/>
              <a:cs typeface="Proxima Nova"/>
              <a:sym typeface="Proxima Nova"/>
            </a:endParaRPr>
          </a:p>
        </p:txBody>
      </p:sp>
      <p:pic>
        <p:nvPicPr>
          <p:cNvPr id="91" name="Google Shape;91;p15"/>
          <p:cNvPicPr preferRelativeResize="0"/>
          <p:nvPr/>
        </p:nvPicPr>
        <p:blipFill>
          <a:blip r:embed="rId10">
            <a:alphaModFix/>
          </a:blip>
          <a:stretch>
            <a:fillRect/>
          </a:stretch>
        </p:blipFill>
        <p:spPr>
          <a:xfrm>
            <a:off x="4938325" y="963138"/>
            <a:ext cx="1589775" cy="1589775"/>
          </a:xfrm>
          <a:prstGeom prst="rect">
            <a:avLst/>
          </a:prstGeom>
          <a:noFill/>
          <a:ln>
            <a:noFill/>
          </a:ln>
        </p:spPr>
      </p:pic>
      <p:sp>
        <p:nvSpPr>
          <p:cNvPr id="92" name="Google Shape;92;p15"/>
          <p:cNvSpPr txBox="1"/>
          <p:nvPr/>
        </p:nvSpPr>
        <p:spPr>
          <a:xfrm>
            <a:off x="4933251" y="2704400"/>
            <a:ext cx="1757100" cy="1723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Patrick</a:t>
            </a:r>
            <a:endParaRPr b="1"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u="sng">
                <a:solidFill>
                  <a:schemeClr val="lt1"/>
                </a:solidFill>
                <a:latin typeface="Proxima Nova"/>
                <a:ea typeface="Proxima Nova"/>
                <a:cs typeface="Proxima Nova"/>
                <a:sym typeface="Proxima Nova"/>
                <a:hlinkClick r:id="rId11">
                  <a:extLst>
                    <a:ext uri="{A12FA001-AC4F-418D-AE19-62706E023703}">
                      <ahyp:hlinkClr val="tx"/>
                    </a:ext>
                  </a:extLst>
                </a:hlinkClick>
              </a:rPr>
              <a:t>patrick@patrickdosreis.com</a:t>
            </a:r>
            <a:r>
              <a:rPr lang="en" sz="1000">
                <a:solidFill>
                  <a:schemeClr val="lt1"/>
                </a:solidFill>
                <a:latin typeface="Proxima Nova"/>
                <a:ea typeface="Proxima Nova"/>
                <a:cs typeface="Proxima Nova"/>
                <a:sym typeface="Proxima Nova"/>
              </a:rPr>
              <a:t> </a:t>
            </a:r>
            <a:endParaRPr sz="10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Building Ditto</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npub1gujeqakgt7fyp6zjggxhyy7ft623qtcaay5lkc8n8gkry4cvnrzqd3f67z</a:t>
            </a:r>
            <a:endParaRPr sz="1000">
              <a:solidFill>
                <a:schemeClr val="lt1"/>
              </a:solidFill>
              <a:latin typeface="Proxima Nova"/>
              <a:ea typeface="Proxima Nova"/>
              <a:cs typeface="Proxima Nova"/>
              <a:sym typeface="Proxima Nova"/>
            </a:endParaRPr>
          </a:p>
        </p:txBody>
      </p:sp>
      <p:pic>
        <p:nvPicPr>
          <p:cNvPr id="93" name="Google Shape;93;p15"/>
          <p:cNvPicPr preferRelativeResize="0"/>
          <p:nvPr/>
        </p:nvPicPr>
        <p:blipFill>
          <a:blip r:embed="rId12">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99" name="Google Shape;99;p16"/>
          <p:cNvPicPr preferRelativeResize="0"/>
          <p:nvPr/>
        </p:nvPicPr>
        <p:blipFill>
          <a:blip r:embed="rId3">
            <a:alphaModFix/>
          </a:blip>
          <a:stretch>
            <a:fillRect/>
          </a:stretch>
        </p:blipFill>
        <p:spPr>
          <a:xfrm>
            <a:off x="516176" y="1006025"/>
            <a:ext cx="5288825" cy="3551299"/>
          </a:xfrm>
          <a:prstGeom prst="rect">
            <a:avLst/>
          </a:prstGeom>
          <a:noFill/>
          <a:ln>
            <a:noFill/>
          </a:ln>
        </p:spPr>
      </p:pic>
      <p:pic>
        <p:nvPicPr>
          <p:cNvPr id="100" name="Google Shape;100;p16"/>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101" name="Google Shape;101;p16"/>
          <p:cNvPicPr preferRelativeResize="0"/>
          <p:nvPr/>
        </p:nvPicPr>
        <p:blipFill rotWithShape="1">
          <a:blip r:embed="rId5">
            <a:alphaModFix/>
          </a:blip>
          <a:srcRect b="0" l="0" r="73040" t="0"/>
          <a:stretch/>
        </p:blipFill>
        <p:spPr>
          <a:xfrm>
            <a:off x="6088450" y="2513550"/>
            <a:ext cx="2702725" cy="998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h/t @SovereignMatt</a:t>
            </a:r>
            <a:endParaRPr/>
          </a:p>
        </p:txBody>
      </p:sp>
      <p:pic>
        <p:nvPicPr>
          <p:cNvPr id="107" name="Google Shape;107;p17"/>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08" name="Google Shape;108;p17"/>
          <p:cNvPicPr preferRelativeResize="0"/>
          <p:nvPr/>
        </p:nvPicPr>
        <p:blipFill>
          <a:blip r:embed="rId4">
            <a:alphaModFix/>
          </a:blip>
          <a:stretch>
            <a:fillRect/>
          </a:stretch>
        </p:blipFill>
        <p:spPr>
          <a:xfrm>
            <a:off x="1655825" y="812600"/>
            <a:ext cx="5832355" cy="4219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14" name="Google Shape;114;p18"/>
          <p:cNvPicPr preferRelativeResize="0"/>
          <p:nvPr/>
        </p:nvPicPr>
        <p:blipFill>
          <a:blip r:embed="rId3">
            <a:alphaModFix/>
          </a:blip>
          <a:stretch>
            <a:fillRect/>
          </a:stretch>
        </p:blipFill>
        <p:spPr>
          <a:xfrm>
            <a:off x="2187250" y="943175"/>
            <a:ext cx="5374076" cy="4030551"/>
          </a:xfrm>
          <a:prstGeom prst="rect">
            <a:avLst/>
          </a:prstGeom>
          <a:noFill/>
          <a:ln>
            <a:noFill/>
          </a:ln>
        </p:spPr>
      </p:pic>
      <p:pic>
        <p:nvPicPr>
          <p:cNvPr id="115" name="Google Shape;115;p1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21" name="Google Shape;121;p19"/>
          <p:cNvPicPr preferRelativeResize="0"/>
          <p:nvPr/>
        </p:nvPicPr>
        <p:blipFill>
          <a:blip r:embed="rId3">
            <a:alphaModFix/>
          </a:blip>
          <a:stretch>
            <a:fillRect/>
          </a:stretch>
        </p:blipFill>
        <p:spPr>
          <a:xfrm>
            <a:off x="1366288" y="929075"/>
            <a:ext cx="6411423" cy="3972700"/>
          </a:xfrm>
          <a:prstGeom prst="rect">
            <a:avLst/>
          </a:prstGeom>
          <a:noFill/>
          <a:ln>
            <a:noFill/>
          </a:ln>
        </p:spPr>
      </p:pic>
      <p:pic>
        <p:nvPicPr>
          <p:cNvPr id="122" name="Google Shape;122;p1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28" name="Google Shape;128;p20"/>
          <p:cNvPicPr preferRelativeResize="0"/>
          <p:nvPr/>
        </p:nvPicPr>
        <p:blipFill>
          <a:blip r:embed="rId3">
            <a:alphaModFix/>
          </a:blip>
          <a:stretch>
            <a:fillRect/>
          </a:stretch>
        </p:blipFill>
        <p:spPr>
          <a:xfrm>
            <a:off x="2429713" y="838950"/>
            <a:ext cx="4284570" cy="4219652"/>
          </a:xfrm>
          <a:prstGeom prst="rect">
            <a:avLst/>
          </a:prstGeom>
          <a:noFill/>
          <a:ln>
            <a:noFill/>
          </a:ln>
        </p:spPr>
      </p:pic>
      <p:pic>
        <p:nvPicPr>
          <p:cNvPr id="129" name="Google Shape;129;p2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h/t @SovereignMatt</a:t>
            </a:r>
            <a:endParaRPr/>
          </a:p>
        </p:txBody>
      </p:sp>
      <p:pic>
        <p:nvPicPr>
          <p:cNvPr id="135" name="Google Shape;135;p21"/>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36" name="Google Shape;136;p21"/>
          <p:cNvPicPr preferRelativeResize="0"/>
          <p:nvPr/>
        </p:nvPicPr>
        <p:blipFill>
          <a:blip r:embed="rId4">
            <a:alphaModFix/>
          </a:blip>
          <a:stretch>
            <a:fillRect/>
          </a:stretch>
        </p:blipFill>
        <p:spPr>
          <a:xfrm>
            <a:off x="983600" y="1018300"/>
            <a:ext cx="6891535" cy="3869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Resources </a:t>
            </a:r>
            <a:endParaRPr/>
          </a:p>
        </p:txBody>
      </p:sp>
      <p:sp>
        <p:nvSpPr>
          <p:cNvPr id="142" name="Google Shape;142;p22"/>
          <p:cNvSpPr txBox="1"/>
          <p:nvPr/>
        </p:nvSpPr>
        <p:spPr>
          <a:xfrm>
            <a:off x="307825" y="1064425"/>
            <a:ext cx="8319300" cy="36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u="sng">
                <a:solidFill>
                  <a:schemeClr val="lt1"/>
                </a:solidFill>
                <a:latin typeface="Proxima Nova"/>
                <a:ea typeface="Proxima Nova"/>
                <a:cs typeface="Proxima Nova"/>
                <a:sym typeface="Proxima Nova"/>
                <a:hlinkClick r:id="rId3">
                  <a:extLst>
                    <a:ext uri="{A12FA001-AC4F-418D-AE19-62706E023703}">
                      <ahyp:hlinkClr val="tx"/>
                    </a:ext>
                  </a:extLst>
                </a:hlinkClick>
              </a:rPr>
              <a:t>Website</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200" u="sng">
                <a:solidFill>
                  <a:schemeClr val="lt1"/>
                </a:solidFill>
                <a:latin typeface="Proxima Nova"/>
                <a:ea typeface="Proxima Nova"/>
                <a:cs typeface="Proxima Nova"/>
                <a:sym typeface="Proxima Nova"/>
                <a:hlinkClick r:id="rId4">
                  <a:extLst>
                    <a:ext uri="{A12FA001-AC4F-418D-AE19-62706E023703}">
                      <ahyp:hlinkClr val="tx"/>
                    </a:ext>
                  </a:extLst>
                </a:hlinkClick>
              </a:rPr>
              <a:t>Github</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200" u="sng">
                <a:solidFill>
                  <a:schemeClr val="lt1"/>
                </a:solidFill>
                <a:latin typeface="Proxima Nova"/>
                <a:ea typeface="Proxima Nova"/>
                <a:cs typeface="Proxima Nova"/>
                <a:sym typeface="Proxima Nova"/>
                <a:hlinkClick r:id="rId5">
                  <a:extLst>
                    <a:ext uri="{A12FA001-AC4F-418D-AE19-62706E023703}">
                      <ahyp:hlinkClr val="tx"/>
                    </a:ext>
                  </a:extLst>
                </a:hlinkClick>
              </a:rPr>
              <a:t>Manifesto</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200" u="sng">
                <a:solidFill>
                  <a:schemeClr val="lt1"/>
                </a:solidFill>
                <a:latin typeface="Proxima Nova"/>
                <a:ea typeface="Proxima Nova"/>
                <a:cs typeface="Proxima Nova"/>
                <a:sym typeface="Proxima Nova"/>
                <a:hlinkClick r:id="rId6">
                  <a:extLst>
                    <a:ext uri="{A12FA001-AC4F-418D-AE19-62706E023703}">
                      <ahyp:hlinkClr val="tx"/>
                    </a:ext>
                  </a:extLst>
                </a:hlinkClick>
              </a:rPr>
              <a:t>Nostr YT Channel</a:t>
            </a:r>
            <a:r>
              <a:rPr b="1" lang="en" sz="1200">
                <a:solidFill>
                  <a:schemeClr val="lt1"/>
                </a:solidFill>
                <a:latin typeface="Proxima Nova"/>
                <a:ea typeface="Proxima Nova"/>
                <a:cs typeface="Proxima Nova"/>
                <a:sym typeface="Proxima Nova"/>
              </a:rPr>
              <a:t> w/ all the conference panels</a:t>
            </a:r>
            <a:endParaRPr b="1" sz="1200">
              <a:solidFill>
                <a:schemeClr val="lt1"/>
              </a:solidFill>
              <a:latin typeface="Proxima Nova"/>
              <a:ea typeface="Proxima Nova"/>
              <a:cs typeface="Proxima Nova"/>
              <a:sym typeface="Proxima Nova"/>
            </a:endParaRPr>
          </a:p>
          <a:p>
            <a:pPr indent="0" lvl="0" marL="0" rtl="0" algn="l">
              <a:lnSpc>
                <a:spcPct val="115000"/>
              </a:lnSpc>
              <a:spcBef>
                <a:spcPts val="1100"/>
              </a:spcBef>
              <a:spcAft>
                <a:spcPts val="0"/>
              </a:spcAft>
              <a:buNone/>
            </a:pPr>
            <a:r>
              <a:rPr b="1" lang="en" sz="1200" u="sng">
                <a:solidFill>
                  <a:schemeClr val="lt1"/>
                </a:solidFill>
                <a:latin typeface="Proxima Nova"/>
                <a:ea typeface="Proxima Nova"/>
                <a:cs typeface="Proxima Nova"/>
                <a:sym typeface="Proxima Nova"/>
                <a:hlinkClick r:id="rId7">
                  <a:extLst>
                    <a:ext uri="{A12FA001-AC4F-418D-AE19-62706E023703}">
                      <ahyp:hlinkClr val="tx"/>
                    </a:ext>
                  </a:extLst>
                </a:hlinkClick>
              </a:rPr>
              <a:t>Here</a:t>
            </a:r>
            <a:r>
              <a:rPr b="1" lang="en" sz="1200">
                <a:solidFill>
                  <a:schemeClr val="lt1"/>
                </a:solidFill>
                <a:latin typeface="Proxima Nova"/>
                <a:ea typeface="Proxima Nova"/>
                <a:cs typeface="Proxima Nova"/>
                <a:sym typeface="Proxima Nova"/>
              </a:rPr>
              <a:t> is Jack Dorsey explaining Nostr in 2 minutes​​​​</a:t>
            </a:r>
            <a:endParaRPr b="1" sz="1200">
              <a:solidFill>
                <a:schemeClr val="lt1"/>
              </a:solidFill>
              <a:latin typeface="Proxima Nova"/>
              <a:ea typeface="Proxima Nova"/>
              <a:cs typeface="Proxima Nova"/>
              <a:sym typeface="Proxima Nova"/>
            </a:endParaRPr>
          </a:p>
          <a:p>
            <a:pPr indent="0" lvl="0" marL="0" rtl="0" algn="l">
              <a:lnSpc>
                <a:spcPct val="115000"/>
              </a:lnSpc>
              <a:spcBef>
                <a:spcPts val="1100"/>
              </a:spcBef>
              <a:spcAft>
                <a:spcPts val="0"/>
              </a:spcAft>
              <a:buNone/>
            </a:pPr>
            <a:r>
              <a:rPr b="1" lang="en" sz="1200">
                <a:solidFill>
                  <a:schemeClr val="lt1"/>
                </a:solidFill>
                <a:latin typeface="Proxima Nova"/>
                <a:ea typeface="Proxima Nova"/>
                <a:cs typeface="Proxima Nova"/>
                <a:sym typeface="Proxima Nova"/>
              </a:rPr>
              <a:t>Another </a:t>
            </a:r>
            <a:r>
              <a:rPr b="1" lang="en" sz="1200" u="sng">
                <a:solidFill>
                  <a:schemeClr val="lt1"/>
                </a:solidFill>
                <a:latin typeface="Proxima Nova"/>
                <a:ea typeface="Proxima Nova"/>
                <a:cs typeface="Proxima Nova"/>
                <a:sym typeface="Proxima Nova"/>
                <a:hlinkClick r:id="rId8">
                  <a:extLst>
                    <a:ext uri="{A12FA001-AC4F-418D-AE19-62706E023703}">
                      <ahyp:hlinkClr val="tx"/>
                    </a:ext>
                  </a:extLst>
                </a:hlinkClick>
              </a:rPr>
              <a:t>overview video</a:t>
            </a:r>
            <a:r>
              <a:rPr b="1" lang="en" sz="1200">
                <a:solidFill>
                  <a:schemeClr val="lt1"/>
                </a:solidFill>
                <a:latin typeface="Proxima Nova"/>
                <a:ea typeface="Proxima Nova"/>
                <a:cs typeface="Proxima Nova"/>
                <a:sym typeface="Proxima Nova"/>
              </a:rPr>
              <a:t> </a:t>
            </a:r>
            <a:endParaRPr b="1" sz="1200">
              <a:solidFill>
                <a:schemeClr val="lt1"/>
              </a:solidFill>
              <a:latin typeface="Proxima Nova"/>
              <a:ea typeface="Proxima Nova"/>
              <a:cs typeface="Proxima Nova"/>
              <a:sym typeface="Proxima Nova"/>
            </a:endParaRPr>
          </a:p>
          <a:p>
            <a:pPr indent="0" lvl="0" marL="0" rtl="0" algn="l">
              <a:lnSpc>
                <a:spcPct val="115000"/>
              </a:lnSpc>
              <a:spcBef>
                <a:spcPts val="1100"/>
              </a:spcBef>
              <a:spcAft>
                <a:spcPts val="0"/>
              </a:spcAft>
              <a:buNone/>
            </a:pPr>
            <a:r>
              <a:rPr b="1" lang="en" sz="1200" u="sng">
                <a:solidFill>
                  <a:schemeClr val="lt1"/>
                </a:solidFill>
                <a:latin typeface="Proxima Nova"/>
                <a:ea typeface="Proxima Nova"/>
                <a:cs typeface="Proxima Nova"/>
                <a:sym typeface="Proxima Nova"/>
                <a:hlinkClick r:id="rId9">
                  <a:extLst>
                    <a:ext uri="{A12FA001-AC4F-418D-AE19-62706E023703}">
                      <ahyp:hlinkClr val="tx"/>
                    </a:ext>
                  </a:extLst>
                </a:hlinkClick>
              </a:rPr>
              <a:t>This</a:t>
            </a:r>
            <a:r>
              <a:rPr b="1" lang="en" sz="1200">
                <a:solidFill>
                  <a:schemeClr val="lt1"/>
                </a:solidFill>
                <a:latin typeface="Proxima Nova"/>
                <a:ea typeface="Proxima Nova"/>
                <a:cs typeface="Proxima Nova"/>
                <a:sym typeface="Proxima Nova"/>
              </a:rPr>
              <a:t> is a really good documentary (25 minutes) </a:t>
            </a:r>
            <a:endParaRPr b="1" sz="1200">
              <a:solidFill>
                <a:schemeClr val="lt1"/>
              </a:solidFill>
              <a:latin typeface="Proxima Nova"/>
              <a:ea typeface="Proxima Nova"/>
              <a:cs typeface="Proxima Nova"/>
              <a:sym typeface="Proxima Nova"/>
            </a:endParaRPr>
          </a:p>
          <a:p>
            <a:pPr indent="0" lvl="0" marL="0" rtl="0" algn="l">
              <a:lnSpc>
                <a:spcPct val="115000"/>
              </a:lnSpc>
              <a:spcBef>
                <a:spcPts val="1100"/>
              </a:spcBef>
              <a:spcAft>
                <a:spcPts val="0"/>
              </a:spcAft>
              <a:buNone/>
            </a:pPr>
            <a:r>
              <a:rPr b="1" lang="en" sz="1200" u="sng">
                <a:solidFill>
                  <a:schemeClr val="lt1"/>
                </a:solidFill>
                <a:latin typeface="Proxima Nova"/>
                <a:ea typeface="Proxima Nova"/>
                <a:cs typeface="Proxima Nova"/>
                <a:sym typeface="Proxima Nova"/>
                <a:hlinkClick r:id="rId10">
                  <a:extLst>
                    <a:ext uri="{A12FA001-AC4F-418D-AE19-62706E023703}">
                      <ahyp:hlinkClr val="tx"/>
                    </a:ext>
                  </a:extLst>
                </a:hlinkClick>
              </a:rPr>
              <a:t>News Article</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12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1200">
              <a:solidFill>
                <a:schemeClr val="lt1"/>
              </a:solidFill>
              <a:latin typeface="Proxima Nova"/>
              <a:ea typeface="Proxima Nova"/>
              <a:cs typeface="Proxima Nova"/>
              <a:sym typeface="Proxima Nova"/>
            </a:endParaRPr>
          </a:p>
        </p:txBody>
      </p:sp>
      <p:pic>
        <p:nvPicPr>
          <p:cNvPr id="143" name="Google Shape;143;p22"/>
          <p:cNvPicPr preferRelativeResize="0"/>
          <p:nvPr/>
        </p:nvPicPr>
        <p:blipFill>
          <a:blip r:embed="rId11">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7" name="Shape 147"/>
        <p:cNvGrpSpPr/>
        <p:nvPr/>
      </p:nvGrpSpPr>
      <p:grpSpPr>
        <a:xfrm>
          <a:off x="0" y="0"/>
          <a:ext cx="0" cy="0"/>
          <a:chOff x="0" y="0"/>
          <a:chExt cx="0" cy="0"/>
        </a:xfrm>
      </p:grpSpPr>
      <p:sp>
        <p:nvSpPr>
          <p:cNvPr id="148" name="Google Shape;148;p23"/>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149" name="Google Shape;149;p2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50" name="Google Shape;150;p2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