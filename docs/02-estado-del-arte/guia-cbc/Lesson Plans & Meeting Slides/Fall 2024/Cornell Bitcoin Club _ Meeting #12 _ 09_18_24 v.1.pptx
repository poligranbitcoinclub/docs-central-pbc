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8" r:id="rId3"/>
    <p:sldMasterId id="214748366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Lst>
  <p:sldSz cy="5143500" cx="9144000"/>
  <p:notesSz cx="6858000" cy="9144000"/>
  <p:embeddedFontLst>
    <p:embeddedFont>
      <p:font typeface="Raleway"/>
      <p:regular r:id="rId72"/>
      <p:bold r:id="rId73"/>
      <p:italic r:id="rId74"/>
      <p:boldItalic r:id="rId75"/>
    </p:embeddedFont>
    <p:embeddedFont>
      <p:font typeface="Proxima Nova"/>
      <p:regular r:id="rId76"/>
      <p:bold r:id="rId77"/>
      <p:italic r:id="rId78"/>
      <p:boldItalic r:id="rId79"/>
    </p:embeddedFont>
    <p:embeddedFont>
      <p:font typeface="Roboto"/>
      <p:regular r:id="rId80"/>
      <p:bold r:id="rId81"/>
      <p:italic r:id="rId82"/>
      <p:boldItalic r:id="rId83"/>
    </p:embeddedFont>
    <p:embeddedFont>
      <p:font typeface="Bebas Neue"/>
      <p:regular r:id="rId84"/>
    </p:embeddedFont>
    <p:embeddedFont>
      <p:font typeface="Urbanist"/>
      <p:regular r:id="rId85"/>
      <p:bold r:id="rId86"/>
      <p:italic r:id="rId87"/>
      <p:boldItalic r:id="rId88"/>
    </p:embeddedFont>
    <p:embeddedFont>
      <p:font typeface="Proxima Nova Semibold"/>
      <p:regular r:id="rId89"/>
      <p:bold r:id="rId90"/>
      <p:boldItalic r:id="rId91"/>
    </p:embeddedFont>
    <p:embeddedFont>
      <p:font typeface="Barlow"/>
      <p:regular r:id="rId92"/>
      <p:bold r:id="rId93"/>
      <p:italic r:id="rId94"/>
      <p:boldItalic r:id="rId9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font" Target="fonts/BebasNeue-regular.fntdata"/><Relationship Id="rId83" Type="http://schemas.openxmlformats.org/officeDocument/2006/relationships/font" Target="fonts/Roboto-boldItalic.fntdata"/><Relationship Id="rId42" Type="http://schemas.openxmlformats.org/officeDocument/2006/relationships/slide" Target="slides/slide37.xml"/><Relationship Id="rId86" Type="http://schemas.openxmlformats.org/officeDocument/2006/relationships/font" Target="fonts/Urbanist-bold.fntdata"/><Relationship Id="rId41" Type="http://schemas.openxmlformats.org/officeDocument/2006/relationships/slide" Target="slides/slide36.xml"/><Relationship Id="rId85" Type="http://schemas.openxmlformats.org/officeDocument/2006/relationships/font" Target="fonts/Urbanist-regular.fntdata"/><Relationship Id="rId44" Type="http://schemas.openxmlformats.org/officeDocument/2006/relationships/slide" Target="slides/slide39.xml"/><Relationship Id="rId88" Type="http://schemas.openxmlformats.org/officeDocument/2006/relationships/font" Target="fonts/Urbanist-boldItalic.fntdata"/><Relationship Id="rId43" Type="http://schemas.openxmlformats.org/officeDocument/2006/relationships/slide" Target="slides/slide38.xml"/><Relationship Id="rId87" Type="http://schemas.openxmlformats.org/officeDocument/2006/relationships/font" Target="fonts/Urbanist-italic.fntdata"/><Relationship Id="rId46" Type="http://schemas.openxmlformats.org/officeDocument/2006/relationships/slide" Target="slides/slide41.xml"/><Relationship Id="rId45" Type="http://schemas.openxmlformats.org/officeDocument/2006/relationships/slide" Target="slides/slide40.xml"/><Relationship Id="rId89" Type="http://schemas.openxmlformats.org/officeDocument/2006/relationships/font" Target="fonts/ProximaNovaSemibold-regular.fntdata"/><Relationship Id="rId80" Type="http://schemas.openxmlformats.org/officeDocument/2006/relationships/font" Target="fonts/Roboto-regular.fntdata"/><Relationship Id="rId82" Type="http://schemas.openxmlformats.org/officeDocument/2006/relationships/font" Target="fonts/Roboto-italic.fntdata"/><Relationship Id="rId81" Type="http://schemas.openxmlformats.org/officeDocument/2006/relationships/font" Target="fonts/Roboto-bold.fntdata"/><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Raleway-bold.fntdata"/><Relationship Id="rId72" Type="http://schemas.openxmlformats.org/officeDocument/2006/relationships/font" Target="fonts/Raleway-regular.fntdata"/><Relationship Id="rId31" Type="http://schemas.openxmlformats.org/officeDocument/2006/relationships/slide" Target="slides/slide26.xml"/><Relationship Id="rId75" Type="http://schemas.openxmlformats.org/officeDocument/2006/relationships/font" Target="fonts/Raleway-boldItalic.fntdata"/><Relationship Id="rId30" Type="http://schemas.openxmlformats.org/officeDocument/2006/relationships/slide" Target="slides/slide25.xml"/><Relationship Id="rId74" Type="http://schemas.openxmlformats.org/officeDocument/2006/relationships/font" Target="fonts/Raleway-italic.fntdata"/><Relationship Id="rId33" Type="http://schemas.openxmlformats.org/officeDocument/2006/relationships/slide" Target="slides/slide28.xml"/><Relationship Id="rId77" Type="http://schemas.openxmlformats.org/officeDocument/2006/relationships/font" Target="fonts/ProximaNova-bold.fntdata"/><Relationship Id="rId32" Type="http://schemas.openxmlformats.org/officeDocument/2006/relationships/slide" Target="slides/slide27.xml"/><Relationship Id="rId76" Type="http://schemas.openxmlformats.org/officeDocument/2006/relationships/font" Target="fonts/ProximaNova-regular.fntdata"/><Relationship Id="rId35" Type="http://schemas.openxmlformats.org/officeDocument/2006/relationships/slide" Target="slides/slide30.xml"/><Relationship Id="rId79" Type="http://schemas.openxmlformats.org/officeDocument/2006/relationships/font" Target="fonts/ProximaNova-boldItalic.fntdata"/><Relationship Id="rId34" Type="http://schemas.openxmlformats.org/officeDocument/2006/relationships/slide" Target="slides/slide29.xml"/><Relationship Id="rId78" Type="http://schemas.openxmlformats.org/officeDocument/2006/relationships/font" Target="fonts/ProximaNova-italic.fntdata"/><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95" Type="http://schemas.openxmlformats.org/officeDocument/2006/relationships/font" Target="fonts/Barlow-boldItalic.fntdata"/><Relationship Id="rId50" Type="http://schemas.openxmlformats.org/officeDocument/2006/relationships/slide" Target="slides/slide45.xml"/><Relationship Id="rId94" Type="http://schemas.openxmlformats.org/officeDocument/2006/relationships/font" Target="fonts/Barlow-italic.fntdata"/><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91" Type="http://schemas.openxmlformats.org/officeDocument/2006/relationships/font" Target="fonts/ProximaNovaSemibold-boldItalic.fntdata"/><Relationship Id="rId90" Type="http://schemas.openxmlformats.org/officeDocument/2006/relationships/font" Target="fonts/ProximaNovaSemibold-bold.fntdata"/><Relationship Id="rId93" Type="http://schemas.openxmlformats.org/officeDocument/2006/relationships/font" Target="fonts/Barlow-bold.fntdata"/><Relationship Id="rId92" Type="http://schemas.openxmlformats.org/officeDocument/2006/relationships/font" Target="fonts/Barlow-regular.fntdata"/><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twitter.com/DSBatten/status/1785140202228666474"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x.com/APompliano/status/1772974125163729090" TargetMode="External"/><Relationship Id="rId3" Type="http://schemas.openxmlformats.org/officeDocument/2006/relationships/hyperlink" Target="https://www.whitehouse.gov/wp-content/uploads/2023/03/budget_fy2024.pdf" TargetMode="External"/><Relationship Id="rId4" Type="http://schemas.openxmlformats.org/officeDocument/2006/relationships/hyperlink" Target="https://www.usdebtclock.org/" TargetMode="External"/><Relationship Id="rId5" Type="http://schemas.openxmlformats.org/officeDocument/2006/relationships/hyperlink" Target="https://www.cbsnews.com/news/federal-debt-interest-payments-defense-medicare-children/" TargetMode="External"/><Relationship Id="rId6" Type="http://schemas.openxmlformats.org/officeDocument/2006/relationships/hyperlink" Target="https://www.pgpf.org/blog/2024/08/what-is-the-national-debt-costing-us#:~:text=Furthermore%2C%20interest%20will%20continue%20to,on%20Social%20Security%20that%20year"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journalofdemocracy.org/online-exclusive/how-to-dictator-proof-your-money/"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river.com/learn/how-does-money-printing-work/" TargetMode="Externa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x.com/River/status/1829583010292756651" TargetMode="Externa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menti.com/al443j1qracx" TargetMode="Externa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866d0df8e3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2866d0df8e3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01c119fa9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01c119fa9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2ff97d3c634_0_5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2ff97d3c634_0_5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26869403eb0_0_6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26869403eb0_0_6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01c119fa96_0_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01c119fa96_0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Cultivating a sense of community will be a priority for the club…want to make sure everyone feels comfortable asking questions…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01c119fa96_0_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01c119fa96_0_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01c119fa96_0_18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2" name="Google Shape;152;g301c119fa96_0_1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01c119fa96_0_1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g301c119fa96_0_1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How about in Japan?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01c119fa96_0_1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g301c119fa96_0_1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Still 60 seconds?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Now, what about in Nigeria?</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01c119fa96_0_1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g301c119fa96_0_1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Now, a slightly different question...</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01c119fa96_0_1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 name="Google Shape;184;g301c119fa96_0_1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Now, what about how many Nigerian naira are in 1 US dollar?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01c119fa96_0_1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g301c119fa96_0_1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These different exchange rates depict what I will introduce as a theft in money, a theft in value.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And you might wonder why I am comparing against the US dollar? I am doing that because the US dollar is the World Reserve Currency meaning that amongst other things it's the currency used to facilitate global transactions.</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01c119fa96_0_1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0" name="Google Shape;200;g301c119fa96_0_1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But, even though the dollar is the World reserve currency. It doesn’t mean you haven’t experienced theft in your money too.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rPr lang="en" sz="1100">
                <a:solidFill>
                  <a:schemeClr val="dk1"/>
                </a:solidFill>
              </a:rPr>
              <a:t>The US dollar has lost 98% of its purchasing power since 1971. </a:t>
            </a:r>
            <a:endParaRPr>
              <a:solidFill>
                <a:schemeClr val="dk1"/>
              </a:solidFill>
            </a:endParaRPr>
          </a:p>
          <a:p>
            <a:pPr indent="0" lvl="0" marL="0" rtl="0" algn="l">
              <a:lnSpc>
                <a:spcPct val="100000"/>
              </a:lnSpc>
              <a:spcBef>
                <a:spcPts val="0"/>
              </a:spcBef>
              <a:spcAft>
                <a:spcPts val="0"/>
              </a:spcAft>
              <a:buSzPts val="1100"/>
              <a:buNone/>
            </a:pPr>
            <a:r>
              <a:t/>
            </a:r>
            <a:endParaRPr sz="1100">
              <a:solidFill>
                <a:schemeClr val="dk1"/>
              </a:solidFill>
            </a:endParaRPr>
          </a:p>
          <a:p>
            <a:pPr indent="0" lvl="0" marL="0" marR="0" rtl="0" algn="l">
              <a:lnSpc>
                <a:spcPct val="100000"/>
              </a:lnSpc>
              <a:spcBef>
                <a:spcPts val="0"/>
              </a:spcBef>
              <a:spcAft>
                <a:spcPts val="0"/>
              </a:spcAft>
              <a:buClr>
                <a:srgbClr val="000000"/>
              </a:buClr>
              <a:buSzPts val="1100"/>
              <a:buFont typeface="Arial"/>
              <a:buNone/>
            </a:pPr>
            <a:r>
              <a:rPr lang="en" sz="1100">
                <a:solidFill>
                  <a:schemeClr val="dk1"/>
                </a:solidFill>
              </a:rPr>
              <a:t>The US dollar has lost 25% of its purchasing power since 2020.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01c119fa96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01c119fa96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Currently US Debt is 34.7 Trillion dollars. You might think wow that's a lot, but many not realize how much. </a:t>
            </a:r>
            <a:endParaRPr>
              <a:solidFill>
                <a:schemeClr val="dk1"/>
              </a:solidFill>
            </a:endParaRPr>
          </a:p>
          <a:p>
            <a:pPr indent="0" lvl="0" marL="15875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To give an idea how big that is, if you stacked $1 bills, you would have enough money to stack from here on earth  to the moon 9.86 times. </a:t>
            </a:r>
            <a:endParaRPr>
              <a:solidFill>
                <a:schemeClr val="dk1"/>
              </a:solidFill>
            </a:endParaRPr>
          </a:p>
          <a:p>
            <a:pPr indent="0" lvl="0" marL="15875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u="sng">
                <a:solidFill>
                  <a:schemeClr val="hlink"/>
                </a:solidFill>
                <a:hlinkClick r:id="rId2"/>
              </a:rPr>
              <a:t>https://twitter.com/DSBatten/status/1785140202228666474</a:t>
            </a:r>
            <a:r>
              <a:rPr lang="en">
                <a:solidFill>
                  <a:schemeClr val="dk1"/>
                </a:solidFill>
              </a:rPr>
              <a:t> </a:t>
            </a:r>
            <a:br>
              <a:rPr lang="en">
                <a:solidFill>
                  <a:schemeClr val="dk1"/>
                </a:solidFill>
              </a:rPr>
            </a:br>
            <a:endParaRPr/>
          </a:p>
          <a:p>
            <a:pPr indent="0" lvl="0" marL="0" rtl="0" algn="l">
              <a:spcBef>
                <a:spcPts val="0"/>
              </a:spcBef>
              <a:spcAft>
                <a:spcPts val="0"/>
              </a:spcAft>
              <a:buNone/>
            </a:pPr>
            <a:r>
              <a:t/>
            </a:r>
            <a:endParaRPr sz="1150">
              <a:solidFill>
                <a:srgbClr val="FFFFFF"/>
              </a:solidFill>
              <a:highlight>
                <a:schemeClr val="dk1"/>
              </a:highlight>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01c119fa96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01c119fa96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https://x.com/APompliano/status/1772974125163729090</a:t>
            </a:r>
            <a:endParaRPr/>
          </a:p>
          <a:p>
            <a:pPr indent="0" lvl="0" marL="0" rtl="0" algn="l">
              <a:spcBef>
                <a:spcPts val="0"/>
              </a:spcBef>
              <a:spcAft>
                <a:spcPts val="0"/>
              </a:spcAft>
              <a:buNone/>
            </a:pPr>
            <a:r>
              <a:rPr lang="en" u="sng">
                <a:solidFill>
                  <a:schemeClr val="hlink"/>
                </a:solidFill>
                <a:hlinkClick r:id="rId3"/>
              </a:rPr>
              <a:t>https://www.whitehouse.gov/wp-content/uploads/2023/03/budget_fy2024.pdf</a:t>
            </a:r>
            <a:endParaRPr/>
          </a:p>
          <a:p>
            <a:pPr indent="0" lvl="0" marL="0" rtl="0" algn="l">
              <a:spcBef>
                <a:spcPts val="0"/>
              </a:spcBef>
              <a:spcAft>
                <a:spcPts val="0"/>
              </a:spcAft>
              <a:buNone/>
            </a:pPr>
            <a:r>
              <a:rPr lang="en" u="sng">
                <a:solidFill>
                  <a:schemeClr val="hlink"/>
                </a:solidFill>
                <a:hlinkClick r:id="rId4"/>
              </a:rPr>
              <a:t>https://www.usdebtclock.org/</a:t>
            </a:r>
            <a:endParaRPr/>
          </a:p>
          <a:p>
            <a:pPr indent="0" lvl="0" marL="0" rtl="0" algn="l">
              <a:spcBef>
                <a:spcPts val="0"/>
              </a:spcBef>
              <a:spcAft>
                <a:spcPts val="0"/>
              </a:spcAft>
              <a:buNone/>
            </a:pPr>
            <a:r>
              <a:rPr lang="en" u="sng">
                <a:solidFill>
                  <a:schemeClr val="hlink"/>
                </a:solidFill>
                <a:hlinkClick r:id="rId5"/>
              </a:rPr>
              <a:t>https://www.cbsnews.com/news/federal-debt-interest-payments-defense-medicare-children/</a:t>
            </a:r>
            <a:r>
              <a:rPr lang="en"/>
              <a:t> </a:t>
            </a:r>
            <a:endParaRPr/>
          </a:p>
          <a:p>
            <a:pPr indent="0" lvl="0" marL="0" rtl="0" algn="l">
              <a:spcBef>
                <a:spcPts val="0"/>
              </a:spcBef>
              <a:spcAft>
                <a:spcPts val="0"/>
              </a:spcAft>
              <a:buNone/>
            </a:pPr>
            <a:r>
              <a:rPr lang="en" u="sng">
                <a:solidFill>
                  <a:schemeClr val="hlink"/>
                </a:solidFill>
                <a:hlinkClick r:id="rId6"/>
              </a:rPr>
              <a:t>https://www.pgpf.org/blog/2024/08/what-is-the-national-debt-costing-us#:~:text=Furthermore%2C%20interest%20will%20continue%20to,on%20Social%20Security%20that%20year</a:t>
            </a:r>
            <a:r>
              <a:rPr lang="en"/>
              <a:t>.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I think it’s important when we consider any of these concepts asking yourself the question: What is not going to change?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And, unfortunately, we find ourselves in a debt based monetary system with no way out so this is just going to keep growing. For context, soon we are going to spend more interest than anything else.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And to give you context of how fast this is growing. It took 220 years for the first $11 trillion of our debt to be created and we have created the rest since Obama’s presidency.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Also, after the Great Financial Crisis in 2008, pension funds did not get the same bailouts that banks got and the retirement age was pushed back from 59 years old in 2002100 to 67 years old in 2024. Further, The Social Security Administration has published on their website that “benefits are now expected to be payable in full on a timely basis until 2037” and then only up to 76%. For someone in Gen Z born in 1997 or a Millennial born in 1981, potentially retiring in 2064 and 2048, respectively, social security is not going to be there.</a:t>
            </a:r>
            <a:endParaRPr sz="1150">
              <a:solidFill>
                <a:schemeClr val="dk1"/>
              </a:solidFill>
              <a:highlight>
                <a:schemeClr val="dk1"/>
              </a:highlight>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01c119fa96_0_1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4" name="Google Shape;224;g301c119fa96_0_1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Looking outside the US for a second,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i="0" lang="en" u="none" strike="noStrike">
                <a:solidFill>
                  <a:srgbClr val="000000"/>
                </a:solidFill>
              </a:rPr>
              <a:t>87% of the world’s population is born into an </a:t>
            </a:r>
            <a:r>
              <a:rPr i="0" lang="en" u="none" strike="sngStrike">
                <a:solidFill>
                  <a:srgbClr val="000000"/>
                </a:solidFill>
              </a:rPr>
              <a:t>autocracy or considerably </a:t>
            </a:r>
            <a:r>
              <a:rPr i="0" lang="en" u="none" strike="noStrike">
                <a:solidFill>
                  <a:srgbClr val="000000"/>
                </a:solidFill>
              </a:rPr>
              <a:t>less trustworthy currenc</a:t>
            </a:r>
            <a:r>
              <a:rPr lang="en"/>
              <a:t>y</a:t>
            </a:r>
            <a:endParaRPr/>
          </a:p>
          <a:p>
            <a:pPr indent="0" lvl="0" marL="0" rtl="0" algn="l">
              <a:lnSpc>
                <a:spcPct val="100000"/>
              </a:lnSpc>
              <a:spcBef>
                <a:spcPts val="0"/>
              </a:spcBef>
              <a:spcAft>
                <a:spcPts val="0"/>
              </a:spcAft>
              <a:buSzPts val="1100"/>
              <a:buNone/>
            </a:pPr>
            <a:r>
              <a:rPr lang="en"/>
              <a:t>13% of the world’s population is born into the Dollar (US, AUS, CAN), Euro, Yen, Pound, or Swiss France</a:t>
            </a:r>
            <a:br>
              <a:rPr lang="en"/>
            </a:br>
            <a:r>
              <a:rPr i="0" lang="en" u="none" strike="noStrike">
                <a:solidFill>
                  <a:srgbClr val="000000"/>
                </a:solidFill>
              </a:rPr>
              <a:t>1.6 billion people live under double-or-triple-digit inflation</a:t>
            </a:r>
            <a:endParaRPr/>
          </a:p>
          <a:p>
            <a:pPr indent="0" lvl="0" marL="0" rtl="0" algn="l">
              <a:lnSpc>
                <a:spcPct val="100000"/>
              </a:lnSpc>
              <a:spcBef>
                <a:spcPts val="0"/>
              </a:spcBef>
              <a:spcAft>
                <a:spcPts val="0"/>
              </a:spcAft>
              <a:buSzPts val="1100"/>
              <a:buNone/>
            </a:pPr>
            <a:br>
              <a:rPr lang="en"/>
            </a:br>
            <a:endParaRPr/>
          </a:p>
          <a:p>
            <a:pPr indent="0" lvl="0" marL="0" rtl="0" algn="l">
              <a:lnSpc>
                <a:spcPct val="100000"/>
              </a:lnSpc>
              <a:spcBef>
                <a:spcPts val="0"/>
              </a:spcBef>
              <a:spcAft>
                <a:spcPts val="0"/>
              </a:spcAft>
              <a:buSzPts val="1100"/>
              <a:buNone/>
            </a:pPr>
            <a:r>
              <a:rPr lang="en"/>
              <a:t>Further, “a</a:t>
            </a:r>
            <a:r>
              <a:rPr lang="en"/>
              <a:t>s of today, only about 1.2 billion people enjoy the benefit of a liberal democracy that protects property rights and free speech and a native reserve currency such as the dollar, euro, or yen. Everyone else — meaning more than 80 percent of humanity — lives either under tyranny or a weak currency that is prone to devaluation and very hard to use abroad.</a:t>
            </a:r>
            <a:r>
              <a:rPr lang="en"/>
              <a:t>”</a:t>
            </a:r>
            <a:endParaRPr/>
          </a:p>
          <a:p>
            <a:pPr indent="0" lvl="0" marL="0" rtl="0" algn="l">
              <a:lnSpc>
                <a:spcPct val="100000"/>
              </a:lnSpc>
              <a:spcBef>
                <a:spcPts val="0"/>
              </a:spcBef>
              <a:spcAft>
                <a:spcPts val="0"/>
              </a:spcAft>
              <a:buSzPts val="1100"/>
              <a:buNone/>
            </a:pPr>
            <a:r>
              <a:rPr lang="en" u="sng">
                <a:solidFill>
                  <a:schemeClr val="hlink"/>
                </a:solidFill>
                <a:hlinkClick r:id="rId2"/>
              </a:rPr>
              <a:t>https://www.journalofdemocracy.org/online-exclusive/how-to-dictator-proof-your-money/</a:t>
            </a:r>
            <a:r>
              <a:rPr lang="en"/>
              <a:t> </a:t>
            </a:r>
            <a:endParaRPr/>
          </a:p>
          <a:p>
            <a:pPr indent="0" lvl="0" marL="0" rtl="0" algn="l">
              <a:lnSpc>
                <a:spcPct val="100000"/>
              </a:lnSpc>
              <a:spcBef>
                <a:spcPts val="0"/>
              </a:spcBef>
              <a:spcAft>
                <a:spcPts val="0"/>
              </a:spcAft>
              <a:buSzPts val="1100"/>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Other experience rates of theft in their money much more extreme that we do. So even though we feel effects we don’t feel it nearly as much as others.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01c119fa96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01c119fa96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Now, what are the takeaways from what I've just shared?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Frame for you that while we are privileged that we communicate in the dominant economic language - that’s not the case for everyone around the world. There exists no universal measurement of value, as there is for time. Creating a lot of friction in exchanging value. </a:t>
            </a:r>
            <a:endParaRPr>
              <a:solidFill>
                <a:schemeClr val="dk1"/>
              </a:solidFill>
            </a:endParaRPr>
          </a:p>
          <a:p>
            <a:pPr indent="0" lvl="0" marL="457200" rtl="0" algn="l">
              <a:lnSpc>
                <a:spcPct val="115000"/>
              </a:lnSpc>
              <a:spcBef>
                <a:spcPts val="0"/>
              </a:spcBef>
              <a:spcAft>
                <a:spcPts val="0"/>
              </a:spcAft>
              <a:buClr>
                <a:schemeClr val="dk1"/>
              </a:buClr>
              <a:buSzPts val="1100"/>
              <a:buFont typeface="Arial"/>
              <a:buNone/>
            </a:pPr>
            <a:r>
              <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Money is broken. It's not preserving our value, our economic energy across time. The global theft in money exists in varying degrees worldwide, some feel the pain of monetary exploitation more than others.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So, let’s say goodbye to the moon and come back down to earth for a second and discuss why does this matter? Why should we care? </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2ff97d3c634_0_4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1" name="Google Shape;241;g2ff97d3c634_0_4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Well, Money is at the base layer of society. Money impacts the reality we see around us, that we consume, that we hear, etc.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That we interact with - think about the internet. How we are the product not the customer.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Money impacts the preservation of our rights as humans.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If our world has a breakdown in money, if high time preference (or a preference for instant gratification, thinking short-term) takes over, instead of low time preference (being able to think about the future/ long-term, make future plans) because our ability to save declines…</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Then we go from architecture like…</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2ff97d3c634_0_4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8" name="Google Shape;248;g2ff97d3c634_0_4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t>
            </a:r>
            <a:r>
              <a:rPr lang="en"/>
              <a:t>Sage Hall to Bradfield Hall</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https://en.wikipedia.org/wiki/List_of_Cornell_University_buildings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2ff97d3c634_0_4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8" name="Google Shape;258;g2ff97d3c634_0_4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We go from eating mainly Whole Foods to an increase in Processed Foods, seed oils, food void of nutrients.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In more ways than you might think, the quality of our reality degrades when our money degrades.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01c119fa96_0_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01c119fa96_0_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But most importantly, why does this matter?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
              <a:t>You matter.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And we’ve seen this manifest in Gen Z’s outlook on their futures: </a:t>
            </a:r>
            <a:endParaRPr/>
          </a:p>
          <a:p>
            <a:pPr indent="-298450" lvl="0" marL="457200" rtl="0" algn="l">
              <a:spcBef>
                <a:spcPts val="0"/>
              </a:spcBef>
              <a:spcAft>
                <a:spcPts val="0"/>
              </a:spcAft>
              <a:buSzPts val="1100"/>
              <a:buChar char="●"/>
            </a:pPr>
            <a:r>
              <a:rPr lang="en"/>
              <a:t>More than 69% of Gen Z do NOT feel financially secure (EY). </a:t>
            </a:r>
            <a:endParaRPr/>
          </a:p>
          <a:p>
            <a:pPr indent="-298450" lvl="0" marL="457200" rtl="0" algn="l">
              <a:spcBef>
                <a:spcPts val="0"/>
              </a:spcBef>
              <a:spcAft>
                <a:spcPts val="0"/>
              </a:spcAft>
              <a:buSzPts val="1100"/>
              <a:buChar char="●"/>
            </a:pPr>
            <a:r>
              <a:rPr lang="en"/>
              <a:t>72% of Gen YZ think traditional investing means are insufficient (BofA) and 91% don’t think the American dream is achievable anymore (Coinbase).</a:t>
            </a:r>
            <a:endParaRPr/>
          </a:p>
          <a:p>
            <a:pPr indent="-298450" lvl="0" marL="457200" rtl="0" algn="l">
              <a:spcBef>
                <a:spcPts val="0"/>
              </a:spcBef>
              <a:spcAft>
                <a:spcPts val="0"/>
              </a:spcAft>
              <a:buSzPts val="1100"/>
              <a:buChar char="●"/>
            </a:pPr>
            <a:r>
              <a:rPr lang="en"/>
              <a:t>73% “of Gen Z says the current economy makes them hesitant to set up long-term goals” and 66% say “they’re not sure they’ll ever have enough money to be able to retire” (Intuit).</a:t>
            </a:r>
            <a:endParaRPr/>
          </a:p>
          <a:p>
            <a:pPr indent="-298450" lvl="0" marL="457200" rtl="0" algn="l">
              <a:spcBef>
                <a:spcPts val="0"/>
              </a:spcBef>
              <a:spcAft>
                <a:spcPts val="0"/>
              </a:spcAft>
              <a:buSzPts val="1100"/>
              <a:buChar char="●"/>
            </a:pPr>
            <a:r>
              <a:rPr lang="en"/>
              <a:t>2024 data shows Gen Z is changing jobs 134% more than in 2019 (Fortune)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2ff97d3c634_0_4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7" name="Google Shape;277;g2ff97d3c634_0_4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lang="en"/>
              <a:t>But, if money doesn’t hold its value, then quality departs from everything money touches. </a:t>
            </a:r>
            <a:endParaRPr/>
          </a:p>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2ff97d3c634_0_4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4" name="Google Shape;284;g2ff97d3c634_0_4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100">
                <a:solidFill>
                  <a:schemeClr val="dk1"/>
                </a:solidFill>
              </a:rPr>
              <a:t>Now, in 2008/2009, enter bitcoin. </a:t>
            </a:r>
            <a:endParaRPr>
              <a:solidFill>
                <a:schemeClr val="dk1"/>
              </a:solidFill>
            </a:endParaRPr>
          </a:p>
          <a:p>
            <a:pPr indent="0" lvl="0" marL="0" rtl="0" algn="l">
              <a:lnSpc>
                <a:spcPct val="100000"/>
              </a:lnSpc>
              <a:spcBef>
                <a:spcPts val="0"/>
              </a:spcBef>
              <a:spcAft>
                <a:spcPts val="0"/>
              </a:spcAft>
              <a:buSzPts val="1100"/>
              <a:buNone/>
            </a:pPr>
            <a:r>
              <a:t/>
            </a:r>
            <a:endParaRPr sz="1100">
              <a:solidFill>
                <a:schemeClr val="dk1"/>
              </a:solidFill>
            </a:endParaRPr>
          </a:p>
          <a:p>
            <a:pPr indent="0" lvl="0" marL="0" rtl="0" algn="l">
              <a:lnSpc>
                <a:spcPct val="100000"/>
              </a:lnSpc>
              <a:spcBef>
                <a:spcPts val="0"/>
              </a:spcBef>
              <a:spcAft>
                <a:spcPts val="0"/>
              </a:spcAft>
              <a:buSzPts val="1100"/>
              <a:buNone/>
            </a:pPr>
            <a:r>
              <a:rPr lang="en" sz="1100">
                <a:solidFill>
                  <a:schemeClr val="dk1"/>
                </a:solidFill>
              </a:rPr>
              <a:t>bitcoin is the sound money solution to our broken money standard.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rPr lang="en">
                <a:solidFill>
                  <a:schemeClr val="dk1"/>
                </a:solidFill>
              </a:rPr>
              <a:t>Now, that is a large claim and you might be wondering, well, Why? </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2ff97d3c634_0_4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1" name="Google Shape;291;g2ff97d3c634_0_4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For starters, I've mentioned the US dollar is the current reserve currency.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But, if you look at the past 7, they typically last around 100 years. Also, the average lifespan of a fiat currency (a currency backed by a government) is 27 years…[and] the upper limit for fiat currencies is about 48 years.” The reasoning is simply that governments spend more than they make.Furthermore, it’s been 53 years since the US dollar was backed by gold (past the upper limit of 48 years), and the US finds itself in a debt spiral (we have to keep issuing more debt to pay back our existing debt) which, as the name suggests, is impossible to exit from. (Biran E. De Mint, </a:t>
            </a:r>
            <a:r>
              <a:rPr i="1" lang="en"/>
              <a:t>Parallel</a:t>
            </a:r>
            <a:r>
              <a:rPr lang="en"/>
              <a:t>)</a:t>
            </a:r>
            <a:endParaRPr/>
          </a:p>
          <a:p>
            <a:pPr indent="0" lvl="0" marL="0" rtl="0" algn="l">
              <a:lnSpc>
                <a:spcPct val="100000"/>
              </a:lnSpc>
              <a:spcBef>
                <a:spcPts val="0"/>
              </a:spcBef>
              <a:spcAft>
                <a:spcPts val="0"/>
              </a:spcAft>
              <a:buSzPts val="1100"/>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The dollar is designed to debase forever, yet currency devaluation is not a crime but counterfeiting is.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It's my opinion that bitcoin is the best option we have as the next world reserve currency.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2ff97d3c634_0_48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8" name="Google Shape;298;g2ff97d3c634_0_4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Before continuing further, I would like to address a common misconception and one that I held.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Most people think that bitcoin is a subset of crypto, of blockchain. It's not and should be considered entirely separate from crypto or blockchain.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strike="noStrike"/>
              <a:t>In short, bitcoin is the only one that fulfills the blockchain trilemma. Further, the only thing blockchain is good for is money and bitcoin is the best money (as will be touched upon).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01c119fa96_0_3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301c119fa96_0_3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Bitcoin is unique in that it meets the traits of sound money like nothing else. </a:t>
            </a:r>
            <a:endParaRPr>
              <a:solidFill>
                <a:schemeClr val="dk1"/>
              </a:solidFill>
            </a:endParaRPr>
          </a:p>
          <a:p>
            <a:pPr indent="0" lvl="0" marL="15875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Allowing it to fulfill the 3 goals of money: medium of exchange, store of value, and unit of account like nothing else. </a:t>
            </a:r>
            <a:endParaRPr>
              <a:solidFill>
                <a:schemeClr val="dk1"/>
              </a:solidFill>
            </a:endParaRPr>
          </a:p>
          <a:p>
            <a:pPr indent="0" lvl="0" marL="15875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Money converges to 1. Money will converge to bitcoin.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01c119fa96_0_3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01c119fa96_0_3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Next, Bitcoin's proof of work consensus mechanism means Bitcoin is created and secured by energy, allowing it to preserve the value of your economic energy. Further, bitcoin’s difficulty adjustment means it is costly in time not just in energy. Bitcoin is the ultimate money b/c its issuance is directly linked to the ultimate and scarcest resource of our universe: TIME. </a:t>
            </a:r>
            <a:endParaRPr>
              <a:solidFill>
                <a:schemeClr val="dk1"/>
              </a:solidFill>
            </a:endParaRPr>
          </a:p>
          <a:p>
            <a:pPr indent="0" lvl="0" marL="15875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For a tool to be useful, A tool's structural integrity needs to be maintained and rigid, yet multi-purpose and accessible to all. Bitcoin meets those requirements.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01c119fa96_0_3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301c119fa96_0_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These 2,048 words are bitcoin. Bitcoin is just code that you can find in Github.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Code is speech. Bitcoin is a language. An operating system of preferences and value that all 8 billion people can natively speak without friction whereas in our current default monetary system we cannot.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In Linguistics, there is a concept called the language game. Meaning ever time you enter a conversation, like us right now, you play a game of seeing if the other person can understand your meaning. This gets even harder when you add in different languages.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Well, bitcoin acts like a language that all can speak and transact preference and values worldwide whereas in our current default monetary system we cannot. </a:t>
            </a:r>
            <a:endParaRPr>
              <a:solidFill>
                <a:schemeClr val="dk1"/>
              </a:solidFill>
            </a:endParaRPr>
          </a:p>
          <a:p>
            <a:pPr indent="-228600" lvl="0" marL="45720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Also, we often see advances in communication go hand in hand with new revolutions in money. The telegraph led to the gold standard and the internet…. I think the bitcoin standard. Bitcoin just naturally is the native currency of the internet, of transacting value over the internet. </a:t>
            </a:r>
            <a:endParaRPr>
              <a:solidFill>
                <a:schemeClr val="dk1"/>
              </a:solidFill>
            </a:endParaRPr>
          </a:p>
          <a:p>
            <a:pPr indent="-228600" lvl="0" marL="45720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Now, speaking of the internet…</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2ff97d3c634_0_5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9" name="Google Shape;329;g2ff97d3c634_0_5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Who knows how TCP/IP works? The Internet Protocol?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I'm guessing none of us know. Yet, we use the internet daily.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2ff97d3c634_0_5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7" name="Google Shape;337;g2ff97d3c634_0_5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Despite coin in the name, bitcoin is not just money.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Bitcoin lowercase is the monetary protocol. </a:t>
            </a:r>
            <a:endParaRPr/>
          </a:p>
          <a:p>
            <a:pPr indent="0" lvl="0" marL="0" rtl="0" algn="l">
              <a:lnSpc>
                <a:spcPct val="100000"/>
              </a:lnSpc>
              <a:spcBef>
                <a:spcPts val="0"/>
              </a:spcBef>
              <a:spcAft>
                <a:spcPts val="0"/>
              </a:spcAft>
              <a:buSzPts val="1100"/>
              <a:buNone/>
            </a:pPr>
            <a:r>
              <a:rPr lang="en"/>
              <a:t>Bitcoin uppercase refers to the network. </a:t>
            </a:r>
            <a:endParaRPr/>
          </a:p>
          <a:p>
            <a:pPr indent="0" lvl="0" marL="0" rtl="0" algn="l">
              <a:lnSpc>
                <a:spcPct val="100000"/>
              </a:lnSpc>
              <a:spcBef>
                <a:spcPts val="0"/>
              </a:spcBef>
              <a:spcAft>
                <a:spcPts val="0"/>
              </a:spcAft>
              <a:buSzPts val="1100"/>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Personally, I only “got” Bitcoin when I knew about the network/ human element.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01c119fa96_0_19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4" name="Google Shape;344;g301c119fa96_0_1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Now, how does the US </a:t>
            </a:r>
            <a:r>
              <a:rPr lang="en"/>
              <a:t>dollar</a:t>
            </a:r>
            <a:r>
              <a:rPr lang="en"/>
              <a:t> system work? The current dominant “monetary p</a:t>
            </a:r>
            <a:r>
              <a:rPr lang="en"/>
              <a:t>rotocol?”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I'm guessing none of us know. Yet, we use the dollar daily. Hardly, any of us have ever asked “What is money?” And, it’s not an easy question! There is a podcast titled </a:t>
            </a:r>
            <a:r>
              <a:rPr i="1" lang="en"/>
              <a:t>What is Money? </a:t>
            </a:r>
            <a:r>
              <a:rPr lang="en"/>
              <a:t>T</a:t>
            </a:r>
            <a:r>
              <a:rPr lang="en"/>
              <a:t>hat is 515 </a:t>
            </a:r>
            <a:r>
              <a:rPr lang="en"/>
              <a:t>episodes</a:t>
            </a:r>
            <a:r>
              <a:rPr lang="en"/>
              <a:t> deep.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01c119fa96_0_20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2" name="Google Shape;352;g301c119fa96_0_2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u="sng">
                <a:solidFill>
                  <a:schemeClr val="hlink"/>
                </a:solidFill>
                <a:hlinkClick r:id="rId2"/>
              </a:rPr>
              <a:t>https://river.com/learn/how-does-money-printing-work/</a:t>
            </a:r>
            <a:r>
              <a:rPr lang="en"/>
              <a:t>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01c119fa96_0_4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01c119fa96_0_4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 TCP/IP are the internet protocol, Bitcoin is a monetary </a:t>
            </a:r>
            <a:r>
              <a:rPr lang="en"/>
              <a:t>protocol</a:t>
            </a:r>
            <a:r>
              <a:rPr lang="en"/>
              <a:t>.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2ff97d3c634_0_5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7" name="Google Shape;367;g2ff97d3c634_0_5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The 21,000,000 bitcoin allow us to use bitcoin as a tool in our daily lives in a myriad of ways because it touches upon an incredible amount of topic areas such as these ^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This allows the 21 million bitcoin to serve as tools for all 8 billion people to use however they see it best for them.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2ff97d3c634_0_5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4" name="Google Shape;374;g2ff97d3c634_0_5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lang="en"/>
              <a:t>Some examples right now are as: money, property, savings tech, freedom tech and a tool in the energy transition. </a:t>
            </a:r>
            <a:endParaRPr/>
          </a:p>
          <a:p>
            <a:pPr indent="0" lvl="0" marL="0" marR="0" rtl="0" algn="l">
              <a:lnSpc>
                <a:spcPct val="100000"/>
              </a:lnSpc>
              <a:spcBef>
                <a:spcPts val="0"/>
              </a:spcBef>
              <a:spcAft>
                <a:spcPts val="0"/>
              </a:spcAft>
              <a:buClr>
                <a:srgbClr val="000000"/>
              </a:buClr>
              <a:buSzPts val="1100"/>
              <a:buFont typeface="Arial"/>
              <a:buNone/>
            </a:pPr>
            <a:r>
              <a:t/>
            </a:r>
            <a:endParaRPr/>
          </a:p>
          <a:p>
            <a:pPr indent="0" lvl="0" marL="0" marR="0" rtl="0" algn="l">
              <a:lnSpc>
                <a:spcPct val="100000"/>
              </a:lnSpc>
              <a:spcBef>
                <a:spcPts val="0"/>
              </a:spcBef>
              <a:spcAft>
                <a:spcPts val="0"/>
              </a:spcAft>
              <a:buClr>
                <a:srgbClr val="000000"/>
              </a:buClr>
              <a:buSzPts val="1100"/>
              <a:buFont typeface="Arial"/>
              <a:buNone/>
            </a:pPr>
            <a:r>
              <a:rPr lang="en"/>
              <a:t>https://gridlesscompute.com/2022/12/06/gridless-a-bitcoin-mining-company-in-east-africa-raises-2m-in-funding-led-by-stillmark-and-block-inc/ </a:t>
            </a:r>
            <a:endParaRPr/>
          </a:p>
          <a:p>
            <a:pPr indent="0" lvl="0" marL="0" marR="0" rtl="0" algn="l">
              <a:lnSpc>
                <a:spcPct val="100000"/>
              </a:lnSpc>
              <a:spcBef>
                <a:spcPts val="0"/>
              </a:spcBef>
              <a:spcAft>
                <a:spcPts val="0"/>
              </a:spcAft>
              <a:buClr>
                <a:srgbClr val="000000"/>
              </a:buClr>
              <a:buSzPts val="1100"/>
              <a:buFont typeface="Arial"/>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01c119fa96_0_4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301c119fa96_0_4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And while bitcoin does touch on many different topic areas, being interested in bitcoin is </a:t>
            </a:r>
            <a:r>
              <a:rPr lang="en"/>
              <a:t>mostly</a:t>
            </a:r>
            <a:r>
              <a:rPr lang="en"/>
              <a:t> just embracing curiosity, </a:t>
            </a:r>
            <a:r>
              <a:rPr lang="en"/>
              <a:t>critical</a:t>
            </a:r>
            <a:r>
              <a:rPr lang="en"/>
              <a:t> thinking, and first-principles thinking.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2ff97d3c634_0_5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4" name="Google Shape;394;g2ff97d3c634_0_5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Now, to bring us back to where we started.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Have you ever sent a photo to someone in a different country?</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And did it move instantly and for pretty much free?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Well, this is not the reality for money, bitcoin, because it embodies characteristics making it sound money, it's tie to energy and time, and its integration of linguistics changes that.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Now, we can exchange value that maintains it quality worldwide and cannot be debased at the whims of a few.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Money has been used a tool for exploitation, but not anymore.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2ff97d3c634_0_5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1" name="Google Shape;401;g2ff97d3c634_0_5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i="0" lang="en" sz="1100" u="none" strike="noStrike">
                <a:solidFill>
                  <a:srgbClr val="000000"/>
                </a:solidFill>
              </a:rPr>
              <a:t>Further, bitcoin is an open, permissionless, decentralized, (mathematical) rules-based, and trustless system to exchange value worldwide for anyone, anywhere. </a:t>
            </a:r>
            <a:endParaRPr/>
          </a:p>
          <a:p>
            <a:pPr indent="0" lvl="0" marL="0" rtl="0" algn="l">
              <a:lnSpc>
                <a:spcPct val="100000"/>
              </a:lnSpc>
              <a:spcBef>
                <a:spcPts val="0"/>
              </a:spcBef>
              <a:spcAft>
                <a:spcPts val="0"/>
              </a:spcAft>
              <a:buSzPts val="1100"/>
              <a:buNone/>
            </a:pPr>
            <a:r>
              <a:t/>
            </a:r>
            <a:endParaRPr i="0" sz="1100" u="none" strike="noStrike">
              <a:solidFill>
                <a:srgbClr val="000000"/>
              </a:solidFill>
            </a:endParaRPr>
          </a:p>
          <a:p>
            <a:pPr indent="0" lvl="0" marL="0" rtl="0" algn="l">
              <a:lnSpc>
                <a:spcPct val="100000"/>
              </a:lnSpc>
              <a:spcBef>
                <a:spcPts val="0"/>
              </a:spcBef>
              <a:spcAft>
                <a:spcPts val="0"/>
              </a:spcAft>
              <a:buSzPts val="1100"/>
              <a:buNone/>
            </a:pPr>
            <a:r>
              <a:rPr i="0" lang="en" sz="1100" u="none" strike="noStrike">
                <a:solidFill>
                  <a:srgbClr val="000000"/>
                </a:solidFill>
              </a:rPr>
              <a:t>Bitcoin is 15 years old but it's not new or some passing fad that something better will come along and replace. its white paper combines 40 years of work and its network effect is established. </a:t>
            </a:r>
            <a:endParaRPr/>
          </a:p>
          <a:p>
            <a:pPr indent="0" lvl="0" marL="0" rtl="0" algn="l">
              <a:lnSpc>
                <a:spcPct val="100000"/>
              </a:lnSpc>
              <a:spcBef>
                <a:spcPts val="0"/>
              </a:spcBef>
              <a:spcAft>
                <a:spcPts val="0"/>
              </a:spcAft>
              <a:buSzPts val="1100"/>
              <a:buNone/>
            </a:pPr>
            <a:r>
              <a:t/>
            </a:r>
            <a:endParaRPr i="0" sz="1100" u="none" strike="noStrike">
              <a:solidFill>
                <a:srgbClr val="000000"/>
              </a:solidFill>
            </a:endParaRPr>
          </a:p>
          <a:p>
            <a:pPr indent="0" lvl="0" marL="0" rtl="0" algn="l">
              <a:lnSpc>
                <a:spcPct val="100000"/>
              </a:lnSpc>
              <a:spcBef>
                <a:spcPts val="0"/>
              </a:spcBef>
              <a:spcAft>
                <a:spcPts val="0"/>
              </a:spcAft>
              <a:buSzPts val="1100"/>
              <a:buNone/>
            </a:pPr>
            <a:r>
              <a:rPr lang="en"/>
              <a:t>The </a:t>
            </a:r>
            <a:r>
              <a:rPr i="0" lang="en" sz="1100" u="none" strike="noStrike">
                <a:solidFill>
                  <a:srgbClr val="000000"/>
                </a:solidFill>
              </a:rPr>
              <a:t>21 million bitcoin are tools for the 21st century</a:t>
            </a:r>
            <a:r>
              <a:rPr lang="en"/>
              <a:t>, amongst other aspects, </a:t>
            </a:r>
            <a:r>
              <a:rPr i="0" lang="en" sz="1100" u="none" strike="noStrike">
                <a:solidFill>
                  <a:srgbClr val="000000"/>
                </a:solidFill>
              </a:rPr>
              <a:t>facilitat</a:t>
            </a:r>
            <a:r>
              <a:rPr lang="en"/>
              <a:t>ing</a:t>
            </a:r>
            <a:r>
              <a:rPr i="0" lang="en" sz="1100" u="none" strike="noStrike">
                <a:solidFill>
                  <a:srgbClr val="000000"/>
                </a:solidFill>
              </a:rPr>
              <a:t> the transition to a new sound money standard which our world needs for a sound reality. Historically, these transitions go unnoticed, but </a:t>
            </a:r>
            <a:r>
              <a:rPr lang="en"/>
              <a:t>through the Cornell Bitcoin Club, we can</a:t>
            </a:r>
            <a:r>
              <a:rPr i="0" lang="en" sz="1100" u="none" strike="noStrike">
                <a:solidFill>
                  <a:srgbClr val="000000"/>
                </a:solidFill>
              </a:rPr>
              <a:t> look outside of our current systems, asking questions, and thinking about what's next.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01c119fa96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301c119fa96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https://x.com/River/status/1829583010292756651</a:t>
            </a: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good video!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01c119fa96_0_39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6" name="Google Shape;416;g301c119fa96_0_3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And some </a:t>
            </a:r>
            <a:r>
              <a:rPr lang="en"/>
              <a:t>memes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01c119fa96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301c119fa96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to address “blockchain” and “crypto.” I think these few minutes do a good job of providing an analogy on how “bitcon,” and “blockchain/crypto” are just simply addressing different problem </a:t>
            </a:r>
            <a:r>
              <a:rPr lang="en"/>
              <a:t>statements</a:t>
            </a:r>
            <a:r>
              <a:rPr lang="en"/>
              <a:t>.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26869403eb0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26869403eb0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Whenever you interact </a:t>
            </a:r>
            <a:r>
              <a:rPr lang="en"/>
              <a:t>with</a:t>
            </a:r>
            <a:r>
              <a:rPr lang="en"/>
              <a:t> anything often it’s because you see some alignment -it’s why you join some </a:t>
            </a:r>
            <a:r>
              <a:rPr lang="en"/>
              <a:t>communities</a:t>
            </a:r>
            <a:r>
              <a:rPr lang="en"/>
              <a:t> and not others.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01c119fa96_0_4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301c119fa96_0_4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These values are what Bitcoin’s stands for and perhaps some of them will resonate with you and clarify the role bitcoin is playing in the world.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01c119fa96_0_4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301c119fa96_0_4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01c119fa96_0_4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301c119fa96_0_4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301c119fa96_0_4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301c119fa96_0_4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01c119fa96_0_5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301c119fa96_0_5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301c119fa96_0_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301c119fa96_0_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301c119fa96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301c119fa96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We’re here to have productive conversations about how we can build a better world. We’re not here to be pessimists, bu rather rational, engaged, and productive optimists.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t>We’re in this club to think about how to </a:t>
            </a:r>
            <a:r>
              <a:rPr lang="en"/>
              <a:t>build</a:t>
            </a:r>
            <a:r>
              <a:rPr lang="en"/>
              <a:t> a parallel system. Everything is not going to come crashing down around us. But if you think about what system do you want to reinforce - that’s what we are here for - we are here to support the values </a:t>
            </a:r>
            <a:r>
              <a:rPr lang="en"/>
              <a:t>previously</a:t>
            </a:r>
            <a:r>
              <a:rPr lang="en"/>
              <a:t> shared and think outside our current systems.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01c119fa96_0_4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301c119fa96_0_4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26869403eb0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26869403eb0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Based on what you are interested in, this will help me gear the news updates, lessons, and panels…</a:t>
            </a:r>
            <a:endParaRPr/>
          </a:p>
          <a:p>
            <a:pPr indent="0" lvl="0" marL="0" rtl="0" algn="l">
              <a:spcBef>
                <a:spcPts val="0"/>
              </a:spcBef>
              <a:spcAft>
                <a:spcPts val="0"/>
              </a:spcAft>
              <a:buNone/>
            </a:pPr>
            <a:r>
              <a:t/>
            </a:r>
            <a:endParaRPr/>
          </a:p>
          <a:p>
            <a:pPr indent="0" lvl="0" marL="0" rtl="0" algn="l">
              <a:spcBef>
                <a:spcPts val="0"/>
              </a:spcBef>
              <a:spcAft>
                <a:spcPts val="0"/>
              </a:spcAft>
              <a:buNone/>
            </a:pPr>
            <a:r>
              <a:rPr lang="en" u="sng">
                <a:solidFill>
                  <a:schemeClr val="hlink"/>
                </a:solidFill>
                <a:hlinkClick r:id="rId2"/>
              </a:rPr>
              <a:t>https://www.menti.com/al443j1qracx</a:t>
            </a:r>
            <a:r>
              <a:rPr lang="en"/>
              <a:t>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301c119fa96_0_4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g301c119fa96_0_4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Last semester, was very “lecture-y,” and I’d like this semester to be more hands-on and engaged. Here are some workshop ideas, but I’d like your input! Will be sending out a form…</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01c119fa96_0_4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301c119fa96_0_4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are some projects for you to get </a:t>
            </a:r>
            <a:r>
              <a:rPr lang="en"/>
              <a:t>involved</a:t>
            </a:r>
            <a:r>
              <a:rPr lang="en"/>
              <a:t> with!</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301c119fa96_0_4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301c119fa96_0_4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CBTC is apart of a larger network of student Bitcoin clubs, and we will be doing events with them.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2686e27fd3b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2686e27fd3b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this is the only meeting you attend, then I hope you know the following…</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303d31afa09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303d31afa09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2686e27fd3b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2686e27fd3b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2686e27fd3b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2686e27fd3b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301c119fa96_0_5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301c119fa96_0_5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301c119fa96_0_4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2" name="Google Shape;582;g301c119fa96_0_4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2686e27fd3b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9" name="Google Shape;589;g2686e27fd3b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Perspective</a:t>
            </a:r>
            <a:r>
              <a:rPr lang="en"/>
              <a:t> and zooming out is important! Bitcoin is </a:t>
            </a:r>
            <a:r>
              <a:rPr lang="en"/>
              <a:t>tracking</a:t>
            </a:r>
            <a:r>
              <a:rPr lang="en"/>
              <a:t> right along with other innovations, and its growth has recently surpassed that of the internet’s adoption.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301c119fa96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301c119fa96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2686e27fd3b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2686e27fd3b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2866d0df8e3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1" name="Google Shape;611;g2866d0df8e3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g26869403eb0_0_7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8" name="Google Shape;618;g26869403eb0_0_7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2866d0df8e3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7" name="Google Shape;627;g2866d0df8e3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000000"/>
        </a:solidFill>
      </p:bgPr>
    </p:bg>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Font typeface="Proxima Nova"/>
              <a:buNone/>
              <a:defRPr sz="4800">
                <a:latin typeface="Proxima Nova"/>
                <a:ea typeface="Proxima Nova"/>
                <a:cs typeface="Proxima Nova"/>
                <a:sym typeface="Proxima Nova"/>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Font typeface="Proxima Nova"/>
              <a:buNone/>
              <a:defRPr sz="4200">
                <a:latin typeface="Proxima Nova"/>
                <a:ea typeface="Proxima Nova"/>
                <a:cs typeface="Proxima Nova"/>
                <a:sym typeface="Proxima Nova"/>
              </a:defRPr>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Font typeface="Proxima Nova"/>
              <a:buNone/>
              <a:defRPr>
                <a:latin typeface="Proxima Nova"/>
                <a:ea typeface="Proxima Nova"/>
                <a:cs typeface="Proxima Nova"/>
                <a:sym typeface="Proxima Nova"/>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24" name="Google Shape;24;p4"/>
          <p:cNvPicPr preferRelativeResize="0"/>
          <p:nvPr/>
        </p:nvPicPr>
        <p:blipFill>
          <a:blip r:embed="rId2">
            <a:alphaModFix/>
          </a:blip>
          <a:stretch>
            <a:fillRect/>
          </a:stretch>
        </p:blipFill>
        <p:spPr>
          <a:xfrm>
            <a:off x="184150" y="4695625"/>
            <a:ext cx="374483" cy="35547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B31B1B"/>
        </a:solidFill>
      </p:bgPr>
    </p:bg>
    <p:spTree>
      <p:nvGrpSpPr>
        <p:cNvPr id="25" name="Shape 25"/>
        <p:cNvGrpSpPr/>
        <p:nvPr/>
      </p:nvGrpSpPr>
      <p:grpSpPr>
        <a:xfrm>
          <a:off x="0" y="0"/>
          <a:ext cx="0" cy="0"/>
          <a:chOff x="0" y="0"/>
          <a:chExt cx="0" cy="0"/>
        </a:xfrm>
      </p:grpSpPr>
      <p:sp>
        <p:nvSpPr>
          <p:cNvPr id="26" name="Google Shape;26;p5"/>
          <p:cNvSpPr/>
          <p:nvPr/>
        </p:nvSpPr>
        <p:spPr>
          <a:xfrm flipH="1" rot="10800000">
            <a:off x="0" y="1686000"/>
            <a:ext cx="9144000" cy="3457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19866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9" name="Google Shape;29;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rgbClr val="000000"/>
              </a:buClr>
              <a:buSzPts val="1400"/>
              <a:buFont typeface="Arial"/>
              <a:buChar char="●"/>
              <a:defRPr b="1" sz="700">
                <a:latin typeface="Arial"/>
                <a:ea typeface="Arial"/>
                <a:cs typeface="Arial"/>
                <a:sym typeface="Arial"/>
              </a:defRPr>
            </a:lvl1pPr>
            <a:lvl2pPr indent="-317500" lvl="1" marL="914400">
              <a:spcBef>
                <a:spcPts val="0"/>
              </a:spcBef>
              <a:spcAft>
                <a:spcPts val="0"/>
              </a:spcAft>
              <a:buClr>
                <a:srgbClr val="000000"/>
              </a:buClr>
              <a:buSzPts val="1400"/>
              <a:buFont typeface="Arial"/>
              <a:buChar char="○"/>
              <a:defRPr sz="1200"/>
            </a:lvl2pPr>
            <a:lvl3pPr indent="-317500" lvl="2" marL="1371600">
              <a:lnSpc>
                <a:spcPct val="100000"/>
              </a:lnSpc>
              <a:spcBef>
                <a:spcPts val="0"/>
              </a:spcBef>
              <a:spcAft>
                <a:spcPts val="0"/>
              </a:spcAft>
              <a:buClr>
                <a:srgbClr val="000000"/>
              </a:buClr>
              <a:buSzPts val="1400"/>
              <a:buFont typeface="Arial"/>
              <a:buChar char="■"/>
              <a:defRPr sz="700">
                <a:latin typeface="Arial"/>
                <a:ea typeface="Arial"/>
                <a:cs typeface="Arial"/>
                <a:sym typeface="Arial"/>
              </a:defRPr>
            </a:lvl3pPr>
            <a:lvl4pPr indent="-317500" lvl="3" marL="1828800">
              <a:spcBef>
                <a:spcPts val="0"/>
              </a:spcBef>
              <a:spcAft>
                <a:spcPts val="0"/>
              </a:spcAft>
              <a:buClr>
                <a:srgbClr val="000000"/>
              </a:buClr>
              <a:buSzPts val="1400"/>
              <a:buFont typeface="Arial"/>
              <a:buChar char="●"/>
              <a:defRPr sz="1200"/>
            </a:lvl4pPr>
            <a:lvl5pPr indent="-317500" lvl="4" marL="2286000">
              <a:spcBef>
                <a:spcPts val="0"/>
              </a:spcBef>
              <a:spcAft>
                <a:spcPts val="0"/>
              </a:spcAft>
              <a:buClr>
                <a:srgbClr val="000000"/>
              </a:buClr>
              <a:buSzPts val="1400"/>
              <a:buFont typeface="Arial"/>
              <a:buChar char="○"/>
              <a:defRPr sz="1200"/>
            </a:lvl5pPr>
            <a:lvl6pPr indent="-317500" lvl="5" marL="2743200">
              <a:spcBef>
                <a:spcPts val="0"/>
              </a:spcBef>
              <a:spcAft>
                <a:spcPts val="0"/>
              </a:spcAft>
              <a:buClr>
                <a:srgbClr val="000000"/>
              </a:buClr>
              <a:buSzPts val="1400"/>
              <a:buFont typeface="Arial"/>
              <a:buChar char="■"/>
              <a:defRPr sz="1200"/>
            </a:lvl6pPr>
            <a:lvl7pPr indent="-317500" lvl="6" marL="3200400">
              <a:spcBef>
                <a:spcPts val="0"/>
              </a:spcBef>
              <a:spcAft>
                <a:spcPts val="0"/>
              </a:spcAft>
              <a:buClr>
                <a:srgbClr val="000000"/>
              </a:buClr>
              <a:buSzPts val="1400"/>
              <a:buFont typeface="Arial"/>
              <a:buChar char="●"/>
              <a:defRPr sz="1200"/>
            </a:lvl7pPr>
            <a:lvl8pPr indent="-317500" lvl="7" marL="3657600">
              <a:spcBef>
                <a:spcPts val="0"/>
              </a:spcBef>
              <a:spcAft>
                <a:spcPts val="0"/>
              </a:spcAft>
              <a:buClr>
                <a:srgbClr val="000000"/>
              </a:buClr>
              <a:buSzPts val="1400"/>
              <a:buFont typeface="Arial"/>
              <a:buChar char="○"/>
              <a:defRPr sz="1200"/>
            </a:lvl8pPr>
            <a:lvl9pPr indent="-317500" lvl="8" marL="4114800">
              <a:spcBef>
                <a:spcPts val="0"/>
              </a:spcBef>
              <a:spcAft>
                <a:spcPts val="0"/>
              </a:spcAft>
              <a:buClr>
                <a:srgbClr val="000000"/>
              </a:buClr>
              <a:buSzPts val="1400"/>
              <a:buFont typeface="Arial"/>
              <a:buChar char="■"/>
              <a:defRPr sz="1200"/>
            </a:lvl9pPr>
          </a:lstStyle>
          <a:p/>
        </p:txBody>
      </p:sp>
      <p:sp>
        <p:nvSpPr>
          <p:cNvPr id="31" name="Google Shape;31;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32" name="Google Shape;32;p5"/>
          <p:cNvPicPr preferRelativeResize="0"/>
          <p:nvPr/>
        </p:nvPicPr>
        <p:blipFill>
          <a:blip r:embed="rId2">
            <a:alphaModFix/>
          </a:blip>
          <a:stretch>
            <a:fillRect/>
          </a:stretch>
        </p:blipFill>
        <p:spPr>
          <a:xfrm>
            <a:off x="184150" y="4695625"/>
            <a:ext cx="374483" cy="35547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rgbClr val="B31B1B"/>
        </a:solidFill>
      </p:bgPr>
    </p:bg>
    <p:spTree>
      <p:nvGrpSpPr>
        <p:cNvPr id="33" name="Shape 33"/>
        <p:cNvGrpSpPr/>
        <p:nvPr/>
      </p:nvGrpSpPr>
      <p:grpSpPr>
        <a:xfrm>
          <a:off x="0" y="0"/>
          <a:ext cx="0" cy="0"/>
          <a:chOff x="0" y="0"/>
          <a:chExt cx="0" cy="0"/>
        </a:xfrm>
      </p:grpSpPr>
      <p:sp>
        <p:nvSpPr>
          <p:cNvPr id="34" name="Google Shape;34;p6"/>
          <p:cNvSpPr/>
          <p:nvPr/>
        </p:nvSpPr>
        <p:spPr>
          <a:xfrm flipH="1" rot="10800000">
            <a:off x="0" y="656400"/>
            <a:ext cx="9144000" cy="44871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19866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6"/>
          <p:cNvSpPr txBox="1"/>
          <p:nvPr>
            <p:ph type="title"/>
          </p:nvPr>
        </p:nvSpPr>
        <p:spPr>
          <a:xfrm>
            <a:off x="98250" y="16350"/>
            <a:ext cx="8826600" cy="602700"/>
          </a:xfrm>
          <a:prstGeom prst="rect">
            <a:avLst/>
          </a:prstGeom>
          <a:noFill/>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7" name="Google Shape;37;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38" name="Google Shape;38;p6"/>
          <p:cNvPicPr preferRelativeResize="0"/>
          <p:nvPr/>
        </p:nvPicPr>
        <p:blipFill>
          <a:blip r:embed="rId2">
            <a:alphaModFix/>
          </a:blip>
          <a:stretch>
            <a:fillRect/>
          </a:stretch>
        </p:blipFill>
        <p:spPr>
          <a:xfrm>
            <a:off x="184150" y="4695625"/>
            <a:ext cx="374483" cy="35547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sp>
        <p:nvSpPr>
          <p:cNvPr id="40" name="Google Shape;40;p7"/>
          <p:cNvSpPr txBox="1"/>
          <p:nvPr/>
        </p:nvSpPr>
        <p:spPr>
          <a:xfrm flipH="1" rot="10800000">
            <a:off x="3276600" y="25"/>
            <a:ext cx="5867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3" name="Google Shape;43;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4" name="Google Shape;44;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rgbClr val="000000"/>
        </a:solidFill>
      </p:bgPr>
    </p:bg>
    <p:spTree>
      <p:nvGrpSpPr>
        <p:cNvPr id="45" name="Shape 45"/>
        <p:cNvGrpSpPr/>
        <p:nvPr/>
      </p:nvGrpSpPr>
      <p:grpSpPr>
        <a:xfrm>
          <a:off x="0" y="0"/>
          <a:ext cx="0" cy="0"/>
          <a:chOff x="0" y="0"/>
          <a:chExt cx="0" cy="0"/>
        </a:xfrm>
      </p:grpSpPr>
      <p:sp>
        <p:nvSpPr>
          <p:cNvPr id="46" name="Google Shape;46;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7" name="Google Shape;47;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flipH="1">
            <a:off x="0" y="0"/>
            <a:ext cx="45720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52" name="Google Shape;52;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4" name="Google Shape;54;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 name="Shape 55"/>
        <p:cNvGrpSpPr/>
        <p:nvPr/>
      </p:nvGrpSpPr>
      <p:grpSpPr>
        <a:xfrm>
          <a:off x="0" y="0"/>
          <a:ext cx="0" cy="0"/>
          <a:chOff x="0" y="0"/>
          <a:chExt cx="0" cy="0"/>
        </a:xfrm>
      </p:grpSpPr>
      <p:sp>
        <p:nvSpPr>
          <p:cNvPr id="56" name="Google Shape;56;p10"/>
          <p:cNvSpPr txBox="1"/>
          <p:nvPr/>
        </p:nvSpPr>
        <p:spPr>
          <a:xfrm flipH="1" rot="10800000">
            <a:off x="0" y="0"/>
            <a:ext cx="9144000" cy="46959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Clr>
                <a:schemeClr val="lt1"/>
              </a:buClr>
              <a:buSzPts val="1200"/>
              <a:buNone/>
              <a:defRPr sz="1200">
                <a:solidFill>
                  <a:schemeClr val="lt1"/>
                </a:solidFill>
              </a:defRPr>
            </a:lvl1pPr>
          </a:lstStyle>
          <a:p/>
        </p:txBody>
      </p:sp>
      <p:sp>
        <p:nvSpPr>
          <p:cNvPr id="59" name="Google Shape;59;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rgbClr val="450B0C"/>
        </a:solidFill>
      </p:bgPr>
    </p:bg>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62" name="Google Shape;62;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63" name="Google Shape;63;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450B0C"/>
        </a:solidFill>
      </p:bgPr>
    </p:bg>
    <p:spTree>
      <p:nvGrpSpPr>
        <p:cNvPr id="64" name="Shape 64"/>
        <p:cNvGrpSpPr/>
        <p:nvPr/>
      </p:nvGrpSpPr>
      <p:grpSpPr>
        <a:xfrm>
          <a:off x="0" y="0"/>
          <a:ext cx="0" cy="0"/>
          <a:chOff x="0" y="0"/>
          <a:chExt cx="0" cy="0"/>
        </a:xfrm>
      </p:grpSpPr>
      <p:sp>
        <p:nvSpPr>
          <p:cNvPr id="65" name="Google Shape;65;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9" name="Shape 69"/>
        <p:cNvGrpSpPr/>
        <p:nvPr/>
      </p:nvGrpSpPr>
      <p:grpSpPr>
        <a:xfrm>
          <a:off x="0" y="0"/>
          <a:ext cx="0" cy="0"/>
          <a:chOff x="0" y="0"/>
          <a:chExt cx="0" cy="0"/>
        </a:xfrm>
      </p:grpSpPr>
      <p:sp>
        <p:nvSpPr>
          <p:cNvPr id="70" name="Google Shape;70;p14"/>
          <p:cNvSpPr txBox="1"/>
          <p:nvPr>
            <p:ph type="ctrTitle"/>
          </p:nvPr>
        </p:nvSpPr>
        <p:spPr>
          <a:xfrm>
            <a:off x="1179875" y="1660263"/>
            <a:ext cx="6784200" cy="20880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5200"/>
              <a:buNone/>
              <a:defRPr sz="6300"/>
            </a:lvl1pPr>
            <a:lvl2pPr lvl="1" rtl="0" algn="ctr">
              <a:lnSpc>
                <a:spcPct val="100000"/>
              </a:lnSpc>
              <a:spcBef>
                <a:spcPts val="0"/>
              </a:spcBef>
              <a:spcAft>
                <a:spcPts val="0"/>
              </a:spcAft>
              <a:buSzPts val="5200"/>
              <a:buNone/>
              <a:defRPr sz="5200"/>
            </a:lvl2pPr>
            <a:lvl3pPr lvl="2" rtl="0" algn="ctr">
              <a:lnSpc>
                <a:spcPct val="100000"/>
              </a:lnSpc>
              <a:spcBef>
                <a:spcPts val="0"/>
              </a:spcBef>
              <a:spcAft>
                <a:spcPts val="0"/>
              </a:spcAft>
              <a:buSzPts val="5200"/>
              <a:buNone/>
              <a:defRPr sz="5200"/>
            </a:lvl3pPr>
            <a:lvl4pPr lvl="3" rtl="0" algn="ctr">
              <a:lnSpc>
                <a:spcPct val="100000"/>
              </a:lnSpc>
              <a:spcBef>
                <a:spcPts val="0"/>
              </a:spcBef>
              <a:spcAft>
                <a:spcPts val="0"/>
              </a:spcAft>
              <a:buSzPts val="5200"/>
              <a:buNone/>
              <a:defRPr sz="5200"/>
            </a:lvl4pPr>
            <a:lvl5pPr lvl="4" rtl="0" algn="ctr">
              <a:lnSpc>
                <a:spcPct val="100000"/>
              </a:lnSpc>
              <a:spcBef>
                <a:spcPts val="0"/>
              </a:spcBef>
              <a:spcAft>
                <a:spcPts val="0"/>
              </a:spcAft>
              <a:buSzPts val="5200"/>
              <a:buNone/>
              <a:defRPr sz="5200"/>
            </a:lvl5pPr>
            <a:lvl6pPr lvl="5" rtl="0" algn="ctr">
              <a:lnSpc>
                <a:spcPct val="100000"/>
              </a:lnSpc>
              <a:spcBef>
                <a:spcPts val="0"/>
              </a:spcBef>
              <a:spcAft>
                <a:spcPts val="0"/>
              </a:spcAft>
              <a:buSzPts val="5200"/>
              <a:buNone/>
              <a:defRPr sz="5200"/>
            </a:lvl6pPr>
            <a:lvl7pPr lvl="6" rtl="0" algn="ctr">
              <a:lnSpc>
                <a:spcPct val="100000"/>
              </a:lnSpc>
              <a:spcBef>
                <a:spcPts val="0"/>
              </a:spcBef>
              <a:spcAft>
                <a:spcPts val="0"/>
              </a:spcAft>
              <a:buSzPts val="5200"/>
              <a:buNone/>
              <a:defRPr sz="5200"/>
            </a:lvl7pPr>
            <a:lvl8pPr lvl="7" rtl="0" algn="ctr">
              <a:lnSpc>
                <a:spcPct val="100000"/>
              </a:lnSpc>
              <a:spcBef>
                <a:spcPts val="0"/>
              </a:spcBef>
              <a:spcAft>
                <a:spcPts val="0"/>
              </a:spcAft>
              <a:buSzPts val="5200"/>
              <a:buNone/>
              <a:defRPr sz="5200"/>
            </a:lvl8pPr>
            <a:lvl9pPr lvl="8" rtl="0" algn="ctr">
              <a:lnSpc>
                <a:spcPct val="100000"/>
              </a:lnSpc>
              <a:spcBef>
                <a:spcPts val="0"/>
              </a:spcBef>
              <a:spcAft>
                <a:spcPts val="0"/>
              </a:spcAft>
              <a:buSzPts val="5200"/>
              <a:buNone/>
              <a:defRPr sz="5200"/>
            </a:lvl9pPr>
          </a:lstStyle>
          <a:p/>
        </p:txBody>
      </p:sp>
      <p:sp>
        <p:nvSpPr>
          <p:cNvPr id="71" name="Google Shape;71;p14"/>
          <p:cNvSpPr txBox="1"/>
          <p:nvPr>
            <p:ph idx="1" type="subTitle"/>
          </p:nvPr>
        </p:nvSpPr>
        <p:spPr>
          <a:xfrm>
            <a:off x="1179875" y="3918688"/>
            <a:ext cx="6784200" cy="4758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600"/>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2" name="Shape 72"/>
        <p:cNvGrpSpPr/>
        <p:nvPr/>
      </p:nvGrpSpPr>
      <p:grpSpPr>
        <a:xfrm>
          <a:off x="0" y="0"/>
          <a:ext cx="0" cy="0"/>
          <a:chOff x="0" y="0"/>
          <a:chExt cx="0" cy="0"/>
        </a:xfrm>
      </p:grpSpPr>
      <p:sp>
        <p:nvSpPr>
          <p:cNvPr id="73" name="Google Shape;73;p15"/>
          <p:cNvSpPr/>
          <p:nvPr>
            <p:ph idx="2" type="pic"/>
          </p:nvPr>
        </p:nvSpPr>
        <p:spPr>
          <a:xfrm>
            <a:off x="0" y="0"/>
            <a:ext cx="9144000" cy="5143500"/>
          </a:xfrm>
          <a:prstGeom prst="rect">
            <a:avLst/>
          </a:prstGeom>
          <a:noFill/>
          <a:ln>
            <a:noFill/>
          </a:ln>
        </p:spPr>
      </p:sp>
      <p:sp>
        <p:nvSpPr>
          <p:cNvPr id="74" name="Google Shape;74;p15"/>
          <p:cNvSpPr txBox="1"/>
          <p:nvPr>
            <p:ph type="title"/>
          </p:nvPr>
        </p:nvSpPr>
        <p:spPr>
          <a:xfrm>
            <a:off x="720000" y="4014450"/>
            <a:ext cx="7704000" cy="572700"/>
          </a:xfrm>
          <a:prstGeom prst="rect">
            <a:avLst/>
          </a:prstGeom>
          <a:solidFill>
            <a:schemeClr val="dk1"/>
          </a:solid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3000"/>
              <a:buNone/>
              <a:defRPr>
                <a:solidFill>
                  <a:schemeClr val="lt1"/>
                </a:solidFill>
              </a:defRPr>
            </a:lvl1pPr>
            <a:lvl2pPr lvl="1" rtl="0" algn="ctr">
              <a:lnSpc>
                <a:spcPct val="100000"/>
              </a:lnSpc>
              <a:spcBef>
                <a:spcPts val="0"/>
              </a:spcBef>
              <a:spcAft>
                <a:spcPts val="0"/>
              </a:spcAft>
              <a:buSzPts val="3000"/>
              <a:buNone/>
              <a:defRPr/>
            </a:lvl2pPr>
            <a:lvl3pPr lvl="2" rtl="0" algn="ctr">
              <a:lnSpc>
                <a:spcPct val="100000"/>
              </a:lnSpc>
              <a:spcBef>
                <a:spcPts val="0"/>
              </a:spcBef>
              <a:spcAft>
                <a:spcPts val="0"/>
              </a:spcAft>
              <a:buSzPts val="3000"/>
              <a:buNone/>
              <a:defRPr/>
            </a:lvl3pPr>
            <a:lvl4pPr lvl="3" rtl="0" algn="ctr">
              <a:lnSpc>
                <a:spcPct val="100000"/>
              </a:lnSpc>
              <a:spcBef>
                <a:spcPts val="0"/>
              </a:spcBef>
              <a:spcAft>
                <a:spcPts val="0"/>
              </a:spcAft>
              <a:buSzPts val="3000"/>
              <a:buNone/>
              <a:defRPr/>
            </a:lvl4pPr>
            <a:lvl5pPr lvl="4" rtl="0" algn="ctr">
              <a:lnSpc>
                <a:spcPct val="100000"/>
              </a:lnSpc>
              <a:spcBef>
                <a:spcPts val="0"/>
              </a:spcBef>
              <a:spcAft>
                <a:spcPts val="0"/>
              </a:spcAft>
              <a:buSzPts val="3000"/>
              <a:buNone/>
              <a:defRPr/>
            </a:lvl5pPr>
            <a:lvl6pPr lvl="5" rtl="0" algn="ctr">
              <a:lnSpc>
                <a:spcPct val="100000"/>
              </a:lnSpc>
              <a:spcBef>
                <a:spcPts val="0"/>
              </a:spcBef>
              <a:spcAft>
                <a:spcPts val="0"/>
              </a:spcAft>
              <a:buSzPts val="3000"/>
              <a:buNone/>
              <a:defRPr/>
            </a:lvl6pPr>
            <a:lvl7pPr lvl="6" rtl="0" algn="ctr">
              <a:lnSpc>
                <a:spcPct val="100000"/>
              </a:lnSpc>
              <a:spcBef>
                <a:spcPts val="0"/>
              </a:spcBef>
              <a:spcAft>
                <a:spcPts val="0"/>
              </a:spcAft>
              <a:buSzPts val="3000"/>
              <a:buNone/>
              <a:defRPr/>
            </a:lvl7pPr>
            <a:lvl8pPr lvl="7" rtl="0" algn="ctr">
              <a:lnSpc>
                <a:spcPct val="100000"/>
              </a:lnSpc>
              <a:spcBef>
                <a:spcPts val="0"/>
              </a:spcBef>
              <a:spcAft>
                <a:spcPts val="0"/>
              </a:spcAft>
              <a:buSzPts val="3000"/>
              <a:buNone/>
              <a:defRPr/>
            </a:lvl8pPr>
            <a:lvl9pPr lvl="8" rtl="0" algn="ctr">
              <a:lnSpc>
                <a:spcPct val="100000"/>
              </a:lnSpc>
              <a:spcBef>
                <a:spcPts val="0"/>
              </a:spcBef>
              <a:spcAft>
                <a:spcPts val="0"/>
              </a:spcAft>
              <a:buSzPts val="30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75" name="Shape 75"/>
        <p:cNvGrpSpPr/>
        <p:nvPr/>
      </p:nvGrpSpPr>
      <p:grpSpPr>
        <a:xfrm>
          <a:off x="0" y="0"/>
          <a:ext cx="0" cy="0"/>
          <a:chOff x="0" y="0"/>
          <a:chExt cx="0" cy="0"/>
        </a:xfrm>
      </p:grpSpPr>
      <p:sp>
        <p:nvSpPr>
          <p:cNvPr id="76" name="Google Shape;76;p1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3000"/>
              <a:buNone/>
              <a:defRPr/>
            </a:lvl1pPr>
            <a:lvl2pPr lvl="1" rtl="0" algn="l">
              <a:lnSpc>
                <a:spcPct val="100000"/>
              </a:lnSpc>
              <a:spcBef>
                <a:spcPts val="0"/>
              </a:spcBef>
              <a:spcAft>
                <a:spcPts val="0"/>
              </a:spcAft>
              <a:buSzPts val="3000"/>
              <a:buNone/>
              <a:defRPr/>
            </a:lvl2pPr>
            <a:lvl3pPr lvl="2" rtl="0" algn="l">
              <a:lnSpc>
                <a:spcPct val="100000"/>
              </a:lnSpc>
              <a:spcBef>
                <a:spcPts val="0"/>
              </a:spcBef>
              <a:spcAft>
                <a:spcPts val="0"/>
              </a:spcAft>
              <a:buSzPts val="3000"/>
              <a:buNone/>
              <a:defRPr/>
            </a:lvl3pPr>
            <a:lvl4pPr lvl="3" rtl="0" algn="l">
              <a:lnSpc>
                <a:spcPct val="100000"/>
              </a:lnSpc>
              <a:spcBef>
                <a:spcPts val="0"/>
              </a:spcBef>
              <a:spcAft>
                <a:spcPts val="0"/>
              </a:spcAft>
              <a:buSzPts val="3000"/>
              <a:buNone/>
              <a:defRPr/>
            </a:lvl4pPr>
            <a:lvl5pPr lvl="4" rtl="0" algn="l">
              <a:lnSpc>
                <a:spcPct val="100000"/>
              </a:lnSpc>
              <a:spcBef>
                <a:spcPts val="0"/>
              </a:spcBef>
              <a:spcAft>
                <a:spcPts val="0"/>
              </a:spcAft>
              <a:buSzPts val="3000"/>
              <a:buNone/>
              <a:defRPr/>
            </a:lvl5pPr>
            <a:lvl6pPr lvl="5" rtl="0" algn="l">
              <a:lnSpc>
                <a:spcPct val="100000"/>
              </a:lnSpc>
              <a:spcBef>
                <a:spcPts val="0"/>
              </a:spcBef>
              <a:spcAft>
                <a:spcPts val="0"/>
              </a:spcAft>
              <a:buSzPts val="3000"/>
              <a:buNone/>
              <a:defRPr/>
            </a:lvl6pPr>
            <a:lvl7pPr lvl="6" rtl="0" algn="l">
              <a:lnSpc>
                <a:spcPct val="100000"/>
              </a:lnSpc>
              <a:spcBef>
                <a:spcPts val="0"/>
              </a:spcBef>
              <a:spcAft>
                <a:spcPts val="0"/>
              </a:spcAft>
              <a:buSzPts val="3000"/>
              <a:buNone/>
              <a:defRPr/>
            </a:lvl7pPr>
            <a:lvl8pPr lvl="7" rtl="0" algn="l">
              <a:lnSpc>
                <a:spcPct val="100000"/>
              </a:lnSpc>
              <a:spcBef>
                <a:spcPts val="0"/>
              </a:spcBef>
              <a:spcAft>
                <a:spcPts val="0"/>
              </a:spcAft>
              <a:buSzPts val="3000"/>
              <a:buNone/>
              <a:defRPr/>
            </a:lvl8pPr>
            <a:lvl9pPr lvl="8" rtl="0" algn="l">
              <a:lnSpc>
                <a:spcPct val="100000"/>
              </a:lnSpc>
              <a:spcBef>
                <a:spcPts val="0"/>
              </a:spcBef>
              <a:spcAft>
                <a:spcPts val="0"/>
              </a:spcAft>
              <a:buSzPts val="3000"/>
              <a:buNone/>
              <a:defRPr/>
            </a:lvl9pPr>
          </a:lstStyle>
          <a:p/>
        </p:txBody>
      </p:sp>
      <p:sp>
        <p:nvSpPr>
          <p:cNvPr id="77" name="Google Shape;77;p16"/>
          <p:cNvSpPr txBox="1"/>
          <p:nvPr>
            <p:ph idx="1" type="subTitle"/>
          </p:nvPr>
        </p:nvSpPr>
        <p:spPr>
          <a:xfrm>
            <a:off x="720000" y="1735625"/>
            <a:ext cx="3146700" cy="12078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78" name="Google Shape;78;p16"/>
          <p:cNvSpPr txBox="1"/>
          <p:nvPr>
            <p:ph idx="2" type="subTitle"/>
          </p:nvPr>
        </p:nvSpPr>
        <p:spPr>
          <a:xfrm>
            <a:off x="4632773" y="1735625"/>
            <a:ext cx="3146700" cy="12078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79" name="Google Shape;79;p16"/>
          <p:cNvSpPr txBox="1"/>
          <p:nvPr>
            <p:ph idx="3" type="subTitle"/>
          </p:nvPr>
        </p:nvSpPr>
        <p:spPr>
          <a:xfrm>
            <a:off x="720000" y="3396200"/>
            <a:ext cx="3146700" cy="12078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80" name="Google Shape;80;p16"/>
          <p:cNvSpPr txBox="1"/>
          <p:nvPr>
            <p:ph idx="4" type="subTitle"/>
          </p:nvPr>
        </p:nvSpPr>
        <p:spPr>
          <a:xfrm>
            <a:off x="4632773" y="3396200"/>
            <a:ext cx="3146700" cy="12078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81" name="Google Shape;81;p16"/>
          <p:cNvSpPr txBox="1"/>
          <p:nvPr>
            <p:ph idx="5" type="subTitle"/>
          </p:nvPr>
        </p:nvSpPr>
        <p:spPr>
          <a:xfrm>
            <a:off x="720000" y="1282675"/>
            <a:ext cx="3146700" cy="4605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SzPts val="2400"/>
              <a:buFont typeface="Bebas Neue"/>
              <a:buNone/>
              <a:defRPr b="1" sz="2000">
                <a:solidFill>
                  <a:schemeClr val="dk1"/>
                </a:solidFill>
                <a:latin typeface="Urbanist"/>
                <a:ea typeface="Urbanist"/>
                <a:cs typeface="Urbanist"/>
                <a:sym typeface="Urbanist"/>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2" name="Google Shape;82;p16"/>
          <p:cNvSpPr txBox="1"/>
          <p:nvPr>
            <p:ph idx="6" type="subTitle"/>
          </p:nvPr>
        </p:nvSpPr>
        <p:spPr>
          <a:xfrm>
            <a:off x="720000" y="2943425"/>
            <a:ext cx="3146700" cy="4605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SzPts val="2400"/>
              <a:buFont typeface="Bebas Neue"/>
              <a:buNone/>
              <a:defRPr b="1" sz="2000">
                <a:solidFill>
                  <a:schemeClr val="dk1"/>
                </a:solidFill>
                <a:latin typeface="Urbanist"/>
                <a:ea typeface="Urbanist"/>
                <a:cs typeface="Urbanist"/>
                <a:sym typeface="Urbanist"/>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3" name="Google Shape;83;p16"/>
          <p:cNvSpPr txBox="1"/>
          <p:nvPr>
            <p:ph idx="7" type="subTitle"/>
          </p:nvPr>
        </p:nvSpPr>
        <p:spPr>
          <a:xfrm>
            <a:off x="4632748" y="1282675"/>
            <a:ext cx="3146700" cy="4605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SzPts val="2400"/>
              <a:buFont typeface="Bebas Neue"/>
              <a:buNone/>
              <a:defRPr b="1" sz="2000">
                <a:solidFill>
                  <a:schemeClr val="dk1"/>
                </a:solidFill>
                <a:latin typeface="Urbanist"/>
                <a:ea typeface="Urbanist"/>
                <a:cs typeface="Urbanist"/>
                <a:sym typeface="Urbanist"/>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4" name="Google Shape;84;p16"/>
          <p:cNvSpPr txBox="1"/>
          <p:nvPr>
            <p:ph idx="8" type="subTitle"/>
          </p:nvPr>
        </p:nvSpPr>
        <p:spPr>
          <a:xfrm>
            <a:off x="4632748" y="2943425"/>
            <a:ext cx="3146700" cy="4605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SzPts val="2400"/>
              <a:buFont typeface="Bebas Neue"/>
              <a:buNone/>
              <a:defRPr b="1" sz="2000">
                <a:solidFill>
                  <a:schemeClr val="dk1"/>
                </a:solidFill>
                <a:latin typeface="Urbanist"/>
                <a:ea typeface="Urbanist"/>
                <a:cs typeface="Urbanist"/>
                <a:sym typeface="Urbanist"/>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5" name="Shape 85"/>
        <p:cNvGrpSpPr/>
        <p:nvPr/>
      </p:nvGrpSpPr>
      <p:grpSpPr>
        <a:xfrm>
          <a:off x="0" y="0"/>
          <a:ext cx="0" cy="0"/>
          <a:chOff x="0" y="0"/>
          <a:chExt cx="0" cy="0"/>
        </a:xfrm>
      </p:grpSpPr>
      <p:sp>
        <p:nvSpPr>
          <p:cNvPr id="86" name="Google Shape;86;p17"/>
          <p:cNvSpPr txBox="1"/>
          <p:nvPr>
            <p:ph type="title"/>
          </p:nvPr>
        </p:nvSpPr>
        <p:spPr>
          <a:xfrm>
            <a:off x="2317950" y="1307100"/>
            <a:ext cx="4508100" cy="2529300"/>
          </a:xfrm>
          <a:prstGeom prst="rect">
            <a:avLst/>
          </a:prstGeom>
          <a:noFill/>
          <a:ln>
            <a:noFill/>
          </a:ln>
        </p:spPr>
        <p:txBody>
          <a:bodyPr anchorCtr="0" anchor="ctr" bIns="91425" lIns="91425" spcFirstLastPara="1" rIns="91425" wrap="square" tIns="91425">
            <a:noAutofit/>
          </a:bodyPr>
          <a:lstStyle>
            <a:lvl1pPr lvl="0" rtl="0" algn="ctr">
              <a:lnSpc>
                <a:spcPct val="80000"/>
              </a:lnSpc>
              <a:spcBef>
                <a:spcPts val="0"/>
              </a:spcBef>
              <a:spcAft>
                <a:spcPts val="0"/>
              </a:spcAft>
              <a:buSzPts val="4800"/>
              <a:buNone/>
              <a:defRPr sz="10000"/>
            </a:lvl1pPr>
            <a:lvl2pPr lvl="1" rtl="0" algn="l">
              <a:lnSpc>
                <a:spcPct val="100000"/>
              </a:lnSpc>
              <a:spcBef>
                <a:spcPts val="0"/>
              </a:spcBef>
              <a:spcAft>
                <a:spcPts val="0"/>
              </a:spcAft>
              <a:buSzPts val="4800"/>
              <a:buNone/>
              <a:defRPr sz="4800"/>
            </a:lvl2pPr>
            <a:lvl3pPr lvl="2" rtl="0" algn="l">
              <a:lnSpc>
                <a:spcPct val="100000"/>
              </a:lnSpc>
              <a:spcBef>
                <a:spcPts val="0"/>
              </a:spcBef>
              <a:spcAft>
                <a:spcPts val="0"/>
              </a:spcAft>
              <a:buSzPts val="4800"/>
              <a:buNone/>
              <a:defRPr sz="4800"/>
            </a:lvl3pPr>
            <a:lvl4pPr lvl="3" rtl="0" algn="l">
              <a:lnSpc>
                <a:spcPct val="100000"/>
              </a:lnSpc>
              <a:spcBef>
                <a:spcPts val="0"/>
              </a:spcBef>
              <a:spcAft>
                <a:spcPts val="0"/>
              </a:spcAft>
              <a:buSzPts val="4800"/>
              <a:buNone/>
              <a:defRPr sz="4800"/>
            </a:lvl4pPr>
            <a:lvl5pPr lvl="4" rtl="0" algn="l">
              <a:lnSpc>
                <a:spcPct val="100000"/>
              </a:lnSpc>
              <a:spcBef>
                <a:spcPts val="0"/>
              </a:spcBef>
              <a:spcAft>
                <a:spcPts val="0"/>
              </a:spcAft>
              <a:buSzPts val="4800"/>
              <a:buNone/>
              <a:defRPr sz="4800"/>
            </a:lvl5pPr>
            <a:lvl6pPr lvl="5" rtl="0" algn="l">
              <a:lnSpc>
                <a:spcPct val="100000"/>
              </a:lnSpc>
              <a:spcBef>
                <a:spcPts val="0"/>
              </a:spcBef>
              <a:spcAft>
                <a:spcPts val="0"/>
              </a:spcAft>
              <a:buSzPts val="4800"/>
              <a:buNone/>
              <a:defRPr sz="4800"/>
            </a:lvl6pPr>
            <a:lvl7pPr lvl="6" rtl="0" algn="l">
              <a:lnSpc>
                <a:spcPct val="100000"/>
              </a:lnSpc>
              <a:spcBef>
                <a:spcPts val="0"/>
              </a:spcBef>
              <a:spcAft>
                <a:spcPts val="0"/>
              </a:spcAft>
              <a:buSzPts val="4800"/>
              <a:buNone/>
              <a:defRPr sz="4800"/>
            </a:lvl7pPr>
            <a:lvl8pPr lvl="7" rtl="0" algn="l">
              <a:lnSpc>
                <a:spcPct val="100000"/>
              </a:lnSpc>
              <a:spcBef>
                <a:spcPts val="0"/>
              </a:spcBef>
              <a:spcAft>
                <a:spcPts val="0"/>
              </a:spcAft>
              <a:buSzPts val="4800"/>
              <a:buNone/>
              <a:defRPr sz="4800"/>
            </a:lvl8pPr>
            <a:lvl9pPr lvl="8" rtl="0" algn="l">
              <a:lnSpc>
                <a:spcPct val="100000"/>
              </a:lnSpc>
              <a:spcBef>
                <a:spcPts val="0"/>
              </a:spcBef>
              <a:spcAft>
                <a:spcPts val="0"/>
              </a:spcAft>
              <a:buSzPts val="4800"/>
              <a:buNone/>
              <a:defRPr sz="4800"/>
            </a:lvl9pPr>
          </a:lstStyle>
          <a:p/>
        </p:txBody>
      </p:sp>
      <p:cxnSp>
        <p:nvCxnSpPr>
          <p:cNvPr id="87" name="Google Shape;87;p17"/>
          <p:cNvCxnSpPr/>
          <p:nvPr/>
        </p:nvCxnSpPr>
        <p:spPr>
          <a:xfrm>
            <a:off x="0" y="2571738"/>
            <a:ext cx="1237800" cy="0"/>
          </a:xfrm>
          <a:prstGeom prst="straightConnector1">
            <a:avLst/>
          </a:prstGeom>
          <a:noFill/>
          <a:ln cap="flat" cmpd="sng" w="28575">
            <a:solidFill>
              <a:srgbClr val="FFFFFF"/>
            </a:solidFill>
            <a:prstDash val="solid"/>
            <a:round/>
            <a:headEnd len="sm" w="sm" type="none"/>
            <a:tailEnd len="sm" w="sm" type="none"/>
          </a:ln>
        </p:spPr>
      </p:cxnSp>
      <p:cxnSp>
        <p:nvCxnSpPr>
          <p:cNvPr id="88" name="Google Shape;88;p17"/>
          <p:cNvCxnSpPr/>
          <p:nvPr/>
        </p:nvCxnSpPr>
        <p:spPr>
          <a:xfrm>
            <a:off x="7906200" y="2571738"/>
            <a:ext cx="1237800" cy="0"/>
          </a:xfrm>
          <a:prstGeom prst="straightConnector1">
            <a:avLst/>
          </a:prstGeom>
          <a:noFill/>
          <a:ln cap="flat" cmpd="sng" w="28575">
            <a:solidFill>
              <a:schemeClr val="accent6"/>
            </a:solidFill>
            <a:prstDash val="solid"/>
            <a:round/>
            <a:headEnd len="sm" w="sm" type="none"/>
            <a:tailEnd len="sm" w="sm"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9" name="Shape 89"/>
        <p:cNvGrpSpPr/>
        <p:nvPr/>
      </p:nvGrpSpPr>
      <p:grpSpPr>
        <a:xfrm>
          <a:off x="0" y="0"/>
          <a:ext cx="0" cy="0"/>
          <a:chOff x="0" y="0"/>
          <a:chExt cx="0" cy="0"/>
        </a:xfrm>
      </p:grpSpPr>
      <p:sp>
        <p:nvSpPr>
          <p:cNvPr id="90" name="Google Shape;90;p1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3000"/>
              <a:buNone/>
              <a:defRPr/>
            </a:lvl1pPr>
            <a:lvl2pPr lvl="1" rtl="0" algn="l">
              <a:lnSpc>
                <a:spcPct val="100000"/>
              </a:lnSpc>
              <a:spcBef>
                <a:spcPts val="0"/>
              </a:spcBef>
              <a:spcAft>
                <a:spcPts val="0"/>
              </a:spcAft>
              <a:buSzPts val="3000"/>
              <a:buNone/>
              <a:defRPr/>
            </a:lvl2pPr>
            <a:lvl3pPr lvl="2" rtl="0" algn="l">
              <a:lnSpc>
                <a:spcPct val="100000"/>
              </a:lnSpc>
              <a:spcBef>
                <a:spcPts val="0"/>
              </a:spcBef>
              <a:spcAft>
                <a:spcPts val="0"/>
              </a:spcAft>
              <a:buSzPts val="3000"/>
              <a:buNone/>
              <a:defRPr/>
            </a:lvl3pPr>
            <a:lvl4pPr lvl="3" rtl="0" algn="l">
              <a:lnSpc>
                <a:spcPct val="100000"/>
              </a:lnSpc>
              <a:spcBef>
                <a:spcPts val="0"/>
              </a:spcBef>
              <a:spcAft>
                <a:spcPts val="0"/>
              </a:spcAft>
              <a:buSzPts val="3000"/>
              <a:buNone/>
              <a:defRPr/>
            </a:lvl4pPr>
            <a:lvl5pPr lvl="4" rtl="0" algn="l">
              <a:lnSpc>
                <a:spcPct val="100000"/>
              </a:lnSpc>
              <a:spcBef>
                <a:spcPts val="0"/>
              </a:spcBef>
              <a:spcAft>
                <a:spcPts val="0"/>
              </a:spcAft>
              <a:buSzPts val="3000"/>
              <a:buNone/>
              <a:defRPr/>
            </a:lvl5pPr>
            <a:lvl6pPr lvl="5" rtl="0" algn="l">
              <a:lnSpc>
                <a:spcPct val="100000"/>
              </a:lnSpc>
              <a:spcBef>
                <a:spcPts val="0"/>
              </a:spcBef>
              <a:spcAft>
                <a:spcPts val="0"/>
              </a:spcAft>
              <a:buSzPts val="3000"/>
              <a:buNone/>
              <a:defRPr/>
            </a:lvl6pPr>
            <a:lvl7pPr lvl="6" rtl="0" algn="l">
              <a:lnSpc>
                <a:spcPct val="100000"/>
              </a:lnSpc>
              <a:spcBef>
                <a:spcPts val="0"/>
              </a:spcBef>
              <a:spcAft>
                <a:spcPts val="0"/>
              </a:spcAft>
              <a:buSzPts val="3000"/>
              <a:buNone/>
              <a:defRPr/>
            </a:lvl7pPr>
            <a:lvl8pPr lvl="7" rtl="0" algn="l">
              <a:lnSpc>
                <a:spcPct val="100000"/>
              </a:lnSpc>
              <a:spcBef>
                <a:spcPts val="0"/>
              </a:spcBef>
              <a:spcAft>
                <a:spcPts val="0"/>
              </a:spcAft>
              <a:buSzPts val="3000"/>
              <a:buNone/>
              <a:defRPr/>
            </a:lvl8pPr>
            <a:lvl9pPr lvl="8" rtl="0" algn="l">
              <a:lnSpc>
                <a:spcPct val="100000"/>
              </a:lnSpc>
              <a:spcBef>
                <a:spcPts val="0"/>
              </a:spcBef>
              <a:spcAft>
                <a:spcPts val="0"/>
              </a:spcAft>
              <a:buSzPts val="3000"/>
              <a:buNone/>
              <a:defRPr/>
            </a:lvl9pPr>
          </a:lstStyle>
          <a:p/>
        </p:txBody>
      </p:sp>
      <p:sp>
        <p:nvSpPr>
          <p:cNvPr id="91" name="Google Shape;91;p18"/>
          <p:cNvSpPr txBox="1"/>
          <p:nvPr>
            <p:ph idx="1" type="subTitle"/>
          </p:nvPr>
        </p:nvSpPr>
        <p:spPr>
          <a:xfrm>
            <a:off x="5253862" y="2909825"/>
            <a:ext cx="2505600" cy="14676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92" name="Google Shape;92;p18"/>
          <p:cNvSpPr txBox="1"/>
          <p:nvPr>
            <p:ph idx="2" type="subTitle"/>
          </p:nvPr>
        </p:nvSpPr>
        <p:spPr>
          <a:xfrm>
            <a:off x="1384538" y="2909825"/>
            <a:ext cx="2505600" cy="14676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93" name="Google Shape;93;p18"/>
          <p:cNvSpPr txBox="1"/>
          <p:nvPr>
            <p:ph idx="3" type="subTitle"/>
          </p:nvPr>
        </p:nvSpPr>
        <p:spPr>
          <a:xfrm>
            <a:off x="1384538" y="2383201"/>
            <a:ext cx="2505600" cy="5265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000">
                <a:solidFill>
                  <a:schemeClr val="dk1"/>
                </a:solidFill>
                <a:latin typeface="Urbanist"/>
                <a:ea typeface="Urbanist"/>
                <a:cs typeface="Urbanist"/>
                <a:sym typeface="Urbanist"/>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94" name="Google Shape;94;p18"/>
          <p:cNvSpPr txBox="1"/>
          <p:nvPr>
            <p:ph idx="4" type="subTitle"/>
          </p:nvPr>
        </p:nvSpPr>
        <p:spPr>
          <a:xfrm>
            <a:off x="5253863" y="2383201"/>
            <a:ext cx="2505600" cy="5265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000">
                <a:solidFill>
                  <a:schemeClr val="dk1"/>
                </a:solidFill>
                <a:latin typeface="Urbanist"/>
                <a:ea typeface="Urbanist"/>
                <a:cs typeface="Urbanist"/>
                <a:sym typeface="Urbanist"/>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5" name="Shape 95"/>
        <p:cNvGrpSpPr/>
        <p:nvPr/>
      </p:nvGrpSpPr>
      <p:grpSpPr>
        <a:xfrm>
          <a:off x="0" y="0"/>
          <a:ext cx="0" cy="0"/>
          <a:chOff x="0" y="0"/>
          <a:chExt cx="0" cy="0"/>
        </a:xfrm>
      </p:grpSpPr>
      <p:sp>
        <p:nvSpPr>
          <p:cNvPr id="96" name="Google Shape;96;p19"/>
          <p:cNvSpPr txBox="1"/>
          <p:nvPr>
            <p:ph type="title"/>
          </p:nvPr>
        </p:nvSpPr>
        <p:spPr>
          <a:xfrm>
            <a:off x="2135550" y="1189100"/>
            <a:ext cx="4872900" cy="19644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3000"/>
              <a:buNone/>
              <a:defRPr sz="15000"/>
            </a:lvl1pPr>
            <a:lvl2pPr lvl="1" rtl="0" algn="ctr">
              <a:lnSpc>
                <a:spcPct val="100000"/>
              </a:lnSpc>
              <a:spcBef>
                <a:spcPts val="0"/>
              </a:spcBef>
              <a:spcAft>
                <a:spcPts val="0"/>
              </a:spcAft>
              <a:buSzPts val="3000"/>
              <a:buNone/>
              <a:defRPr/>
            </a:lvl2pPr>
            <a:lvl3pPr lvl="2" rtl="0" algn="ctr">
              <a:lnSpc>
                <a:spcPct val="100000"/>
              </a:lnSpc>
              <a:spcBef>
                <a:spcPts val="0"/>
              </a:spcBef>
              <a:spcAft>
                <a:spcPts val="0"/>
              </a:spcAft>
              <a:buSzPts val="3000"/>
              <a:buNone/>
              <a:defRPr/>
            </a:lvl3pPr>
            <a:lvl4pPr lvl="3" rtl="0" algn="ctr">
              <a:lnSpc>
                <a:spcPct val="100000"/>
              </a:lnSpc>
              <a:spcBef>
                <a:spcPts val="0"/>
              </a:spcBef>
              <a:spcAft>
                <a:spcPts val="0"/>
              </a:spcAft>
              <a:buSzPts val="3000"/>
              <a:buNone/>
              <a:defRPr/>
            </a:lvl4pPr>
            <a:lvl5pPr lvl="4" rtl="0" algn="ctr">
              <a:lnSpc>
                <a:spcPct val="100000"/>
              </a:lnSpc>
              <a:spcBef>
                <a:spcPts val="0"/>
              </a:spcBef>
              <a:spcAft>
                <a:spcPts val="0"/>
              </a:spcAft>
              <a:buSzPts val="3000"/>
              <a:buNone/>
              <a:defRPr/>
            </a:lvl5pPr>
            <a:lvl6pPr lvl="5" rtl="0" algn="ctr">
              <a:lnSpc>
                <a:spcPct val="100000"/>
              </a:lnSpc>
              <a:spcBef>
                <a:spcPts val="0"/>
              </a:spcBef>
              <a:spcAft>
                <a:spcPts val="0"/>
              </a:spcAft>
              <a:buSzPts val="3000"/>
              <a:buNone/>
              <a:defRPr/>
            </a:lvl6pPr>
            <a:lvl7pPr lvl="6" rtl="0" algn="ctr">
              <a:lnSpc>
                <a:spcPct val="100000"/>
              </a:lnSpc>
              <a:spcBef>
                <a:spcPts val="0"/>
              </a:spcBef>
              <a:spcAft>
                <a:spcPts val="0"/>
              </a:spcAft>
              <a:buSzPts val="3000"/>
              <a:buNone/>
              <a:defRPr/>
            </a:lvl7pPr>
            <a:lvl8pPr lvl="7" rtl="0" algn="ctr">
              <a:lnSpc>
                <a:spcPct val="100000"/>
              </a:lnSpc>
              <a:spcBef>
                <a:spcPts val="0"/>
              </a:spcBef>
              <a:spcAft>
                <a:spcPts val="0"/>
              </a:spcAft>
              <a:buSzPts val="3000"/>
              <a:buNone/>
              <a:defRPr/>
            </a:lvl8pPr>
            <a:lvl9pPr lvl="8" rtl="0" algn="ctr">
              <a:lnSpc>
                <a:spcPct val="100000"/>
              </a:lnSpc>
              <a:spcBef>
                <a:spcPts val="0"/>
              </a:spcBef>
              <a:spcAft>
                <a:spcPts val="0"/>
              </a:spcAft>
              <a:buSzPts val="3000"/>
              <a:buNone/>
              <a:defRPr/>
            </a:lvl9pPr>
          </a:lstStyle>
          <a:p/>
        </p:txBody>
      </p:sp>
      <p:sp>
        <p:nvSpPr>
          <p:cNvPr id="97" name="Google Shape;97;p19"/>
          <p:cNvSpPr txBox="1"/>
          <p:nvPr>
            <p:ph idx="1" type="subTitle"/>
          </p:nvPr>
        </p:nvSpPr>
        <p:spPr>
          <a:xfrm>
            <a:off x="2135550" y="3153500"/>
            <a:ext cx="4872900" cy="6711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cxnSp>
        <p:nvCxnSpPr>
          <p:cNvPr id="98" name="Google Shape;98;p19"/>
          <p:cNvCxnSpPr/>
          <p:nvPr/>
        </p:nvCxnSpPr>
        <p:spPr>
          <a:xfrm>
            <a:off x="4571975" y="-12"/>
            <a:ext cx="0" cy="906000"/>
          </a:xfrm>
          <a:prstGeom prst="straightConnector1">
            <a:avLst/>
          </a:prstGeom>
          <a:noFill/>
          <a:ln cap="flat" cmpd="sng" w="28575">
            <a:solidFill>
              <a:schemeClr val="dk1"/>
            </a:solidFill>
            <a:prstDash val="solid"/>
            <a:round/>
            <a:headEnd len="sm" w="sm" type="none"/>
            <a:tailEnd len="sm" w="sm" type="none"/>
          </a:ln>
        </p:spPr>
      </p:cxnSp>
      <p:cxnSp>
        <p:nvCxnSpPr>
          <p:cNvPr id="99" name="Google Shape;99;p19"/>
          <p:cNvCxnSpPr/>
          <p:nvPr/>
        </p:nvCxnSpPr>
        <p:spPr>
          <a:xfrm>
            <a:off x="4571975" y="4237488"/>
            <a:ext cx="0" cy="906000"/>
          </a:xfrm>
          <a:prstGeom prst="straightConnector1">
            <a:avLst/>
          </a:prstGeom>
          <a:noFill/>
          <a:ln cap="flat" cmpd="sng" w="28575">
            <a:solidFill>
              <a:schemeClr val="dk1"/>
            </a:solidFill>
            <a:prstDash val="solid"/>
            <a:round/>
            <a:headEnd len="sm" w="sm" type="none"/>
            <a:tailEnd len="sm" w="sm"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3"/>
        </a:solidFill>
      </p:bgPr>
    </p:bg>
    <p:spTree>
      <p:nvGrpSpPr>
        <p:cNvPr id="100" name="Shape 100"/>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01" name="Shape 101"/>
        <p:cNvGrpSpPr/>
        <p:nvPr/>
      </p:nvGrpSpPr>
      <p:grpSpPr>
        <a:xfrm>
          <a:off x="0" y="0"/>
          <a:ext cx="0" cy="0"/>
          <a:chOff x="0" y="0"/>
          <a:chExt cx="0" cy="0"/>
        </a:xfrm>
      </p:grpSpPr>
      <p:cxnSp>
        <p:nvCxnSpPr>
          <p:cNvPr id="102" name="Google Shape;102;p21"/>
          <p:cNvCxnSpPr/>
          <p:nvPr/>
        </p:nvCxnSpPr>
        <p:spPr>
          <a:xfrm>
            <a:off x="713225" y="-12"/>
            <a:ext cx="0" cy="4575900"/>
          </a:xfrm>
          <a:prstGeom prst="straightConnector1">
            <a:avLst/>
          </a:prstGeom>
          <a:noFill/>
          <a:ln cap="flat" cmpd="sng" w="28575">
            <a:solidFill>
              <a:schemeClr val="dk1"/>
            </a:solidFill>
            <a:prstDash val="solid"/>
            <a:round/>
            <a:headEnd len="sm" w="sm" type="none"/>
            <a:tailEnd len="sm" w="sm" type="none"/>
          </a:ln>
        </p:spPr>
      </p:cxnSp>
      <p:cxnSp>
        <p:nvCxnSpPr>
          <p:cNvPr id="103" name="Google Shape;103;p21"/>
          <p:cNvCxnSpPr/>
          <p:nvPr/>
        </p:nvCxnSpPr>
        <p:spPr>
          <a:xfrm>
            <a:off x="8430775" y="567588"/>
            <a:ext cx="0" cy="4575900"/>
          </a:xfrm>
          <a:prstGeom prst="straightConnector1">
            <a:avLst/>
          </a:prstGeom>
          <a:noFill/>
          <a:ln cap="flat" cmpd="sng" w="28575">
            <a:solidFill>
              <a:schemeClr val="dk1"/>
            </a:solidFill>
            <a:prstDash val="solid"/>
            <a:round/>
            <a:headEnd len="sm" w="sm" type="none"/>
            <a:tailEnd len="sm" w="sm" type="none"/>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04" name="Shape 104"/>
        <p:cNvGrpSpPr/>
        <p:nvPr/>
      </p:nvGrpSpPr>
      <p:grpSpPr>
        <a:xfrm>
          <a:off x="0" y="0"/>
          <a:ext cx="0" cy="0"/>
          <a:chOff x="0" y="0"/>
          <a:chExt cx="0" cy="0"/>
        </a:xfrm>
      </p:grpSpPr>
      <p:cxnSp>
        <p:nvCxnSpPr>
          <p:cNvPr id="105" name="Google Shape;105;p22"/>
          <p:cNvCxnSpPr/>
          <p:nvPr/>
        </p:nvCxnSpPr>
        <p:spPr>
          <a:xfrm>
            <a:off x="0" y="4603988"/>
            <a:ext cx="6141900" cy="0"/>
          </a:xfrm>
          <a:prstGeom prst="straightConnector1">
            <a:avLst/>
          </a:prstGeom>
          <a:noFill/>
          <a:ln cap="flat" cmpd="sng" w="28575">
            <a:solidFill>
              <a:schemeClr val="dk1"/>
            </a:solidFill>
            <a:prstDash val="solid"/>
            <a:round/>
            <a:headEnd len="sm" w="sm" type="none"/>
            <a:tailEnd len="sm" w="sm" type="none"/>
          </a:ln>
        </p:spPr>
      </p:cxnSp>
      <p:cxnSp>
        <p:nvCxnSpPr>
          <p:cNvPr id="106" name="Google Shape;106;p22"/>
          <p:cNvCxnSpPr/>
          <p:nvPr/>
        </p:nvCxnSpPr>
        <p:spPr>
          <a:xfrm>
            <a:off x="3002100" y="539488"/>
            <a:ext cx="6141900" cy="0"/>
          </a:xfrm>
          <a:prstGeom prst="straightConnector1">
            <a:avLst/>
          </a:prstGeom>
          <a:noFill/>
          <a:ln cap="flat" cmpd="sng" w="28575">
            <a:solidFill>
              <a:schemeClr val="dk1"/>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0"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rgbClr val="000000"/>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Proxima Nova"/>
              <a:buNone/>
              <a:defRPr sz="3200">
                <a:solidFill>
                  <a:schemeClr val="lt1"/>
                </a:solidFill>
                <a:latin typeface="Proxima Nova"/>
                <a:ea typeface="Proxima Nova"/>
                <a:cs typeface="Proxima Nova"/>
                <a:sym typeface="Proxima Nova"/>
              </a:defRPr>
            </a:lvl1pPr>
            <a:lvl2pPr lvl="1">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2pPr>
            <a:lvl3pPr lvl="2">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3pPr>
            <a:lvl4pPr lvl="3">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4pPr>
            <a:lvl5pPr lvl="4">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5pPr>
            <a:lvl6pPr lvl="5">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6pPr>
            <a:lvl7pPr lvl="6">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7pPr>
            <a:lvl8pPr lvl="7">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8pPr>
            <a:lvl9pPr lvl="8">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Proxima Nova"/>
              <a:buChar char="●"/>
              <a:defRPr sz="1800">
                <a:solidFill>
                  <a:schemeClr val="lt2"/>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66" name="Shape 66"/>
        <p:cNvGrpSpPr/>
        <p:nvPr/>
      </p:nvGrpSpPr>
      <p:grpSpPr>
        <a:xfrm>
          <a:off x="0" y="0"/>
          <a:ext cx="0" cy="0"/>
          <a:chOff x="0" y="0"/>
          <a:chExt cx="0" cy="0"/>
        </a:xfrm>
      </p:grpSpPr>
      <p:sp>
        <p:nvSpPr>
          <p:cNvPr id="67" name="Google Shape;67;p13"/>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000"/>
              <a:buFont typeface="Urbanist"/>
              <a:buNone/>
              <a:defRPr b="1" i="0" sz="3000" u="none" cap="none" strike="noStrike">
                <a:solidFill>
                  <a:schemeClr val="dk1"/>
                </a:solidFill>
                <a:latin typeface="Urbanist"/>
                <a:ea typeface="Urbanist"/>
                <a:cs typeface="Urbanist"/>
                <a:sym typeface="Urbanist"/>
              </a:defRPr>
            </a:lvl1pPr>
            <a:lvl2pPr lvl="1" marR="0" rtl="0" algn="l">
              <a:lnSpc>
                <a:spcPct val="100000"/>
              </a:lnSpc>
              <a:spcBef>
                <a:spcPts val="0"/>
              </a:spcBef>
              <a:spcAft>
                <a:spcPts val="0"/>
              </a:spcAft>
              <a:buClr>
                <a:schemeClr val="dk1"/>
              </a:buClr>
              <a:buSzPts val="3000"/>
              <a:buFont typeface="Raleway"/>
              <a:buNone/>
              <a:defRPr b="1" i="0" sz="3000" u="none" cap="none" strike="noStrike">
                <a:solidFill>
                  <a:schemeClr val="dk1"/>
                </a:solidFill>
                <a:latin typeface="Raleway"/>
                <a:ea typeface="Raleway"/>
                <a:cs typeface="Raleway"/>
                <a:sym typeface="Raleway"/>
              </a:defRPr>
            </a:lvl2pPr>
            <a:lvl3pPr lvl="2" marR="0" rtl="0" algn="l">
              <a:lnSpc>
                <a:spcPct val="100000"/>
              </a:lnSpc>
              <a:spcBef>
                <a:spcPts val="0"/>
              </a:spcBef>
              <a:spcAft>
                <a:spcPts val="0"/>
              </a:spcAft>
              <a:buClr>
                <a:schemeClr val="dk1"/>
              </a:buClr>
              <a:buSzPts val="3000"/>
              <a:buFont typeface="Raleway"/>
              <a:buNone/>
              <a:defRPr b="1" i="0" sz="3000" u="none" cap="none" strike="noStrike">
                <a:solidFill>
                  <a:schemeClr val="dk1"/>
                </a:solidFill>
                <a:latin typeface="Raleway"/>
                <a:ea typeface="Raleway"/>
                <a:cs typeface="Raleway"/>
                <a:sym typeface="Raleway"/>
              </a:defRPr>
            </a:lvl3pPr>
            <a:lvl4pPr lvl="3" marR="0" rtl="0" algn="l">
              <a:lnSpc>
                <a:spcPct val="100000"/>
              </a:lnSpc>
              <a:spcBef>
                <a:spcPts val="0"/>
              </a:spcBef>
              <a:spcAft>
                <a:spcPts val="0"/>
              </a:spcAft>
              <a:buClr>
                <a:schemeClr val="dk1"/>
              </a:buClr>
              <a:buSzPts val="3000"/>
              <a:buFont typeface="Raleway"/>
              <a:buNone/>
              <a:defRPr b="1" i="0" sz="3000" u="none" cap="none" strike="noStrike">
                <a:solidFill>
                  <a:schemeClr val="dk1"/>
                </a:solidFill>
                <a:latin typeface="Raleway"/>
                <a:ea typeface="Raleway"/>
                <a:cs typeface="Raleway"/>
                <a:sym typeface="Raleway"/>
              </a:defRPr>
            </a:lvl4pPr>
            <a:lvl5pPr lvl="4" marR="0" rtl="0" algn="l">
              <a:lnSpc>
                <a:spcPct val="100000"/>
              </a:lnSpc>
              <a:spcBef>
                <a:spcPts val="0"/>
              </a:spcBef>
              <a:spcAft>
                <a:spcPts val="0"/>
              </a:spcAft>
              <a:buClr>
                <a:schemeClr val="dk1"/>
              </a:buClr>
              <a:buSzPts val="3000"/>
              <a:buFont typeface="Raleway"/>
              <a:buNone/>
              <a:defRPr b="1" i="0" sz="3000" u="none" cap="none" strike="noStrike">
                <a:solidFill>
                  <a:schemeClr val="dk1"/>
                </a:solidFill>
                <a:latin typeface="Raleway"/>
                <a:ea typeface="Raleway"/>
                <a:cs typeface="Raleway"/>
                <a:sym typeface="Raleway"/>
              </a:defRPr>
            </a:lvl5pPr>
            <a:lvl6pPr lvl="5" marR="0" rtl="0" algn="l">
              <a:lnSpc>
                <a:spcPct val="100000"/>
              </a:lnSpc>
              <a:spcBef>
                <a:spcPts val="0"/>
              </a:spcBef>
              <a:spcAft>
                <a:spcPts val="0"/>
              </a:spcAft>
              <a:buClr>
                <a:schemeClr val="dk1"/>
              </a:buClr>
              <a:buSzPts val="3000"/>
              <a:buFont typeface="Raleway"/>
              <a:buNone/>
              <a:defRPr b="1" i="0" sz="3000" u="none" cap="none" strike="noStrike">
                <a:solidFill>
                  <a:schemeClr val="dk1"/>
                </a:solidFill>
                <a:latin typeface="Raleway"/>
                <a:ea typeface="Raleway"/>
                <a:cs typeface="Raleway"/>
                <a:sym typeface="Raleway"/>
              </a:defRPr>
            </a:lvl6pPr>
            <a:lvl7pPr lvl="6" marR="0" rtl="0" algn="l">
              <a:lnSpc>
                <a:spcPct val="100000"/>
              </a:lnSpc>
              <a:spcBef>
                <a:spcPts val="0"/>
              </a:spcBef>
              <a:spcAft>
                <a:spcPts val="0"/>
              </a:spcAft>
              <a:buClr>
                <a:schemeClr val="dk1"/>
              </a:buClr>
              <a:buSzPts val="3000"/>
              <a:buFont typeface="Raleway"/>
              <a:buNone/>
              <a:defRPr b="1" i="0" sz="3000" u="none" cap="none" strike="noStrike">
                <a:solidFill>
                  <a:schemeClr val="dk1"/>
                </a:solidFill>
                <a:latin typeface="Raleway"/>
                <a:ea typeface="Raleway"/>
                <a:cs typeface="Raleway"/>
                <a:sym typeface="Raleway"/>
              </a:defRPr>
            </a:lvl7pPr>
            <a:lvl8pPr lvl="7" marR="0" rtl="0" algn="l">
              <a:lnSpc>
                <a:spcPct val="100000"/>
              </a:lnSpc>
              <a:spcBef>
                <a:spcPts val="0"/>
              </a:spcBef>
              <a:spcAft>
                <a:spcPts val="0"/>
              </a:spcAft>
              <a:buClr>
                <a:schemeClr val="dk1"/>
              </a:buClr>
              <a:buSzPts val="3000"/>
              <a:buFont typeface="Raleway"/>
              <a:buNone/>
              <a:defRPr b="1" i="0" sz="3000" u="none" cap="none" strike="noStrike">
                <a:solidFill>
                  <a:schemeClr val="dk1"/>
                </a:solidFill>
                <a:latin typeface="Raleway"/>
                <a:ea typeface="Raleway"/>
                <a:cs typeface="Raleway"/>
                <a:sym typeface="Raleway"/>
              </a:defRPr>
            </a:lvl8pPr>
            <a:lvl9pPr lvl="8" marR="0" rtl="0" algn="l">
              <a:lnSpc>
                <a:spcPct val="100000"/>
              </a:lnSpc>
              <a:spcBef>
                <a:spcPts val="0"/>
              </a:spcBef>
              <a:spcAft>
                <a:spcPts val="0"/>
              </a:spcAft>
              <a:buClr>
                <a:schemeClr val="dk1"/>
              </a:buClr>
              <a:buSzPts val="3000"/>
              <a:buFont typeface="Raleway"/>
              <a:buNone/>
              <a:defRPr b="1" i="0" sz="3000" u="none" cap="none" strike="noStrike">
                <a:solidFill>
                  <a:schemeClr val="dk1"/>
                </a:solidFill>
                <a:latin typeface="Raleway"/>
                <a:ea typeface="Raleway"/>
                <a:cs typeface="Raleway"/>
                <a:sym typeface="Raleway"/>
              </a:defRPr>
            </a:lvl9pPr>
          </a:lstStyle>
          <a:p/>
        </p:txBody>
      </p:sp>
      <p:sp>
        <p:nvSpPr>
          <p:cNvPr id="68" name="Google Shape;68;p13"/>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marR="0" rtl="0" algn="l">
              <a:lnSpc>
                <a:spcPct val="100000"/>
              </a:lnSpc>
              <a:spcBef>
                <a:spcPts val="0"/>
              </a:spcBef>
              <a:spcAft>
                <a:spcPts val="0"/>
              </a:spcAft>
              <a:buClr>
                <a:schemeClr val="dk1"/>
              </a:buClr>
              <a:buSzPts val="1200"/>
              <a:buFont typeface="Roboto"/>
              <a:buChar char="●"/>
              <a:defRPr b="0" i="0" sz="1200" u="none" cap="none" strike="noStrike">
                <a:solidFill>
                  <a:schemeClr val="dk1"/>
                </a:solidFill>
                <a:latin typeface="Roboto"/>
                <a:ea typeface="Roboto"/>
                <a:cs typeface="Roboto"/>
                <a:sym typeface="Roboto"/>
              </a:defRPr>
            </a:lvl1pPr>
            <a:lvl2pPr indent="-304800" lvl="1" marL="914400" marR="0" rtl="0" algn="l">
              <a:lnSpc>
                <a:spcPct val="100000"/>
              </a:lnSpc>
              <a:spcBef>
                <a:spcPts val="0"/>
              </a:spcBef>
              <a:spcAft>
                <a:spcPts val="0"/>
              </a:spcAft>
              <a:buClr>
                <a:schemeClr val="dk1"/>
              </a:buClr>
              <a:buSzPts val="1200"/>
              <a:buFont typeface="Roboto"/>
              <a:buChar char="○"/>
              <a:defRPr b="0" i="0" sz="1200" u="none" cap="none" strike="noStrike">
                <a:solidFill>
                  <a:schemeClr val="dk1"/>
                </a:solidFill>
                <a:latin typeface="Roboto"/>
                <a:ea typeface="Roboto"/>
                <a:cs typeface="Roboto"/>
                <a:sym typeface="Roboto"/>
              </a:defRPr>
            </a:lvl2pPr>
            <a:lvl3pPr indent="-304800" lvl="2" marL="1371600" marR="0" rtl="0" algn="l">
              <a:lnSpc>
                <a:spcPct val="100000"/>
              </a:lnSpc>
              <a:spcBef>
                <a:spcPts val="0"/>
              </a:spcBef>
              <a:spcAft>
                <a:spcPts val="0"/>
              </a:spcAft>
              <a:buClr>
                <a:schemeClr val="dk1"/>
              </a:buClr>
              <a:buSzPts val="1200"/>
              <a:buFont typeface="Roboto"/>
              <a:buChar char="■"/>
              <a:defRPr b="0" i="0" sz="1200" u="none" cap="none" strike="noStrike">
                <a:solidFill>
                  <a:schemeClr val="dk1"/>
                </a:solidFill>
                <a:latin typeface="Roboto"/>
                <a:ea typeface="Roboto"/>
                <a:cs typeface="Roboto"/>
                <a:sym typeface="Roboto"/>
              </a:defRPr>
            </a:lvl3pPr>
            <a:lvl4pPr indent="-304800" lvl="3" marL="1828800" marR="0" rtl="0" algn="l">
              <a:lnSpc>
                <a:spcPct val="100000"/>
              </a:lnSpc>
              <a:spcBef>
                <a:spcPts val="0"/>
              </a:spcBef>
              <a:spcAft>
                <a:spcPts val="0"/>
              </a:spcAft>
              <a:buClr>
                <a:schemeClr val="dk1"/>
              </a:buClr>
              <a:buSzPts val="1200"/>
              <a:buFont typeface="Roboto"/>
              <a:buChar char="●"/>
              <a:defRPr b="0" i="0" sz="1200" u="none" cap="none" strike="noStrike">
                <a:solidFill>
                  <a:schemeClr val="dk1"/>
                </a:solidFill>
                <a:latin typeface="Roboto"/>
                <a:ea typeface="Roboto"/>
                <a:cs typeface="Roboto"/>
                <a:sym typeface="Roboto"/>
              </a:defRPr>
            </a:lvl4pPr>
            <a:lvl5pPr indent="-304800" lvl="4" marL="2286000" marR="0" rtl="0" algn="l">
              <a:lnSpc>
                <a:spcPct val="100000"/>
              </a:lnSpc>
              <a:spcBef>
                <a:spcPts val="0"/>
              </a:spcBef>
              <a:spcAft>
                <a:spcPts val="0"/>
              </a:spcAft>
              <a:buClr>
                <a:schemeClr val="dk1"/>
              </a:buClr>
              <a:buSzPts val="1200"/>
              <a:buFont typeface="Roboto"/>
              <a:buChar char="○"/>
              <a:defRPr b="0" i="0" sz="1200" u="none" cap="none" strike="noStrike">
                <a:solidFill>
                  <a:schemeClr val="dk1"/>
                </a:solidFill>
                <a:latin typeface="Roboto"/>
                <a:ea typeface="Roboto"/>
                <a:cs typeface="Roboto"/>
                <a:sym typeface="Roboto"/>
              </a:defRPr>
            </a:lvl5pPr>
            <a:lvl6pPr indent="-304800" lvl="5" marL="2743200" marR="0" rtl="0" algn="l">
              <a:lnSpc>
                <a:spcPct val="100000"/>
              </a:lnSpc>
              <a:spcBef>
                <a:spcPts val="0"/>
              </a:spcBef>
              <a:spcAft>
                <a:spcPts val="0"/>
              </a:spcAft>
              <a:buClr>
                <a:schemeClr val="dk1"/>
              </a:buClr>
              <a:buSzPts val="1200"/>
              <a:buFont typeface="Roboto"/>
              <a:buChar char="■"/>
              <a:defRPr b="0" i="0" sz="1200" u="none" cap="none" strike="noStrike">
                <a:solidFill>
                  <a:schemeClr val="dk1"/>
                </a:solidFill>
                <a:latin typeface="Roboto"/>
                <a:ea typeface="Roboto"/>
                <a:cs typeface="Roboto"/>
                <a:sym typeface="Roboto"/>
              </a:defRPr>
            </a:lvl6pPr>
            <a:lvl7pPr indent="-304800" lvl="6" marL="3200400" marR="0" rtl="0" algn="l">
              <a:lnSpc>
                <a:spcPct val="100000"/>
              </a:lnSpc>
              <a:spcBef>
                <a:spcPts val="0"/>
              </a:spcBef>
              <a:spcAft>
                <a:spcPts val="0"/>
              </a:spcAft>
              <a:buClr>
                <a:schemeClr val="dk1"/>
              </a:buClr>
              <a:buSzPts val="1200"/>
              <a:buFont typeface="Roboto"/>
              <a:buChar char="●"/>
              <a:defRPr b="0" i="0" sz="1200" u="none" cap="none" strike="noStrike">
                <a:solidFill>
                  <a:schemeClr val="dk1"/>
                </a:solidFill>
                <a:latin typeface="Roboto"/>
                <a:ea typeface="Roboto"/>
                <a:cs typeface="Roboto"/>
                <a:sym typeface="Roboto"/>
              </a:defRPr>
            </a:lvl7pPr>
            <a:lvl8pPr indent="-304800" lvl="7" marL="3657600" marR="0" rtl="0" algn="l">
              <a:lnSpc>
                <a:spcPct val="100000"/>
              </a:lnSpc>
              <a:spcBef>
                <a:spcPts val="0"/>
              </a:spcBef>
              <a:spcAft>
                <a:spcPts val="0"/>
              </a:spcAft>
              <a:buClr>
                <a:schemeClr val="dk1"/>
              </a:buClr>
              <a:buSzPts val="1200"/>
              <a:buFont typeface="Roboto"/>
              <a:buChar char="○"/>
              <a:defRPr b="0" i="0" sz="1200" u="none" cap="none" strike="noStrike">
                <a:solidFill>
                  <a:schemeClr val="dk1"/>
                </a:solidFill>
                <a:latin typeface="Roboto"/>
                <a:ea typeface="Roboto"/>
                <a:cs typeface="Roboto"/>
                <a:sym typeface="Roboto"/>
              </a:defRPr>
            </a:lvl8pPr>
            <a:lvl9pPr indent="-304800" lvl="8" marL="4114800" marR="0" rtl="0" algn="l">
              <a:lnSpc>
                <a:spcPct val="100000"/>
              </a:lnSpc>
              <a:spcBef>
                <a:spcPts val="0"/>
              </a:spcBef>
              <a:spcAft>
                <a:spcPts val="0"/>
              </a:spcAft>
              <a:buClr>
                <a:schemeClr val="dk1"/>
              </a:buClr>
              <a:buSzPts val="1200"/>
              <a:buFont typeface="Roboto"/>
              <a:buChar char="■"/>
              <a:defRPr b="0" i="0" sz="1200" u="none" cap="none" strike="noStrike">
                <a:solidFill>
                  <a:schemeClr val="dk1"/>
                </a:solidFill>
                <a:latin typeface="Roboto"/>
                <a:ea typeface="Roboto"/>
                <a:cs typeface="Roboto"/>
                <a:sym typeface="Roboto"/>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gif"/><Relationship Id="rId4" Type="http://schemas.openxmlformats.org/officeDocument/2006/relationships/image" Target="../media/image5.png"/><Relationship Id="rId5"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3.jp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10.png"/><Relationship Id="rId5"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5.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5.pn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27.jpg"/><Relationship Id="rId4" Type="http://schemas.openxmlformats.org/officeDocument/2006/relationships/image" Target="../media/image4.jpg"/><Relationship Id="rId5" Type="http://schemas.openxmlformats.org/officeDocument/2006/relationships/image" Target="../media/image5.png"/><Relationship Id="rId6"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8.jpg"/><Relationship Id="rId4" Type="http://schemas.openxmlformats.org/officeDocument/2006/relationships/image" Target="../media/image7.jpg"/><Relationship Id="rId5" Type="http://schemas.openxmlformats.org/officeDocument/2006/relationships/image" Target="../media/image5.png"/><Relationship Id="rId6"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 Id="rId3" Type="http://schemas.openxmlformats.org/officeDocument/2006/relationships/image" Target="../media/image5.png"/><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23.png"/><Relationship Id="rId4" Type="http://schemas.openxmlformats.org/officeDocument/2006/relationships/image" Target="../media/image5.png"/><Relationship Id="rId5"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13.png"/><Relationship Id="rId4" Type="http://schemas.openxmlformats.org/officeDocument/2006/relationships/image" Target="../media/image5.png"/><Relationship Id="rId5"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46.png"/><Relationship Id="rId4" Type="http://schemas.openxmlformats.org/officeDocument/2006/relationships/image" Target="../media/image5.png"/><Relationship Id="rId5"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 Id="rId3" Type="http://schemas.openxmlformats.org/officeDocument/2006/relationships/image" Target="../media/image1.png"/><Relationship Id="rId4"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11.jpg"/><Relationship Id="rId5" Type="http://schemas.openxmlformats.org/officeDocument/2006/relationships/image" Target="../media/image2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 Id="rId3" Type="http://schemas.openxmlformats.org/officeDocument/2006/relationships/image" Target="../media/image1.png"/><Relationship Id="rId4" Type="http://schemas.openxmlformats.org/officeDocument/2006/relationships/image" Target="../media/image44.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5.png"/><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image" Target="../media/image40.png"/><Relationship Id="rId4" Type="http://schemas.openxmlformats.org/officeDocument/2006/relationships/image" Target="../media/image5.png"/><Relationship Id="rId5"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 Id="rId3" Type="http://schemas.openxmlformats.org/officeDocument/2006/relationships/image" Target="../media/image5.png"/><Relationship Id="rId4"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 Id="rId3" Type="http://schemas.openxmlformats.org/officeDocument/2006/relationships/image" Target="../media/image22.png"/><Relationship Id="rId4" Type="http://schemas.openxmlformats.org/officeDocument/2006/relationships/image" Target="../media/image5.png"/><Relationship Id="rId5"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 Id="rId3" Type="http://schemas.openxmlformats.org/officeDocument/2006/relationships/image" Target="../media/image32.png"/><Relationship Id="rId4"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image" Target="../media/image12.png"/><Relationship Id="rId4" Type="http://schemas.openxmlformats.org/officeDocument/2006/relationships/image" Target="../media/image5.png"/><Relationship Id="rId5"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 Id="rId3" Type="http://schemas.openxmlformats.org/officeDocument/2006/relationships/image" Target="../media/image18.jpg"/><Relationship Id="rId4" Type="http://schemas.openxmlformats.org/officeDocument/2006/relationships/image" Target="../media/image45.png"/><Relationship Id="rId5" Type="http://schemas.openxmlformats.org/officeDocument/2006/relationships/image" Target="../media/image5.png"/><Relationship Id="rId6"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 Id="rId3"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 Id="rId3" Type="http://schemas.openxmlformats.org/officeDocument/2006/relationships/image" Target="../media/image5.png"/><Relationship Id="rId4"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 Id="rId3" Type="http://schemas.openxmlformats.org/officeDocument/2006/relationships/image" Target="../media/image5.png"/><Relationship Id="rId4"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 Id="rId3" Type="http://schemas.openxmlformats.org/officeDocument/2006/relationships/image" Target="../media/image21.png"/><Relationship Id="rId4"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48.png"/><Relationship Id="rId6" Type="http://schemas.openxmlformats.org/officeDocument/2006/relationships/image" Target="../media/image1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 Id="rId3" Type="http://schemas.openxmlformats.org/officeDocument/2006/relationships/hyperlink" Target="http://www.youtube.com/watch?v=2ez0RFF3Fzg" TargetMode="External"/><Relationship Id="rId4" Type="http://schemas.openxmlformats.org/officeDocument/2006/relationships/image" Target="../media/image43.jpg"/><Relationship Id="rId5"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5.png"/><Relationship Id="rId4"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 Id="rId3"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5.png"/><Relationship Id="rId4"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5.png"/><Relationship Id="rId4"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5.png"/><Relationship Id="rId4"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 Id="rId3" Type="http://schemas.openxmlformats.org/officeDocument/2006/relationships/hyperlink" Target="https://forms.gle/SPQiP5ahJuWNL2m28" TargetMode="External"/><Relationship Id="rId4"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5.png"/><Relationship Id="rId4"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9.xml"/><Relationship Id="rId3" Type="http://schemas.openxmlformats.org/officeDocument/2006/relationships/image" Target="../media/image5.png"/><Relationship Id="rId4"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0.xml"/><Relationship Id="rId3" Type="http://schemas.openxmlformats.org/officeDocument/2006/relationships/hyperlink" Target="https://docs.google.com/document/d/1HYDl2JoeSxWU580hUnfx2ABO6aLLigBz6wTC-qC4cso/edit?usp=sharing" TargetMode="External"/><Relationship Id="rId4" Type="http://schemas.openxmlformats.org/officeDocument/2006/relationships/image" Target="../media/image1.png"/><Relationship Id="rId5" Type="http://schemas.openxmlformats.org/officeDocument/2006/relationships/image" Target="../media/image28.png"/><Relationship Id="rId6" Type="http://schemas.openxmlformats.org/officeDocument/2006/relationships/image" Target="../media/image1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1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2.xml"/><Relationship Id="rId3"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3.xml"/><Relationship Id="rId3"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5.png"/><Relationship Id="rId4" Type="http://schemas.openxmlformats.org/officeDocument/2006/relationships/image" Target="../media/image1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5.png"/><Relationship Id="rId4"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5.png"/><Relationship Id="rId4"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5.png"/><Relationship Id="rId4" Type="http://schemas.openxmlformats.org/officeDocument/2006/relationships/image" Target="../media/image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5.png"/><Relationship Id="rId4" Type="http://schemas.openxmlformats.org/officeDocument/2006/relationships/image" Target="../media/image1.png"/></Relationships>
</file>

<file path=ppt/slides/_rels/slide59.xml.rels><?xml version="1.0" encoding="UTF-8" standalone="yes"?><Relationships xmlns="http://schemas.openxmlformats.org/package/2006/relationships"><Relationship Id="rId11" Type="http://schemas.openxmlformats.org/officeDocument/2006/relationships/image" Target="../media/image30.png"/><Relationship Id="rId10" Type="http://schemas.openxmlformats.org/officeDocument/2006/relationships/image" Target="../media/image38.png"/><Relationship Id="rId13" Type="http://schemas.openxmlformats.org/officeDocument/2006/relationships/image" Target="../media/image35.png"/><Relationship Id="rId12" Type="http://schemas.openxmlformats.org/officeDocument/2006/relationships/image" Target="../media/image39.png"/><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25.png"/><Relationship Id="rId4" Type="http://schemas.openxmlformats.org/officeDocument/2006/relationships/image" Target="../media/image26.png"/><Relationship Id="rId9" Type="http://schemas.openxmlformats.org/officeDocument/2006/relationships/image" Target="../media/image36.png"/><Relationship Id="rId15" Type="http://schemas.openxmlformats.org/officeDocument/2006/relationships/image" Target="../media/image1.png"/><Relationship Id="rId14" Type="http://schemas.openxmlformats.org/officeDocument/2006/relationships/image" Target="../media/image5.png"/><Relationship Id="rId5" Type="http://schemas.openxmlformats.org/officeDocument/2006/relationships/image" Target="../media/image29.png"/><Relationship Id="rId6" Type="http://schemas.openxmlformats.org/officeDocument/2006/relationships/image" Target="../media/image31.png"/><Relationship Id="rId7" Type="http://schemas.openxmlformats.org/officeDocument/2006/relationships/image" Target="../media/image33.png"/><Relationship Id="rId8" Type="http://schemas.openxmlformats.org/officeDocument/2006/relationships/image" Target="../media/image34.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5.png"/><Relationship Id="rId4"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37.png"/><Relationship Id="rId4" Type="http://schemas.openxmlformats.org/officeDocument/2006/relationships/image" Target="../media/image5.png"/><Relationship Id="rId5" Type="http://schemas.openxmlformats.org/officeDocument/2006/relationships/image" Target="../media/image49.png"/><Relationship Id="rId6" Type="http://schemas.openxmlformats.org/officeDocument/2006/relationships/image" Target="../media/image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41.png"/><Relationship Id="rId4" Type="http://schemas.openxmlformats.org/officeDocument/2006/relationships/image" Target="../media/image5.png"/><Relationship Id="rId5" Type="http://schemas.openxmlformats.org/officeDocument/2006/relationships/image" Target="../media/image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5.png"/><Relationship Id="rId4" Type="http://schemas.openxmlformats.org/officeDocument/2006/relationships/image" Target="../media/image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5.png"/><Relationship Id="rId4" Type="http://schemas.openxmlformats.org/officeDocument/2006/relationships/image" Target="../media/image1.png"/></Relationships>
</file>

<file path=ppt/slides/_rels/slide65.xml.rels><?xml version="1.0" encoding="UTF-8" standalone="yes"?><Relationships xmlns="http://schemas.openxmlformats.org/package/2006/relationships"><Relationship Id="rId11" Type="http://schemas.openxmlformats.org/officeDocument/2006/relationships/hyperlink" Target="https://forms.gle/hYj1Gj3LAqcL7Z5CA" TargetMode="External"/><Relationship Id="rId10" Type="http://schemas.openxmlformats.org/officeDocument/2006/relationships/hyperlink" Target="https://open.spotify.com/playlist/0uFt0RJvfh143lVGQbhWHS?si=95193d92e5094f73&amp;pt=2f012d4e97b62c470b68ca9552905422" TargetMode="External"/><Relationship Id="rId13" Type="http://schemas.openxmlformats.org/officeDocument/2006/relationships/image" Target="../media/image5.png"/><Relationship Id="rId12" Type="http://schemas.openxmlformats.org/officeDocument/2006/relationships/hyperlink" Target="https://forms.gle/xh8JxpqC2XLsb72L7" TargetMode="External"/><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42.png"/><Relationship Id="rId4" Type="http://schemas.openxmlformats.org/officeDocument/2006/relationships/hyperlink" Target="https://join.slack.com/t/cornellbitcoinclub/shared_invite/zt-2bnpz3y01-wOxd_f0NcRRZyRNkzznA5Q" TargetMode="External"/><Relationship Id="rId9" Type="http://schemas.openxmlformats.org/officeDocument/2006/relationships/hyperlink" Target="https://forms.gle/yjLJ1z4EBJXzBLd49" TargetMode="External"/><Relationship Id="rId14" Type="http://schemas.openxmlformats.org/officeDocument/2006/relationships/image" Target="../media/image1.png"/><Relationship Id="rId5" Type="http://schemas.openxmlformats.org/officeDocument/2006/relationships/hyperlink" Target="https://calendar.google.com/calendar/u/0?cid=Y184YjI3M2VlZmYzOTIxMWM1OTA2NGVmOTk5YWRhZDIyNzhjMDg2NDkwMDZhYzRjM2QyZjE4M2E4YzgwMDBhYmE4QGdyb3VwLmNhbGVuZGFyLmdvb2dsZS5jb20" TargetMode="External"/><Relationship Id="rId6" Type="http://schemas.openxmlformats.org/officeDocument/2006/relationships/hyperlink" Target="https://forms.gle/R3wBeLyNpq9vbeXn9" TargetMode="External"/><Relationship Id="rId7" Type="http://schemas.openxmlformats.org/officeDocument/2006/relationships/hyperlink" Target="https://forms.gle/ZwUKC8V61m9v6SWcA" TargetMode="External"/><Relationship Id="rId8" Type="http://schemas.openxmlformats.org/officeDocument/2006/relationships/hyperlink" Target="https://forms.gle/9HEnoXqodNdaPd7W8"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6.xml"/><Relationship Id="rId3" Type="http://schemas.openxmlformats.org/officeDocument/2006/relationships/image" Target="../media/image5.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31B1B"/>
        </a:solidFill>
      </p:bgPr>
    </p:bg>
    <p:spTree>
      <p:nvGrpSpPr>
        <p:cNvPr id="110" name="Shape 110"/>
        <p:cNvGrpSpPr/>
        <p:nvPr/>
      </p:nvGrpSpPr>
      <p:grpSpPr>
        <a:xfrm>
          <a:off x="0" y="0"/>
          <a:ext cx="0" cy="0"/>
          <a:chOff x="0" y="0"/>
          <a:chExt cx="0" cy="0"/>
        </a:xfrm>
      </p:grpSpPr>
      <p:sp>
        <p:nvSpPr>
          <p:cNvPr id="111" name="Google Shape;111;p23"/>
          <p:cNvSpPr txBox="1"/>
          <p:nvPr/>
        </p:nvSpPr>
        <p:spPr>
          <a:xfrm>
            <a:off x="787925" y="3471700"/>
            <a:ext cx="3933300" cy="90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lt1"/>
                </a:solidFill>
                <a:latin typeface="Proxima Nova Semibold"/>
                <a:ea typeface="Proxima Nova Semibold"/>
                <a:cs typeface="Proxima Nova Semibold"/>
                <a:sym typeface="Proxima Nova Semibold"/>
              </a:rPr>
              <a:t>Meeting #12: September 18, 2024</a:t>
            </a:r>
            <a:endParaRPr sz="1600">
              <a:solidFill>
                <a:schemeClr val="lt1"/>
              </a:solidFill>
              <a:latin typeface="Proxima Nova Semibold"/>
              <a:ea typeface="Proxima Nova Semibold"/>
              <a:cs typeface="Proxima Nova Semibold"/>
              <a:sym typeface="Proxima Nova Semibold"/>
            </a:endParaRPr>
          </a:p>
        </p:txBody>
      </p:sp>
      <p:sp>
        <p:nvSpPr>
          <p:cNvPr id="112" name="Google Shape;112;p23"/>
          <p:cNvSpPr txBox="1"/>
          <p:nvPr/>
        </p:nvSpPr>
        <p:spPr>
          <a:xfrm>
            <a:off x="726625" y="1532200"/>
            <a:ext cx="4893000" cy="19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6000">
                <a:solidFill>
                  <a:schemeClr val="lt1"/>
                </a:solidFill>
                <a:latin typeface="Proxima Nova"/>
                <a:ea typeface="Proxima Nova"/>
                <a:cs typeface="Proxima Nova"/>
                <a:sym typeface="Proxima Nova"/>
              </a:rPr>
              <a:t>Cornell</a:t>
            </a:r>
            <a:endParaRPr b="1" sz="6000">
              <a:solidFill>
                <a:schemeClr val="lt1"/>
              </a:solidFill>
              <a:latin typeface="Proxima Nova"/>
              <a:ea typeface="Proxima Nova"/>
              <a:cs typeface="Proxima Nova"/>
              <a:sym typeface="Proxima Nova"/>
            </a:endParaRPr>
          </a:p>
          <a:p>
            <a:pPr indent="0" lvl="0" marL="0" rtl="0" algn="l">
              <a:spcBef>
                <a:spcPts val="0"/>
              </a:spcBef>
              <a:spcAft>
                <a:spcPts val="0"/>
              </a:spcAft>
              <a:buNone/>
            </a:pPr>
            <a:r>
              <a:rPr b="1" lang="en" sz="6000">
                <a:solidFill>
                  <a:schemeClr val="lt1"/>
                </a:solidFill>
                <a:latin typeface="Proxima Nova"/>
                <a:ea typeface="Proxima Nova"/>
                <a:cs typeface="Proxima Nova"/>
                <a:sym typeface="Proxima Nova"/>
              </a:rPr>
              <a:t>Bitcoin</a:t>
            </a:r>
            <a:r>
              <a:rPr b="1" lang="en" sz="6000">
                <a:solidFill>
                  <a:schemeClr val="lt1"/>
                </a:solidFill>
                <a:latin typeface="Proxima Nova"/>
                <a:ea typeface="Proxima Nova"/>
                <a:cs typeface="Proxima Nova"/>
                <a:sym typeface="Proxima Nova"/>
              </a:rPr>
              <a:t> Club</a:t>
            </a:r>
            <a:endParaRPr b="1" sz="6000">
              <a:solidFill>
                <a:schemeClr val="lt1"/>
              </a:solidFill>
              <a:latin typeface="Proxima Nova"/>
              <a:ea typeface="Proxima Nova"/>
              <a:cs typeface="Proxima Nova"/>
              <a:sym typeface="Proxima Nova"/>
            </a:endParaRPr>
          </a:p>
        </p:txBody>
      </p:sp>
      <p:pic>
        <p:nvPicPr>
          <p:cNvPr id="113" name="Google Shape;113;p23"/>
          <p:cNvPicPr preferRelativeResize="0"/>
          <p:nvPr/>
        </p:nvPicPr>
        <p:blipFill>
          <a:blip r:embed="rId3">
            <a:alphaModFix/>
          </a:blip>
          <a:stretch>
            <a:fillRect/>
          </a:stretch>
        </p:blipFill>
        <p:spPr>
          <a:xfrm>
            <a:off x="5619625" y="1129869"/>
            <a:ext cx="3037974" cy="288376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4"/>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Disclosure</a:t>
            </a:r>
            <a:endParaRPr/>
          </a:p>
        </p:txBody>
      </p:sp>
      <p:sp>
        <p:nvSpPr>
          <p:cNvPr id="119" name="Google Shape;119;p24"/>
          <p:cNvSpPr txBox="1"/>
          <p:nvPr/>
        </p:nvSpPr>
        <p:spPr>
          <a:xfrm>
            <a:off x="909600" y="1919025"/>
            <a:ext cx="7324800" cy="1908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600">
                <a:solidFill>
                  <a:schemeClr val="lt1"/>
                </a:solidFill>
                <a:latin typeface="Proxima Nova"/>
                <a:ea typeface="Proxima Nova"/>
                <a:cs typeface="Proxima Nova"/>
                <a:sym typeface="Proxima Nova"/>
              </a:rPr>
              <a:t>The Cornell Bitcoin Club is an undergraduate student club. The Club’s website and all published and or related materials and audio and visual recordings are not legal, investment, or accounting advice. They are for informational purposes. If any service providers are acknowledged or highlighted, it is for discussion purposes and should not be construed as an endorsement of their services. </a:t>
            </a:r>
            <a:endParaRPr i="1" sz="16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i="1" sz="1600">
              <a:solidFill>
                <a:schemeClr val="lt1"/>
              </a:solidFill>
              <a:latin typeface="Proxima Nova"/>
              <a:ea typeface="Proxima Nova"/>
              <a:cs typeface="Proxima Nova"/>
              <a:sym typeface="Proxima Nova"/>
            </a:endParaRPr>
          </a:p>
        </p:txBody>
      </p:sp>
      <p:pic>
        <p:nvPicPr>
          <p:cNvPr id="120" name="Google Shape;120;p24"/>
          <p:cNvPicPr preferRelativeResize="0"/>
          <p:nvPr/>
        </p:nvPicPr>
        <p:blipFill>
          <a:blip r:embed="rId3">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5"/>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Welcome!</a:t>
            </a:r>
            <a:endParaRPr/>
          </a:p>
        </p:txBody>
      </p:sp>
      <p:pic>
        <p:nvPicPr>
          <p:cNvPr id="126" name="Google Shape;126;p25"/>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127" name="Google Shape;127;p25"/>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31B1B"/>
        </a:solidFill>
      </p:bgPr>
    </p:bg>
    <p:spTree>
      <p:nvGrpSpPr>
        <p:cNvPr id="131" name="Shape 131"/>
        <p:cNvGrpSpPr/>
        <p:nvPr/>
      </p:nvGrpSpPr>
      <p:grpSpPr>
        <a:xfrm>
          <a:off x="0" y="0"/>
          <a:ext cx="0" cy="0"/>
          <a:chOff x="0" y="0"/>
          <a:chExt cx="0" cy="0"/>
        </a:xfrm>
      </p:grpSpPr>
      <p:sp>
        <p:nvSpPr>
          <p:cNvPr id="132" name="Google Shape;132;p26"/>
          <p:cNvSpPr txBox="1"/>
          <p:nvPr>
            <p:ph type="title"/>
          </p:nvPr>
        </p:nvSpPr>
        <p:spPr>
          <a:xfrm>
            <a:off x="98250" y="16350"/>
            <a:ext cx="8826600" cy="602700"/>
          </a:xfrm>
          <a:prstGeom prst="rect">
            <a:avLst/>
          </a:prstGeom>
          <a:noFill/>
        </p:spPr>
        <p:txBody>
          <a:bodyPr anchorCtr="0" anchor="ctr" bIns="91425" lIns="91425" spcFirstLastPara="1" rIns="91425" wrap="square" tIns="91425">
            <a:normAutofit/>
          </a:bodyPr>
          <a:lstStyle/>
          <a:p>
            <a:pPr indent="0" lvl="0" marL="0" rtl="0" algn="l">
              <a:spcBef>
                <a:spcPts val="0"/>
              </a:spcBef>
              <a:spcAft>
                <a:spcPts val="0"/>
              </a:spcAft>
              <a:buNone/>
            </a:pPr>
            <a:r>
              <a:rPr lang="en"/>
              <a:t>Schedule</a:t>
            </a:r>
            <a:endParaRPr/>
          </a:p>
        </p:txBody>
      </p:sp>
      <p:sp>
        <p:nvSpPr>
          <p:cNvPr id="133" name="Google Shape;133;p26"/>
          <p:cNvSpPr txBox="1"/>
          <p:nvPr/>
        </p:nvSpPr>
        <p:spPr>
          <a:xfrm>
            <a:off x="735525" y="897475"/>
            <a:ext cx="6480600" cy="3879600"/>
          </a:xfrm>
          <a:prstGeom prst="rect">
            <a:avLst/>
          </a:prstGeom>
          <a:noFill/>
          <a:ln>
            <a:noFill/>
          </a:ln>
        </p:spPr>
        <p:txBody>
          <a:bodyPr anchorCtr="0" anchor="t" bIns="91425" lIns="91425" spcFirstLastPara="1" rIns="91425" wrap="square" tIns="91425">
            <a:noAutofit/>
          </a:bodyPr>
          <a:lstStyle/>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Welcome</a:t>
            </a:r>
            <a:endParaRPr sz="1700">
              <a:solidFill>
                <a:schemeClr val="lt1"/>
              </a:solidFill>
              <a:latin typeface="Proxima Nova"/>
              <a:ea typeface="Proxima Nova"/>
              <a:cs typeface="Proxima Nova"/>
              <a:sym typeface="Proxima Nova"/>
            </a:endParaRPr>
          </a:p>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Short Lesson </a:t>
            </a:r>
            <a:endParaRPr sz="1700">
              <a:solidFill>
                <a:schemeClr val="lt1"/>
              </a:solidFill>
              <a:latin typeface="Proxima Nova"/>
              <a:ea typeface="Proxima Nova"/>
              <a:cs typeface="Proxima Nova"/>
              <a:sym typeface="Proxima Nova"/>
            </a:endParaRPr>
          </a:p>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Introductions</a:t>
            </a:r>
            <a:endParaRPr sz="1700">
              <a:solidFill>
                <a:schemeClr val="lt1"/>
              </a:solidFill>
              <a:latin typeface="Proxima Nova"/>
              <a:ea typeface="Proxima Nova"/>
              <a:cs typeface="Proxima Nova"/>
              <a:sym typeface="Proxima Nova"/>
            </a:endParaRPr>
          </a:p>
          <a:p>
            <a:pPr indent="-336550" lvl="1" marL="9144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Leadership</a:t>
            </a:r>
            <a:endParaRPr sz="1700">
              <a:solidFill>
                <a:schemeClr val="lt1"/>
              </a:solidFill>
              <a:latin typeface="Proxima Nova"/>
              <a:ea typeface="Proxima Nova"/>
              <a:cs typeface="Proxima Nova"/>
              <a:sym typeface="Proxima Nova"/>
            </a:endParaRPr>
          </a:p>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Some Poll Questions</a:t>
            </a:r>
            <a:endParaRPr sz="1700">
              <a:solidFill>
                <a:schemeClr val="lt1"/>
              </a:solidFill>
              <a:latin typeface="Proxima Nova"/>
              <a:ea typeface="Proxima Nova"/>
              <a:cs typeface="Proxima Nova"/>
              <a:sym typeface="Proxima Nova"/>
            </a:endParaRPr>
          </a:p>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Club Norms</a:t>
            </a:r>
            <a:endParaRPr sz="1700">
              <a:solidFill>
                <a:schemeClr val="lt1"/>
              </a:solidFill>
              <a:latin typeface="Proxima Nova"/>
              <a:ea typeface="Proxima Nova"/>
              <a:cs typeface="Proxima Nova"/>
              <a:sym typeface="Proxima Nova"/>
            </a:endParaRPr>
          </a:p>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Important Information &amp; Tasks</a:t>
            </a:r>
            <a:endParaRPr sz="1700">
              <a:solidFill>
                <a:schemeClr val="lt1"/>
              </a:solidFill>
              <a:latin typeface="Proxima Nova"/>
              <a:ea typeface="Proxima Nova"/>
              <a:cs typeface="Proxima Nova"/>
              <a:sym typeface="Proxima Nova"/>
            </a:endParaRPr>
          </a:p>
          <a:p>
            <a:pPr indent="-336550" lvl="1" marL="9144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Housekeeping </a:t>
            </a:r>
            <a:endParaRPr sz="1700">
              <a:solidFill>
                <a:schemeClr val="lt1"/>
              </a:solidFill>
              <a:latin typeface="Proxima Nova"/>
              <a:ea typeface="Proxima Nova"/>
              <a:cs typeface="Proxima Nova"/>
              <a:sym typeface="Proxima Nova"/>
            </a:endParaRPr>
          </a:p>
          <a:p>
            <a:pPr indent="-336550" lvl="1" marL="9144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Tasks </a:t>
            </a:r>
            <a:endParaRPr sz="1700">
              <a:solidFill>
                <a:schemeClr val="lt1"/>
              </a:solidFill>
              <a:latin typeface="Proxima Nova"/>
              <a:ea typeface="Proxima Nova"/>
              <a:cs typeface="Proxima Nova"/>
              <a:sym typeface="Proxima Nova"/>
            </a:endParaRPr>
          </a:p>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If nothing else, know…</a:t>
            </a:r>
            <a:r>
              <a:rPr lang="en" sz="1700">
                <a:solidFill>
                  <a:schemeClr val="lt1"/>
                </a:solidFill>
                <a:latin typeface="Proxima Nova"/>
                <a:ea typeface="Proxima Nova"/>
                <a:cs typeface="Proxima Nova"/>
                <a:sym typeface="Proxima Nova"/>
              </a:rPr>
              <a:t>	</a:t>
            </a:r>
            <a:endParaRPr sz="1700">
              <a:solidFill>
                <a:schemeClr val="lt1"/>
              </a:solidFill>
              <a:latin typeface="Proxima Nova"/>
              <a:ea typeface="Proxima Nova"/>
              <a:cs typeface="Proxima Nova"/>
              <a:sym typeface="Proxima Nova"/>
            </a:endParaRPr>
          </a:p>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Upcoming Dates</a:t>
            </a:r>
            <a:endParaRPr sz="1700">
              <a:solidFill>
                <a:schemeClr val="lt1"/>
              </a:solidFill>
              <a:latin typeface="Proxima Nova"/>
              <a:ea typeface="Proxima Nova"/>
              <a:cs typeface="Proxima Nova"/>
              <a:sym typeface="Proxima Nova"/>
            </a:endParaRPr>
          </a:p>
        </p:txBody>
      </p:sp>
      <p:pic>
        <p:nvPicPr>
          <p:cNvPr id="134" name="Google Shape;134;p26"/>
          <p:cNvPicPr preferRelativeResize="0"/>
          <p:nvPr/>
        </p:nvPicPr>
        <p:blipFill>
          <a:blip r:embed="rId3">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7"/>
          <p:cNvSpPr txBox="1"/>
          <p:nvPr>
            <p:ph type="title"/>
          </p:nvPr>
        </p:nvSpPr>
        <p:spPr>
          <a:xfrm>
            <a:off x="460950" y="2065350"/>
            <a:ext cx="8481600" cy="1012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Peer-to-Peer</a:t>
            </a:r>
            <a:endParaRPr/>
          </a:p>
          <a:p>
            <a:pPr indent="0" lvl="0" marL="0" rtl="0" algn="l">
              <a:spcBef>
                <a:spcPts val="0"/>
              </a:spcBef>
              <a:spcAft>
                <a:spcPts val="0"/>
              </a:spcAft>
              <a:buNone/>
            </a:pPr>
            <a:r>
              <a:rPr i="1" lang="en" sz="2300"/>
              <a:t>Introduce yourself to the person </a:t>
            </a:r>
            <a:endParaRPr i="1" sz="2300"/>
          </a:p>
          <a:p>
            <a:pPr indent="0" lvl="0" marL="0" rtl="0" algn="l">
              <a:spcBef>
                <a:spcPts val="0"/>
              </a:spcBef>
              <a:spcAft>
                <a:spcPts val="0"/>
              </a:spcAft>
              <a:buNone/>
            </a:pPr>
            <a:r>
              <a:rPr i="1" lang="en" sz="2300"/>
              <a:t>next to you</a:t>
            </a:r>
            <a:endParaRPr i="1" sz="2300"/>
          </a:p>
        </p:txBody>
      </p:sp>
      <p:pic>
        <p:nvPicPr>
          <p:cNvPr id="140" name="Google Shape;140;p27"/>
          <p:cNvPicPr preferRelativeResize="0"/>
          <p:nvPr/>
        </p:nvPicPr>
        <p:blipFill>
          <a:blip r:embed="rId3">
            <a:alphaModFix/>
          </a:blip>
          <a:stretch>
            <a:fillRect/>
          </a:stretch>
        </p:blipFill>
        <p:spPr>
          <a:xfrm>
            <a:off x="4994300" y="1689150"/>
            <a:ext cx="3594974" cy="2007200"/>
          </a:xfrm>
          <a:prstGeom prst="rect">
            <a:avLst/>
          </a:prstGeom>
          <a:noFill/>
          <a:ln>
            <a:noFill/>
          </a:ln>
        </p:spPr>
      </p:pic>
      <p:pic>
        <p:nvPicPr>
          <p:cNvPr id="141" name="Google Shape;141;p27"/>
          <p:cNvPicPr preferRelativeResize="0"/>
          <p:nvPr/>
        </p:nvPicPr>
        <p:blipFill>
          <a:blip r:embed="rId4">
            <a:alphaModFix/>
          </a:blip>
          <a:stretch>
            <a:fillRect/>
          </a:stretch>
        </p:blipFill>
        <p:spPr>
          <a:xfrm>
            <a:off x="184150" y="4695625"/>
            <a:ext cx="374483" cy="355476"/>
          </a:xfrm>
          <a:prstGeom prst="rect">
            <a:avLst/>
          </a:prstGeom>
          <a:noFill/>
          <a:ln>
            <a:noFill/>
          </a:ln>
        </p:spPr>
      </p:pic>
      <p:pic>
        <p:nvPicPr>
          <p:cNvPr id="142" name="Google Shape;142;p27"/>
          <p:cNvPicPr preferRelativeResize="0"/>
          <p:nvPr/>
        </p:nvPicPr>
        <p:blipFill>
          <a:blip r:embed="rId5">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46" name="Shape 146"/>
        <p:cNvGrpSpPr/>
        <p:nvPr/>
      </p:nvGrpSpPr>
      <p:grpSpPr>
        <a:xfrm>
          <a:off x="0" y="0"/>
          <a:ext cx="0" cy="0"/>
          <a:chOff x="0" y="0"/>
          <a:chExt cx="0" cy="0"/>
        </a:xfrm>
      </p:grpSpPr>
      <p:sp>
        <p:nvSpPr>
          <p:cNvPr id="147" name="Google Shape;147;p28"/>
          <p:cNvSpPr txBox="1"/>
          <p:nvPr>
            <p:ph type="title"/>
          </p:nvPr>
        </p:nvSpPr>
        <p:spPr>
          <a:xfrm>
            <a:off x="460950" y="2065350"/>
            <a:ext cx="8222100" cy="1012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The Price of Today: </a:t>
            </a:r>
            <a:br>
              <a:rPr lang="en"/>
            </a:br>
            <a:r>
              <a:rPr lang="en" sz="4000"/>
              <a:t>Why You Should Care About Bitcoin</a:t>
            </a:r>
            <a:endParaRPr sz="4000"/>
          </a:p>
        </p:txBody>
      </p:sp>
      <p:pic>
        <p:nvPicPr>
          <p:cNvPr id="148" name="Google Shape;148;p28"/>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149" name="Google Shape;149;p28"/>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53" name="Shape 153"/>
        <p:cNvGrpSpPr/>
        <p:nvPr/>
      </p:nvGrpSpPr>
      <p:grpSpPr>
        <a:xfrm>
          <a:off x="0" y="0"/>
          <a:ext cx="0" cy="0"/>
          <a:chOff x="0" y="0"/>
          <a:chExt cx="0" cy="0"/>
        </a:xfrm>
      </p:grpSpPr>
      <p:sp>
        <p:nvSpPr>
          <p:cNvPr id="154" name="Google Shape;154;p29"/>
          <p:cNvSpPr txBox="1"/>
          <p:nvPr>
            <p:ph type="ctrTitle"/>
          </p:nvPr>
        </p:nvSpPr>
        <p:spPr>
          <a:xfrm>
            <a:off x="1218374" y="1651715"/>
            <a:ext cx="6784200" cy="15051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5200"/>
              <a:buNone/>
            </a:pPr>
            <a:r>
              <a:rPr lang="en">
                <a:solidFill>
                  <a:schemeClr val="lt1"/>
                </a:solidFill>
                <a:latin typeface="Proxima Nova"/>
                <a:ea typeface="Proxima Nova"/>
                <a:cs typeface="Proxima Nova"/>
                <a:sym typeface="Proxima Nova"/>
              </a:rPr>
              <a:t>21 Million Tools</a:t>
            </a:r>
            <a:endParaRPr>
              <a:solidFill>
                <a:schemeClr val="lt1"/>
              </a:solidFill>
              <a:latin typeface="Proxima Nova"/>
              <a:ea typeface="Proxima Nova"/>
              <a:cs typeface="Proxima Nova"/>
              <a:sym typeface="Proxima Nova"/>
            </a:endParaRPr>
          </a:p>
        </p:txBody>
      </p:sp>
      <p:sp>
        <p:nvSpPr>
          <p:cNvPr id="155" name="Google Shape;155;p29"/>
          <p:cNvSpPr txBox="1"/>
          <p:nvPr/>
        </p:nvSpPr>
        <p:spPr>
          <a:xfrm>
            <a:off x="2990636" y="2908892"/>
            <a:ext cx="3239700" cy="582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5200"/>
              <a:buFont typeface="Urbanist"/>
              <a:buNone/>
            </a:pPr>
            <a:r>
              <a:rPr b="1" i="0" lang="en" sz="2400" u="none" cap="none" strike="noStrike">
                <a:solidFill>
                  <a:schemeClr val="lt1"/>
                </a:solidFill>
                <a:latin typeface="Proxima Nova"/>
                <a:ea typeface="Proxima Nova"/>
                <a:cs typeface="Proxima Nova"/>
                <a:sym typeface="Proxima Nova"/>
              </a:rPr>
              <a:t>For the 21</a:t>
            </a:r>
            <a:r>
              <a:rPr b="1" baseline="30000" i="0" lang="en" sz="2400" u="none" cap="none" strike="noStrike">
                <a:solidFill>
                  <a:schemeClr val="lt1"/>
                </a:solidFill>
                <a:latin typeface="Proxima Nova"/>
                <a:ea typeface="Proxima Nova"/>
                <a:cs typeface="Proxima Nova"/>
                <a:sym typeface="Proxima Nova"/>
              </a:rPr>
              <a:t>st</a:t>
            </a:r>
            <a:r>
              <a:rPr b="1" i="0" lang="en" sz="2400" u="none" cap="none" strike="noStrike">
                <a:solidFill>
                  <a:schemeClr val="lt1"/>
                </a:solidFill>
                <a:latin typeface="Proxima Nova"/>
                <a:ea typeface="Proxima Nova"/>
                <a:cs typeface="Proxima Nova"/>
                <a:sym typeface="Proxima Nova"/>
              </a:rPr>
              <a:t> Century</a:t>
            </a:r>
            <a:endParaRPr>
              <a:latin typeface="Proxima Nova"/>
              <a:ea typeface="Proxima Nova"/>
              <a:cs typeface="Proxima Nova"/>
              <a:sym typeface="Proxima Nova"/>
            </a:endParaRPr>
          </a:p>
        </p:txBody>
      </p:sp>
      <p:pic>
        <p:nvPicPr>
          <p:cNvPr id="156" name="Google Shape;156;p29"/>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157" name="Google Shape;157;p29"/>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61" name="Shape 161"/>
        <p:cNvGrpSpPr/>
        <p:nvPr/>
      </p:nvGrpSpPr>
      <p:grpSpPr>
        <a:xfrm>
          <a:off x="0" y="0"/>
          <a:ext cx="0" cy="0"/>
          <a:chOff x="0" y="0"/>
          <a:chExt cx="0" cy="0"/>
        </a:xfrm>
      </p:grpSpPr>
      <p:sp>
        <p:nvSpPr>
          <p:cNvPr id="162" name="Google Shape;162;p30"/>
          <p:cNvSpPr txBox="1"/>
          <p:nvPr>
            <p:ph type="ctrTitle"/>
          </p:nvPr>
        </p:nvSpPr>
        <p:spPr>
          <a:xfrm>
            <a:off x="1179875" y="1527750"/>
            <a:ext cx="6784200" cy="20880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5200"/>
              <a:buNone/>
            </a:pPr>
            <a:r>
              <a:rPr lang="en" sz="5000">
                <a:solidFill>
                  <a:schemeClr val="lt1"/>
                </a:solidFill>
                <a:latin typeface="Proxima Nova"/>
                <a:ea typeface="Proxima Nova"/>
                <a:cs typeface="Proxima Nova"/>
                <a:sym typeface="Proxima Nova"/>
              </a:rPr>
              <a:t>How many seconds are in 1 minute in the US?</a:t>
            </a:r>
            <a:endParaRPr sz="5000">
              <a:solidFill>
                <a:schemeClr val="lt1"/>
              </a:solidFill>
              <a:latin typeface="Proxima Nova"/>
              <a:ea typeface="Proxima Nova"/>
              <a:cs typeface="Proxima Nova"/>
              <a:sym typeface="Proxima Nova"/>
            </a:endParaRPr>
          </a:p>
        </p:txBody>
      </p:sp>
      <p:sp>
        <p:nvSpPr>
          <p:cNvPr id="163" name="Google Shape;163;p30"/>
          <p:cNvSpPr txBox="1"/>
          <p:nvPr/>
        </p:nvSpPr>
        <p:spPr>
          <a:xfrm>
            <a:off x="3876849" y="3973848"/>
            <a:ext cx="1390200" cy="582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5200"/>
              <a:buFont typeface="Urbanist"/>
              <a:buNone/>
            </a:pPr>
            <a:r>
              <a:rPr i="0" lang="en" sz="1600" u="none" cap="none" strike="noStrike">
                <a:solidFill>
                  <a:schemeClr val="lt1"/>
                </a:solidFill>
                <a:latin typeface="Proxima Nova"/>
                <a:ea typeface="Proxima Nova"/>
                <a:cs typeface="Proxima Nova"/>
                <a:sym typeface="Proxima Nova"/>
              </a:rPr>
              <a:t>60 Seconds</a:t>
            </a:r>
            <a:endParaRPr>
              <a:latin typeface="Proxima Nova"/>
              <a:ea typeface="Proxima Nova"/>
              <a:cs typeface="Proxima Nova"/>
              <a:sym typeface="Proxima Nova"/>
            </a:endParaRPr>
          </a:p>
        </p:txBody>
      </p:sp>
      <p:pic>
        <p:nvPicPr>
          <p:cNvPr id="164" name="Google Shape;164;p30"/>
          <p:cNvPicPr preferRelativeResize="0"/>
          <p:nvPr/>
        </p:nvPicPr>
        <p:blipFill>
          <a:blip r:embed="rId3">
            <a:alphaModFix/>
          </a:blip>
          <a:stretch>
            <a:fillRect/>
          </a:stretch>
        </p:blipFill>
        <p:spPr>
          <a:xfrm>
            <a:off x="8611675" y="4665225"/>
            <a:ext cx="313176" cy="313176"/>
          </a:xfrm>
          <a:prstGeom prst="rect">
            <a:avLst/>
          </a:prstGeom>
          <a:noFill/>
          <a:ln>
            <a:noFill/>
          </a:ln>
        </p:spPr>
      </p:pic>
      <p:pic>
        <p:nvPicPr>
          <p:cNvPr id="165" name="Google Shape;165;p30"/>
          <p:cNvPicPr preferRelativeResize="0"/>
          <p:nvPr/>
        </p:nvPicPr>
        <p:blipFill>
          <a:blip r:embed="rId4">
            <a:alphaModFix/>
          </a:blip>
          <a:stretch>
            <a:fillRect/>
          </a:stretch>
        </p:blipFill>
        <p:spPr>
          <a:xfrm>
            <a:off x="184150" y="4695625"/>
            <a:ext cx="374483" cy="3554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69" name="Shape 169"/>
        <p:cNvGrpSpPr/>
        <p:nvPr/>
      </p:nvGrpSpPr>
      <p:grpSpPr>
        <a:xfrm>
          <a:off x="0" y="0"/>
          <a:ext cx="0" cy="0"/>
          <a:chOff x="0" y="0"/>
          <a:chExt cx="0" cy="0"/>
        </a:xfrm>
      </p:grpSpPr>
      <p:sp>
        <p:nvSpPr>
          <p:cNvPr id="170" name="Google Shape;170;p31"/>
          <p:cNvSpPr txBox="1"/>
          <p:nvPr>
            <p:ph type="ctrTitle"/>
          </p:nvPr>
        </p:nvSpPr>
        <p:spPr>
          <a:xfrm>
            <a:off x="1179875" y="1527750"/>
            <a:ext cx="6784200" cy="20880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5200"/>
              <a:buNone/>
            </a:pPr>
            <a:r>
              <a:rPr lang="en" sz="5000">
                <a:solidFill>
                  <a:schemeClr val="lt1"/>
                </a:solidFill>
                <a:latin typeface="Proxima Nova"/>
                <a:ea typeface="Proxima Nova"/>
                <a:cs typeface="Proxima Nova"/>
                <a:sym typeface="Proxima Nova"/>
              </a:rPr>
              <a:t>How many seconds are in 1 minute in Japan?</a:t>
            </a:r>
            <a:endParaRPr sz="5000">
              <a:solidFill>
                <a:schemeClr val="lt1"/>
              </a:solidFill>
              <a:latin typeface="Proxima Nova"/>
              <a:ea typeface="Proxima Nova"/>
              <a:cs typeface="Proxima Nova"/>
              <a:sym typeface="Proxima Nova"/>
            </a:endParaRPr>
          </a:p>
        </p:txBody>
      </p:sp>
      <p:sp>
        <p:nvSpPr>
          <p:cNvPr id="171" name="Google Shape;171;p31"/>
          <p:cNvSpPr txBox="1"/>
          <p:nvPr/>
        </p:nvSpPr>
        <p:spPr>
          <a:xfrm>
            <a:off x="3876849" y="3973848"/>
            <a:ext cx="1390200" cy="582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5200"/>
              <a:buFont typeface="Urbanist"/>
              <a:buNone/>
            </a:pPr>
            <a:r>
              <a:rPr i="0" lang="en" sz="1600" u="none" cap="none" strike="noStrike">
                <a:solidFill>
                  <a:schemeClr val="lt1"/>
                </a:solidFill>
                <a:latin typeface="Proxima Nova"/>
                <a:ea typeface="Proxima Nova"/>
                <a:cs typeface="Proxima Nova"/>
                <a:sym typeface="Proxima Nova"/>
              </a:rPr>
              <a:t>60 Seconds</a:t>
            </a:r>
            <a:endParaRPr>
              <a:latin typeface="Proxima Nova"/>
              <a:ea typeface="Proxima Nova"/>
              <a:cs typeface="Proxima Nova"/>
              <a:sym typeface="Proxima Nova"/>
            </a:endParaRPr>
          </a:p>
        </p:txBody>
      </p:sp>
      <p:pic>
        <p:nvPicPr>
          <p:cNvPr id="172" name="Google Shape;172;p31"/>
          <p:cNvPicPr preferRelativeResize="0"/>
          <p:nvPr/>
        </p:nvPicPr>
        <p:blipFill>
          <a:blip r:embed="rId3">
            <a:alphaModFix/>
          </a:blip>
          <a:stretch>
            <a:fillRect/>
          </a:stretch>
        </p:blipFill>
        <p:spPr>
          <a:xfrm>
            <a:off x="8611675" y="4665225"/>
            <a:ext cx="313176" cy="313176"/>
          </a:xfrm>
          <a:prstGeom prst="rect">
            <a:avLst/>
          </a:prstGeom>
          <a:noFill/>
          <a:ln>
            <a:noFill/>
          </a:ln>
        </p:spPr>
      </p:pic>
      <p:pic>
        <p:nvPicPr>
          <p:cNvPr id="173" name="Google Shape;173;p31"/>
          <p:cNvPicPr preferRelativeResize="0"/>
          <p:nvPr/>
        </p:nvPicPr>
        <p:blipFill>
          <a:blip r:embed="rId4">
            <a:alphaModFix/>
          </a:blip>
          <a:stretch>
            <a:fillRect/>
          </a:stretch>
        </p:blipFill>
        <p:spPr>
          <a:xfrm>
            <a:off x="184150" y="4695625"/>
            <a:ext cx="374483" cy="3554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77" name="Shape 177"/>
        <p:cNvGrpSpPr/>
        <p:nvPr/>
      </p:nvGrpSpPr>
      <p:grpSpPr>
        <a:xfrm>
          <a:off x="0" y="0"/>
          <a:ext cx="0" cy="0"/>
          <a:chOff x="0" y="0"/>
          <a:chExt cx="0" cy="0"/>
        </a:xfrm>
      </p:grpSpPr>
      <p:sp>
        <p:nvSpPr>
          <p:cNvPr id="178" name="Google Shape;178;p32"/>
          <p:cNvSpPr txBox="1"/>
          <p:nvPr>
            <p:ph type="ctrTitle"/>
          </p:nvPr>
        </p:nvSpPr>
        <p:spPr>
          <a:xfrm>
            <a:off x="1179875" y="1527750"/>
            <a:ext cx="6784200" cy="20880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5200"/>
              <a:buNone/>
            </a:pPr>
            <a:r>
              <a:rPr lang="en" sz="5000">
                <a:solidFill>
                  <a:schemeClr val="lt1"/>
                </a:solidFill>
                <a:latin typeface="Proxima Nova"/>
                <a:ea typeface="Proxima Nova"/>
                <a:cs typeface="Proxima Nova"/>
                <a:sym typeface="Proxima Nova"/>
              </a:rPr>
              <a:t>How many seconds are in 1 minute in Nigeria?</a:t>
            </a:r>
            <a:endParaRPr sz="5000">
              <a:solidFill>
                <a:schemeClr val="lt1"/>
              </a:solidFill>
              <a:latin typeface="Proxima Nova"/>
              <a:ea typeface="Proxima Nova"/>
              <a:cs typeface="Proxima Nova"/>
              <a:sym typeface="Proxima Nova"/>
            </a:endParaRPr>
          </a:p>
        </p:txBody>
      </p:sp>
      <p:sp>
        <p:nvSpPr>
          <p:cNvPr id="179" name="Google Shape;179;p32"/>
          <p:cNvSpPr txBox="1"/>
          <p:nvPr/>
        </p:nvSpPr>
        <p:spPr>
          <a:xfrm>
            <a:off x="3876849" y="3973848"/>
            <a:ext cx="1390200" cy="582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5200"/>
              <a:buFont typeface="Urbanist"/>
              <a:buNone/>
            </a:pPr>
            <a:r>
              <a:rPr i="0" lang="en" sz="1600" u="none" cap="none" strike="noStrike">
                <a:solidFill>
                  <a:schemeClr val="lt1"/>
                </a:solidFill>
                <a:latin typeface="Proxima Nova"/>
                <a:ea typeface="Proxima Nova"/>
                <a:cs typeface="Proxima Nova"/>
                <a:sym typeface="Proxima Nova"/>
              </a:rPr>
              <a:t>60 Seconds</a:t>
            </a:r>
            <a:endParaRPr>
              <a:latin typeface="Proxima Nova"/>
              <a:ea typeface="Proxima Nova"/>
              <a:cs typeface="Proxima Nova"/>
              <a:sym typeface="Proxima Nova"/>
            </a:endParaRPr>
          </a:p>
        </p:txBody>
      </p:sp>
      <p:pic>
        <p:nvPicPr>
          <p:cNvPr id="180" name="Google Shape;180;p32"/>
          <p:cNvPicPr preferRelativeResize="0"/>
          <p:nvPr/>
        </p:nvPicPr>
        <p:blipFill>
          <a:blip r:embed="rId3">
            <a:alphaModFix/>
          </a:blip>
          <a:stretch>
            <a:fillRect/>
          </a:stretch>
        </p:blipFill>
        <p:spPr>
          <a:xfrm>
            <a:off x="8611675" y="4665225"/>
            <a:ext cx="313176" cy="313176"/>
          </a:xfrm>
          <a:prstGeom prst="rect">
            <a:avLst/>
          </a:prstGeom>
          <a:noFill/>
          <a:ln>
            <a:noFill/>
          </a:ln>
        </p:spPr>
      </p:pic>
      <p:pic>
        <p:nvPicPr>
          <p:cNvPr id="181" name="Google Shape;181;p32"/>
          <p:cNvPicPr preferRelativeResize="0"/>
          <p:nvPr/>
        </p:nvPicPr>
        <p:blipFill>
          <a:blip r:embed="rId4">
            <a:alphaModFix/>
          </a:blip>
          <a:stretch>
            <a:fillRect/>
          </a:stretch>
        </p:blipFill>
        <p:spPr>
          <a:xfrm>
            <a:off x="184150" y="4695625"/>
            <a:ext cx="374483" cy="3554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85" name="Shape 185"/>
        <p:cNvGrpSpPr/>
        <p:nvPr/>
      </p:nvGrpSpPr>
      <p:grpSpPr>
        <a:xfrm>
          <a:off x="0" y="0"/>
          <a:ext cx="0" cy="0"/>
          <a:chOff x="0" y="0"/>
          <a:chExt cx="0" cy="0"/>
        </a:xfrm>
      </p:grpSpPr>
      <p:sp>
        <p:nvSpPr>
          <p:cNvPr id="186" name="Google Shape;186;p33"/>
          <p:cNvSpPr txBox="1"/>
          <p:nvPr>
            <p:ph type="ctrTitle"/>
          </p:nvPr>
        </p:nvSpPr>
        <p:spPr>
          <a:xfrm>
            <a:off x="1179875" y="1527750"/>
            <a:ext cx="6784200" cy="20880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5200"/>
              <a:buNone/>
            </a:pPr>
            <a:r>
              <a:rPr lang="en" sz="5000">
                <a:solidFill>
                  <a:schemeClr val="lt1"/>
                </a:solidFill>
                <a:latin typeface="Proxima Nova"/>
                <a:ea typeface="Proxima Nova"/>
                <a:cs typeface="Proxima Nova"/>
                <a:sym typeface="Proxima Nova"/>
              </a:rPr>
              <a:t>How many Japanese yen = 1 US dollar?</a:t>
            </a:r>
            <a:endParaRPr sz="5000">
              <a:solidFill>
                <a:schemeClr val="lt1"/>
              </a:solidFill>
              <a:latin typeface="Proxima Nova"/>
              <a:ea typeface="Proxima Nova"/>
              <a:cs typeface="Proxima Nova"/>
              <a:sym typeface="Proxima Nova"/>
            </a:endParaRPr>
          </a:p>
        </p:txBody>
      </p:sp>
      <p:sp>
        <p:nvSpPr>
          <p:cNvPr id="187" name="Google Shape;187;p33"/>
          <p:cNvSpPr txBox="1"/>
          <p:nvPr/>
        </p:nvSpPr>
        <p:spPr>
          <a:xfrm>
            <a:off x="2528362" y="3619056"/>
            <a:ext cx="4087200" cy="582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5200"/>
              <a:buFont typeface="Urbanist"/>
              <a:buNone/>
            </a:pPr>
            <a:r>
              <a:rPr b="1" i="0" lang="en" sz="1600" u="none" cap="none" strike="noStrike">
                <a:solidFill>
                  <a:schemeClr val="lt1"/>
                </a:solidFill>
                <a:latin typeface="Proxima Nova"/>
                <a:ea typeface="Proxima Nova"/>
                <a:cs typeface="Proxima Nova"/>
                <a:sym typeface="Proxima Nova"/>
              </a:rPr>
              <a:t>1</a:t>
            </a:r>
            <a:r>
              <a:rPr b="1" lang="en" sz="1600">
                <a:solidFill>
                  <a:schemeClr val="lt1"/>
                </a:solidFill>
                <a:latin typeface="Proxima Nova"/>
                <a:ea typeface="Proxima Nova"/>
                <a:cs typeface="Proxima Nova"/>
                <a:sym typeface="Proxima Nova"/>
              </a:rPr>
              <a:t>42.36</a:t>
            </a:r>
            <a:r>
              <a:rPr i="0" lang="en" sz="1600" u="none" cap="none" strike="noStrike">
                <a:solidFill>
                  <a:schemeClr val="lt1"/>
                </a:solidFill>
                <a:latin typeface="Proxima Nova"/>
                <a:ea typeface="Proxima Nova"/>
                <a:cs typeface="Proxima Nova"/>
                <a:sym typeface="Proxima Nova"/>
              </a:rPr>
              <a:t> Japanese yen: 1 US dollar</a:t>
            </a:r>
            <a:endParaRPr>
              <a:latin typeface="Proxima Nova"/>
              <a:ea typeface="Proxima Nova"/>
              <a:cs typeface="Proxima Nova"/>
              <a:sym typeface="Proxima Nova"/>
            </a:endParaRPr>
          </a:p>
        </p:txBody>
      </p:sp>
      <p:pic>
        <p:nvPicPr>
          <p:cNvPr id="188" name="Google Shape;188;p33"/>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189" name="Google Shape;189;p33"/>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93" name="Shape 193"/>
        <p:cNvGrpSpPr/>
        <p:nvPr/>
      </p:nvGrpSpPr>
      <p:grpSpPr>
        <a:xfrm>
          <a:off x="0" y="0"/>
          <a:ext cx="0" cy="0"/>
          <a:chOff x="0" y="0"/>
          <a:chExt cx="0" cy="0"/>
        </a:xfrm>
      </p:grpSpPr>
      <p:sp>
        <p:nvSpPr>
          <p:cNvPr id="194" name="Google Shape;194;p34"/>
          <p:cNvSpPr txBox="1"/>
          <p:nvPr>
            <p:ph type="ctrTitle"/>
          </p:nvPr>
        </p:nvSpPr>
        <p:spPr>
          <a:xfrm>
            <a:off x="1179875" y="1527750"/>
            <a:ext cx="6784200" cy="20880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5200"/>
              <a:buNone/>
            </a:pPr>
            <a:r>
              <a:rPr lang="en" sz="5000">
                <a:solidFill>
                  <a:schemeClr val="lt1"/>
                </a:solidFill>
                <a:latin typeface="Proxima Nova"/>
                <a:ea typeface="Proxima Nova"/>
                <a:cs typeface="Proxima Nova"/>
                <a:sym typeface="Proxima Nova"/>
              </a:rPr>
              <a:t>How many Nigerian naira = 1 US dollar ?</a:t>
            </a:r>
            <a:endParaRPr sz="5000">
              <a:solidFill>
                <a:schemeClr val="lt1"/>
              </a:solidFill>
              <a:latin typeface="Proxima Nova"/>
              <a:ea typeface="Proxima Nova"/>
              <a:cs typeface="Proxima Nova"/>
              <a:sym typeface="Proxima Nova"/>
            </a:endParaRPr>
          </a:p>
        </p:txBody>
      </p:sp>
      <p:sp>
        <p:nvSpPr>
          <p:cNvPr id="195" name="Google Shape;195;p34"/>
          <p:cNvSpPr txBox="1"/>
          <p:nvPr/>
        </p:nvSpPr>
        <p:spPr>
          <a:xfrm>
            <a:off x="2528362" y="3615750"/>
            <a:ext cx="4087200" cy="582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5200"/>
              <a:buFont typeface="Urbanist"/>
              <a:buNone/>
            </a:pPr>
            <a:r>
              <a:rPr b="1" lang="en" sz="1600">
                <a:solidFill>
                  <a:schemeClr val="lt1"/>
                </a:solidFill>
                <a:latin typeface="Proxima Nova"/>
                <a:ea typeface="Proxima Nova"/>
                <a:cs typeface="Proxima Nova"/>
                <a:sym typeface="Proxima Nova"/>
              </a:rPr>
              <a:t>1,640.55</a:t>
            </a:r>
            <a:r>
              <a:rPr b="1" i="0" lang="en" sz="1600" u="none" cap="none" strike="noStrike">
                <a:solidFill>
                  <a:schemeClr val="lt1"/>
                </a:solidFill>
                <a:latin typeface="Proxima Nova"/>
                <a:ea typeface="Proxima Nova"/>
                <a:cs typeface="Proxima Nova"/>
                <a:sym typeface="Proxima Nova"/>
              </a:rPr>
              <a:t> </a:t>
            </a:r>
            <a:r>
              <a:rPr i="0" lang="en" sz="1600" u="none" cap="none" strike="noStrike">
                <a:solidFill>
                  <a:schemeClr val="lt1"/>
                </a:solidFill>
                <a:latin typeface="Proxima Nova"/>
                <a:ea typeface="Proxima Nova"/>
                <a:cs typeface="Proxima Nova"/>
                <a:sym typeface="Proxima Nova"/>
              </a:rPr>
              <a:t>Nigerian naira: 1 US dollar</a:t>
            </a:r>
            <a:endParaRPr>
              <a:latin typeface="Proxima Nova"/>
              <a:ea typeface="Proxima Nova"/>
              <a:cs typeface="Proxima Nova"/>
              <a:sym typeface="Proxima Nova"/>
            </a:endParaRPr>
          </a:p>
        </p:txBody>
      </p:sp>
      <p:pic>
        <p:nvPicPr>
          <p:cNvPr id="196" name="Google Shape;196;p34"/>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197" name="Google Shape;197;p34"/>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01" name="Shape 201"/>
        <p:cNvGrpSpPr/>
        <p:nvPr/>
      </p:nvGrpSpPr>
      <p:grpSpPr>
        <a:xfrm>
          <a:off x="0" y="0"/>
          <a:ext cx="0" cy="0"/>
          <a:chOff x="0" y="0"/>
          <a:chExt cx="0" cy="0"/>
        </a:xfrm>
      </p:grpSpPr>
      <p:sp>
        <p:nvSpPr>
          <p:cNvPr id="202" name="Google Shape;202;p35"/>
          <p:cNvSpPr txBox="1"/>
          <p:nvPr>
            <p:ph type="ctrTitle"/>
          </p:nvPr>
        </p:nvSpPr>
        <p:spPr>
          <a:xfrm>
            <a:off x="1179900" y="814202"/>
            <a:ext cx="6784200" cy="17715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5200"/>
              <a:buNone/>
            </a:pPr>
            <a:r>
              <a:rPr lang="en" sz="3000">
                <a:solidFill>
                  <a:schemeClr val="lt1"/>
                </a:solidFill>
                <a:latin typeface="Proxima Nova"/>
                <a:ea typeface="Proxima Nova"/>
                <a:cs typeface="Proxima Nova"/>
                <a:sym typeface="Proxima Nova"/>
              </a:rPr>
              <a:t>$ -98% since 1971 </a:t>
            </a:r>
            <a:endParaRPr sz="3000">
              <a:solidFill>
                <a:schemeClr val="lt1"/>
              </a:solidFill>
              <a:latin typeface="Proxima Nova"/>
              <a:ea typeface="Proxima Nova"/>
              <a:cs typeface="Proxima Nova"/>
              <a:sym typeface="Proxima Nova"/>
            </a:endParaRPr>
          </a:p>
        </p:txBody>
      </p:sp>
      <p:sp>
        <p:nvSpPr>
          <p:cNvPr id="203" name="Google Shape;203;p35"/>
          <p:cNvSpPr txBox="1"/>
          <p:nvPr/>
        </p:nvSpPr>
        <p:spPr>
          <a:xfrm>
            <a:off x="1179900" y="2705100"/>
            <a:ext cx="6784200" cy="17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5200"/>
              <a:buFont typeface="Urbanist"/>
              <a:buNone/>
            </a:pPr>
            <a:r>
              <a:rPr b="1" i="0" lang="en" sz="3000" u="none" cap="none" strike="noStrike">
                <a:solidFill>
                  <a:schemeClr val="lt1"/>
                </a:solidFill>
                <a:latin typeface="Proxima Nova"/>
                <a:ea typeface="Proxima Nova"/>
                <a:cs typeface="Proxima Nova"/>
                <a:sym typeface="Proxima Nova"/>
              </a:rPr>
              <a:t>$ -25% since 2020</a:t>
            </a:r>
            <a:endParaRPr>
              <a:latin typeface="Proxima Nova"/>
              <a:ea typeface="Proxima Nova"/>
              <a:cs typeface="Proxima Nova"/>
              <a:sym typeface="Proxima Nova"/>
            </a:endParaRPr>
          </a:p>
        </p:txBody>
      </p:sp>
      <p:pic>
        <p:nvPicPr>
          <p:cNvPr id="204" name="Google Shape;204;p35"/>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205" name="Google Shape;205;p35"/>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US Debt</a:t>
            </a:r>
            <a:endParaRPr/>
          </a:p>
        </p:txBody>
      </p:sp>
      <p:pic>
        <p:nvPicPr>
          <p:cNvPr descr="Image" id="211" name="Google Shape;211;p36"/>
          <p:cNvPicPr preferRelativeResize="0"/>
          <p:nvPr/>
        </p:nvPicPr>
        <p:blipFill rotWithShape="1">
          <a:blip r:embed="rId3">
            <a:alphaModFix/>
          </a:blip>
          <a:srcRect b="2875" l="0" r="0" t="0"/>
          <a:stretch/>
        </p:blipFill>
        <p:spPr>
          <a:xfrm>
            <a:off x="1649975" y="1101200"/>
            <a:ext cx="6133574" cy="3486750"/>
          </a:xfrm>
          <a:prstGeom prst="rect">
            <a:avLst/>
          </a:prstGeom>
          <a:noFill/>
          <a:ln>
            <a:noFill/>
          </a:ln>
        </p:spPr>
      </p:pic>
      <p:pic>
        <p:nvPicPr>
          <p:cNvPr id="212" name="Google Shape;212;p36"/>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7"/>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Why We Are Here: State of US Economy  </a:t>
            </a:r>
            <a:endParaRPr/>
          </a:p>
        </p:txBody>
      </p:sp>
      <p:pic>
        <p:nvPicPr>
          <p:cNvPr id="218" name="Google Shape;218;p37"/>
          <p:cNvPicPr preferRelativeResize="0"/>
          <p:nvPr/>
        </p:nvPicPr>
        <p:blipFill>
          <a:blip r:embed="rId3">
            <a:alphaModFix/>
          </a:blip>
          <a:stretch>
            <a:fillRect/>
          </a:stretch>
        </p:blipFill>
        <p:spPr>
          <a:xfrm>
            <a:off x="898750" y="2507100"/>
            <a:ext cx="2572400" cy="2139125"/>
          </a:xfrm>
          <a:prstGeom prst="rect">
            <a:avLst/>
          </a:prstGeom>
          <a:noFill/>
          <a:ln>
            <a:noFill/>
          </a:ln>
        </p:spPr>
      </p:pic>
      <p:sp>
        <p:nvSpPr>
          <p:cNvPr id="219" name="Google Shape;219;p37"/>
          <p:cNvSpPr txBox="1"/>
          <p:nvPr/>
        </p:nvSpPr>
        <p:spPr>
          <a:xfrm>
            <a:off x="278400" y="1093151"/>
            <a:ext cx="7764600" cy="121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lt1"/>
                </a:solidFill>
                <a:latin typeface="Proxima Nova"/>
                <a:ea typeface="Proxima Nova"/>
                <a:cs typeface="Proxima Nova"/>
                <a:sym typeface="Proxima Nova"/>
              </a:rPr>
              <a:t>US debt: $35.27 trillion</a:t>
            </a:r>
            <a:endParaRPr sz="1500">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sz="1500">
                <a:solidFill>
                  <a:schemeClr val="lt1"/>
                </a:solidFill>
                <a:latin typeface="Proxima Nova"/>
                <a:ea typeface="Proxima Nova"/>
                <a:cs typeface="Proxima Nova"/>
                <a:sym typeface="Proxima Nova"/>
              </a:rPr>
              <a:t>Debt interest payment: $870 billion FY24</a:t>
            </a:r>
            <a:endParaRPr sz="1500">
              <a:solidFill>
                <a:schemeClr val="lt1"/>
              </a:solidFill>
              <a:latin typeface="Proxima Nova"/>
              <a:ea typeface="Proxima Nova"/>
              <a:cs typeface="Proxima Nova"/>
              <a:sym typeface="Proxima Nova"/>
            </a:endParaRPr>
          </a:p>
          <a:p>
            <a:pPr indent="-323850" lvl="0" marL="457200" rtl="0" algn="l">
              <a:spcBef>
                <a:spcPts val="0"/>
              </a:spcBef>
              <a:spcAft>
                <a:spcPts val="0"/>
              </a:spcAft>
              <a:buClr>
                <a:schemeClr val="lt1"/>
              </a:buClr>
              <a:buSzPts val="1500"/>
              <a:buFont typeface="Proxima Nova"/>
              <a:buChar char="-"/>
            </a:pPr>
            <a:r>
              <a:rPr lang="en" sz="1500">
                <a:solidFill>
                  <a:schemeClr val="lt1"/>
                </a:solidFill>
                <a:latin typeface="Proxima Nova"/>
                <a:ea typeface="Proxima Nova"/>
                <a:cs typeface="Proxima Nova"/>
                <a:sym typeface="Proxima Nova"/>
              </a:rPr>
              <a:t>Education: $90 billion</a:t>
            </a:r>
            <a:endParaRPr sz="1500">
              <a:solidFill>
                <a:schemeClr val="lt1"/>
              </a:solidFill>
              <a:latin typeface="Proxima Nova"/>
              <a:ea typeface="Proxima Nova"/>
              <a:cs typeface="Proxima Nova"/>
              <a:sym typeface="Proxima Nova"/>
            </a:endParaRPr>
          </a:p>
          <a:p>
            <a:pPr indent="-323850" lvl="0" marL="457200" rtl="0" algn="l">
              <a:spcBef>
                <a:spcPts val="0"/>
              </a:spcBef>
              <a:spcAft>
                <a:spcPts val="0"/>
              </a:spcAft>
              <a:buClr>
                <a:schemeClr val="lt1"/>
              </a:buClr>
              <a:buSzPts val="1500"/>
              <a:buFont typeface="Proxima Nova"/>
              <a:buChar char="-"/>
            </a:pPr>
            <a:r>
              <a:rPr lang="en" sz="1500">
                <a:solidFill>
                  <a:schemeClr val="lt1"/>
                </a:solidFill>
                <a:latin typeface="Proxima Nova"/>
                <a:ea typeface="Proxima Nova"/>
                <a:cs typeface="Proxima Nova"/>
                <a:sym typeface="Proxima Nova"/>
              </a:rPr>
              <a:t>Defense: $842 billion </a:t>
            </a:r>
            <a:endParaRPr sz="15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5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5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5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500">
              <a:solidFill>
                <a:schemeClr val="lt2"/>
              </a:solidFill>
              <a:latin typeface="Proxima Nova"/>
              <a:ea typeface="Proxima Nova"/>
              <a:cs typeface="Proxima Nova"/>
              <a:sym typeface="Proxima Nova"/>
            </a:endParaRPr>
          </a:p>
        </p:txBody>
      </p:sp>
      <p:pic>
        <p:nvPicPr>
          <p:cNvPr id="220" name="Google Shape;220;p37"/>
          <p:cNvPicPr preferRelativeResize="0"/>
          <p:nvPr/>
        </p:nvPicPr>
        <p:blipFill>
          <a:blip r:embed="rId4">
            <a:alphaModFix/>
          </a:blip>
          <a:stretch>
            <a:fillRect/>
          </a:stretch>
        </p:blipFill>
        <p:spPr>
          <a:xfrm>
            <a:off x="4788873" y="1268425"/>
            <a:ext cx="4081827" cy="3197500"/>
          </a:xfrm>
          <a:prstGeom prst="rect">
            <a:avLst/>
          </a:prstGeom>
          <a:noFill/>
          <a:ln>
            <a:noFill/>
          </a:ln>
        </p:spPr>
      </p:pic>
      <p:pic>
        <p:nvPicPr>
          <p:cNvPr id="221" name="Google Shape;221;p37"/>
          <p:cNvPicPr preferRelativeResize="0"/>
          <p:nvPr/>
        </p:nvPicPr>
        <p:blipFill>
          <a:blip r:embed="rId5">
            <a:alphaModFix/>
          </a:blip>
          <a:stretch>
            <a:fillRect/>
          </a:stretch>
        </p:blipFill>
        <p:spPr>
          <a:xfrm>
            <a:off x="8611675" y="4665225"/>
            <a:ext cx="313176" cy="3131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25" name="Shape 225"/>
        <p:cNvGrpSpPr/>
        <p:nvPr/>
      </p:nvGrpSpPr>
      <p:grpSpPr>
        <a:xfrm>
          <a:off x="0" y="0"/>
          <a:ext cx="0" cy="0"/>
          <a:chOff x="0" y="0"/>
          <a:chExt cx="0" cy="0"/>
        </a:xfrm>
      </p:grpSpPr>
      <p:sp>
        <p:nvSpPr>
          <p:cNvPr id="226" name="Google Shape;226;p38"/>
          <p:cNvSpPr txBox="1"/>
          <p:nvPr/>
        </p:nvSpPr>
        <p:spPr>
          <a:xfrm>
            <a:off x="2449340" y="2111039"/>
            <a:ext cx="4087200" cy="582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5200"/>
              <a:buFont typeface="Urbanist"/>
              <a:buNone/>
            </a:pPr>
            <a:r>
              <a:rPr b="1" i="0" lang="en" sz="3600" u="none" cap="none" strike="noStrike">
                <a:solidFill>
                  <a:schemeClr val="lt1"/>
                </a:solidFill>
                <a:latin typeface="Proxima Nova"/>
                <a:ea typeface="Proxima Nova"/>
                <a:cs typeface="Proxima Nova"/>
                <a:sym typeface="Proxima Nova"/>
              </a:rPr>
              <a:t>13%</a:t>
            </a:r>
            <a:endParaRPr>
              <a:latin typeface="Proxima Nova"/>
              <a:ea typeface="Proxima Nova"/>
              <a:cs typeface="Proxima Nova"/>
              <a:sym typeface="Proxima Nova"/>
            </a:endParaRPr>
          </a:p>
        </p:txBody>
      </p:sp>
      <p:sp>
        <p:nvSpPr>
          <p:cNvPr id="227" name="Google Shape;227;p38"/>
          <p:cNvSpPr txBox="1"/>
          <p:nvPr/>
        </p:nvSpPr>
        <p:spPr>
          <a:xfrm>
            <a:off x="2449340" y="3171038"/>
            <a:ext cx="4087200" cy="582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5200"/>
              <a:buFont typeface="Urbanist"/>
              <a:buNone/>
            </a:pPr>
            <a:r>
              <a:rPr b="1" i="0" lang="en" sz="3600" u="none" cap="none" strike="noStrike">
                <a:solidFill>
                  <a:schemeClr val="lt1"/>
                </a:solidFill>
                <a:latin typeface="Proxima Nova"/>
                <a:ea typeface="Proxima Nova"/>
                <a:cs typeface="Proxima Nova"/>
                <a:sym typeface="Proxima Nova"/>
              </a:rPr>
              <a:t>1.6 billion</a:t>
            </a:r>
            <a:endParaRPr>
              <a:latin typeface="Proxima Nova"/>
              <a:ea typeface="Proxima Nova"/>
              <a:cs typeface="Proxima Nova"/>
              <a:sym typeface="Proxima Nova"/>
            </a:endParaRPr>
          </a:p>
        </p:txBody>
      </p:sp>
      <p:sp>
        <p:nvSpPr>
          <p:cNvPr id="228" name="Google Shape;228;p38"/>
          <p:cNvSpPr txBox="1"/>
          <p:nvPr/>
        </p:nvSpPr>
        <p:spPr>
          <a:xfrm>
            <a:off x="2449340" y="1182240"/>
            <a:ext cx="4087200" cy="582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5200"/>
              <a:buFont typeface="Urbanist"/>
              <a:buNone/>
            </a:pPr>
            <a:r>
              <a:rPr b="1" i="0" lang="en" sz="3600" u="none" cap="none" strike="noStrike">
                <a:solidFill>
                  <a:schemeClr val="lt1"/>
                </a:solidFill>
                <a:latin typeface="Proxima Nova"/>
                <a:ea typeface="Proxima Nova"/>
                <a:cs typeface="Proxima Nova"/>
                <a:sym typeface="Proxima Nova"/>
              </a:rPr>
              <a:t>87%</a:t>
            </a:r>
            <a:endParaRPr>
              <a:latin typeface="Proxima Nova"/>
              <a:ea typeface="Proxima Nova"/>
              <a:cs typeface="Proxima Nova"/>
              <a:sym typeface="Proxima Nova"/>
            </a:endParaRPr>
          </a:p>
        </p:txBody>
      </p:sp>
      <p:pic>
        <p:nvPicPr>
          <p:cNvPr id="229" name="Google Shape;229;p38"/>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230" name="Google Shape;230;p38"/>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9"/>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Takeaways</a:t>
            </a:r>
            <a:endParaRPr/>
          </a:p>
        </p:txBody>
      </p:sp>
      <p:pic>
        <p:nvPicPr>
          <p:cNvPr id="236" name="Google Shape;236;p39"/>
          <p:cNvPicPr preferRelativeResize="0"/>
          <p:nvPr/>
        </p:nvPicPr>
        <p:blipFill>
          <a:blip r:embed="rId3">
            <a:alphaModFix/>
          </a:blip>
          <a:stretch>
            <a:fillRect/>
          </a:stretch>
        </p:blipFill>
        <p:spPr>
          <a:xfrm>
            <a:off x="8611675" y="4665225"/>
            <a:ext cx="313176" cy="313176"/>
          </a:xfrm>
          <a:prstGeom prst="rect">
            <a:avLst/>
          </a:prstGeom>
          <a:noFill/>
          <a:ln>
            <a:noFill/>
          </a:ln>
        </p:spPr>
      </p:pic>
      <p:sp>
        <p:nvSpPr>
          <p:cNvPr id="237" name="Google Shape;237;p39"/>
          <p:cNvSpPr txBox="1"/>
          <p:nvPr/>
        </p:nvSpPr>
        <p:spPr>
          <a:xfrm>
            <a:off x="1025000" y="1278389"/>
            <a:ext cx="3572100" cy="297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Urbanist"/>
              <a:buNone/>
            </a:pPr>
            <a:r>
              <a:rPr b="1" i="0" lang="en" sz="2500" u="none" cap="none" strike="noStrike">
                <a:solidFill>
                  <a:schemeClr val="lt1"/>
                </a:solidFill>
                <a:latin typeface="Proxima Nova"/>
                <a:ea typeface="Proxima Nova"/>
                <a:cs typeface="Proxima Nova"/>
                <a:sym typeface="Proxima Nova"/>
              </a:rPr>
              <a:t>1. </a:t>
            </a:r>
            <a:endParaRPr sz="2500">
              <a:latin typeface="Proxima Nova"/>
              <a:ea typeface="Proxima Nova"/>
              <a:cs typeface="Proxima Nova"/>
              <a:sym typeface="Proxima Nova"/>
            </a:endParaRPr>
          </a:p>
          <a:p>
            <a:pPr indent="0" lvl="0" marL="0" marR="0" rtl="0" algn="ctr">
              <a:lnSpc>
                <a:spcPct val="100000"/>
              </a:lnSpc>
              <a:spcBef>
                <a:spcPts val="0"/>
              </a:spcBef>
              <a:spcAft>
                <a:spcPts val="0"/>
              </a:spcAft>
              <a:buClr>
                <a:schemeClr val="dk1"/>
              </a:buClr>
              <a:buSzPts val="3000"/>
              <a:buFont typeface="Urbanist"/>
              <a:buNone/>
            </a:pPr>
            <a:r>
              <a:rPr i="0" lang="en" sz="2500" u="none" cap="none" strike="noStrike">
                <a:solidFill>
                  <a:schemeClr val="lt1"/>
                </a:solidFill>
                <a:latin typeface="Proxima Nova"/>
                <a:ea typeface="Proxima Nova"/>
                <a:cs typeface="Proxima Nova"/>
                <a:sym typeface="Proxima Nova"/>
              </a:rPr>
              <a:t>There exists no </a:t>
            </a:r>
            <a:r>
              <a:rPr b="1" i="0" lang="en" sz="2500" u="none" cap="none" strike="noStrike">
                <a:solidFill>
                  <a:schemeClr val="lt1"/>
                </a:solidFill>
                <a:latin typeface="Proxima Nova"/>
                <a:ea typeface="Proxima Nova"/>
                <a:cs typeface="Proxima Nova"/>
                <a:sym typeface="Proxima Nova"/>
              </a:rPr>
              <a:t>universal</a:t>
            </a:r>
            <a:r>
              <a:rPr i="0" lang="en" sz="2500" u="none" cap="none" strike="noStrike">
                <a:solidFill>
                  <a:schemeClr val="lt1"/>
                </a:solidFill>
                <a:latin typeface="Proxima Nova"/>
                <a:ea typeface="Proxima Nova"/>
                <a:cs typeface="Proxima Nova"/>
                <a:sym typeface="Proxima Nova"/>
              </a:rPr>
              <a:t> measurement of value, as there is for time. </a:t>
            </a:r>
            <a:endParaRPr sz="2500">
              <a:latin typeface="Proxima Nova"/>
              <a:ea typeface="Proxima Nova"/>
              <a:cs typeface="Proxima Nova"/>
              <a:sym typeface="Proxima Nova"/>
            </a:endParaRPr>
          </a:p>
        </p:txBody>
      </p:sp>
      <p:sp>
        <p:nvSpPr>
          <p:cNvPr id="238" name="Google Shape;238;p39"/>
          <p:cNvSpPr txBox="1"/>
          <p:nvPr/>
        </p:nvSpPr>
        <p:spPr>
          <a:xfrm>
            <a:off x="4851890" y="1278388"/>
            <a:ext cx="3572100" cy="297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Urbanist"/>
              <a:buNone/>
            </a:pPr>
            <a:r>
              <a:rPr b="1" i="0" lang="en" sz="2500" u="none" cap="none" strike="noStrike">
                <a:solidFill>
                  <a:schemeClr val="lt1"/>
                </a:solidFill>
                <a:latin typeface="Proxima Nova"/>
                <a:ea typeface="Proxima Nova"/>
                <a:cs typeface="Proxima Nova"/>
                <a:sym typeface="Proxima Nova"/>
              </a:rPr>
              <a:t>2. </a:t>
            </a:r>
            <a:endParaRPr sz="2500">
              <a:latin typeface="Proxima Nova"/>
              <a:ea typeface="Proxima Nova"/>
              <a:cs typeface="Proxima Nova"/>
              <a:sym typeface="Proxima Nova"/>
            </a:endParaRPr>
          </a:p>
          <a:p>
            <a:pPr indent="0" lvl="0" marL="0" marR="0" rtl="0" algn="ctr">
              <a:lnSpc>
                <a:spcPct val="100000"/>
              </a:lnSpc>
              <a:spcBef>
                <a:spcPts val="0"/>
              </a:spcBef>
              <a:spcAft>
                <a:spcPts val="0"/>
              </a:spcAft>
              <a:buClr>
                <a:schemeClr val="dk1"/>
              </a:buClr>
              <a:buSzPts val="3000"/>
              <a:buFont typeface="Urbanist"/>
              <a:buNone/>
            </a:pPr>
            <a:r>
              <a:rPr i="0" lang="en" sz="2500" u="none" cap="none" strike="noStrike">
                <a:solidFill>
                  <a:schemeClr val="lt1"/>
                </a:solidFill>
                <a:latin typeface="Proxima Nova"/>
                <a:ea typeface="Proxima Nova"/>
                <a:cs typeface="Proxima Nova"/>
                <a:sym typeface="Proxima Nova"/>
              </a:rPr>
              <a:t>Money is broken. The global </a:t>
            </a:r>
            <a:r>
              <a:rPr b="1" i="0" lang="en" sz="2500" u="none" cap="none" strike="noStrike">
                <a:solidFill>
                  <a:schemeClr val="lt1"/>
                </a:solidFill>
                <a:latin typeface="Proxima Nova"/>
                <a:ea typeface="Proxima Nova"/>
                <a:cs typeface="Proxima Nova"/>
                <a:sym typeface="Proxima Nova"/>
              </a:rPr>
              <a:t>theft</a:t>
            </a:r>
            <a:r>
              <a:rPr i="0" lang="en" sz="2500" u="none" cap="none" strike="noStrike">
                <a:solidFill>
                  <a:schemeClr val="lt1"/>
                </a:solidFill>
                <a:latin typeface="Proxima Nova"/>
                <a:ea typeface="Proxima Nova"/>
                <a:cs typeface="Proxima Nova"/>
                <a:sym typeface="Proxima Nova"/>
              </a:rPr>
              <a:t> in money exists in varying degrees. </a:t>
            </a:r>
            <a:endParaRPr sz="2500">
              <a:latin typeface="Proxima Nova"/>
              <a:ea typeface="Proxima Nova"/>
              <a:cs typeface="Proxima Nova"/>
              <a:sym typeface="Proxima Nov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42" name="Shape 242"/>
        <p:cNvGrpSpPr/>
        <p:nvPr/>
      </p:nvGrpSpPr>
      <p:grpSpPr>
        <a:xfrm>
          <a:off x="0" y="0"/>
          <a:ext cx="0" cy="0"/>
          <a:chOff x="0" y="0"/>
          <a:chExt cx="0" cy="0"/>
        </a:xfrm>
      </p:grpSpPr>
      <p:sp>
        <p:nvSpPr>
          <p:cNvPr id="243" name="Google Shape;243;p40"/>
          <p:cNvSpPr txBox="1"/>
          <p:nvPr>
            <p:ph type="ctrTitle"/>
          </p:nvPr>
        </p:nvSpPr>
        <p:spPr>
          <a:xfrm>
            <a:off x="1179875" y="1527750"/>
            <a:ext cx="6784200" cy="20880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5200"/>
              <a:buNone/>
            </a:pPr>
            <a:r>
              <a:rPr lang="en" sz="5000">
                <a:solidFill>
                  <a:schemeClr val="lt1"/>
                </a:solidFill>
                <a:latin typeface="Proxima Nova"/>
                <a:ea typeface="Proxima Nova"/>
                <a:cs typeface="Proxima Nova"/>
                <a:sym typeface="Proxima Nova"/>
              </a:rPr>
              <a:t>Why does this matter?</a:t>
            </a:r>
            <a:endParaRPr sz="5000">
              <a:solidFill>
                <a:schemeClr val="lt1"/>
              </a:solidFill>
              <a:latin typeface="Proxima Nova"/>
              <a:ea typeface="Proxima Nova"/>
              <a:cs typeface="Proxima Nova"/>
              <a:sym typeface="Proxima Nova"/>
            </a:endParaRPr>
          </a:p>
        </p:txBody>
      </p:sp>
      <p:pic>
        <p:nvPicPr>
          <p:cNvPr id="244" name="Google Shape;244;p40"/>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245" name="Google Shape;245;p40"/>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49" name="Shape 249"/>
        <p:cNvGrpSpPr/>
        <p:nvPr/>
      </p:nvGrpSpPr>
      <p:grpSpPr>
        <a:xfrm>
          <a:off x="0" y="0"/>
          <a:ext cx="0" cy="0"/>
          <a:chOff x="0" y="0"/>
          <a:chExt cx="0" cy="0"/>
        </a:xfrm>
      </p:grpSpPr>
      <p:pic>
        <p:nvPicPr>
          <p:cNvPr descr="Sage Hall - Wikipedia" id="250" name="Google Shape;250;p41"/>
          <p:cNvPicPr preferRelativeResize="0"/>
          <p:nvPr/>
        </p:nvPicPr>
        <p:blipFill rotWithShape="1">
          <a:blip r:embed="rId3">
            <a:alphaModFix/>
          </a:blip>
          <a:srcRect b="0" l="0" r="0" t="0"/>
          <a:stretch/>
        </p:blipFill>
        <p:spPr>
          <a:xfrm>
            <a:off x="425471" y="701245"/>
            <a:ext cx="4864442" cy="3648331"/>
          </a:xfrm>
          <a:prstGeom prst="rect">
            <a:avLst/>
          </a:prstGeom>
          <a:noFill/>
          <a:ln>
            <a:noFill/>
          </a:ln>
        </p:spPr>
      </p:pic>
      <p:pic>
        <p:nvPicPr>
          <p:cNvPr id="251" name="Google Shape;251;p41"/>
          <p:cNvPicPr preferRelativeResize="0"/>
          <p:nvPr/>
        </p:nvPicPr>
        <p:blipFill rotWithShape="1">
          <a:blip r:embed="rId4">
            <a:alphaModFix/>
          </a:blip>
          <a:srcRect b="0" l="0" r="0" t="0"/>
          <a:stretch/>
        </p:blipFill>
        <p:spPr>
          <a:xfrm>
            <a:off x="5721787" y="400662"/>
            <a:ext cx="2916588" cy="3948917"/>
          </a:xfrm>
          <a:prstGeom prst="rect">
            <a:avLst/>
          </a:prstGeom>
          <a:noFill/>
          <a:ln>
            <a:noFill/>
          </a:ln>
        </p:spPr>
      </p:pic>
      <p:sp>
        <p:nvSpPr>
          <p:cNvPr id="252" name="Google Shape;252;p41"/>
          <p:cNvSpPr txBox="1"/>
          <p:nvPr/>
        </p:nvSpPr>
        <p:spPr>
          <a:xfrm>
            <a:off x="1516224" y="4442255"/>
            <a:ext cx="2682900" cy="582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5200"/>
              <a:buFont typeface="Urbanist"/>
              <a:buNone/>
            </a:pPr>
            <a:r>
              <a:rPr b="1" i="0" lang="en" sz="1600" u="none" cap="none" strike="noStrike">
                <a:solidFill>
                  <a:schemeClr val="lt1"/>
                </a:solidFill>
                <a:latin typeface="Proxima Nova"/>
                <a:ea typeface="Proxima Nova"/>
                <a:cs typeface="Proxima Nova"/>
                <a:sym typeface="Proxima Nova"/>
              </a:rPr>
              <a:t>Sage Hall ca. 1875</a:t>
            </a:r>
            <a:endParaRPr i="0" sz="1600" u="none" cap="none" strike="noStrike">
              <a:solidFill>
                <a:schemeClr val="lt1"/>
              </a:solidFill>
              <a:latin typeface="Proxima Nova"/>
              <a:ea typeface="Proxima Nova"/>
              <a:cs typeface="Proxima Nova"/>
              <a:sym typeface="Proxima Nova"/>
            </a:endParaRPr>
          </a:p>
        </p:txBody>
      </p:sp>
      <p:sp>
        <p:nvSpPr>
          <p:cNvPr id="253" name="Google Shape;253;p41"/>
          <p:cNvSpPr txBox="1"/>
          <p:nvPr/>
        </p:nvSpPr>
        <p:spPr>
          <a:xfrm>
            <a:off x="5917763" y="4451460"/>
            <a:ext cx="2524500" cy="582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5200"/>
              <a:buFont typeface="Urbanist"/>
              <a:buNone/>
            </a:pPr>
            <a:r>
              <a:rPr b="1" i="0" lang="en" sz="1600" u="none" cap="none" strike="noStrike">
                <a:solidFill>
                  <a:schemeClr val="lt1"/>
                </a:solidFill>
                <a:latin typeface="Proxima Nova"/>
                <a:ea typeface="Proxima Nova"/>
                <a:cs typeface="Proxima Nova"/>
                <a:sym typeface="Proxima Nova"/>
              </a:rPr>
              <a:t>Bradfield Hall ca. 1968</a:t>
            </a:r>
            <a:endParaRPr i="0" sz="1600" u="none" cap="none" strike="noStrike">
              <a:solidFill>
                <a:schemeClr val="lt1"/>
              </a:solidFill>
              <a:latin typeface="Proxima Nova"/>
              <a:ea typeface="Proxima Nova"/>
              <a:cs typeface="Proxima Nova"/>
              <a:sym typeface="Proxima Nova"/>
            </a:endParaRPr>
          </a:p>
        </p:txBody>
      </p:sp>
      <p:pic>
        <p:nvPicPr>
          <p:cNvPr id="254" name="Google Shape;254;p41"/>
          <p:cNvPicPr preferRelativeResize="0"/>
          <p:nvPr/>
        </p:nvPicPr>
        <p:blipFill>
          <a:blip r:embed="rId5">
            <a:alphaModFix/>
          </a:blip>
          <a:stretch>
            <a:fillRect/>
          </a:stretch>
        </p:blipFill>
        <p:spPr>
          <a:xfrm>
            <a:off x="184150" y="4695625"/>
            <a:ext cx="374483" cy="355476"/>
          </a:xfrm>
          <a:prstGeom prst="rect">
            <a:avLst/>
          </a:prstGeom>
          <a:noFill/>
          <a:ln>
            <a:noFill/>
          </a:ln>
        </p:spPr>
      </p:pic>
      <p:pic>
        <p:nvPicPr>
          <p:cNvPr id="255" name="Google Shape;255;p41"/>
          <p:cNvPicPr preferRelativeResize="0"/>
          <p:nvPr/>
        </p:nvPicPr>
        <p:blipFill>
          <a:blip r:embed="rId6">
            <a:alphaModFix/>
          </a:blip>
          <a:stretch>
            <a:fillRect/>
          </a:stretch>
        </p:blipFill>
        <p:spPr>
          <a:xfrm>
            <a:off x="8611675" y="4665225"/>
            <a:ext cx="313176" cy="3131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59" name="Shape 259"/>
        <p:cNvGrpSpPr/>
        <p:nvPr/>
      </p:nvGrpSpPr>
      <p:grpSpPr>
        <a:xfrm>
          <a:off x="0" y="0"/>
          <a:ext cx="0" cy="0"/>
          <a:chOff x="0" y="0"/>
          <a:chExt cx="0" cy="0"/>
        </a:xfrm>
      </p:grpSpPr>
      <p:pic>
        <p:nvPicPr>
          <p:cNvPr descr="Vintage Photos of Grocery Stores Through the Years - Pictures of Grocery  Stores" id="260" name="Google Shape;260;p42"/>
          <p:cNvPicPr preferRelativeResize="0"/>
          <p:nvPr/>
        </p:nvPicPr>
        <p:blipFill rotWithShape="1">
          <a:blip r:embed="rId3">
            <a:alphaModFix/>
          </a:blip>
          <a:srcRect b="0" l="0" r="0" t="0"/>
          <a:stretch/>
        </p:blipFill>
        <p:spPr>
          <a:xfrm>
            <a:off x="512697" y="926758"/>
            <a:ext cx="3944899" cy="3101546"/>
          </a:xfrm>
          <a:prstGeom prst="rect">
            <a:avLst/>
          </a:prstGeom>
          <a:noFill/>
          <a:ln>
            <a:noFill/>
          </a:ln>
        </p:spPr>
      </p:pic>
      <p:pic>
        <p:nvPicPr>
          <p:cNvPr descr="How Cereal Became the Quintessential American Breakfast" id="261" name="Google Shape;261;p42"/>
          <p:cNvPicPr preferRelativeResize="0"/>
          <p:nvPr/>
        </p:nvPicPr>
        <p:blipFill rotWithShape="1">
          <a:blip r:embed="rId4">
            <a:alphaModFix/>
          </a:blip>
          <a:srcRect b="0" l="0" r="0" t="0"/>
          <a:stretch/>
        </p:blipFill>
        <p:spPr>
          <a:xfrm>
            <a:off x="5002426" y="1013255"/>
            <a:ext cx="3904736" cy="2928552"/>
          </a:xfrm>
          <a:prstGeom prst="rect">
            <a:avLst/>
          </a:prstGeom>
          <a:noFill/>
          <a:ln>
            <a:noFill/>
          </a:ln>
        </p:spPr>
      </p:pic>
      <p:sp>
        <p:nvSpPr>
          <p:cNvPr id="262" name="Google Shape;262;p42"/>
          <p:cNvSpPr txBox="1"/>
          <p:nvPr/>
        </p:nvSpPr>
        <p:spPr>
          <a:xfrm>
            <a:off x="726306" y="4216742"/>
            <a:ext cx="3430200" cy="582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5200"/>
              <a:buFont typeface="Urbanist"/>
              <a:buNone/>
            </a:pPr>
            <a:r>
              <a:rPr b="1" i="0" lang="en" sz="1600" u="none" cap="none" strike="noStrike">
                <a:solidFill>
                  <a:schemeClr val="lt1"/>
                </a:solidFill>
                <a:latin typeface="Proxima Nova"/>
                <a:ea typeface="Proxima Nova"/>
                <a:cs typeface="Proxima Nova"/>
                <a:sym typeface="Proxima Nova"/>
              </a:rPr>
              <a:t>Whole Foods</a:t>
            </a:r>
            <a:endParaRPr i="0" sz="1600" u="none" cap="none" strike="noStrike">
              <a:solidFill>
                <a:schemeClr val="lt1"/>
              </a:solidFill>
              <a:latin typeface="Proxima Nova"/>
              <a:ea typeface="Proxima Nova"/>
              <a:cs typeface="Proxima Nova"/>
              <a:sym typeface="Proxima Nova"/>
            </a:endParaRPr>
          </a:p>
        </p:txBody>
      </p:sp>
      <p:sp>
        <p:nvSpPr>
          <p:cNvPr id="263" name="Google Shape;263;p42"/>
          <p:cNvSpPr txBox="1"/>
          <p:nvPr/>
        </p:nvSpPr>
        <p:spPr>
          <a:xfrm>
            <a:off x="5239765" y="4216742"/>
            <a:ext cx="3430200" cy="582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5200"/>
              <a:buFont typeface="Urbanist"/>
              <a:buNone/>
            </a:pPr>
            <a:r>
              <a:rPr b="1" i="0" lang="en" sz="1600" u="none" cap="none" strike="noStrike">
                <a:solidFill>
                  <a:schemeClr val="lt1"/>
                </a:solidFill>
                <a:latin typeface="Proxima Nova"/>
                <a:ea typeface="Proxima Nova"/>
                <a:cs typeface="Proxima Nova"/>
                <a:sym typeface="Proxima Nova"/>
              </a:rPr>
              <a:t>Processed Foods</a:t>
            </a:r>
            <a:endParaRPr i="0" sz="1600" u="none" cap="none" strike="noStrike">
              <a:solidFill>
                <a:schemeClr val="lt1"/>
              </a:solidFill>
              <a:latin typeface="Proxima Nova"/>
              <a:ea typeface="Proxima Nova"/>
              <a:cs typeface="Proxima Nova"/>
              <a:sym typeface="Proxima Nova"/>
            </a:endParaRPr>
          </a:p>
        </p:txBody>
      </p:sp>
      <p:pic>
        <p:nvPicPr>
          <p:cNvPr id="264" name="Google Shape;264;p42"/>
          <p:cNvPicPr preferRelativeResize="0"/>
          <p:nvPr/>
        </p:nvPicPr>
        <p:blipFill>
          <a:blip r:embed="rId5">
            <a:alphaModFix/>
          </a:blip>
          <a:stretch>
            <a:fillRect/>
          </a:stretch>
        </p:blipFill>
        <p:spPr>
          <a:xfrm>
            <a:off x="184150" y="4695625"/>
            <a:ext cx="374483" cy="355476"/>
          </a:xfrm>
          <a:prstGeom prst="rect">
            <a:avLst/>
          </a:prstGeom>
          <a:noFill/>
          <a:ln>
            <a:noFill/>
          </a:ln>
        </p:spPr>
      </p:pic>
      <p:pic>
        <p:nvPicPr>
          <p:cNvPr id="265" name="Google Shape;265;p42"/>
          <p:cNvPicPr preferRelativeResize="0"/>
          <p:nvPr/>
        </p:nvPicPr>
        <p:blipFill>
          <a:blip r:embed="rId6">
            <a:alphaModFix/>
          </a:blip>
          <a:stretch>
            <a:fillRect/>
          </a:stretch>
        </p:blipFill>
        <p:spPr>
          <a:xfrm>
            <a:off x="8611675" y="4665225"/>
            <a:ext cx="313176" cy="3131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3"/>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YOU </a:t>
            </a:r>
            <a:r>
              <a:rPr lang="en"/>
              <a:t>Matter</a:t>
            </a:r>
            <a:endParaRPr/>
          </a:p>
        </p:txBody>
      </p:sp>
      <p:sp>
        <p:nvSpPr>
          <p:cNvPr id="271" name="Google Shape;271;p43"/>
          <p:cNvSpPr txBox="1"/>
          <p:nvPr/>
        </p:nvSpPr>
        <p:spPr>
          <a:xfrm>
            <a:off x="382800" y="1341875"/>
            <a:ext cx="7764600" cy="39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Proxima Nova"/>
                <a:ea typeface="Proxima Nova"/>
                <a:cs typeface="Proxima Nova"/>
                <a:sym typeface="Proxima Nova"/>
              </a:rPr>
              <a:t>More than </a:t>
            </a:r>
            <a:r>
              <a:rPr b="1" lang="en" sz="1800">
                <a:solidFill>
                  <a:schemeClr val="lt1"/>
                </a:solidFill>
                <a:latin typeface="Proxima Nova"/>
                <a:ea typeface="Proxima Nova"/>
                <a:cs typeface="Proxima Nova"/>
                <a:sym typeface="Proxima Nova"/>
              </a:rPr>
              <a:t>69%</a:t>
            </a:r>
            <a:r>
              <a:rPr lang="en" sz="1800">
                <a:solidFill>
                  <a:schemeClr val="lt1"/>
                </a:solidFill>
                <a:latin typeface="Proxima Nova"/>
                <a:ea typeface="Proxima Nova"/>
                <a:cs typeface="Proxima Nova"/>
                <a:sym typeface="Proxima Nova"/>
              </a:rPr>
              <a:t> of Gen Z do NOT feel financially secure (EY). </a:t>
            </a:r>
            <a:endParaRPr sz="18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8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800">
              <a:solidFill>
                <a:schemeClr val="lt2"/>
              </a:solidFill>
              <a:latin typeface="Proxima Nova"/>
              <a:ea typeface="Proxima Nova"/>
              <a:cs typeface="Proxima Nova"/>
              <a:sym typeface="Proxima Nova"/>
            </a:endParaRPr>
          </a:p>
        </p:txBody>
      </p:sp>
      <p:sp>
        <p:nvSpPr>
          <p:cNvPr id="272" name="Google Shape;272;p43"/>
          <p:cNvSpPr txBox="1"/>
          <p:nvPr/>
        </p:nvSpPr>
        <p:spPr>
          <a:xfrm>
            <a:off x="382800" y="2115600"/>
            <a:ext cx="8257500" cy="78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800">
                <a:solidFill>
                  <a:schemeClr val="lt1"/>
                </a:solidFill>
                <a:latin typeface="Proxima Nova"/>
                <a:ea typeface="Proxima Nova"/>
                <a:cs typeface="Proxima Nova"/>
                <a:sym typeface="Proxima Nova"/>
              </a:rPr>
              <a:t>72%</a:t>
            </a:r>
            <a:r>
              <a:rPr lang="en" sz="1800">
                <a:solidFill>
                  <a:schemeClr val="lt1"/>
                </a:solidFill>
                <a:latin typeface="Proxima Nova"/>
                <a:ea typeface="Proxima Nova"/>
                <a:cs typeface="Proxima Nova"/>
                <a:sym typeface="Proxima Nova"/>
              </a:rPr>
              <a:t> of Gen YZ think traditional investing means are insufficient (BofA) and </a:t>
            </a:r>
            <a:r>
              <a:rPr b="1" lang="en" sz="1800">
                <a:solidFill>
                  <a:schemeClr val="lt1"/>
                </a:solidFill>
                <a:latin typeface="Proxima Nova"/>
                <a:ea typeface="Proxima Nova"/>
                <a:cs typeface="Proxima Nova"/>
                <a:sym typeface="Proxima Nova"/>
              </a:rPr>
              <a:t>91% </a:t>
            </a:r>
            <a:r>
              <a:rPr lang="en" sz="1800">
                <a:solidFill>
                  <a:schemeClr val="lt1"/>
                </a:solidFill>
                <a:latin typeface="Proxima Nova"/>
                <a:ea typeface="Proxima Nova"/>
                <a:cs typeface="Proxima Nova"/>
                <a:sym typeface="Proxima Nova"/>
              </a:rPr>
              <a:t>don’t think the American dream is achievable anymore (Coinbase).</a:t>
            </a:r>
            <a:endParaRPr sz="1800">
              <a:solidFill>
                <a:schemeClr val="lt1"/>
              </a:solidFill>
              <a:latin typeface="Proxima Nova"/>
              <a:ea typeface="Proxima Nova"/>
              <a:cs typeface="Proxima Nova"/>
              <a:sym typeface="Proxima Nova"/>
            </a:endParaRPr>
          </a:p>
        </p:txBody>
      </p:sp>
      <p:sp>
        <p:nvSpPr>
          <p:cNvPr id="273" name="Google Shape;273;p43"/>
          <p:cNvSpPr txBox="1"/>
          <p:nvPr/>
        </p:nvSpPr>
        <p:spPr>
          <a:xfrm>
            <a:off x="382800" y="3277225"/>
            <a:ext cx="85428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lt1"/>
                </a:solidFill>
                <a:latin typeface="Proxima Nova"/>
                <a:ea typeface="Proxima Nova"/>
                <a:cs typeface="Proxima Nova"/>
                <a:sym typeface="Proxima Nova"/>
              </a:rPr>
              <a:t>73% </a:t>
            </a:r>
            <a:r>
              <a:rPr lang="en" sz="1800">
                <a:solidFill>
                  <a:schemeClr val="lt1"/>
                </a:solidFill>
                <a:latin typeface="Proxima Nova"/>
                <a:ea typeface="Proxima Nova"/>
                <a:cs typeface="Proxima Nova"/>
                <a:sym typeface="Proxima Nova"/>
              </a:rPr>
              <a:t>“of Gen Z says the current economy makes them hesitant to set up long-term goals” and </a:t>
            </a:r>
            <a:r>
              <a:rPr b="1" lang="en" sz="1800">
                <a:solidFill>
                  <a:schemeClr val="lt1"/>
                </a:solidFill>
                <a:latin typeface="Proxima Nova"/>
                <a:ea typeface="Proxima Nova"/>
                <a:cs typeface="Proxima Nova"/>
                <a:sym typeface="Proxima Nova"/>
              </a:rPr>
              <a:t>66%</a:t>
            </a:r>
            <a:r>
              <a:rPr lang="en" sz="1800">
                <a:solidFill>
                  <a:schemeClr val="lt1"/>
                </a:solidFill>
                <a:latin typeface="Proxima Nova"/>
                <a:ea typeface="Proxima Nova"/>
                <a:cs typeface="Proxima Nova"/>
                <a:sym typeface="Proxima Nova"/>
              </a:rPr>
              <a:t> say “they’re not sure they’ll ever have enough money to be able to retire” (Intuit).</a:t>
            </a:r>
            <a:endParaRPr sz="1800">
              <a:solidFill>
                <a:schemeClr val="lt1"/>
              </a:solidFill>
              <a:latin typeface="Proxima Nova"/>
              <a:ea typeface="Proxima Nova"/>
              <a:cs typeface="Proxima Nova"/>
              <a:sym typeface="Proxima Nova"/>
            </a:endParaRPr>
          </a:p>
        </p:txBody>
      </p:sp>
      <p:pic>
        <p:nvPicPr>
          <p:cNvPr id="274" name="Google Shape;274;p43"/>
          <p:cNvPicPr preferRelativeResize="0"/>
          <p:nvPr/>
        </p:nvPicPr>
        <p:blipFill>
          <a:blip r:embed="rId3">
            <a:alphaModFix/>
          </a:blip>
          <a:stretch>
            <a:fillRect/>
          </a:stretch>
        </p:blipFill>
        <p:spPr>
          <a:xfrm>
            <a:off x="8611675" y="4665225"/>
            <a:ext cx="313176" cy="3131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78" name="Shape 278"/>
        <p:cNvGrpSpPr/>
        <p:nvPr/>
      </p:nvGrpSpPr>
      <p:grpSpPr>
        <a:xfrm>
          <a:off x="0" y="0"/>
          <a:ext cx="0" cy="0"/>
          <a:chOff x="0" y="0"/>
          <a:chExt cx="0" cy="0"/>
        </a:xfrm>
      </p:grpSpPr>
      <p:sp>
        <p:nvSpPr>
          <p:cNvPr id="279" name="Google Shape;279;p44"/>
          <p:cNvSpPr txBox="1"/>
          <p:nvPr>
            <p:ph type="title"/>
          </p:nvPr>
        </p:nvSpPr>
        <p:spPr>
          <a:xfrm>
            <a:off x="2317950" y="1307100"/>
            <a:ext cx="4508100" cy="2529300"/>
          </a:xfrm>
          <a:prstGeom prst="rect">
            <a:avLst/>
          </a:prstGeom>
          <a:noFill/>
          <a:ln>
            <a:noFill/>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4800"/>
              <a:buNone/>
            </a:pPr>
            <a:r>
              <a:rPr lang="en" sz="5000">
                <a:solidFill>
                  <a:schemeClr val="lt1"/>
                </a:solidFill>
                <a:latin typeface="Proxima Nova"/>
                <a:ea typeface="Proxima Nova"/>
                <a:cs typeface="Proxima Nova"/>
                <a:sym typeface="Proxima Nova"/>
              </a:rPr>
              <a:t>Money </a:t>
            </a:r>
            <a:r>
              <a:rPr b="0" lang="en" sz="5000">
                <a:solidFill>
                  <a:schemeClr val="lt1"/>
                </a:solidFill>
                <a:latin typeface="Proxima Nova"/>
                <a:ea typeface="Proxima Nova"/>
                <a:cs typeface="Proxima Nova"/>
                <a:sym typeface="Proxima Nova"/>
              </a:rPr>
              <a:t>allows you to express </a:t>
            </a:r>
            <a:r>
              <a:rPr lang="en" sz="5000">
                <a:solidFill>
                  <a:schemeClr val="lt1"/>
                </a:solidFill>
                <a:latin typeface="Proxima Nova"/>
                <a:ea typeface="Proxima Nova"/>
                <a:cs typeface="Proxima Nova"/>
                <a:sym typeface="Proxima Nova"/>
              </a:rPr>
              <a:t>preferences</a:t>
            </a:r>
            <a:r>
              <a:rPr b="0" lang="en" sz="5000">
                <a:solidFill>
                  <a:schemeClr val="lt1"/>
                </a:solidFill>
                <a:latin typeface="Proxima Nova"/>
                <a:ea typeface="Proxima Nova"/>
                <a:cs typeface="Proxima Nova"/>
                <a:sym typeface="Proxima Nova"/>
              </a:rPr>
              <a:t> &amp; exchange </a:t>
            </a:r>
            <a:r>
              <a:rPr lang="en" sz="5000">
                <a:solidFill>
                  <a:schemeClr val="lt1"/>
                </a:solidFill>
                <a:latin typeface="Proxima Nova"/>
                <a:ea typeface="Proxima Nova"/>
                <a:cs typeface="Proxima Nova"/>
                <a:sym typeface="Proxima Nova"/>
              </a:rPr>
              <a:t>value</a:t>
            </a:r>
            <a:r>
              <a:rPr b="0" lang="en" sz="5000">
                <a:solidFill>
                  <a:schemeClr val="lt1"/>
                </a:solidFill>
                <a:latin typeface="Proxima Nova"/>
                <a:ea typeface="Proxima Nova"/>
                <a:cs typeface="Proxima Nova"/>
                <a:sym typeface="Proxima Nova"/>
              </a:rPr>
              <a:t>. </a:t>
            </a:r>
            <a:endParaRPr>
              <a:latin typeface="Proxima Nova"/>
              <a:ea typeface="Proxima Nova"/>
              <a:cs typeface="Proxima Nova"/>
              <a:sym typeface="Proxima Nova"/>
            </a:endParaRPr>
          </a:p>
        </p:txBody>
      </p:sp>
      <p:pic>
        <p:nvPicPr>
          <p:cNvPr id="280" name="Google Shape;280;p44"/>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281" name="Google Shape;281;p44"/>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85" name="Shape 285"/>
        <p:cNvGrpSpPr/>
        <p:nvPr/>
      </p:nvGrpSpPr>
      <p:grpSpPr>
        <a:xfrm>
          <a:off x="0" y="0"/>
          <a:ext cx="0" cy="0"/>
          <a:chOff x="0" y="0"/>
          <a:chExt cx="0" cy="0"/>
        </a:xfrm>
      </p:grpSpPr>
      <p:pic>
        <p:nvPicPr>
          <p:cNvPr descr="Bitcoin - Wikipedia" id="286" name="Google Shape;286;p45"/>
          <p:cNvPicPr preferRelativeResize="0"/>
          <p:nvPr/>
        </p:nvPicPr>
        <p:blipFill rotWithShape="1">
          <a:blip r:embed="rId3">
            <a:alphaModFix/>
          </a:blip>
          <a:srcRect b="0" l="0" r="0" t="0"/>
          <a:stretch/>
        </p:blipFill>
        <p:spPr>
          <a:xfrm>
            <a:off x="2651413" y="505691"/>
            <a:ext cx="4132119" cy="4132119"/>
          </a:xfrm>
          <a:prstGeom prst="rect">
            <a:avLst/>
          </a:prstGeom>
          <a:noFill/>
          <a:ln>
            <a:noFill/>
          </a:ln>
        </p:spPr>
      </p:pic>
      <p:pic>
        <p:nvPicPr>
          <p:cNvPr id="287" name="Google Shape;287;p45"/>
          <p:cNvPicPr preferRelativeResize="0"/>
          <p:nvPr/>
        </p:nvPicPr>
        <p:blipFill>
          <a:blip r:embed="rId4">
            <a:alphaModFix/>
          </a:blip>
          <a:stretch>
            <a:fillRect/>
          </a:stretch>
        </p:blipFill>
        <p:spPr>
          <a:xfrm>
            <a:off x="184150" y="4695625"/>
            <a:ext cx="374483" cy="355476"/>
          </a:xfrm>
          <a:prstGeom prst="rect">
            <a:avLst/>
          </a:prstGeom>
          <a:noFill/>
          <a:ln>
            <a:noFill/>
          </a:ln>
        </p:spPr>
      </p:pic>
      <p:pic>
        <p:nvPicPr>
          <p:cNvPr id="288" name="Google Shape;288;p45"/>
          <p:cNvPicPr preferRelativeResize="0"/>
          <p:nvPr/>
        </p:nvPicPr>
        <p:blipFill>
          <a:blip r:embed="rId5">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92" name="Shape 292"/>
        <p:cNvGrpSpPr/>
        <p:nvPr/>
      </p:nvGrpSpPr>
      <p:grpSpPr>
        <a:xfrm>
          <a:off x="0" y="0"/>
          <a:ext cx="0" cy="0"/>
          <a:chOff x="0" y="0"/>
          <a:chExt cx="0" cy="0"/>
        </a:xfrm>
      </p:grpSpPr>
      <p:pic>
        <p:nvPicPr>
          <p:cNvPr id="293" name="Google Shape;293;p46"/>
          <p:cNvPicPr preferRelativeResize="0"/>
          <p:nvPr/>
        </p:nvPicPr>
        <p:blipFill rotWithShape="1">
          <a:blip r:embed="rId3">
            <a:alphaModFix/>
          </a:blip>
          <a:srcRect b="0" l="0" r="0" t="0"/>
          <a:stretch/>
        </p:blipFill>
        <p:spPr>
          <a:xfrm>
            <a:off x="458748" y="938036"/>
            <a:ext cx="8226504" cy="3267428"/>
          </a:xfrm>
          <a:prstGeom prst="rect">
            <a:avLst/>
          </a:prstGeom>
          <a:noFill/>
          <a:ln>
            <a:noFill/>
          </a:ln>
        </p:spPr>
      </p:pic>
      <p:pic>
        <p:nvPicPr>
          <p:cNvPr id="294" name="Google Shape;294;p46"/>
          <p:cNvPicPr preferRelativeResize="0"/>
          <p:nvPr/>
        </p:nvPicPr>
        <p:blipFill>
          <a:blip r:embed="rId4">
            <a:alphaModFix/>
          </a:blip>
          <a:stretch>
            <a:fillRect/>
          </a:stretch>
        </p:blipFill>
        <p:spPr>
          <a:xfrm>
            <a:off x="184150" y="4695625"/>
            <a:ext cx="374483" cy="355476"/>
          </a:xfrm>
          <a:prstGeom prst="rect">
            <a:avLst/>
          </a:prstGeom>
          <a:noFill/>
          <a:ln>
            <a:noFill/>
          </a:ln>
        </p:spPr>
      </p:pic>
      <p:pic>
        <p:nvPicPr>
          <p:cNvPr id="295" name="Google Shape;295;p46"/>
          <p:cNvPicPr preferRelativeResize="0"/>
          <p:nvPr/>
        </p:nvPicPr>
        <p:blipFill>
          <a:blip r:embed="rId5">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99" name="Shape 299"/>
        <p:cNvGrpSpPr/>
        <p:nvPr/>
      </p:nvGrpSpPr>
      <p:grpSpPr>
        <a:xfrm>
          <a:off x="0" y="0"/>
          <a:ext cx="0" cy="0"/>
          <a:chOff x="0" y="0"/>
          <a:chExt cx="0" cy="0"/>
        </a:xfrm>
      </p:grpSpPr>
      <p:pic>
        <p:nvPicPr>
          <p:cNvPr id="300" name="Google Shape;300;p47"/>
          <p:cNvPicPr preferRelativeResize="0"/>
          <p:nvPr/>
        </p:nvPicPr>
        <p:blipFill rotWithShape="1">
          <a:blip r:embed="rId3">
            <a:alphaModFix/>
          </a:blip>
          <a:srcRect b="3558" l="2050" r="49599" t="3798"/>
          <a:stretch/>
        </p:blipFill>
        <p:spPr>
          <a:xfrm>
            <a:off x="1622975" y="581900"/>
            <a:ext cx="2750450" cy="4170200"/>
          </a:xfrm>
          <a:prstGeom prst="rect">
            <a:avLst/>
          </a:prstGeom>
          <a:noFill/>
          <a:ln>
            <a:noFill/>
          </a:ln>
        </p:spPr>
      </p:pic>
      <p:pic>
        <p:nvPicPr>
          <p:cNvPr id="301" name="Google Shape;301;p47"/>
          <p:cNvPicPr preferRelativeResize="0"/>
          <p:nvPr/>
        </p:nvPicPr>
        <p:blipFill rotWithShape="1">
          <a:blip r:embed="rId3">
            <a:alphaModFix/>
          </a:blip>
          <a:srcRect b="1866" l="49998" r="3618" t="3428"/>
          <a:stretch/>
        </p:blipFill>
        <p:spPr>
          <a:xfrm>
            <a:off x="4969731" y="581891"/>
            <a:ext cx="2580996" cy="4170218"/>
          </a:xfrm>
          <a:prstGeom prst="rect">
            <a:avLst/>
          </a:prstGeom>
          <a:noFill/>
          <a:ln>
            <a:noFill/>
          </a:ln>
        </p:spPr>
      </p:pic>
      <p:pic>
        <p:nvPicPr>
          <p:cNvPr id="302" name="Google Shape;302;p47"/>
          <p:cNvPicPr preferRelativeResize="0"/>
          <p:nvPr/>
        </p:nvPicPr>
        <p:blipFill>
          <a:blip r:embed="rId4">
            <a:alphaModFix/>
          </a:blip>
          <a:stretch>
            <a:fillRect/>
          </a:stretch>
        </p:blipFill>
        <p:spPr>
          <a:xfrm>
            <a:off x="184150" y="4695625"/>
            <a:ext cx="374483" cy="355476"/>
          </a:xfrm>
          <a:prstGeom prst="rect">
            <a:avLst/>
          </a:prstGeom>
          <a:noFill/>
          <a:ln>
            <a:noFill/>
          </a:ln>
        </p:spPr>
      </p:pic>
      <p:pic>
        <p:nvPicPr>
          <p:cNvPr id="303" name="Google Shape;303;p47"/>
          <p:cNvPicPr preferRelativeResize="0"/>
          <p:nvPr/>
        </p:nvPicPr>
        <p:blipFill>
          <a:blip r:embed="rId5">
            <a:alphaModFix/>
          </a:blip>
          <a:stretch>
            <a:fillRect/>
          </a:stretch>
        </p:blipFill>
        <p:spPr>
          <a:xfrm>
            <a:off x="8611675" y="4665225"/>
            <a:ext cx="313176" cy="3131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8"/>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Economic</a:t>
            </a:r>
            <a:endParaRPr/>
          </a:p>
        </p:txBody>
      </p:sp>
      <p:pic>
        <p:nvPicPr>
          <p:cNvPr id="309" name="Google Shape;309;p48"/>
          <p:cNvPicPr preferRelativeResize="0"/>
          <p:nvPr/>
        </p:nvPicPr>
        <p:blipFill>
          <a:blip r:embed="rId3">
            <a:alphaModFix/>
          </a:blip>
          <a:stretch>
            <a:fillRect/>
          </a:stretch>
        </p:blipFill>
        <p:spPr>
          <a:xfrm>
            <a:off x="8611675" y="4665225"/>
            <a:ext cx="313176" cy="313176"/>
          </a:xfrm>
          <a:prstGeom prst="rect">
            <a:avLst/>
          </a:prstGeom>
          <a:noFill/>
          <a:ln>
            <a:noFill/>
          </a:ln>
        </p:spPr>
      </p:pic>
      <p:pic>
        <p:nvPicPr>
          <p:cNvPr descr="A chart with different types of money&#10;&#10;Description automatically generated with medium confidence" id="310" name="Google Shape;310;p48"/>
          <p:cNvPicPr preferRelativeResize="0"/>
          <p:nvPr/>
        </p:nvPicPr>
        <p:blipFill rotWithShape="1">
          <a:blip r:embed="rId4">
            <a:alphaModFix/>
          </a:blip>
          <a:srcRect b="0" l="0" r="0" t="0"/>
          <a:stretch/>
        </p:blipFill>
        <p:spPr>
          <a:xfrm>
            <a:off x="2281162" y="1318564"/>
            <a:ext cx="4581625" cy="3264408"/>
          </a:xfrm>
          <a:prstGeom prst="rect">
            <a:avLst/>
          </a:prstGeom>
          <a:solidFill>
            <a:srgbClr val="FFFFFF"/>
          </a:solid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9"/>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Energy</a:t>
            </a:r>
            <a:endParaRPr/>
          </a:p>
        </p:txBody>
      </p:sp>
      <p:pic>
        <p:nvPicPr>
          <p:cNvPr id="316" name="Google Shape;316;p49"/>
          <p:cNvPicPr preferRelativeResize="0"/>
          <p:nvPr/>
        </p:nvPicPr>
        <p:blipFill>
          <a:blip r:embed="rId3">
            <a:alphaModFix/>
          </a:blip>
          <a:stretch>
            <a:fillRect/>
          </a:stretch>
        </p:blipFill>
        <p:spPr>
          <a:xfrm>
            <a:off x="8611675" y="4665225"/>
            <a:ext cx="313176" cy="313176"/>
          </a:xfrm>
          <a:prstGeom prst="rect">
            <a:avLst/>
          </a:prstGeom>
          <a:noFill/>
          <a:ln>
            <a:noFill/>
          </a:ln>
        </p:spPr>
      </p:pic>
      <p:pic>
        <p:nvPicPr>
          <p:cNvPr descr="Riot Platforms | Building the world's leading Bitcoin-driven infrastructure  platform" id="317" name="Google Shape;317;p49"/>
          <p:cNvPicPr preferRelativeResize="0"/>
          <p:nvPr/>
        </p:nvPicPr>
        <p:blipFill rotWithShape="1">
          <a:blip r:embed="rId4">
            <a:alphaModFix/>
          </a:blip>
          <a:srcRect b="0" l="0" r="0" t="0"/>
          <a:stretch/>
        </p:blipFill>
        <p:spPr>
          <a:xfrm>
            <a:off x="713225" y="1586422"/>
            <a:ext cx="3985384" cy="2490865"/>
          </a:xfrm>
          <a:prstGeom prst="rect">
            <a:avLst/>
          </a:prstGeom>
          <a:noFill/>
          <a:ln>
            <a:noFill/>
          </a:ln>
        </p:spPr>
      </p:pic>
      <p:pic>
        <p:nvPicPr>
          <p:cNvPr id="318" name="Google Shape;318;p49"/>
          <p:cNvPicPr preferRelativeResize="0"/>
          <p:nvPr/>
        </p:nvPicPr>
        <p:blipFill rotWithShape="1">
          <a:blip r:embed="rId5">
            <a:alphaModFix/>
          </a:blip>
          <a:srcRect b="0" l="0" r="0" t="0"/>
          <a:stretch/>
        </p:blipFill>
        <p:spPr>
          <a:xfrm>
            <a:off x="5158616" y="1618172"/>
            <a:ext cx="3461879" cy="249086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50"/>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Linguistics</a:t>
            </a:r>
            <a:endParaRPr/>
          </a:p>
        </p:txBody>
      </p:sp>
      <p:pic>
        <p:nvPicPr>
          <p:cNvPr id="324" name="Google Shape;324;p50"/>
          <p:cNvPicPr preferRelativeResize="0"/>
          <p:nvPr/>
        </p:nvPicPr>
        <p:blipFill>
          <a:blip r:embed="rId3">
            <a:alphaModFix/>
          </a:blip>
          <a:stretch>
            <a:fillRect/>
          </a:stretch>
        </p:blipFill>
        <p:spPr>
          <a:xfrm>
            <a:off x="8611675" y="4665225"/>
            <a:ext cx="313176" cy="313176"/>
          </a:xfrm>
          <a:prstGeom prst="rect">
            <a:avLst/>
          </a:prstGeom>
          <a:noFill/>
          <a:ln>
            <a:noFill/>
          </a:ln>
        </p:spPr>
      </p:pic>
      <p:pic>
        <p:nvPicPr>
          <p:cNvPr descr="Unlocking Bitcoin: Understanding and Safeguarding Your Seed Phrase" id="325" name="Google Shape;325;p50"/>
          <p:cNvPicPr preferRelativeResize="0"/>
          <p:nvPr/>
        </p:nvPicPr>
        <p:blipFill rotWithShape="1">
          <a:blip r:embed="rId4">
            <a:alphaModFix/>
          </a:blip>
          <a:srcRect b="44973" l="0" r="0" t="0"/>
          <a:stretch/>
        </p:blipFill>
        <p:spPr>
          <a:xfrm>
            <a:off x="838518" y="1393477"/>
            <a:ext cx="3508374" cy="2830243"/>
          </a:xfrm>
          <a:prstGeom prst="rect">
            <a:avLst/>
          </a:prstGeom>
          <a:noFill/>
          <a:ln>
            <a:noFill/>
          </a:ln>
        </p:spPr>
      </p:pic>
      <p:pic>
        <p:nvPicPr>
          <p:cNvPr descr="Unlocking Bitcoin: Understanding and Safeguarding Your Seed Phrase" id="326" name="Google Shape;326;p50"/>
          <p:cNvPicPr preferRelativeResize="0"/>
          <p:nvPr/>
        </p:nvPicPr>
        <p:blipFill rotWithShape="1">
          <a:blip r:embed="rId4">
            <a:alphaModFix/>
          </a:blip>
          <a:srcRect b="0" l="0" r="0" t="53177"/>
          <a:stretch/>
        </p:blipFill>
        <p:spPr>
          <a:xfrm>
            <a:off x="4797107" y="1604398"/>
            <a:ext cx="3508374" cy="24084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30" name="Shape 330"/>
        <p:cNvGrpSpPr/>
        <p:nvPr/>
      </p:nvGrpSpPr>
      <p:grpSpPr>
        <a:xfrm>
          <a:off x="0" y="0"/>
          <a:ext cx="0" cy="0"/>
          <a:chOff x="0" y="0"/>
          <a:chExt cx="0" cy="0"/>
        </a:xfrm>
      </p:grpSpPr>
      <p:sp>
        <p:nvSpPr>
          <p:cNvPr id="331" name="Google Shape;331;p51"/>
          <p:cNvSpPr txBox="1"/>
          <p:nvPr>
            <p:ph type="ctrTitle"/>
          </p:nvPr>
        </p:nvSpPr>
        <p:spPr>
          <a:xfrm>
            <a:off x="1179875" y="1527750"/>
            <a:ext cx="6784200" cy="20880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5200"/>
              <a:buNone/>
            </a:pPr>
            <a:r>
              <a:rPr lang="en" sz="3600">
                <a:solidFill>
                  <a:schemeClr val="lt1"/>
                </a:solidFill>
                <a:latin typeface="Proxima Nova"/>
                <a:ea typeface="Proxima Nova"/>
                <a:cs typeface="Proxima Nova"/>
                <a:sym typeface="Proxima Nova"/>
              </a:rPr>
              <a:t>How does TCP/IP work? </a:t>
            </a:r>
            <a:endParaRPr sz="3600">
              <a:solidFill>
                <a:schemeClr val="lt1"/>
              </a:solidFill>
              <a:latin typeface="Proxima Nova"/>
              <a:ea typeface="Proxima Nova"/>
              <a:cs typeface="Proxima Nova"/>
              <a:sym typeface="Proxima Nova"/>
            </a:endParaRPr>
          </a:p>
        </p:txBody>
      </p:sp>
      <p:sp>
        <p:nvSpPr>
          <p:cNvPr id="332" name="Google Shape;332;p51"/>
          <p:cNvSpPr txBox="1"/>
          <p:nvPr/>
        </p:nvSpPr>
        <p:spPr>
          <a:xfrm>
            <a:off x="2336451" y="3036300"/>
            <a:ext cx="4087200" cy="582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5200"/>
              <a:buFont typeface="Urbanist"/>
              <a:buNone/>
            </a:pPr>
            <a:r>
              <a:rPr i="0" lang="en" sz="1600" u="none" cap="none" strike="noStrike">
                <a:solidFill>
                  <a:schemeClr val="lt1"/>
                </a:solidFill>
                <a:latin typeface="Proxima Nova"/>
                <a:ea typeface="Proxima Nova"/>
                <a:cs typeface="Proxima Nova"/>
                <a:sym typeface="Proxima Nova"/>
              </a:rPr>
              <a:t>Yet, you use the internet daily. </a:t>
            </a:r>
            <a:endParaRPr>
              <a:latin typeface="Proxima Nova"/>
              <a:ea typeface="Proxima Nova"/>
              <a:cs typeface="Proxima Nova"/>
              <a:sym typeface="Proxima Nova"/>
            </a:endParaRPr>
          </a:p>
        </p:txBody>
      </p:sp>
      <p:pic>
        <p:nvPicPr>
          <p:cNvPr id="333" name="Google Shape;333;p51"/>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334" name="Google Shape;334;p51"/>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38" name="Shape 338"/>
        <p:cNvGrpSpPr/>
        <p:nvPr/>
      </p:nvGrpSpPr>
      <p:grpSpPr>
        <a:xfrm>
          <a:off x="0" y="0"/>
          <a:ext cx="0" cy="0"/>
          <a:chOff x="0" y="0"/>
          <a:chExt cx="0" cy="0"/>
        </a:xfrm>
      </p:grpSpPr>
      <p:pic>
        <p:nvPicPr>
          <p:cNvPr id="339" name="Google Shape;339;p52"/>
          <p:cNvPicPr preferRelativeResize="0"/>
          <p:nvPr/>
        </p:nvPicPr>
        <p:blipFill rotWithShape="1">
          <a:blip r:embed="rId3">
            <a:alphaModFix/>
          </a:blip>
          <a:srcRect b="0" l="0" r="0" t="0"/>
          <a:stretch/>
        </p:blipFill>
        <p:spPr>
          <a:xfrm>
            <a:off x="940749" y="455401"/>
            <a:ext cx="7370549" cy="3992400"/>
          </a:xfrm>
          <a:prstGeom prst="rect">
            <a:avLst/>
          </a:prstGeom>
          <a:noFill/>
          <a:ln>
            <a:noFill/>
          </a:ln>
        </p:spPr>
      </p:pic>
      <p:pic>
        <p:nvPicPr>
          <p:cNvPr id="340" name="Google Shape;340;p52"/>
          <p:cNvPicPr preferRelativeResize="0"/>
          <p:nvPr/>
        </p:nvPicPr>
        <p:blipFill>
          <a:blip r:embed="rId4">
            <a:alphaModFix/>
          </a:blip>
          <a:stretch>
            <a:fillRect/>
          </a:stretch>
        </p:blipFill>
        <p:spPr>
          <a:xfrm>
            <a:off x="184150" y="4695625"/>
            <a:ext cx="374483" cy="355476"/>
          </a:xfrm>
          <a:prstGeom prst="rect">
            <a:avLst/>
          </a:prstGeom>
          <a:noFill/>
          <a:ln>
            <a:noFill/>
          </a:ln>
        </p:spPr>
      </p:pic>
      <p:pic>
        <p:nvPicPr>
          <p:cNvPr id="341" name="Google Shape;341;p52"/>
          <p:cNvPicPr preferRelativeResize="0"/>
          <p:nvPr/>
        </p:nvPicPr>
        <p:blipFill>
          <a:blip r:embed="rId5">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45" name="Shape 345"/>
        <p:cNvGrpSpPr/>
        <p:nvPr/>
      </p:nvGrpSpPr>
      <p:grpSpPr>
        <a:xfrm>
          <a:off x="0" y="0"/>
          <a:ext cx="0" cy="0"/>
          <a:chOff x="0" y="0"/>
          <a:chExt cx="0" cy="0"/>
        </a:xfrm>
      </p:grpSpPr>
      <p:sp>
        <p:nvSpPr>
          <p:cNvPr id="346" name="Google Shape;346;p53"/>
          <p:cNvSpPr txBox="1"/>
          <p:nvPr>
            <p:ph type="ctrTitle"/>
          </p:nvPr>
        </p:nvSpPr>
        <p:spPr>
          <a:xfrm>
            <a:off x="1179875" y="1527750"/>
            <a:ext cx="6784200" cy="20880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5200"/>
              <a:buNone/>
            </a:pPr>
            <a:r>
              <a:rPr lang="en" sz="3600">
                <a:solidFill>
                  <a:schemeClr val="lt1"/>
                </a:solidFill>
                <a:latin typeface="Proxima Nova"/>
                <a:ea typeface="Proxima Nova"/>
                <a:cs typeface="Proxima Nova"/>
                <a:sym typeface="Proxima Nova"/>
              </a:rPr>
              <a:t>How does $ work? </a:t>
            </a:r>
            <a:endParaRPr sz="3600">
              <a:solidFill>
                <a:schemeClr val="lt1"/>
              </a:solidFill>
              <a:latin typeface="Proxima Nova"/>
              <a:ea typeface="Proxima Nova"/>
              <a:cs typeface="Proxima Nova"/>
              <a:sym typeface="Proxima Nova"/>
            </a:endParaRPr>
          </a:p>
        </p:txBody>
      </p:sp>
      <p:sp>
        <p:nvSpPr>
          <p:cNvPr id="347" name="Google Shape;347;p53"/>
          <p:cNvSpPr txBox="1"/>
          <p:nvPr/>
        </p:nvSpPr>
        <p:spPr>
          <a:xfrm>
            <a:off x="2336451" y="3036300"/>
            <a:ext cx="4087200" cy="582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5200"/>
              <a:buFont typeface="Urbanist"/>
              <a:buNone/>
            </a:pPr>
            <a:r>
              <a:rPr i="0" lang="en" sz="1600" u="none" cap="none" strike="noStrike">
                <a:solidFill>
                  <a:schemeClr val="lt1"/>
                </a:solidFill>
                <a:latin typeface="Proxima Nova"/>
                <a:ea typeface="Proxima Nova"/>
                <a:cs typeface="Proxima Nova"/>
                <a:sym typeface="Proxima Nova"/>
              </a:rPr>
              <a:t>Yet, you use the </a:t>
            </a:r>
            <a:r>
              <a:rPr lang="en" sz="1600">
                <a:solidFill>
                  <a:schemeClr val="lt1"/>
                </a:solidFill>
                <a:latin typeface="Proxima Nova"/>
                <a:ea typeface="Proxima Nova"/>
                <a:cs typeface="Proxima Nova"/>
                <a:sym typeface="Proxima Nova"/>
              </a:rPr>
              <a:t>$</a:t>
            </a:r>
            <a:r>
              <a:rPr i="0" lang="en" sz="1600" u="none" cap="none" strike="noStrike">
                <a:solidFill>
                  <a:schemeClr val="lt1"/>
                </a:solidFill>
                <a:latin typeface="Proxima Nova"/>
                <a:ea typeface="Proxima Nova"/>
                <a:cs typeface="Proxima Nova"/>
                <a:sym typeface="Proxima Nova"/>
              </a:rPr>
              <a:t> daily. </a:t>
            </a:r>
            <a:endParaRPr>
              <a:latin typeface="Proxima Nova"/>
              <a:ea typeface="Proxima Nova"/>
              <a:cs typeface="Proxima Nova"/>
              <a:sym typeface="Proxima Nova"/>
            </a:endParaRPr>
          </a:p>
        </p:txBody>
      </p:sp>
      <p:pic>
        <p:nvPicPr>
          <p:cNvPr id="348" name="Google Shape;348;p53"/>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349" name="Google Shape;349;p53"/>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53" name="Shape 353"/>
        <p:cNvGrpSpPr/>
        <p:nvPr/>
      </p:nvGrpSpPr>
      <p:grpSpPr>
        <a:xfrm>
          <a:off x="0" y="0"/>
          <a:ext cx="0" cy="0"/>
          <a:chOff x="0" y="0"/>
          <a:chExt cx="0" cy="0"/>
        </a:xfrm>
      </p:grpSpPr>
      <p:pic>
        <p:nvPicPr>
          <p:cNvPr id="354" name="Google Shape;354;p54"/>
          <p:cNvPicPr preferRelativeResize="0"/>
          <p:nvPr/>
        </p:nvPicPr>
        <p:blipFill>
          <a:blip r:embed="rId3">
            <a:alphaModFix/>
          </a:blip>
          <a:stretch>
            <a:fillRect/>
          </a:stretch>
        </p:blipFill>
        <p:spPr>
          <a:xfrm>
            <a:off x="2278100" y="152400"/>
            <a:ext cx="4685130" cy="4838702"/>
          </a:xfrm>
          <a:prstGeom prst="rect">
            <a:avLst/>
          </a:prstGeom>
          <a:noFill/>
          <a:ln>
            <a:noFill/>
          </a:ln>
        </p:spPr>
      </p:pic>
      <p:pic>
        <p:nvPicPr>
          <p:cNvPr id="355" name="Google Shape;355;p54"/>
          <p:cNvPicPr preferRelativeResize="0"/>
          <p:nvPr/>
        </p:nvPicPr>
        <p:blipFill>
          <a:blip r:embed="rId4">
            <a:alphaModFix/>
          </a:blip>
          <a:stretch>
            <a:fillRect/>
          </a:stretch>
        </p:blipFill>
        <p:spPr>
          <a:xfrm>
            <a:off x="184150" y="4695625"/>
            <a:ext cx="374483" cy="355476"/>
          </a:xfrm>
          <a:prstGeom prst="rect">
            <a:avLst/>
          </a:prstGeom>
          <a:noFill/>
          <a:ln>
            <a:noFill/>
          </a:ln>
        </p:spPr>
      </p:pic>
      <p:pic>
        <p:nvPicPr>
          <p:cNvPr id="356" name="Google Shape;356;p54"/>
          <p:cNvPicPr preferRelativeResize="0"/>
          <p:nvPr/>
        </p:nvPicPr>
        <p:blipFill>
          <a:blip r:embed="rId5">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55"/>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Bitcoin = Monetary Protocol </a:t>
            </a:r>
            <a:endParaRPr/>
          </a:p>
        </p:txBody>
      </p:sp>
      <p:pic>
        <p:nvPicPr>
          <p:cNvPr id="362" name="Google Shape;362;p55"/>
          <p:cNvPicPr preferRelativeResize="0"/>
          <p:nvPr/>
        </p:nvPicPr>
        <p:blipFill rotWithShape="1">
          <a:blip r:embed="rId3">
            <a:alphaModFix/>
          </a:blip>
          <a:srcRect b="14022" l="11245" r="0" t="19173"/>
          <a:stretch/>
        </p:blipFill>
        <p:spPr>
          <a:xfrm>
            <a:off x="5175211" y="1079250"/>
            <a:ext cx="3308264" cy="3320100"/>
          </a:xfrm>
          <a:prstGeom prst="rect">
            <a:avLst/>
          </a:prstGeom>
          <a:noFill/>
          <a:ln>
            <a:noFill/>
          </a:ln>
        </p:spPr>
      </p:pic>
      <p:sp>
        <p:nvSpPr>
          <p:cNvPr id="363" name="Google Shape;363;p55"/>
          <p:cNvSpPr txBox="1"/>
          <p:nvPr/>
        </p:nvSpPr>
        <p:spPr>
          <a:xfrm>
            <a:off x="367400" y="1079250"/>
            <a:ext cx="4609500" cy="362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Barlow"/>
              <a:ea typeface="Barlow"/>
              <a:cs typeface="Barlow"/>
              <a:sym typeface="Barlow"/>
            </a:endParaRPr>
          </a:p>
          <a:p>
            <a:pPr indent="-317500" lvl="0" marL="457200" rtl="0" algn="l">
              <a:spcBef>
                <a:spcPts val="0"/>
              </a:spcBef>
              <a:spcAft>
                <a:spcPts val="0"/>
              </a:spcAft>
              <a:buClr>
                <a:schemeClr val="lt1"/>
              </a:buClr>
              <a:buSzPts val="1400"/>
              <a:buFont typeface="Barlow"/>
              <a:buChar char="●"/>
            </a:pPr>
            <a:r>
              <a:rPr b="1" lang="en">
                <a:solidFill>
                  <a:schemeClr val="lt1"/>
                </a:solidFill>
                <a:latin typeface="Barlow"/>
                <a:ea typeface="Barlow"/>
                <a:cs typeface="Barlow"/>
                <a:sym typeface="Barlow"/>
              </a:rPr>
              <a:t>Once the wheel was invented, it could never be reinvented. </a:t>
            </a:r>
            <a:endParaRPr b="1">
              <a:solidFill>
                <a:schemeClr val="lt1"/>
              </a:solidFill>
              <a:latin typeface="Barlow"/>
              <a:ea typeface="Barlow"/>
              <a:cs typeface="Barlow"/>
              <a:sym typeface="Barlow"/>
            </a:endParaRPr>
          </a:p>
          <a:p>
            <a:pPr indent="0" lvl="0" marL="457200" rtl="0" algn="l">
              <a:spcBef>
                <a:spcPts val="0"/>
              </a:spcBef>
              <a:spcAft>
                <a:spcPts val="0"/>
              </a:spcAft>
              <a:buNone/>
            </a:pPr>
            <a:r>
              <a:t/>
            </a:r>
            <a:endParaRPr b="1">
              <a:solidFill>
                <a:schemeClr val="lt1"/>
              </a:solidFill>
              <a:latin typeface="Barlow"/>
              <a:ea typeface="Barlow"/>
              <a:cs typeface="Barlow"/>
              <a:sym typeface="Barlow"/>
            </a:endParaRPr>
          </a:p>
          <a:p>
            <a:pPr indent="-317500" lvl="0" marL="4572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The TCP/IP protocol that the internet runs on has been the standard for all computer networking since 1983. It is likely to continue being the standard for a long time. </a:t>
            </a:r>
            <a:endParaRPr>
              <a:solidFill>
                <a:schemeClr val="lt1"/>
              </a:solidFill>
              <a:latin typeface="Barlow"/>
              <a:ea typeface="Barlow"/>
              <a:cs typeface="Barlow"/>
              <a:sym typeface="Barlow"/>
            </a:endParaRPr>
          </a:p>
          <a:p>
            <a:pPr indent="0" lvl="0" marL="0" rtl="0" algn="l">
              <a:spcBef>
                <a:spcPts val="0"/>
              </a:spcBef>
              <a:spcAft>
                <a:spcPts val="0"/>
              </a:spcAft>
              <a:buNone/>
            </a:pPr>
            <a:r>
              <a:t/>
            </a:r>
            <a:endParaRPr>
              <a:solidFill>
                <a:schemeClr val="lt1"/>
              </a:solidFill>
              <a:latin typeface="Barlow"/>
              <a:ea typeface="Barlow"/>
              <a:cs typeface="Barlow"/>
              <a:sym typeface="Barlow"/>
            </a:endParaRPr>
          </a:p>
          <a:p>
            <a:pPr indent="-317500" lvl="0" marL="4572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Once a perfect-solution, base layer technology is discovered that works optimally, it can last for hundreds or thousands of years.” </a:t>
            </a:r>
            <a:endParaRPr>
              <a:solidFill>
                <a:schemeClr val="lt1"/>
              </a:solidFill>
              <a:latin typeface="Barlow"/>
              <a:ea typeface="Barlow"/>
              <a:cs typeface="Barlow"/>
              <a:sym typeface="Barlow"/>
            </a:endParaRPr>
          </a:p>
          <a:p>
            <a:pPr indent="0" lvl="0" marL="0" rtl="0" algn="l">
              <a:spcBef>
                <a:spcPts val="0"/>
              </a:spcBef>
              <a:spcAft>
                <a:spcPts val="0"/>
              </a:spcAft>
              <a:buNone/>
            </a:pPr>
            <a:r>
              <a:t/>
            </a:r>
            <a:endParaRPr>
              <a:solidFill>
                <a:schemeClr val="lt1"/>
              </a:solidFill>
              <a:latin typeface="Barlow"/>
              <a:ea typeface="Barlow"/>
              <a:cs typeface="Barlow"/>
              <a:sym typeface="Barlow"/>
            </a:endParaRPr>
          </a:p>
          <a:p>
            <a:pPr indent="0" lvl="0" marL="0" rtl="0" algn="l">
              <a:spcBef>
                <a:spcPts val="0"/>
              </a:spcBef>
              <a:spcAft>
                <a:spcPts val="0"/>
              </a:spcAft>
              <a:buNone/>
            </a:pPr>
            <a:r>
              <a:t/>
            </a:r>
            <a:endParaRPr>
              <a:solidFill>
                <a:schemeClr val="lt1"/>
              </a:solidFill>
              <a:latin typeface="Barlow"/>
              <a:ea typeface="Barlow"/>
              <a:cs typeface="Barlow"/>
              <a:sym typeface="Barlow"/>
            </a:endParaRPr>
          </a:p>
          <a:p>
            <a:pPr indent="0" lvl="0" marL="0" rtl="0" algn="l">
              <a:spcBef>
                <a:spcPts val="0"/>
              </a:spcBef>
              <a:spcAft>
                <a:spcPts val="0"/>
              </a:spcAft>
              <a:buNone/>
            </a:pPr>
            <a:r>
              <a:t/>
            </a:r>
            <a:endParaRPr>
              <a:solidFill>
                <a:schemeClr val="lt1"/>
              </a:solidFill>
              <a:latin typeface="Barlow"/>
              <a:ea typeface="Barlow"/>
              <a:cs typeface="Barlow"/>
              <a:sym typeface="Barlow"/>
            </a:endParaRPr>
          </a:p>
          <a:p>
            <a:pPr indent="0" lvl="0" marL="0" rtl="0" algn="l">
              <a:spcBef>
                <a:spcPts val="0"/>
              </a:spcBef>
              <a:spcAft>
                <a:spcPts val="0"/>
              </a:spcAft>
              <a:buNone/>
            </a:pPr>
            <a:r>
              <a:rPr lang="en" sz="1100">
                <a:solidFill>
                  <a:schemeClr val="lt1"/>
                </a:solidFill>
                <a:latin typeface="Barlow"/>
                <a:ea typeface="Barlow"/>
                <a:cs typeface="Barlow"/>
                <a:sym typeface="Barlow"/>
              </a:rPr>
              <a:t>Credit: Keysa Luna, </a:t>
            </a:r>
            <a:r>
              <a:rPr i="1" lang="en" sz="1100">
                <a:solidFill>
                  <a:schemeClr val="lt1"/>
                </a:solidFill>
                <a:latin typeface="Barlow"/>
                <a:ea typeface="Barlow"/>
                <a:cs typeface="Barlow"/>
                <a:sym typeface="Barlow"/>
              </a:rPr>
              <a:t>The Simplest Bitcoin Book Ever Written</a:t>
            </a:r>
            <a:endParaRPr i="1" sz="1100">
              <a:solidFill>
                <a:schemeClr val="lt1"/>
              </a:solidFill>
              <a:latin typeface="Barlow"/>
              <a:ea typeface="Barlow"/>
              <a:cs typeface="Barlow"/>
              <a:sym typeface="Barlow"/>
            </a:endParaRPr>
          </a:p>
        </p:txBody>
      </p:sp>
      <p:pic>
        <p:nvPicPr>
          <p:cNvPr id="364" name="Google Shape;364;p55"/>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68" name="Shape 368"/>
        <p:cNvGrpSpPr/>
        <p:nvPr/>
      </p:nvGrpSpPr>
      <p:grpSpPr>
        <a:xfrm>
          <a:off x="0" y="0"/>
          <a:ext cx="0" cy="0"/>
          <a:chOff x="0" y="0"/>
          <a:chExt cx="0" cy="0"/>
        </a:xfrm>
      </p:grpSpPr>
      <p:pic>
        <p:nvPicPr>
          <p:cNvPr descr="A screenshot of a computer&#10;&#10;Description automatically generated" id="369" name="Google Shape;369;p56"/>
          <p:cNvPicPr preferRelativeResize="0"/>
          <p:nvPr/>
        </p:nvPicPr>
        <p:blipFill rotWithShape="1">
          <a:blip r:embed="rId3">
            <a:alphaModFix/>
          </a:blip>
          <a:srcRect b="0" l="0" r="0" t="0"/>
          <a:stretch/>
        </p:blipFill>
        <p:spPr>
          <a:xfrm>
            <a:off x="595745" y="1065894"/>
            <a:ext cx="8216296" cy="3229015"/>
          </a:xfrm>
          <a:prstGeom prst="rect">
            <a:avLst/>
          </a:prstGeom>
          <a:noFill/>
          <a:ln>
            <a:noFill/>
          </a:ln>
        </p:spPr>
      </p:pic>
      <p:pic>
        <p:nvPicPr>
          <p:cNvPr id="370" name="Google Shape;370;p56"/>
          <p:cNvPicPr preferRelativeResize="0"/>
          <p:nvPr/>
        </p:nvPicPr>
        <p:blipFill>
          <a:blip r:embed="rId4">
            <a:alphaModFix/>
          </a:blip>
          <a:stretch>
            <a:fillRect/>
          </a:stretch>
        </p:blipFill>
        <p:spPr>
          <a:xfrm>
            <a:off x="184150" y="4695625"/>
            <a:ext cx="374483" cy="355476"/>
          </a:xfrm>
          <a:prstGeom prst="rect">
            <a:avLst/>
          </a:prstGeom>
          <a:noFill/>
          <a:ln>
            <a:noFill/>
          </a:ln>
        </p:spPr>
      </p:pic>
      <p:pic>
        <p:nvPicPr>
          <p:cNvPr id="371" name="Google Shape;371;p56"/>
          <p:cNvPicPr preferRelativeResize="0"/>
          <p:nvPr/>
        </p:nvPicPr>
        <p:blipFill>
          <a:blip r:embed="rId5">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75" name="Shape 375"/>
        <p:cNvGrpSpPr/>
        <p:nvPr/>
      </p:nvGrpSpPr>
      <p:grpSpPr>
        <a:xfrm>
          <a:off x="0" y="0"/>
          <a:ext cx="0" cy="0"/>
          <a:chOff x="0" y="0"/>
          <a:chExt cx="0" cy="0"/>
        </a:xfrm>
      </p:grpSpPr>
      <p:pic>
        <p:nvPicPr>
          <p:cNvPr id="376" name="Google Shape;376;p57"/>
          <p:cNvPicPr preferRelativeResize="0"/>
          <p:nvPr/>
        </p:nvPicPr>
        <p:blipFill rotWithShape="1">
          <a:blip r:embed="rId3">
            <a:alphaModFix/>
          </a:blip>
          <a:srcRect b="0" l="0" r="0" t="0"/>
          <a:stretch/>
        </p:blipFill>
        <p:spPr>
          <a:xfrm>
            <a:off x="5560291" y="2697602"/>
            <a:ext cx="2733573" cy="2050180"/>
          </a:xfrm>
          <a:prstGeom prst="rect">
            <a:avLst/>
          </a:prstGeom>
          <a:noFill/>
          <a:ln>
            <a:noFill/>
          </a:ln>
        </p:spPr>
      </p:pic>
      <p:pic>
        <p:nvPicPr>
          <p:cNvPr descr="A black and white drawing of a rectangular object&#10;&#10;Description automatically generated" id="377" name="Google Shape;377;p57"/>
          <p:cNvPicPr preferRelativeResize="0"/>
          <p:nvPr/>
        </p:nvPicPr>
        <p:blipFill rotWithShape="1">
          <a:blip r:embed="rId4">
            <a:alphaModFix/>
          </a:blip>
          <a:srcRect b="21344" l="0" r="0" t="11047"/>
          <a:stretch/>
        </p:blipFill>
        <p:spPr>
          <a:xfrm>
            <a:off x="5467670" y="280699"/>
            <a:ext cx="2918813" cy="2158891"/>
          </a:xfrm>
          <a:prstGeom prst="rect">
            <a:avLst/>
          </a:prstGeom>
          <a:noFill/>
          <a:ln>
            <a:noFill/>
          </a:ln>
        </p:spPr>
      </p:pic>
      <p:sp>
        <p:nvSpPr>
          <p:cNvPr id="378" name="Google Shape;378;p57"/>
          <p:cNvSpPr txBox="1"/>
          <p:nvPr/>
        </p:nvSpPr>
        <p:spPr>
          <a:xfrm>
            <a:off x="992914" y="762917"/>
            <a:ext cx="3070500" cy="582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5200"/>
              <a:buFont typeface="Urbanist"/>
              <a:buNone/>
            </a:pPr>
            <a:r>
              <a:rPr b="1" i="0" lang="en" sz="1800" u="none" cap="none" strike="noStrike">
                <a:solidFill>
                  <a:schemeClr val="lt1"/>
                </a:solidFill>
                <a:latin typeface="Proxima Nova"/>
                <a:ea typeface="Proxima Nova"/>
                <a:cs typeface="Proxima Nova"/>
                <a:sym typeface="Proxima Nova"/>
              </a:rPr>
              <a:t>Money</a:t>
            </a:r>
            <a:r>
              <a:rPr b="1" i="0" lang="en" sz="1400" u="none" cap="none" strike="noStrike">
                <a:solidFill>
                  <a:schemeClr val="lt1"/>
                </a:solidFill>
                <a:latin typeface="Proxima Nova"/>
                <a:ea typeface="Proxima Nova"/>
                <a:cs typeface="Proxima Nova"/>
                <a:sym typeface="Proxima Nova"/>
              </a:rPr>
              <a:t> </a:t>
            </a:r>
            <a:r>
              <a:rPr i="0" lang="en" sz="1400" u="none" cap="none" strike="noStrike">
                <a:solidFill>
                  <a:schemeClr val="lt1"/>
                </a:solidFill>
                <a:latin typeface="Proxima Nova"/>
                <a:ea typeface="Proxima Nova"/>
                <a:cs typeface="Proxima Nova"/>
                <a:sym typeface="Proxima Nova"/>
              </a:rPr>
              <a:t>The Whole World Can Use</a:t>
            </a:r>
            <a:endParaRPr>
              <a:latin typeface="Proxima Nova"/>
              <a:ea typeface="Proxima Nova"/>
              <a:cs typeface="Proxima Nova"/>
              <a:sym typeface="Proxima Nova"/>
            </a:endParaRPr>
          </a:p>
        </p:txBody>
      </p:sp>
      <p:sp>
        <p:nvSpPr>
          <p:cNvPr id="379" name="Google Shape;379;p57"/>
          <p:cNvSpPr txBox="1"/>
          <p:nvPr/>
        </p:nvSpPr>
        <p:spPr>
          <a:xfrm>
            <a:off x="992914" y="1477950"/>
            <a:ext cx="3070500" cy="582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5200"/>
              <a:buFont typeface="Urbanist"/>
              <a:buNone/>
            </a:pPr>
            <a:r>
              <a:rPr b="1" i="0" lang="en" sz="1800" u="none" cap="none" strike="noStrike">
                <a:solidFill>
                  <a:schemeClr val="lt1"/>
                </a:solidFill>
                <a:latin typeface="Proxima Nova"/>
                <a:ea typeface="Proxima Nova"/>
                <a:cs typeface="Proxima Nova"/>
                <a:sym typeface="Proxima Nova"/>
              </a:rPr>
              <a:t>Property</a:t>
            </a:r>
            <a:r>
              <a:rPr b="1" i="0" lang="en" sz="1400" u="none" cap="none" strike="noStrike">
                <a:solidFill>
                  <a:schemeClr val="lt1"/>
                </a:solidFill>
                <a:latin typeface="Proxima Nova"/>
                <a:ea typeface="Proxima Nova"/>
                <a:cs typeface="Proxima Nova"/>
                <a:sym typeface="Proxima Nova"/>
              </a:rPr>
              <a:t> </a:t>
            </a:r>
            <a:r>
              <a:rPr i="0" lang="en" sz="1400" u="none" cap="none" strike="noStrike">
                <a:solidFill>
                  <a:schemeClr val="lt1"/>
                </a:solidFill>
                <a:latin typeface="Proxima Nova"/>
                <a:ea typeface="Proxima Nova"/>
                <a:cs typeface="Proxima Nova"/>
                <a:sym typeface="Proxima Nova"/>
              </a:rPr>
              <a:t>Every Person Can Own</a:t>
            </a:r>
            <a:endParaRPr>
              <a:latin typeface="Proxima Nova"/>
              <a:ea typeface="Proxima Nova"/>
              <a:cs typeface="Proxima Nova"/>
              <a:sym typeface="Proxima Nova"/>
            </a:endParaRPr>
          </a:p>
        </p:txBody>
      </p:sp>
      <p:sp>
        <p:nvSpPr>
          <p:cNvPr id="380" name="Google Shape;380;p57"/>
          <p:cNvSpPr txBox="1"/>
          <p:nvPr/>
        </p:nvSpPr>
        <p:spPr>
          <a:xfrm>
            <a:off x="342136" y="2439591"/>
            <a:ext cx="4372200" cy="582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5200"/>
              <a:buFont typeface="Urbanist"/>
              <a:buNone/>
            </a:pPr>
            <a:r>
              <a:rPr i="0" lang="en" sz="1400" u="none" cap="none" strike="noStrike">
                <a:solidFill>
                  <a:schemeClr val="lt1"/>
                </a:solidFill>
                <a:latin typeface="Proxima Nova"/>
                <a:ea typeface="Proxima Nova"/>
                <a:cs typeface="Proxima Nova"/>
                <a:sym typeface="Proxima Nova"/>
              </a:rPr>
              <a:t>(Generational) (Digital) </a:t>
            </a:r>
            <a:r>
              <a:rPr b="1" i="0" lang="en" sz="1800" u="none" cap="none" strike="noStrike">
                <a:solidFill>
                  <a:schemeClr val="lt1"/>
                </a:solidFill>
                <a:latin typeface="Proxima Nova"/>
                <a:ea typeface="Proxima Nova"/>
                <a:cs typeface="Proxima Nova"/>
                <a:sym typeface="Proxima Nova"/>
              </a:rPr>
              <a:t>Energy</a:t>
            </a:r>
            <a:r>
              <a:rPr b="1" i="0" lang="en" sz="1400" u="none" cap="none" strike="noStrike">
                <a:solidFill>
                  <a:schemeClr val="lt1"/>
                </a:solidFill>
                <a:latin typeface="Proxima Nova"/>
                <a:ea typeface="Proxima Nova"/>
                <a:cs typeface="Proxima Nova"/>
                <a:sym typeface="Proxima Nova"/>
              </a:rPr>
              <a:t> </a:t>
            </a:r>
            <a:r>
              <a:rPr i="0" lang="en" sz="1400" u="none" cap="none" strike="noStrike">
                <a:solidFill>
                  <a:schemeClr val="lt1"/>
                </a:solidFill>
                <a:latin typeface="Proxima Nova"/>
                <a:ea typeface="Proxima Nova"/>
                <a:cs typeface="Proxima Nova"/>
                <a:sym typeface="Proxima Nova"/>
              </a:rPr>
              <a:t>/ Savings Technology</a:t>
            </a:r>
            <a:endParaRPr>
              <a:latin typeface="Proxima Nova"/>
              <a:ea typeface="Proxima Nova"/>
              <a:cs typeface="Proxima Nova"/>
              <a:sym typeface="Proxima Nova"/>
            </a:endParaRPr>
          </a:p>
        </p:txBody>
      </p:sp>
      <p:sp>
        <p:nvSpPr>
          <p:cNvPr id="381" name="Google Shape;381;p57"/>
          <p:cNvSpPr txBox="1"/>
          <p:nvPr/>
        </p:nvSpPr>
        <p:spPr>
          <a:xfrm>
            <a:off x="199865" y="3255149"/>
            <a:ext cx="4372200" cy="582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5200"/>
              <a:buFont typeface="Urbanist"/>
              <a:buNone/>
            </a:pPr>
            <a:r>
              <a:rPr i="0" lang="en" sz="1400" u="none" cap="none" strike="noStrike">
                <a:solidFill>
                  <a:schemeClr val="lt1"/>
                </a:solidFill>
                <a:latin typeface="Proxima Nova"/>
                <a:ea typeface="Proxima Nova"/>
                <a:cs typeface="Proxima Nova"/>
                <a:sym typeface="Proxima Nova"/>
              </a:rPr>
              <a:t>Privacy-Enabling </a:t>
            </a:r>
            <a:r>
              <a:rPr b="1" i="0" lang="en" sz="1800" u="none" cap="none" strike="noStrike">
                <a:solidFill>
                  <a:schemeClr val="lt1"/>
                </a:solidFill>
                <a:latin typeface="Proxima Nova"/>
                <a:ea typeface="Proxima Nova"/>
                <a:cs typeface="Proxima Nova"/>
                <a:sym typeface="Proxima Nova"/>
              </a:rPr>
              <a:t>Freedom</a:t>
            </a:r>
            <a:r>
              <a:rPr b="1" i="0" lang="en" sz="1400" u="none" cap="none" strike="noStrike">
                <a:solidFill>
                  <a:schemeClr val="lt1"/>
                </a:solidFill>
                <a:latin typeface="Proxima Nova"/>
                <a:ea typeface="Proxima Nova"/>
                <a:cs typeface="Proxima Nova"/>
                <a:sym typeface="Proxima Nova"/>
              </a:rPr>
              <a:t> </a:t>
            </a:r>
            <a:r>
              <a:rPr i="0" lang="en" sz="1400" u="none" cap="none" strike="noStrike">
                <a:solidFill>
                  <a:schemeClr val="lt1"/>
                </a:solidFill>
                <a:latin typeface="Proxima Nova"/>
                <a:ea typeface="Proxima Nova"/>
                <a:cs typeface="Proxima Nova"/>
                <a:sym typeface="Proxima Nova"/>
              </a:rPr>
              <a:t>Technology</a:t>
            </a:r>
            <a:endParaRPr>
              <a:latin typeface="Proxima Nova"/>
              <a:ea typeface="Proxima Nova"/>
              <a:cs typeface="Proxima Nova"/>
              <a:sym typeface="Proxima Nova"/>
            </a:endParaRPr>
          </a:p>
        </p:txBody>
      </p:sp>
      <p:sp>
        <p:nvSpPr>
          <p:cNvPr id="382" name="Google Shape;382;p57"/>
          <p:cNvSpPr txBox="1"/>
          <p:nvPr/>
        </p:nvSpPr>
        <p:spPr>
          <a:xfrm>
            <a:off x="342136" y="3962554"/>
            <a:ext cx="4372200" cy="582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5200"/>
              <a:buFont typeface="Urbanist"/>
              <a:buNone/>
            </a:pPr>
            <a:r>
              <a:rPr i="0" lang="en" sz="1400" u="none" cap="none" strike="noStrike">
                <a:solidFill>
                  <a:schemeClr val="lt1"/>
                </a:solidFill>
                <a:latin typeface="Proxima Nova"/>
                <a:ea typeface="Proxima Nova"/>
                <a:cs typeface="Proxima Nova"/>
                <a:sym typeface="Proxima Nova"/>
              </a:rPr>
              <a:t>Incentivizing </a:t>
            </a:r>
            <a:r>
              <a:rPr b="1" i="0" lang="en" sz="1800" u="none" cap="none" strike="noStrike">
                <a:solidFill>
                  <a:schemeClr val="lt1"/>
                </a:solidFill>
                <a:latin typeface="Proxima Nova"/>
                <a:ea typeface="Proxima Nova"/>
                <a:cs typeface="Proxima Nova"/>
                <a:sym typeface="Proxima Nova"/>
              </a:rPr>
              <a:t>Renewable</a:t>
            </a:r>
            <a:r>
              <a:rPr i="0" lang="en" sz="1400" u="none" cap="none" strike="noStrike">
                <a:solidFill>
                  <a:schemeClr val="lt1"/>
                </a:solidFill>
                <a:latin typeface="Proxima Nova"/>
                <a:ea typeface="Proxima Nova"/>
                <a:cs typeface="Proxima Nova"/>
                <a:sym typeface="Proxima Nova"/>
              </a:rPr>
              <a:t> Energy Infrastructure </a:t>
            </a:r>
            <a:endParaRPr>
              <a:latin typeface="Proxima Nova"/>
              <a:ea typeface="Proxima Nova"/>
              <a:cs typeface="Proxima Nova"/>
              <a:sym typeface="Proxima Nova"/>
            </a:endParaRPr>
          </a:p>
        </p:txBody>
      </p:sp>
      <p:pic>
        <p:nvPicPr>
          <p:cNvPr id="383" name="Google Shape;383;p57"/>
          <p:cNvPicPr preferRelativeResize="0"/>
          <p:nvPr/>
        </p:nvPicPr>
        <p:blipFill>
          <a:blip r:embed="rId5">
            <a:alphaModFix/>
          </a:blip>
          <a:stretch>
            <a:fillRect/>
          </a:stretch>
        </p:blipFill>
        <p:spPr>
          <a:xfrm>
            <a:off x="184150" y="4695625"/>
            <a:ext cx="374483" cy="355476"/>
          </a:xfrm>
          <a:prstGeom prst="rect">
            <a:avLst/>
          </a:prstGeom>
          <a:noFill/>
          <a:ln>
            <a:noFill/>
          </a:ln>
        </p:spPr>
      </p:pic>
      <p:pic>
        <p:nvPicPr>
          <p:cNvPr id="384" name="Google Shape;384;p57"/>
          <p:cNvPicPr preferRelativeResize="0"/>
          <p:nvPr/>
        </p:nvPicPr>
        <p:blipFill>
          <a:blip r:embed="rId6">
            <a:alphaModFix/>
          </a:blip>
          <a:stretch>
            <a:fillRect/>
          </a:stretch>
        </p:blipFill>
        <p:spPr>
          <a:xfrm>
            <a:off x="8611675" y="4665225"/>
            <a:ext cx="313176" cy="3131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58"/>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But, mostly, it’s: </a:t>
            </a:r>
            <a:endParaRPr/>
          </a:p>
        </p:txBody>
      </p:sp>
      <p:sp>
        <p:nvSpPr>
          <p:cNvPr id="390" name="Google Shape;390;p58"/>
          <p:cNvSpPr txBox="1"/>
          <p:nvPr/>
        </p:nvSpPr>
        <p:spPr>
          <a:xfrm>
            <a:off x="551400" y="2325450"/>
            <a:ext cx="8041200" cy="846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2000">
                <a:solidFill>
                  <a:schemeClr val="lt1"/>
                </a:solidFill>
                <a:latin typeface="Proxima Nova"/>
                <a:ea typeface="Proxima Nova"/>
                <a:cs typeface="Proxima Nova"/>
                <a:sym typeface="Proxima Nova"/>
              </a:rPr>
              <a:t>curiosity, </a:t>
            </a:r>
            <a:endParaRPr sz="2000">
              <a:solidFill>
                <a:schemeClr val="lt1"/>
              </a:solidFill>
              <a:latin typeface="Proxima Nova"/>
              <a:ea typeface="Proxima Nova"/>
              <a:cs typeface="Proxima Nova"/>
              <a:sym typeface="Proxima Nova"/>
            </a:endParaRPr>
          </a:p>
          <a:p>
            <a:pPr indent="0" lvl="0" marL="0" rtl="0" algn="ctr">
              <a:lnSpc>
                <a:spcPct val="115000"/>
              </a:lnSpc>
              <a:spcBef>
                <a:spcPts val="0"/>
              </a:spcBef>
              <a:spcAft>
                <a:spcPts val="0"/>
              </a:spcAft>
              <a:buNone/>
            </a:pPr>
            <a:r>
              <a:rPr lang="en" sz="2000">
                <a:solidFill>
                  <a:schemeClr val="lt1"/>
                </a:solidFill>
                <a:latin typeface="Proxima Nova"/>
                <a:ea typeface="Proxima Nova"/>
                <a:cs typeface="Proxima Nova"/>
                <a:sym typeface="Proxima Nova"/>
              </a:rPr>
              <a:t>critical thinking, first-principles thinking</a:t>
            </a:r>
            <a:endParaRPr sz="2000">
              <a:solidFill>
                <a:schemeClr val="lt1"/>
              </a:solidFill>
              <a:latin typeface="Proxima Nova"/>
              <a:ea typeface="Proxima Nova"/>
              <a:cs typeface="Proxima Nova"/>
              <a:sym typeface="Proxima Nova"/>
            </a:endParaRPr>
          </a:p>
        </p:txBody>
      </p:sp>
      <p:pic>
        <p:nvPicPr>
          <p:cNvPr id="391" name="Google Shape;391;p58"/>
          <p:cNvPicPr preferRelativeResize="0"/>
          <p:nvPr/>
        </p:nvPicPr>
        <p:blipFill>
          <a:blip r:embed="rId3">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95" name="Shape 395"/>
        <p:cNvGrpSpPr/>
        <p:nvPr/>
      </p:nvGrpSpPr>
      <p:grpSpPr>
        <a:xfrm>
          <a:off x="0" y="0"/>
          <a:ext cx="0" cy="0"/>
          <a:chOff x="0" y="0"/>
          <a:chExt cx="0" cy="0"/>
        </a:xfrm>
      </p:grpSpPr>
      <p:sp>
        <p:nvSpPr>
          <p:cNvPr id="396" name="Google Shape;396;p59"/>
          <p:cNvSpPr txBox="1"/>
          <p:nvPr>
            <p:ph type="ctrTitle"/>
          </p:nvPr>
        </p:nvSpPr>
        <p:spPr>
          <a:xfrm>
            <a:off x="1179875" y="1527750"/>
            <a:ext cx="6784200" cy="20880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5200"/>
              <a:buNone/>
            </a:pPr>
            <a:r>
              <a:rPr lang="en" sz="3600">
                <a:solidFill>
                  <a:schemeClr val="lt1"/>
                </a:solidFill>
                <a:latin typeface="Proxima Nova"/>
                <a:ea typeface="Proxima Nova"/>
                <a:cs typeface="Proxima Nova"/>
                <a:sym typeface="Proxima Nova"/>
              </a:rPr>
              <a:t>Have you ever sent a photo to someone in a different country? </a:t>
            </a:r>
            <a:endParaRPr sz="3600">
              <a:solidFill>
                <a:schemeClr val="lt1"/>
              </a:solidFill>
              <a:latin typeface="Proxima Nova"/>
              <a:ea typeface="Proxima Nova"/>
              <a:cs typeface="Proxima Nova"/>
              <a:sym typeface="Proxima Nova"/>
            </a:endParaRPr>
          </a:p>
        </p:txBody>
      </p:sp>
      <p:pic>
        <p:nvPicPr>
          <p:cNvPr id="397" name="Google Shape;397;p59"/>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398" name="Google Shape;398;p59"/>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02" name="Shape 402"/>
        <p:cNvGrpSpPr/>
        <p:nvPr/>
      </p:nvGrpSpPr>
      <p:grpSpPr>
        <a:xfrm>
          <a:off x="0" y="0"/>
          <a:ext cx="0" cy="0"/>
          <a:chOff x="0" y="0"/>
          <a:chExt cx="0" cy="0"/>
        </a:xfrm>
      </p:grpSpPr>
      <p:sp>
        <p:nvSpPr>
          <p:cNvPr id="403" name="Google Shape;403;p60"/>
          <p:cNvSpPr txBox="1"/>
          <p:nvPr>
            <p:ph type="ctrTitle"/>
          </p:nvPr>
        </p:nvSpPr>
        <p:spPr>
          <a:xfrm>
            <a:off x="782443" y="1527750"/>
            <a:ext cx="7579200" cy="20880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5200"/>
              <a:buNone/>
            </a:pPr>
            <a:r>
              <a:rPr lang="en" sz="5000">
                <a:solidFill>
                  <a:schemeClr val="lt1"/>
                </a:solidFill>
                <a:latin typeface="Proxima Nova"/>
                <a:ea typeface="Proxima Nova"/>
                <a:cs typeface="Proxima Nova"/>
                <a:sym typeface="Proxima Nova"/>
              </a:rPr>
              <a:t>1 bitcoin = 1 bitcoin</a:t>
            </a:r>
            <a:br>
              <a:rPr lang="en" sz="5000">
                <a:solidFill>
                  <a:schemeClr val="lt1"/>
                </a:solidFill>
                <a:latin typeface="Proxima Nova"/>
                <a:ea typeface="Proxima Nova"/>
                <a:cs typeface="Proxima Nova"/>
                <a:sym typeface="Proxima Nova"/>
              </a:rPr>
            </a:br>
            <a:r>
              <a:rPr lang="en" sz="2800">
                <a:solidFill>
                  <a:schemeClr val="lt1"/>
                </a:solidFill>
                <a:latin typeface="Proxima Nova"/>
                <a:ea typeface="Proxima Nova"/>
                <a:cs typeface="Proxima Nova"/>
                <a:sym typeface="Proxima Nova"/>
              </a:rPr>
              <a:t>1 bitcoin = 100,000,000 satoshis</a:t>
            </a:r>
            <a:endParaRPr sz="4500">
              <a:solidFill>
                <a:schemeClr val="lt1"/>
              </a:solidFill>
              <a:latin typeface="Proxima Nova"/>
              <a:ea typeface="Proxima Nova"/>
              <a:cs typeface="Proxima Nova"/>
              <a:sym typeface="Proxima Nova"/>
            </a:endParaRPr>
          </a:p>
        </p:txBody>
      </p:sp>
      <p:sp>
        <p:nvSpPr>
          <p:cNvPr id="404" name="Google Shape;404;p60"/>
          <p:cNvSpPr txBox="1"/>
          <p:nvPr/>
        </p:nvSpPr>
        <p:spPr>
          <a:xfrm>
            <a:off x="2528362" y="3615750"/>
            <a:ext cx="4087200" cy="582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5200"/>
              <a:buFont typeface="Urbanist"/>
              <a:buNone/>
            </a:pPr>
            <a:r>
              <a:rPr i="0" lang="en" sz="1600" u="none" cap="none" strike="noStrike">
                <a:solidFill>
                  <a:schemeClr val="lt1"/>
                </a:solidFill>
                <a:latin typeface="Proxima Nova"/>
                <a:ea typeface="Proxima Nova"/>
                <a:cs typeface="Proxima Nova"/>
                <a:sym typeface="Proxima Nova"/>
              </a:rPr>
              <a:t>For anyone, anywhere. </a:t>
            </a:r>
            <a:endParaRPr>
              <a:latin typeface="Proxima Nova"/>
              <a:ea typeface="Proxima Nova"/>
              <a:cs typeface="Proxima Nova"/>
              <a:sym typeface="Proxima Nova"/>
            </a:endParaRPr>
          </a:p>
        </p:txBody>
      </p:sp>
      <p:pic>
        <p:nvPicPr>
          <p:cNvPr id="405" name="Google Shape;405;p60"/>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406" name="Google Shape;406;p60"/>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61"/>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The $ Doesn’t Love You Back</a:t>
            </a:r>
            <a:endParaRPr/>
          </a:p>
        </p:txBody>
      </p:sp>
      <p:pic>
        <p:nvPicPr>
          <p:cNvPr id="412" name="Google Shape;412;p61"/>
          <p:cNvPicPr preferRelativeResize="0"/>
          <p:nvPr/>
        </p:nvPicPr>
        <p:blipFill>
          <a:blip r:embed="rId3">
            <a:alphaModFix/>
          </a:blip>
          <a:stretch>
            <a:fillRect/>
          </a:stretch>
        </p:blipFill>
        <p:spPr>
          <a:xfrm>
            <a:off x="2863926" y="992650"/>
            <a:ext cx="3601075" cy="3894051"/>
          </a:xfrm>
          <a:prstGeom prst="rect">
            <a:avLst/>
          </a:prstGeom>
          <a:noFill/>
          <a:ln>
            <a:noFill/>
          </a:ln>
        </p:spPr>
      </p:pic>
      <p:pic>
        <p:nvPicPr>
          <p:cNvPr id="413" name="Google Shape;413;p61"/>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17" name="Shape 417"/>
        <p:cNvGrpSpPr/>
        <p:nvPr/>
      </p:nvGrpSpPr>
      <p:grpSpPr>
        <a:xfrm>
          <a:off x="0" y="0"/>
          <a:ext cx="0" cy="0"/>
          <a:chOff x="0" y="0"/>
          <a:chExt cx="0" cy="0"/>
        </a:xfrm>
      </p:grpSpPr>
      <p:pic>
        <p:nvPicPr>
          <p:cNvPr id="418" name="Google Shape;418;p62"/>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419" name="Google Shape;419;p62"/>
          <p:cNvPicPr preferRelativeResize="0"/>
          <p:nvPr/>
        </p:nvPicPr>
        <p:blipFill>
          <a:blip r:embed="rId4">
            <a:alphaModFix/>
          </a:blip>
          <a:stretch>
            <a:fillRect/>
          </a:stretch>
        </p:blipFill>
        <p:spPr>
          <a:xfrm>
            <a:off x="8611675" y="4665225"/>
            <a:ext cx="313176" cy="313176"/>
          </a:xfrm>
          <a:prstGeom prst="rect">
            <a:avLst/>
          </a:prstGeom>
          <a:noFill/>
          <a:ln>
            <a:noFill/>
          </a:ln>
        </p:spPr>
      </p:pic>
      <p:pic>
        <p:nvPicPr>
          <p:cNvPr id="420" name="Google Shape;420;p62"/>
          <p:cNvPicPr preferRelativeResize="0"/>
          <p:nvPr/>
        </p:nvPicPr>
        <p:blipFill rotWithShape="1">
          <a:blip r:embed="rId5">
            <a:alphaModFix/>
          </a:blip>
          <a:srcRect b="33128" l="0" r="0" t="0"/>
          <a:stretch/>
        </p:blipFill>
        <p:spPr>
          <a:xfrm>
            <a:off x="4718775" y="1281100"/>
            <a:ext cx="4008575" cy="2581300"/>
          </a:xfrm>
          <a:prstGeom prst="rect">
            <a:avLst/>
          </a:prstGeom>
          <a:noFill/>
          <a:ln>
            <a:noFill/>
          </a:ln>
        </p:spPr>
      </p:pic>
      <p:pic>
        <p:nvPicPr>
          <p:cNvPr id="421" name="Google Shape;421;p62"/>
          <p:cNvPicPr preferRelativeResize="0"/>
          <p:nvPr/>
        </p:nvPicPr>
        <p:blipFill rotWithShape="1">
          <a:blip r:embed="rId6">
            <a:alphaModFix/>
          </a:blip>
          <a:srcRect b="20331" l="0" r="0" t="0"/>
          <a:stretch/>
        </p:blipFill>
        <p:spPr>
          <a:xfrm>
            <a:off x="371875" y="1258850"/>
            <a:ext cx="4144376" cy="2625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63"/>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On “blockchain” &amp; “crypto”</a:t>
            </a:r>
            <a:endParaRPr/>
          </a:p>
        </p:txBody>
      </p:sp>
      <p:pic>
        <p:nvPicPr>
          <p:cNvPr descr="The Atlas Society CEO Jennifer Grossman interviews Michael Saylor in the 58th episode of The Atlas Society Asks.&#10;&#10;Visit The Atlas Society website: https://www.atlassociety.org&#10;As a non-profit, The Atlas Society relies on donations to produce these webinars: https://www.atlassociety.org/donate &#10;&#10;----------------------------------------------&#10;&#10;Michael Saylor, chairman, CEO, and co-founder of MicroStrategy &#10;Book:The Mobile Wave: How Mobile Intelligence Will Change Everything&#10;Twitter: @michael_saylor&#10;Website: https://www.microstrategy.com/en&#10;&#10;----------------------------------------------&#10;&#10;About The Atlas Society: https://www.atlassociety.org/about &#10;Sign up for our newsletter to get updates (top right): https://www.atlassociety.org/ &#10;Entire library of Draw My Life Videos: https://www.atlassociety.org/now-playing &#10;Catalogue of The Atlas Society Asks episodes and other videos: YouTube or Facebook https://www.youtube.com/user/TheAtlasSociety/videos &#10;Ayn Rand Merchandise: https://shop.atlassociety.org/ &#10;&#10;Follow The Atlas Society&#10;Facebook: https://www.facebook.com/AtlasSociety/ &#10;YouTube: https://www.youtube.com/user/TheAtlasSociety &#10;Twitter: https://twitter.com/TheAtlasSociety &#10;Instagram: https://www.instagram.com/atlassociety/ &#10;LinkedIn: https://www.linkedin.com/company/the-atlas-society/" id="427" name="Google Shape;427;p63" title="The Atlas Society Asks Michael Saylor">
            <a:hlinkClick r:id="rId3"/>
          </p:cNvPr>
          <p:cNvPicPr preferRelativeResize="0"/>
          <p:nvPr/>
        </p:nvPicPr>
        <p:blipFill>
          <a:blip r:embed="rId4">
            <a:alphaModFix/>
          </a:blip>
          <a:stretch>
            <a:fillRect/>
          </a:stretch>
        </p:blipFill>
        <p:spPr>
          <a:xfrm>
            <a:off x="1296650" y="1040725"/>
            <a:ext cx="6550700" cy="3684775"/>
          </a:xfrm>
          <a:prstGeom prst="rect">
            <a:avLst/>
          </a:prstGeom>
          <a:noFill/>
          <a:ln>
            <a:noFill/>
          </a:ln>
        </p:spPr>
      </p:pic>
      <p:pic>
        <p:nvPicPr>
          <p:cNvPr id="428" name="Google Shape;428;p63"/>
          <p:cNvPicPr preferRelativeResize="0"/>
          <p:nvPr/>
        </p:nvPicPr>
        <p:blipFill>
          <a:blip r:embed="rId5">
            <a:alphaModFix/>
          </a:blip>
          <a:stretch>
            <a:fillRect/>
          </a:stretch>
        </p:blipFill>
        <p:spPr>
          <a:xfrm>
            <a:off x="8611675" y="4665225"/>
            <a:ext cx="313176" cy="3131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7"/>
                                        </p:tgtEl>
                                        <p:attrNameLst>
                                          <p:attrName>style.visibility</p:attrName>
                                        </p:attrNameLst>
                                      </p:cBhvr>
                                      <p:to>
                                        <p:strVal val="visible"/>
                                      </p:to>
                                    </p:set>
                                    <p:animEffect filter="fade" transition="in">
                                      <p:cBhvr>
                                        <p:cTn dur="1000"/>
                                        <p:tgtEl>
                                          <p:spTgt spid="4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64"/>
          <p:cNvSpPr txBox="1"/>
          <p:nvPr>
            <p:ph type="title"/>
          </p:nvPr>
        </p:nvSpPr>
        <p:spPr>
          <a:xfrm>
            <a:off x="460950" y="2065350"/>
            <a:ext cx="8222100" cy="1012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To value bitcoin you need to value what bitcoin values</a:t>
            </a:r>
            <a:endParaRPr/>
          </a:p>
          <a:p>
            <a:pPr indent="0" lvl="0" marL="0" rtl="0" algn="l">
              <a:spcBef>
                <a:spcPts val="0"/>
              </a:spcBef>
              <a:spcAft>
                <a:spcPts val="0"/>
              </a:spcAft>
              <a:buNone/>
            </a:pPr>
            <a:r>
              <a:rPr i="1" lang="en" sz="1533"/>
              <a:t>(h/t Faisal Al Mutar @PubKey)</a:t>
            </a:r>
            <a:endParaRPr i="1" sz="1533"/>
          </a:p>
        </p:txBody>
      </p:sp>
      <p:pic>
        <p:nvPicPr>
          <p:cNvPr id="434" name="Google Shape;434;p64"/>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435" name="Google Shape;435;p64"/>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65"/>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Bitcoin’s Values</a:t>
            </a:r>
            <a:endParaRPr/>
          </a:p>
        </p:txBody>
      </p:sp>
      <p:pic>
        <p:nvPicPr>
          <p:cNvPr id="441" name="Google Shape;441;p65"/>
          <p:cNvPicPr preferRelativeResize="0"/>
          <p:nvPr/>
        </p:nvPicPr>
        <p:blipFill>
          <a:blip r:embed="rId3">
            <a:alphaModFix/>
          </a:blip>
          <a:stretch>
            <a:fillRect/>
          </a:stretch>
        </p:blipFill>
        <p:spPr>
          <a:xfrm>
            <a:off x="8611675" y="4665225"/>
            <a:ext cx="313176" cy="313176"/>
          </a:xfrm>
          <a:prstGeom prst="rect">
            <a:avLst/>
          </a:prstGeom>
          <a:noFill/>
          <a:ln>
            <a:noFill/>
          </a:ln>
        </p:spPr>
      </p:pic>
      <p:sp>
        <p:nvSpPr>
          <p:cNvPr id="442" name="Google Shape;442;p65"/>
          <p:cNvSpPr txBox="1"/>
          <p:nvPr/>
        </p:nvSpPr>
        <p:spPr>
          <a:xfrm>
            <a:off x="264350" y="940075"/>
            <a:ext cx="8579400" cy="3618600"/>
          </a:xfrm>
          <a:prstGeom prst="rect">
            <a:avLst/>
          </a:prstGeom>
          <a:noFill/>
          <a:ln>
            <a:noFill/>
          </a:ln>
        </p:spPr>
        <p:txBody>
          <a:bodyPr anchorCtr="0" anchor="t" bIns="91425" lIns="91425" spcFirstLastPara="1" rIns="91425" wrap="square" tIns="91425">
            <a:spAutoFit/>
          </a:bodyPr>
          <a:lstStyle/>
          <a:p>
            <a:pPr indent="-301625" lvl="0" marL="457200" rtl="0" algn="l">
              <a:lnSpc>
                <a:spcPct val="115000"/>
              </a:lnSpc>
              <a:spcBef>
                <a:spcPts val="0"/>
              </a:spcBef>
              <a:spcAft>
                <a:spcPts val="0"/>
              </a:spcAft>
              <a:buClr>
                <a:schemeClr val="lt1"/>
              </a:buClr>
              <a:buSzPts val="1150"/>
              <a:buFont typeface="Proxima Nova"/>
              <a:buChar char="●"/>
            </a:pPr>
            <a:r>
              <a:rPr b="1" lang="en" sz="1150">
                <a:solidFill>
                  <a:schemeClr val="lt1"/>
                </a:solidFill>
                <a:latin typeface="Proxima Nova"/>
                <a:ea typeface="Proxima Nova"/>
                <a:cs typeface="Proxima Nova"/>
                <a:sym typeface="Proxima Nova"/>
              </a:rPr>
              <a:t>Decentralized: </a:t>
            </a:r>
            <a:r>
              <a:rPr lang="en" sz="1150">
                <a:solidFill>
                  <a:schemeClr val="lt1"/>
                </a:solidFill>
                <a:latin typeface="Proxima Nova"/>
                <a:ea typeface="Proxima Nova"/>
                <a:cs typeface="Proxima Nova"/>
                <a:sym typeface="Proxima Nova"/>
              </a:rPr>
              <a:t>Regardless of if you are a developer, miner, node operator, or individual of any standing, there must be community consensus for any change.</a:t>
            </a:r>
            <a:endParaRPr sz="1150">
              <a:solidFill>
                <a:schemeClr val="lt1"/>
              </a:solidFill>
              <a:latin typeface="Proxima Nova"/>
              <a:ea typeface="Proxima Nova"/>
              <a:cs typeface="Proxima Nova"/>
              <a:sym typeface="Proxima Nova"/>
            </a:endParaRPr>
          </a:p>
          <a:p>
            <a:pPr indent="-301625" lvl="0" marL="457200" rtl="0" algn="l">
              <a:lnSpc>
                <a:spcPct val="115000"/>
              </a:lnSpc>
              <a:spcBef>
                <a:spcPts val="0"/>
              </a:spcBef>
              <a:spcAft>
                <a:spcPts val="0"/>
              </a:spcAft>
              <a:buClr>
                <a:schemeClr val="lt1"/>
              </a:buClr>
              <a:buSzPts val="1150"/>
              <a:buFont typeface="Proxima Nova"/>
              <a:buChar char="●"/>
            </a:pPr>
            <a:r>
              <a:rPr b="1" lang="en" sz="1150">
                <a:solidFill>
                  <a:schemeClr val="lt1"/>
                </a:solidFill>
                <a:latin typeface="Proxima Nova"/>
                <a:ea typeface="Proxima Nova"/>
                <a:cs typeface="Proxima Nova"/>
                <a:sym typeface="Proxima Nova"/>
              </a:rPr>
              <a:t>Borderless: </a:t>
            </a:r>
            <a:r>
              <a:rPr lang="en" sz="1150">
                <a:solidFill>
                  <a:schemeClr val="lt1"/>
                </a:solidFill>
                <a:latin typeface="Proxima Nova"/>
                <a:ea typeface="Proxima Nova"/>
                <a:cs typeface="Proxima Nova"/>
                <a:sym typeface="Proxima Nova"/>
              </a:rPr>
              <a:t>Bitcoin exists everywhere and anywhere, outside the borders of nation states.</a:t>
            </a:r>
            <a:endParaRPr sz="1150">
              <a:solidFill>
                <a:schemeClr val="lt1"/>
              </a:solidFill>
              <a:latin typeface="Proxima Nova"/>
              <a:ea typeface="Proxima Nova"/>
              <a:cs typeface="Proxima Nova"/>
              <a:sym typeface="Proxima Nova"/>
            </a:endParaRPr>
          </a:p>
          <a:p>
            <a:pPr indent="-301625" lvl="0" marL="457200" rtl="0" algn="l">
              <a:lnSpc>
                <a:spcPct val="115000"/>
              </a:lnSpc>
              <a:spcBef>
                <a:spcPts val="0"/>
              </a:spcBef>
              <a:spcAft>
                <a:spcPts val="0"/>
              </a:spcAft>
              <a:buClr>
                <a:schemeClr val="lt1"/>
              </a:buClr>
              <a:buSzPts val="1150"/>
              <a:buFont typeface="Proxima Nova"/>
              <a:buChar char="●"/>
            </a:pPr>
            <a:r>
              <a:rPr b="1" lang="en" sz="1150">
                <a:solidFill>
                  <a:schemeClr val="lt1"/>
                </a:solidFill>
                <a:latin typeface="Proxima Nova"/>
                <a:ea typeface="Proxima Nova"/>
                <a:cs typeface="Proxima Nova"/>
                <a:sym typeface="Proxima Nova"/>
              </a:rPr>
              <a:t>Open-Source: </a:t>
            </a:r>
            <a:r>
              <a:rPr lang="en" sz="1150">
                <a:solidFill>
                  <a:schemeClr val="lt1"/>
                </a:solidFill>
                <a:latin typeface="Proxima Nova"/>
                <a:ea typeface="Proxima Nova"/>
                <a:cs typeface="Proxima Nova"/>
                <a:sym typeface="Proxima Nova"/>
              </a:rPr>
              <a:t>Bitcoin is an inclusive, open-source project that is strengthened by the addition of community members, contributing their efforts for the benefit of all network participants. Anyone, of any background or standing, can contribute in any way they see fit.</a:t>
            </a:r>
            <a:endParaRPr sz="1150">
              <a:solidFill>
                <a:schemeClr val="lt1"/>
              </a:solidFill>
              <a:latin typeface="Proxima Nova"/>
              <a:ea typeface="Proxima Nova"/>
              <a:cs typeface="Proxima Nova"/>
              <a:sym typeface="Proxima Nova"/>
            </a:endParaRPr>
          </a:p>
          <a:p>
            <a:pPr indent="-301625" lvl="0" marL="457200" rtl="0" algn="l">
              <a:lnSpc>
                <a:spcPct val="115000"/>
              </a:lnSpc>
              <a:spcBef>
                <a:spcPts val="0"/>
              </a:spcBef>
              <a:spcAft>
                <a:spcPts val="0"/>
              </a:spcAft>
              <a:buClr>
                <a:schemeClr val="lt1"/>
              </a:buClr>
              <a:buSzPts val="1150"/>
              <a:buFont typeface="Proxima Nova"/>
              <a:buChar char="●"/>
            </a:pPr>
            <a:r>
              <a:rPr b="1" lang="en" sz="1150">
                <a:solidFill>
                  <a:schemeClr val="lt1"/>
                </a:solidFill>
                <a:latin typeface="Proxima Nova"/>
                <a:ea typeface="Proxima Nova"/>
                <a:cs typeface="Proxima Nova"/>
                <a:sym typeface="Proxima Nova"/>
              </a:rPr>
              <a:t>Peer-to-peer: </a:t>
            </a:r>
            <a:r>
              <a:rPr lang="en" sz="1150">
                <a:solidFill>
                  <a:schemeClr val="lt1"/>
                </a:solidFill>
                <a:latin typeface="Proxima Nova"/>
                <a:ea typeface="Proxima Nova"/>
                <a:cs typeface="Proxima Nova"/>
                <a:sym typeface="Proxima Nova"/>
              </a:rPr>
              <a:t>As mentioned, bitcoin was created as “a purely peer-to-peer version of electronic cash [that] would allow online payments to be sent directly from one party to another without going through a financial institution.” Notably, “peer-to-peer” could mean everything from you and your friend to Cornell and Ithaca College to the US and Brazil.</a:t>
            </a:r>
            <a:endParaRPr sz="1150">
              <a:solidFill>
                <a:schemeClr val="lt1"/>
              </a:solidFill>
              <a:latin typeface="Proxima Nova"/>
              <a:ea typeface="Proxima Nova"/>
              <a:cs typeface="Proxima Nova"/>
              <a:sym typeface="Proxima Nova"/>
            </a:endParaRPr>
          </a:p>
          <a:p>
            <a:pPr indent="-301625" lvl="0" marL="457200" rtl="0" algn="l">
              <a:lnSpc>
                <a:spcPct val="115000"/>
              </a:lnSpc>
              <a:spcBef>
                <a:spcPts val="0"/>
              </a:spcBef>
              <a:spcAft>
                <a:spcPts val="0"/>
              </a:spcAft>
              <a:buClr>
                <a:schemeClr val="lt1"/>
              </a:buClr>
              <a:buSzPts val="1150"/>
              <a:buFont typeface="Proxima Nova"/>
              <a:buChar char="●"/>
            </a:pPr>
            <a:r>
              <a:rPr b="1" lang="en" sz="1150">
                <a:solidFill>
                  <a:schemeClr val="lt1"/>
                </a:solidFill>
                <a:latin typeface="Proxima Nova"/>
                <a:ea typeface="Proxima Nova"/>
                <a:cs typeface="Proxima Nova"/>
                <a:sym typeface="Proxima Nova"/>
              </a:rPr>
              <a:t>Transparent: </a:t>
            </a:r>
            <a:r>
              <a:rPr lang="en" sz="1150">
                <a:solidFill>
                  <a:schemeClr val="lt1"/>
                </a:solidFill>
                <a:latin typeface="Proxima Nova"/>
                <a:ea typeface="Proxima Nova"/>
                <a:cs typeface="Proxima Nova"/>
                <a:sym typeface="Proxima Nova"/>
              </a:rPr>
              <a:t>Not only is bitcoin’s monetary policy transparent, but so are the on-chain transactions and holdings.</a:t>
            </a:r>
            <a:endParaRPr sz="1150">
              <a:solidFill>
                <a:schemeClr val="lt1"/>
              </a:solidFill>
              <a:latin typeface="Proxima Nova"/>
              <a:ea typeface="Proxima Nova"/>
              <a:cs typeface="Proxima Nova"/>
              <a:sym typeface="Proxima Nova"/>
            </a:endParaRPr>
          </a:p>
          <a:p>
            <a:pPr indent="-301625" lvl="0" marL="457200" rtl="0" algn="l">
              <a:lnSpc>
                <a:spcPct val="115000"/>
              </a:lnSpc>
              <a:spcBef>
                <a:spcPts val="0"/>
              </a:spcBef>
              <a:spcAft>
                <a:spcPts val="0"/>
              </a:spcAft>
              <a:buClr>
                <a:schemeClr val="lt1"/>
              </a:buClr>
              <a:buSzPts val="1150"/>
              <a:buFont typeface="Proxima Nova"/>
              <a:buChar char="●"/>
            </a:pPr>
            <a:r>
              <a:rPr b="1" lang="en" sz="1150">
                <a:solidFill>
                  <a:schemeClr val="lt1"/>
                </a:solidFill>
                <a:latin typeface="Proxima Nova"/>
                <a:ea typeface="Proxima Nova"/>
                <a:cs typeface="Proxima Nova"/>
                <a:sym typeface="Proxima Nova"/>
              </a:rPr>
              <a:t>Auditable: </a:t>
            </a:r>
            <a:r>
              <a:rPr lang="en" sz="1150">
                <a:solidFill>
                  <a:schemeClr val="lt1"/>
                </a:solidFill>
                <a:latin typeface="Proxima Nova"/>
                <a:ea typeface="Proxima Nova"/>
                <a:cs typeface="Proxima Nova"/>
                <a:sym typeface="Proxima Nova"/>
              </a:rPr>
              <a:t>Given the transparency, bitcoin is an investment that can be uniquely audited, reducing the need for trust.</a:t>
            </a:r>
            <a:endParaRPr sz="1150">
              <a:solidFill>
                <a:schemeClr val="lt1"/>
              </a:solidFill>
              <a:latin typeface="Proxima Nova"/>
              <a:ea typeface="Proxima Nova"/>
              <a:cs typeface="Proxima Nova"/>
              <a:sym typeface="Proxima Nova"/>
            </a:endParaRPr>
          </a:p>
          <a:p>
            <a:pPr indent="-301625" lvl="0" marL="457200" rtl="0" algn="l">
              <a:lnSpc>
                <a:spcPct val="115000"/>
              </a:lnSpc>
              <a:spcBef>
                <a:spcPts val="0"/>
              </a:spcBef>
              <a:spcAft>
                <a:spcPts val="0"/>
              </a:spcAft>
              <a:buClr>
                <a:schemeClr val="lt1"/>
              </a:buClr>
              <a:buSzPts val="1150"/>
              <a:buFont typeface="Proxima Nova"/>
              <a:buChar char="●"/>
            </a:pPr>
            <a:r>
              <a:rPr b="1" lang="en" sz="1150">
                <a:solidFill>
                  <a:schemeClr val="lt1"/>
                </a:solidFill>
                <a:latin typeface="Proxima Nova"/>
                <a:ea typeface="Proxima Nova"/>
                <a:cs typeface="Proxima Nova"/>
                <a:sym typeface="Proxima Nova"/>
              </a:rPr>
              <a:t>Immutable &amp; Incorruptible: </a:t>
            </a:r>
            <a:r>
              <a:rPr lang="en" sz="1150">
                <a:solidFill>
                  <a:schemeClr val="lt1"/>
                </a:solidFill>
                <a:latin typeface="Proxima Nova"/>
                <a:ea typeface="Proxima Nova"/>
                <a:cs typeface="Proxima Nova"/>
                <a:sym typeface="Proxima Nova"/>
              </a:rPr>
              <a:t>Critically, bitcoin is immutable, meaning the transparency and auditability cannot be compromised, preventing corruption.</a:t>
            </a:r>
            <a:endParaRPr sz="1150">
              <a:solidFill>
                <a:schemeClr val="lt1"/>
              </a:solidFill>
              <a:latin typeface="Proxima Nova"/>
              <a:ea typeface="Proxima Nova"/>
              <a:cs typeface="Proxima Nova"/>
              <a:sym typeface="Proxima Nova"/>
            </a:endParaRPr>
          </a:p>
          <a:p>
            <a:pPr indent="-301625" lvl="0" marL="457200" rtl="0" algn="l">
              <a:lnSpc>
                <a:spcPct val="115000"/>
              </a:lnSpc>
              <a:spcBef>
                <a:spcPts val="0"/>
              </a:spcBef>
              <a:spcAft>
                <a:spcPts val="0"/>
              </a:spcAft>
              <a:buClr>
                <a:schemeClr val="lt1"/>
              </a:buClr>
              <a:buSzPts val="1150"/>
              <a:buFont typeface="Proxima Nova"/>
              <a:buChar char="●"/>
            </a:pPr>
            <a:r>
              <a:rPr b="1" lang="en" sz="1150">
                <a:solidFill>
                  <a:schemeClr val="lt1"/>
                </a:solidFill>
                <a:latin typeface="Proxima Nova"/>
                <a:ea typeface="Proxima Nova"/>
                <a:cs typeface="Proxima Nova"/>
                <a:sym typeface="Proxima Nova"/>
              </a:rPr>
              <a:t>Trustless: </a:t>
            </a:r>
            <a:r>
              <a:rPr lang="en" sz="1150">
                <a:solidFill>
                  <a:schemeClr val="lt1"/>
                </a:solidFill>
                <a:latin typeface="Proxima Nova"/>
                <a:ea typeface="Proxima Nova"/>
                <a:cs typeface="Proxima Nova"/>
                <a:sym typeface="Proxima Nova"/>
              </a:rPr>
              <a:t>In combination, bitcoin’s features allow network participants to participate without needing to trust and the ability to easily verify.</a:t>
            </a:r>
            <a:endParaRPr sz="1150">
              <a:solidFill>
                <a:schemeClr val="lt1"/>
              </a:solidFill>
              <a:latin typeface="Proxima Nova"/>
              <a:ea typeface="Proxima Nova"/>
              <a:cs typeface="Proxima Nova"/>
              <a:sym typeface="Proxima Nova"/>
            </a:endParaRPr>
          </a:p>
          <a:p>
            <a:pPr indent="-301625" lvl="0" marL="457200" rtl="0" algn="l">
              <a:lnSpc>
                <a:spcPct val="115000"/>
              </a:lnSpc>
              <a:spcBef>
                <a:spcPts val="0"/>
              </a:spcBef>
              <a:spcAft>
                <a:spcPts val="0"/>
              </a:spcAft>
              <a:buClr>
                <a:schemeClr val="lt1"/>
              </a:buClr>
              <a:buSzPts val="1150"/>
              <a:buFont typeface="Proxima Nova"/>
              <a:buChar char="●"/>
            </a:pPr>
            <a:r>
              <a:rPr b="1" lang="en" sz="1150">
                <a:solidFill>
                  <a:schemeClr val="lt1"/>
                </a:solidFill>
                <a:latin typeface="Proxima Nova"/>
                <a:ea typeface="Proxima Nova"/>
                <a:cs typeface="Proxima Nova"/>
                <a:sym typeface="Proxima Nova"/>
              </a:rPr>
              <a:t>Censorship-resistant: </a:t>
            </a:r>
            <a:r>
              <a:rPr lang="en" sz="1150">
                <a:solidFill>
                  <a:schemeClr val="lt1"/>
                </a:solidFill>
                <a:latin typeface="Proxima Nova"/>
                <a:ea typeface="Proxima Nova"/>
                <a:cs typeface="Proxima Nova"/>
                <a:sym typeface="Proxima Nova"/>
              </a:rPr>
              <a:t>Your (economic and literal) voice and your actions cannot be silenced. </a:t>
            </a:r>
            <a:endParaRPr sz="1150">
              <a:solidFill>
                <a:schemeClr val="lt1"/>
              </a:solidFill>
              <a:latin typeface="Proxima Nova"/>
              <a:ea typeface="Proxima Nova"/>
              <a:cs typeface="Proxima Nova"/>
              <a:sym typeface="Proxima Nova"/>
            </a:endParaRPr>
          </a:p>
          <a:p>
            <a:pPr indent="-301625" lvl="0" marL="457200" rtl="0" algn="l">
              <a:lnSpc>
                <a:spcPct val="115000"/>
              </a:lnSpc>
              <a:spcBef>
                <a:spcPts val="0"/>
              </a:spcBef>
              <a:spcAft>
                <a:spcPts val="0"/>
              </a:spcAft>
              <a:buClr>
                <a:schemeClr val="lt1"/>
              </a:buClr>
              <a:buSzPts val="1150"/>
              <a:buFont typeface="Proxima Nova"/>
              <a:buChar char="●"/>
            </a:pPr>
            <a:r>
              <a:rPr b="1" lang="en" sz="1150">
                <a:solidFill>
                  <a:schemeClr val="lt1"/>
                </a:solidFill>
                <a:latin typeface="Proxima Nova"/>
                <a:ea typeface="Proxima Nova"/>
                <a:cs typeface="Proxima Nova"/>
                <a:sym typeface="Proxima Nova"/>
              </a:rPr>
              <a:t>Permissionless: </a:t>
            </a:r>
            <a:r>
              <a:rPr lang="en" sz="1150">
                <a:solidFill>
                  <a:schemeClr val="lt1"/>
                </a:solidFill>
                <a:latin typeface="Proxima Nova"/>
                <a:ea typeface="Proxima Nova"/>
                <a:cs typeface="Proxima Nova"/>
                <a:sym typeface="Proxima Nova"/>
              </a:rPr>
              <a:t>Participating in the network requires no approval.</a:t>
            </a:r>
            <a:endParaRPr sz="1150">
              <a:solidFill>
                <a:schemeClr val="lt1"/>
              </a:solidFill>
              <a:latin typeface="Proxima Nova"/>
              <a:ea typeface="Proxima Nova"/>
              <a:cs typeface="Proxima Nova"/>
              <a:sym typeface="Proxima Nova"/>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66"/>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Club Norms</a:t>
            </a:r>
            <a:endParaRPr/>
          </a:p>
        </p:txBody>
      </p:sp>
      <p:pic>
        <p:nvPicPr>
          <p:cNvPr id="448" name="Google Shape;448;p66"/>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449" name="Google Shape;449;p66"/>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67"/>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Knowledge &gt; Wealth</a:t>
            </a:r>
            <a:endParaRPr/>
          </a:p>
        </p:txBody>
      </p:sp>
      <p:pic>
        <p:nvPicPr>
          <p:cNvPr id="455" name="Google Shape;455;p67"/>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456" name="Google Shape;456;p67"/>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68"/>
          <p:cNvSpPr txBox="1"/>
          <p:nvPr>
            <p:ph type="title"/>
          </p:nvPr>
        </p:nvSpPr>
        <p:spPr>
          <a:xfrm>
            <a:off x="460950" y="933925"/>
            <a:ext cx="8222100" cy="3639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600"/>
              <a:t>"The real secret of [bitcoin] it's not so much about the cryptography but about the secrets we unlock in ourselves. The ways that </a:t>
            </a:r>
            <a:r>
              <a:rPr b="1" lang="en" sz="1600"/>
              <a:t>we find new understandings of the world</a:t>
            </a:r>
            <a:r>
              <a:rPr lang="en" sz="1600"/>
              <a:t>, new approaches of the world. It's a little corny but that's the deepest ontological part of bitcoin. It's </a:t>
            </a:r>
            <a:r>
              <a:rPr b="1" lang="en" sz="1600"/>
              <a:t>not</a:t>
            </a:r>
            <a:r>
              <a:rPr lang="en" sz="1600"/>
              <a:t> that it's making us </a:t>
            </a:r>
            <a:r>
              <a:rPr b="1" lang="en" sz="1600"/>
              <a:t>rich in terms of its monetary wealth.</a:t>
            </a:r>
            <a:r>
              <a:rPr lang="en" sz="1600"/>
              <a:t> It's making us </a:t>
            </a:r>
            <a:r>
              <a:rPr b="1" lang="en" sz="1600"/>
              <a:t>rich in actual knowledge</a:t>
            </a:r>
            <a:r>
              <a:rPr lang="en" sz="1600"/>
              <a:t> that we have. That is fundamentally changing and transforming us in an important way and it's </a:t>
            </a:r>
            <a:r>
              <a:rPr b="1" lang="en" sz="1600"/>
              <a:t>explicitly doing it through Proof of Work.</a:t>
            </a:r>
            <a:r>
              <a:rPr lang="en" sz="1600"/>
              <a:t> We are not going out and getting our blockchain certificate to prove that we understand bitcoin; we are playing with it and hacking and exchanging and utilizing. It's really important because these are the pedological steps that we need to take to understand that this is a power; it's a real power that we have and when we utilize encryption correctly it protects us in a way that nothing else can and that's very important.” </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Erik Cason on The Bitcoin Matrix Podcast (02/26/23)</a:t>
            </a:r>
            <a:endParaRPr sz="1600"/>
          </a:p>
          <a:p>
            <a:pPr indent="0" lvl="0" marL="0" rtl="0" algn="l">
              <a:spcBef>
                <a:spcPts val="0"/>
              </a:spcBef>
              <a:spcAft>
                <a:spcPts val="0"/>
              </a:spcAft>
              <a:buNone/>
            </a:pPr>
            <a:r>
              <a:t/>
            </a:r>
            <a:endParaRPr sz="1600"/>
          </a:p>
        </p:txBody>
      </p:sp>
      <p:pic>
        <p:nvPicPr>
          <p:cNvPr id="462" name="Google Shape;462;p68"/>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463" name="Google Shape;463;p68"/>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69"/>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Club Norms</a:t>
            </a:r>
            <a:endParaRPr/>
          </a:p>
        </p:txBody>
      </p:sp>
      <p:sp>
        <p:nvSpPr>
          <p:cNvPr id="469" name="Google Shape;469;p69"/>
          <p:cNvSpPr txBox="1"/>
          <p:nvPr/>
        </p:nvSpPr>
        <p:spPr>
          <a:xfrm>
            <a:off x="372350" y="884300"/>
            <a:ext cx="8519400" cy="366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lt1"/>
                </a:solidFill>
                <a:latin typeface="Proxima Nova"/>
                <a:ea typeface="Proxima Nova"/>
                <a:cs typeface="Proxima Nova"/>
                <a:sym typeface="Proxima Nova"/>
              </a:rPr>
              <a:t>Proof of Work: </a:t>
            </a:r>
            <a:r>
              <a:rPr lang="en">
                <a:solidFill>
                  <a:schemeClr val="lt1"/>
                </a:solidFill>
                <a:latin typeface="Proxima Nova"/>
                <a:ea typeface="Proxima Nova"/>
                <a:cs typeface="Proxima Nova"/>
                <a:sym typeface="Proxima Nova"/>
              </a:rPr>
              <a:t>Exert energy to do your own work. Don’t stake your opinions/worth/ability on another’s words or actions (especially including mine). </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rPr b="1" lang="en">
                <a:solidFill>
                  <a:schemeClr val="lt1"/>
                </a:solidFill>
                <a:latin typeface="Proxima Nova"/>
                <a:ea typeface="Proxima Nova"/>
                <a:cs typeface="Proxima Nova"/>
                <a:sym typeface="Proxima Nova"/>
              </a:rPr>
              <a:t>First Principles Thinking; Don’t Trust, Verify. Do Your Own Research: </a:t>
            </a:r>
            <a:r>
              <a:rPr lang="en">
                <a:solidFill>
                  <a:schemeClr val="lt1"/>
                </a:solidFill>
                <a:latin typeface="Proxima Nova"/>
                <a:ea typeface="Proxima Nova"/>
                <a:cs typeface="Proxima Nova"/>
                <a:sym typeface="Proxima Nova"/>
              </a:rPr>
              <a:t>Learn history. Bitcoin restores your agency. Don’t rent out your ability to form your own opinions and do your own research. </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rPr b="1" lang="en">
                <a:solidFill>
                  <a:schemeClr val="lt1"/>
                </a:solidFill>
                <a:latin typeface="Proxima Nova"/>
                <a:ea typeface="Proxima Nova"/>
                <a:cs typeface="Proxima Nova"/>
                <a:sym typeface="Proxima Nova"/>
              </a:rPr>
              <a:t>Low, Not High, Time Preference: </a:t>
            </a:r>
            <a:r>
              <a:rPr lang="en">
                <a:solidFill>
                  <a:schemeClr val="lt1"/>
                </a:solidFill>
                <a:latin typeface="Proxima Nova"/>
                <a:ea typeface="Proxima Nova"/>
                <a:cs typeface="Proxima Nova"/>
                <a:sym typeface="Proxima Nova"/>
              </a:rPr>
              <a:t>Commit to curiosity and critical thinking. (Try to embrace delayed gratification.)</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rPr b="1" lang="en">
                <a:solidFill>
                  <a:schemeClr val="lt1"/>
                </a:solidFill>
                <a:latin typeface="Proxima Nova"/>
                <a:ea typeface="Proxima Nova"/>
                <a:cs typeface="Proxima Nova"/>
                <a:sym typeface="Proxima Nova"/>
              </a:rPr>
              <a:t>Open-Source.</a:t>
            </a:r>
            <a:endParaRPr b="1">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rPr b="1" lang="en">
                <a:solidFill>
                  <a:schemeClr val="lt1"/>
                </a:solidFill>
                <a:latin typeface="Proxima Nova"/>
                <a:ea typeface="Proxima Nova"/>
                <a:cs typeface="Proxima Nova"/>
                <a:sym typeface="Proxima Nova"/>
              </a:rPr>
              <a:t>Misc:</a:t>
            </a:r>
            <a:endParaRPr b="1">
              <a:solidFill>
                <a:schemeClr val="lt1"/>
              </a:solidFill>
              <a:latin typeface="Proxima Nova"/>
              <a:ea typeface="Proxima Nova"/>
              <a:cs typeface="Proxima Nova"/>
              <a:sym typeface="Proxima Nova"/>
            </a:endParaRPr>
          </a:p>
          <a:p>
            <a:pPr indent="-317500" lvl="0" marL="457200" rtl="0" algn="l">
              <a:spcBef>
                <a:spcPts val="0"/>
              </a:spcBef>
              <a:spcAft>
                <a:spcPts val="0"/>
              </a:spcAft>
              <a:buClr>
                <a:schemeClr val="lt1"/>
              </a:buClr>
              <a:buSzPts val="1400"/>
              <a:buFont typeface="Proxima Nova"/>
              <a:buChar char="-"/>
            </a:pPr>
            <a:r>
              <a:rPr lang="en">
                <a:solidFill>
                  <a:schemeClr val="lt1"/>
                </a:solidFill>
                <a:latin typeface="Proxima Nova"/>
                <a:ea typeface="Proxima Nova"/>
                <a:cs typeface="Proxima Nova"/>
                <a:sym typeface="Proxima Nova"/>
              </a:rPr>
              <a:t>Always ask follow-up questions. Sometimes I might just do a poor job of explaining &amp; if I don’t know the answer, I’ll find it for you. </a:t>
            </a:r>
            <a:endParaRPr>
              <a:solidFill>
                <a:schemeClr val="lt1"/>
              </a:solidFill>
              <a:latin typeface="Proxima Nova"/>
              <a:ea typeface="Proxima Nova"/>
              <a:cs typeface="Proxima Nova"/>
              <a:sym typeface="Proxima Nova"/>
            </a:endParaRPr>
          </a:p>
          <a:p>
            <a:pPr indent="-317500" lvl="0" marL="457200" rtl="0" algn="l">
              <a:spcBef>
                <a:spcPts val="0"/>
              </a:spcBef>
              <a:spcAft>
                <a:spcPts val="0"/>
              </a:spcAft>
              <a:buClr>
                <a:schemeClr val="lt1"/>
              </a:buClr>
              <a:buSzPts val="1400"/>
              <a:buFont typeface="Proxima Nova"/>
              <a:buChar char="-"/>
            </a:pPr>
            <a:r>
              <a:rPr lang="en">
                <a:solidFill>
                  <a:schemeClr val="lt1"/>
                </a:solidFill>
                <a:latin typeface="Proxima Nova"/>
                <a:ea typeface="Proxima Nova"/>
                <a:cs typeface="Proxima Nova"/>
                <a:sym typeface="Proxima Nova"/>
              </a:rPr>
              <a:t>Often will build slides w/ too much info so they can be a resource </a:t>
            </a:r>
            <a:endParaRPr>
              <a:solidFill>
                <a:schemeClr val="lt1"/>
              </a:solidFill>
              <a:latin typeface="Proxima Nova"/>
              <a:ea typeface="Proxima Nova"/>
              <a:cs typeface="Proxima Nova"/>
              <a:sym typeface="Proxima Nova"/>
            </a:endParaRPr>
          </a:p>
          <a:p>
            <a:pPr indent="-317500" lvl="0" marL="457200" rtl="0" algn="l">
              <a:spcBef>
                <a:spcPts val="0"/>
              </a:spcBef>
              <a:spcAft>
                <a:spcPts val="0"/>
              </a:spcAft>
              <a:buClr>
                <a:schemeClr val="lt1"/>
              </a:buClr>
              <a:buSzPts val="1400"/>
              <a:buFont typeface="Proxima Nova"/>
              <a:buChar char="-"/>
            </a:pPr>
            <a:r>
              <a:rPr lang="en">
                <a:solidFill>
                  <a:schemeClr val="lt1"/>
                </a:solidFill>
                <a:latin typeface="Proxima Nova"/>
                <a:ea typeface="Proxima Nova"/>
                <a:cs typeface="Proxima Nova"/>
                <a:sym typeface="Proxima Nova"/>
              </a:rPr>
              <a:t>Anonymous question form </a:t>
            </a:r>
            <a:r>
              <a:rPr lang="en">
                <a:solidFill>
                  <a:schemeClr val="lt1"/>
                </a:solidFill>
                <a:latin typeface="Proxima Nova"/>
                <a:ea typeface="Proxima Nova"/>
                <a:cs typeface="Proxima Nova"/>
                <a:sym typeface="Proxima Nova"/>
              </a:rPr>
              <a:t>→ </a:t>
            </a:r>
            <a:r>
              <a:rPr lang="en">
                <a:solidFill>
                  <a:schemeClr val="lt1"/>
                </a:solidFill>
                <a:latin typeface="Proxima Nova"/>
                <a:ea typeface="Proxima Nova"/>
                <a:cs typeface="Proxima Nova"/>
                <a:sym typeface="Proxima Nova"/>
              </a:rPr>
              <a:t> </a:t>
            </a:r>
            <a:r>
              <a:rPr lang="en" u="sng">
                <a:solidFill>
                  <a:srgbClr val="0E101A"/>
                </a:solidFill>
                <a:highlight>
                  <a:schemeClr val="lt1"/>
                </a:highlight>
                <a:latin typeface="Proxima Nova"/>
                <a:ea typeface="Proxima Nova"/>
                <a:cs typeface="Proxima Nova"/>
                <a:sym typeface="Proxima Nova"/>
                <a:hlinkClick r:id="rId3">
                  <a:extLst>
                    <a:ext uri="{A12FA001-AC4F-418D-AE19-62706E023703}">
                      <ahyp:hlinkClr val="tx"/>
                    </a:ext>
                  </a:extLst>
                </a:hlinkClick>
              </a:rPr>
              <a:t>https://forms.gle/SPQiP5ahJuWNL2m28</a:t>
            </a:r>
            <a:r>
              <a:rPr lang="en">
                <a:solidFill>
                  <a:srgbClr val="0E101A"/>
                </a:solidFill>
                <a:highlight>
                  <a:schemeClr val="lt1"/>
                </a:highlight>
                <a:latin typeface="Proxima Nova"/>
                <a:ea typeface="Proxima Nova"/>
                <a:cs typeface="Proxima Nova"/>
                <a:sym typeface="Proxima Nova"/>
              </a:rPr>
              <a:t> </a:t>
            </a:r>
            <a:endParaRPr>
              <a:solidFill>
                <a:srgbClr val="0E101A"/>
              </a:solidFill>
              <a:highlight>
                <a:schemeClr val="lt1"/>
              </a:highlight>
              <a:latin typeface="Proxima Nova"/>
              <a:ea typeface="Proxima Nova"/>
              <a:cs typeface="Proxima Nova"/>
              <a:sym typeface="Proxima Nova"/>
            </a:endParaRPr>
          </a:p>
        </p:txBody>
      </p:sp>
      <p:pic>
        <p:nvPicPr>
          <p:cNvPr id="470" name="Google Shape;470;p69"/>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70"/>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Operations</a:t>
            </a:r>
            <a:endParaRPr/>
          </a:p>
        </p:txBody>
      </p:sp>
      <p:pic>
        <p:nvPicPr>
          <p:cNvPr id="476" name="Google Shape;476;p70"/>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477" name="Google Shape;477;p70"/>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81" name="Shape 481"/>
        <p:cNvGrpSpPr/>
        <p:nvPr/>
      </p:nvGrpSpPr>
      <p:grpSpPr>
        <a:xfrm>
          <a:off x="0" y="0"/>
          <a:ext cx="0" cy="0"/>
          <a:chOff x="0" y="0"/>
          <a:chExt cx="0" cy="0"/>
        </a:xfrm>
      </p:grpSpPr>
      <p:sp>
        <p:nvSpPr>
          <p:cNvPr id="482" name="Google Shape;482;p71"/>
          <p:cNvSpPr txBox="1"/>
          <p:nvPr>
            <p:ph type="title"/>
          </p:nvPr>
        </p:nvSpPr>
        <p:spPr>
          <a:xfrm>
            <a:off x="475500" y="1258525"/>
            <a:ext cx="8222100" cy="1963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500"/>
              <a:t>“You never change things by fighting the existing reality. To change something, build a new model that makes the existing model obsolete.”</a:t>
            </a:r>
            <a:endParaRPr sz="2500"/>
          </a:p>
        </p:txBody>
      </p:sp>
      <p:sp>
        <p:nvSpPr>
          <p:cNvPr id="483" name="Google Shape;483;p7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a:t>-</a:t>
            </a:r>
            <a:r>
              <a:rPr lang="en"/>
              <a:t>Buckminster Fuller (American Architect)</a:t>
            </a:r>
            <a:endParaRPr/>
          </a:p>
        </p:txBody>
      </p:sp>
      <p:pic>
        <p:nvPicPr>
          <p:cNvPr id="484" name="Google Shape;484;p71"/>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485" name="Google Shape;485;p71"/>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72"/>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Proof of Work Clusters: </a:t>
            </a:r>
            <a:r>
              <a:rPr lang="en" u="sng">
                <a:hlinkClick r:id="rId3"/>
              </a:rPr>
              <a:t>Document Link</a:t>
            </a:r>
            <a:endParaRPr/>
          </a:p>
        </p:txBody>
      </p:sp>
      <p:pic>
        <p:nvPicPr>
          <p:cNvPr id="491" name="Google Shape;491;p72"/>
          <p:cNvPicPr preferRelativeResize="0"/>
          <p:nvPr/>
        </p:nvPicPr>
        <p:blipFill>
          <a:blip r:embed="rId4">
            <a:alphaModFix/>
          </a:blip>
          <a:stretch>
            <a:fillRect/>
          </a:stretch>
        </p:blipFill>
        <p:spPr>
          <a:xfrm>
            <a:off x="8611675" y="4665225"/>
            <a:ext cx="313176" cy="313176"/>
          </a:xfrm>
          <a:prstGeom prst="rect">
            <a:avLst/>
          </a:prstGeom>
          <a:noFill/>
          <a:ln>
            <a:noFill/>
          </a:ln>
        </p:spPr>
      </p:pic>
      <p:pic>
        <p:nvPicPr>
          <p:cNvPr id="492" name="Google Shape;492;p72"/>
          <p:cNvPicPr preferRelativeResize="0"/>
          <p:nvPr/>
        </p:nvPicPr>
        <p:blipFill>
          <a:blip r:embed="rId5">
            <a:alphaModFix/>
          </a:blip>
          <a:stretch>
            <a:fillRect/>
          </a:stretch>
        </p:blipFill>
        <p:spPr>
          <a:xfrm>
            <a:off x="331225" y="1245900"/>
            <a:ext cx="4134000" cy="3182050"/>
          </a:xfrm>
          <a:prstGeom prst="rect">
            <a:avLst/>
          </a:prstGeom>
          <a:noFill/>
          <a:ln>
            <a:noFill/>
          </a:ln>
        </p:spPr>
      </p:pic>
      <p:pic>
        <p:nvPicPr>
          <p:cNvPr id="493" name="Google Shape;493;p72"/>
          <p:cNvPicPr preferRelativeResize="0"/>
          <p:nvPr/>
        </p:nvPicPr>
        <p:blipFill>
          <a:blip r:embed="rId6">
            <a:alphaModFix/>
          </a:blip>
          <a:stretch>
            <a:fillRect/>
          </a:stretch>
        </p:blipFill>
        <p:spPr>
          <a:xfrm>
            <a:off x="4659525" y="1577277"/>
            <a:ext cx="4332076" cy="25193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7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Some polls…</a:t>
            </a:r>
            <a:endParaRPr/>
          </a:p>
        </p:txBody>
      </p:sp>
      <p:pic>
        <p:nvPicPr>
          <p:cNvPr id="499" name="Google Shape;499;p73"/>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500" name="Google Shape;500;p73"/>
          <p:cNvPicPr preferRelativeResize="0"/>
          <p:nvPr/>
        </p:nvPicPr>
        <p:blipFill>
          <a:blip r:embed="rId4">
            <a:alphaModFix/>
          </a:blip>
          <a:stretch>
            <a:fillRect/>
          </a:stretch>
        </p:blipFill>
        <p:spPr>
          <a:xfrm>
            <a:off x="8611675" y="4665225"/>
            <a:ext cx="313176" cy="313176"/>
          </a:xfrm>
          <a:prstGeom prst="rect">
            <a:avLst/>
          </a:prstGeom>
          <a:noFill/>
          <a:ln>
            <a:noFill/>
          </a:ln>
        </p:spPr>
      </p:pic>
      <p:pic>
        <p:nvPicPr>
          <p:cNvPr id="501" name="Google Shape;501;p73"/>
          <p:cNvPicPr preferRelativeResize="0"/>
          <p:nvPr/>
        </p:nvPicPr>
        <p:blipFill>
          <a:blip r:embed="rId5">
            <a:alphaModFix/>
          </a:blip>
          <a:stretch>
            <a:fillRect/>
          </a:stretch>
        </p:blipFill>
        <p:spPr>
          <a:xfrm>
            <a:off x="4489250" y="1044450"/>
            <a:ext cx="3146275" cy="314627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74"/>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Workshop Ideas: </a:t>
            </a:r>
            <a:endParaRPr/>
          </a:p>
        </p:txBody>
      </p:sp>
      <p:sp>
        <p:nvSpPr>
          <p:cNvPr id="507" name="Google Shape;507;p74"/>
          <p:cNvSpPr txBox="1"/>
          <p:nvPr/>
        </p:nvSpPr>
        <p:spPr>
          <a:xfrm>
            <a:off x="454450" y="1043850"/>
            <a:ext cx="7070100" cy="3055800"/>
          </a:xfrm>
          <a:prstGeom prst="rect">
            <a:avLst/>
          </a:prstGeom>
          <a:noFill/>
          <a:ln>
            <a:noFill/>
          </a:ln>
        </p:spPr>
        <p:txBody>
          <a:bodyPr anchorCtr="0" anchor="t" bIns="91425" lIns="91425" spcFirstLastPara="1" rIns="91425" wrap="square" tIns="91425">
            <a:noAutofit/>
          </a:bodyPr>
          <a:lstStyle/>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Onchain data walkthrough </a:t>
            </a:r>
            <a:endParaRPr sz="1700">
              <a:solidFill>
                <a:schemeClr val="lt1"/>
              </a:solidFill>
              <a:latin typeface="Proxima Nova"/>
              <a:ea typeface="Proxima Nova"/>
              <a:cs typeface="Proxima Nova"/>
              <a:sym typeface="Proxima Nova"/>
            </a:endParaRPr>
          </a:p>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Working session on orange-pilling local businesses </a:t>
            </a:r>
            <a:endParaRPr sz="1700">
              <a:solidFill>
                <a:schemeClr val="lt1"/>
              </a:solidFill>
              <a:latin typeface="Proxima Nova"/>
              <a:ea typeface="Proxima Nova"/>
              <a:cs typeface="Proxima Nova"/>
              <a:sym typeface="Proxima Nova"/>
            </a:endParaRPr>
          </a:p>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Bitcoin in an investment portfolio</a:t>
            </a:r>
            <a:endParaRPr sz="1700">
              <a:solidFill>
                <a:schemeClr val="lt1"/>
              </a:solidFill>
              <a:latin typeface="Proxima Nova"/>
              <a:ea typeface="Proxima Nova"/>
              <a:cs typeface="Proxima Nova"/>
              <a:sym typeface="Proxima Nova"/>
            </a:endParaRPr>
          </a:p>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Socratic seminar </a:t>
            </a:r>
            <a:r>
              <a:rPr lang="en" sz="1700">
                <a:solidFill>
                  <a:schemeClr val="lt1"/>
                </a:solidFill>
                <a:latin typeface="Proxima Nova"/>
                <a:ea typeface="Proxima Nova"/>
                <a:cs typeface="Proxima Nova"/>
                <a:sym typeface="Proxima Nova"/>
              </a:rPr>
              <a:t>style</a:t>
            </a:r>
            <a:r>
              <a:rPr lang="en" sz="1700">
                <a:solidFill>
                  <a:schemeClr val="lt1"/>
                </a:solidFill>
                <a:latin typeface="Proxima Nova"/>
                <a:ea typeface="Proxima Nova"/>
                <a:cs typeface="Proxima Nova"/>
                <a:sym typeface="Proxima Nova"/>
              </a:rPr>
              <a:t> discussions </a:t>
            </a:r>
            <a:endParaRPr sz="1700">
              <a:solidFill>
                <a:schemeClr val="lt1"/>
              </a:solidFill>
              <a:latin typeface="Proxima Nova"/>
              <a:ea typeface="Proxima Nova"/>
              <a:cs typeface="Proxima Nova"/>
              <a:sym typeface="Proxima Nova"/>
            </a:endParaRPr>
          </a:p>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Networking / recruiting </a:t>
            </a:r>
            <a:endParaRPr sz="1700">
              <a:solidFill>
                <a:schemeClr val="lt1"/>
              </a:solidFill>
              <a:latin typeface="Proxima Nova"/>
              <a:ea typeface="Proxima Nova"/>
              <a:cs typeface="Proxima Nova"/>
              <a:sym typeface="Proxima Nova"/>
            </a:endParaRPr>
          </a:p>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Self-custody workshop</a:t>
            </a:r>
            <a:endParaRPr sz="1700">
              <a:solidFill>
                <a:schemeClr val="lt1"/>
              </a:solidFill>
              <a:latin typeface="Proxima Nova"/>
              <a:ea typeface="Proxima Nova"/>
              <a:cs typeface="Proxima Nova"/>
              <a:sym typeface="Proxima Nova"/>
            </a:endParaRPr>
          </a:p>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Running a Lightning node</a:t>
            </a:r>
            <a:endParaRPr sz="1700">
              <a:solidFill>
                <a:schemeClr val="lt1"/>
              </a:solidFill>
              <a:latin typeface="Proxima Nova"/>
              <a:ea typeface="Proxima Nova"/>
              <a:cs typeface="Proxima Nova"/>
              <a:sym typeface="Proxima Nova"/>
            </a:endParaRPr>
          </a:p>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Sentiment gathering of Bitcoin at Cornell</a:t>
            </a:r>
            <a:endParaRPr sz="1700">
              <a:solidFill>
                <a:schemeClr val="lt1"/>
              </a:solidFill>
              <a:latin typeface="Proxima Nova"/>
              <a:ea typeface="Proxima Nova"/>
              <a:cs typeface="Proxima Nova"/>
              <a:sym typeface="Proxima Nova"/>
            </a:endParaRPr>
          </a:p>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Bitcoin mining case study </a:t>
            </a:r>
            <a:endParaRPr sz="1700">
              <a:solidFill>
                <a:schemeClr val="lt1"/>
              </a:solidFill>
              <a:latin typeface="Proxima Nova"/>
              <a:ea typeface="Proxima Nova"/>
              <a:cs typeface="Proxima Nova"/>
              <a:sym typeface="Proxima Nova"/>
            </a:endParaRPr>
          </a:p>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Sending and </a:t>
            </a:r>
            <a:r>
              <a:rPr lang="en" sz="1700">
                <a:solidFill>
                  <a:schemeClr val="lt1"/>
                </a:solidFill>
                <a:latin typeface="Proxima Nova"/>
                <a:ea typeface="Proxima Nova"/>
                <a:cs typeface="Proxima Nova"/>
                <a:sym typeface="Proxima Nova"/>
              </a:rPr>
              <a:t>receiving</a:t>
            </a:r>
            <a:r>
              <a:rPr lang="en" sz="1700">
                <a:solidFill>
                  <a:schemeClr val="lt1"/>
                </a:solidFill>
                <a:latin typeface="Proxima Nova"/>
                <a:ea typeface="Proxima Nova"/>
                <a:cs typeface="Proxima Nova"/>
                <a:sym typeface="Proxima Nova"/>
              </a:rPr>
              <a:t> sats</a:t>
            </a:r>
            <a:endParaRPr sz="1700">
              <a:solidFill>
                <a:schemeClr val="lt1"/>
              </a:solidFill>
              <a:latin typeface="Proxima Nova"/>
              <a:ea typeface="Proxima Nova"/>
              <a:cs typeface="Proxima Nova"/>
              <a:sym typeface="Proxima Nova"/>
            </a:endParaRPr>
          </a:p>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Bitcoin as a tool → Bitcoin fixes ecash, Bitcoin fixes Nostr </a:t>
            </a:r>
            <a:endParaRPr sz="1700">
              <a:solidFill>
                <a:schemeClr val="lt1"/>
              </a:solidFill>
              <a:latin typeface="Proxima Nova"/>
              <a:ea typeface="Proxima Nova"/>
              <a:cs typeface="Proxima Nova"/>
              <a:sym typeface="Proxima Nova"/>
            </a:endParaRPr>
          </a:p>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BSN Node Meetings</a:t>
            </a:r>
            <a:endParaRPr sz="1700">
              <a:solidFill>
                <a:schemeClr val="lt1"/>
              </a:solidFill>
              <a:latin typeface="Proxima Nova"/>
              <a:ea typeface="Proxima Nova"/>
              <a:cs typeface="Proxima Nova"/>
              <a:sym typeface="Proxima Nova"/>
            </a:endParaRPr>
          </a:p>
        </p:txBody>
      </p:sp>
      <p:pic>
        <p:nvPicPr>
          <p:cNvPr id="508" name="Google Shape;508;p74"/>
          <p:cNvPicPr preferRelativeResize="0"/>
          <p:nvPr/>
        </p:nvPicPr>
        <p:blipFill>
          <a:blip r:embed="rId3">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75"/>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Projects</a:t>
            </a:r>
            <a:endParaRPr/>
          </a:p>
        </p:txBody>
      </p:sp>
      <p:sp>
        <p:nvSpPr>
          <p:cNvPr id="514" name="Google Shape;514;p75"/>
          <p:cNvSpPr txBox="1"/>
          <p:nvPr/>
        </p:nvSpPr>
        <p:spPr>
          <a:xfrm>
            <a:off x="435475" y="1210900"/>
            <a:ext cx="7070100" cy="3055800"/>
          </a:xfrm>
          <a:prstGeom prst="rect">
            <a:avLst/>
          </a:prstGeom>
          <a:noFill/>
          <a:ln>
            <a:noFill/>
          </a:ln>
        </p:spPr>
        <p:txBody>
          <a:bodyPr anchorCtr="0" anchor="t" bIns="91425" lIns="91425" spcFirstLastPara="1" rIns="91425" wrap="square" tIns="91425">
            <a:noAutofit/>
          </a:bodyPr>
          <a:lstStyle/>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Research Study w/ Brooks Tech Policy Institute</a:t>
            </a:r>
            <a:endParaRPr sz="1700">
              <a:solidFill>
                <a:schemeClr val="lt1"/>
              </a:solidFill>
              <a:latin typeface="Proxima Nova"/>
              <a:ea typeface="Proxima Nova"/>
              <a:cs typeface="Proxima Nova"/>
              <a:sym typeface="Proxima Nova"/>
            </a:endParaRPr>
          </a:p>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Onboard Cornell Bitcoin Club to the Lightning Network </a:t>
            </a:r>
            <a:endParaRPr sz="1700">
              <a:solidFill>
                <a:schemeClr val="lt1"/>
              </a:solidFill>
              <a:latin typeface="Proxima Nova"/>
              <a:ea typeface="Proxima Nova"/>
              <a:cs typeface="Proxima Nova"/>
              <a:sym typeface="Proxima Nova"/>
            </a:endParaRPr>
          </a:p>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Educate </a:t>
            </a:r>
            <a:r>
              <a:rPr lang="en" sz="1700">
                <a:solidFill>
                  <a:schemeClr val="lt1"/>
                </a:solidFill>
                <a:latin typeface="Proxima Nova"/>
                <a:ea typeface="Proxima Nova"/>
                <a:cs typeface="Proxima Nova"/>
                <a:sym typeface="Proxima Nova"/>
              </a:rPr>
              <a:t>local businesses about Bitcoin</a:t>
            </a:r>
            <a:endParaRPr sz="1700">
              <a:solidFill>
                <a:schemeClr val="lt1"/>
              </a:solidFill>
              <a:latin typeface="Proxima Nova"/>
              <a:ea typeface="Proxima Nova"/>
              <a:cs typeface="Proxima Nova"/>
              <a:sym typeface="Proxima Nova"/>
            </a:endParaRPr>
          </a:p>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Present opportunity of Bitcoin in Cornell’s investment portfolio</a:t>
            </a:r>
            <a:endParaRPr sz="1700">
              <a:solidFill>
                <a:schemeClr val="lt1"/>
              </a:solidFill>
              <a:latin typeface="Proxima Nova"/>
              <a:ea typeface="Proxima Nova"/>
              <a:cs typeface="Proxima Nova"/>
              <a:sym typeface="Proxima Nova"/>
            </a:endParaRPr>
          </a:p>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Brainstorm impact of Bitcoin on Cornell’s campus</a:t>
            </a:r>
            <a:endParaRPr sz="1700">
              <a:solidFill>
                <a:schemeClr val="lt1"/>
              </a:solidFill>
              <a:latin typeface="Proxima Nova"/>
              <a:ea typeface="Proxima Nova"/>
              <a:cs typeface="Proxima Nova"/>
              <a:sym typeface="Proxima Nova"/>
            </a:endParaRPr>
          </a:p>
          <a:p>
            <a:pPr indent="0" lvl="0" marL="457200" rtl="0" algn="l">
              <a:spcBef>
                <a:spcPts val="0"/>
              </a:spcBef>
              <a:spcAft>
                <a:spcPts val="0"/>
              </a:spcAft>
              <a:buNone/>
            </a:pPr>
            <a:r>
              <a:t/>
            </a:r>
            <a:endParaRPr sz="1700">
              <a:solidFill>
                <a:schemeClr val="lt1"/>
              </a:solidFill>
              <a:latin typeface="Proxima Nova"/>
              <a:ea typeface="Proxima Nova"/>
              <a:cs typeface="Proxima Nova"/>
              <a:sym typeface="Proxima Nova"/>
            </a:endParaRPr>
          </a:p>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Running Bitcoin challenge</a:t>
            </a:r>
            <a:endParaRPr sz="1700">
              <a:solidFill>
                <a:schemeClr val="lt1"/>
              </a:solidFill>
              <a:latin typeface="Proxima Nova"/>
              <a:ea typeface="Proxima Nova"/>
              <a:cs typeface="Proxima Nova"/>
              <a:sym typeface="Proxima Nova"/>
            </a:endParaRPr>
          </a:p>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Update alumni database</a:t>
            </a:r>
            <a:endParaRPr sz="1700">
              <a:solidFill>
                <a:schemeClr val="lt1"/>
              </a:solidFill>
              <a:latin typeface="Proxima Nova"/>
              <a:ea typeface="Proxima Nova"/>
              <a:cs typeface="Proxima Nova"/>
              <a:sym typeface="Proxima Nova"/>
            </a:endParaRPr>
          </a:p>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Update Club's website</a:t>
            </a:r>
            <a:endParaRPr sz="1700">
              <a:solidFill>
                <a:schemeClr val="lt1"/>
              </a:solidFill>
              <a:latin typeface="Proxima Nova"/>
              <a:ea typeface="Proxima Nova"/>
              <a:cs typeface="Proxima Nova"/>
              <a:sym typeface="Proxima Nova"/>
            </a:endParaRPr>
          </a:p>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Make flyers &amp; graphics for each event</a:t>
            </a:r>
            <a:endParaRPr sz="1700">
              <a:solidFill>
                <a:schemeClr val="lt1"/>
              </a:solidFill>
              <a:latin typeface="Proxima Nova"/>
              <a:ea typeface="Proxima Nova"/>
              <a:cs typeface="Proxima Nova"/>
              <a:sym typeface="Proxima Nova"/>
            </a:endParaRPr>
          </a:p>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Co-host events w/ other clubs </a:t>
            </a:r>
            <a:endParaRPr sz="1700">
              <a:solidFill>
                <a:schemeClr val="lt1"/>
              </a:solidFill>
              <a:latin typeface="Proxima Nova"/>
              <a:ea typeface="Proxima Nova"/>
              <a:cs typeface="Proxima Nova"/>
              <a:sym typeface="Proxima Nova"/>
            </a:endParaRPr>
          </a:p>
        </p:txBody>
      </p:sp>
      <p:pic>
        <p:nvPicPr>
          <p:cNvPr id="515" name="Google Shape;515;p75"/>
          <p:cNvPicPr preferRelativeResize="0"/>
          <p:nvPr/>
        </p:nvPicPr>
        <p:blipFill>
          <a:blip r:embed="rId3">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76"/>
          <p:cNvSpPr txBox="1"/>
          <p:nvPr>
            <p:ph type="title"/>
          </p:nvPr>
        </p:nvSpPr>
        <p:spPr>
          <a:xfrm>
            <a:off x="3981900" y="1987338"/>
            <a:ext cx="1180200" cy="14097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5100"/>
              <a:t>🤝</a:t>
            </a:r>
            <a:endParaRPr sz="5100"/>
          </a:p>
        </p:txBody>
      </p:sp>
      <p:pic>
        <p:nvPicPr>
          <p:cNvPr id="521" name="Google Shape;521;p76"/>
          <p:cNvPicPr preferRelativeResize="0"/>
          <p:nvPr/>
        </p:nvPicPr>
        <p:blipFill>
          <a:blip r:embed="rId3">
            <a:alphaModFix/>
          </a:blip>
          <a:stretch>
            <a:fillRect/>
          </a:stretch>
        </p:blipFill>
        <p:spPr>
          <a:xfrm>
            <a:off x="691500" y="1987362"/>
            <a:ext cx="1485000" cy="1409600"/>
          </a:xfrm>
          <a:prstGeom prst="rect">
            <a:avLst/>
          </a:prstGeom>
          <a:noFill/>
          <a:ln>
            <a:noFill/>
          </a:ln>
        </p:spPr>
      </p:pic>
      <p:pic>
        <p:nvPicPr>
          <p:cNvPr id="522" name="Google Shape;522;p76"/>
          <p:cNvPicPr preferRelativeResize="0"/>
          <p:nvPr/>
        </p:nvPicPr>
        <p:blipFill>
          <a:blip r:embed="rId4">
            <a:alphaModFix/>
          </a:blip>
          <a:stretch>
            <a:fillRect/>
          </a:stretch>
        </p:blipFill>
        <p:spPr>
          <a:xfrm>
            <a:off x="5322750" y="2064588"/>
            <a:ext cx="3241949" cy="1255224"/>
          </a:xfrm>
          <a:prstGeom prst="rect">
            <a:avLst/>
          </a:prstGeom>
          <a:noFill/>
          <a:ln>
            <a:noFill/>
          </a:ln>
        </p:spPr>
      </p:pic>
      <p:sp>
        <p:nvSpPr>
          <p:cNvPr id="523" name="Google Shape;523;p76"/>
          <p:cNvSpPr txBox="1"/>
          <p:nvPr/>
        </p:nvSpPr>
        <p:spPr>
          <a:xfrm>
            <a:off x="2176500" y="1987350"/>
            <a:ext cx="1805400" cy="1519200"/>
          </a:xfrm>
          <a:prstGeom prst="rect">
            <a:avLst/>
          </a:prstGeom>
          <a:noFill/>
          <a:ln>
            <a:noFill/>
          </a:ln>
        </p:spPr>
        <p:txBody>
          <a:bodyPr anchorCtr="0" anchor="t" bIns="91425" lIns="91425" spcFirstLastPara="1" rIns="91425" wrap="square" tIns="91425">
            <a:spAutoFit/>
          </a:bodyPr>
          <a:lstStyle/>
          <a:p>
            <a:pPr indent="0" lvl="0" marL="0" rtl="0" algn="l">
              <a:lnSpc>
                <a:spcPct val="85000"/>
              </a:lnSpc>
              <a:spcBef>
                <a:spcPts val="0"/>
              </a:spcBef>
              <a:spcAft>
                <a:spcPts val="0"/>
              </a:spcAft>
              <a:buNone/>
            </a:pPr>
            <a:r>
              <a:rPr b="1" lang="en" sz="3400">
                <a:solidFill>
                  <a:schemeClr val="lt1"/>
                </a:solidFill>
                <a:latin typeface="Proxima Nova"/>
                <a:ea typeface="Proxima Nova"/>
                <a:cs typeface="Proxima Nova"/>
                <a:sym typeface="Proxima Nova"/>
              </a:rPr>
              <a:t>Cornell</a:t>
            </a:r>
            <a:endParaRPr b="1" sz="3400">
              <a:solidFill>
                <a:schemeClr val="lt1"/>
              </a:solidFill>
              <a:latin typeface="Proxima Nova"/>
              <a:ea typeface="Proxima Nova"/>
              <a:cs typeface="Proxima Nova"/>
              <a:sym typeface="Proxima Nova"/>
            </a:endParaRPr>
          </a:p>
          <a:p>
            <a:pPr indent="0" lvl="0" marL="0" rtl="0" algn="l">
              <a:lnSpc>
                <a:spcPct val="85000"/>
              </a:lnSpc>
              <a:spcBef>
                <a:spcPts val="0"/>
              </a:spcBef>
              <a:spcAft>
                <a:spcPts val="0"/>
              </a:spcAft>
              <a:buNone/>
            </a:pPr>
            <a:r>
              <a:rPr b="1" lang="en" sz="3400">
                <a:solidFill>
                  <a:schemeClr val="lt1"/>
                </a:solidFill>
                <a:latin typeface="Proxima Nova"/>
                <a:ea typeface="Proxima Nova"/>
                <a:cs typeface="Proxima Nova"/>
                <a:sym typeface="Proxima Nova"/>
              </a:rPr>
              <a:t>Bitcoin </a:t>
            </a:r>
            <a:endParaRPr b="1" sz="3400">
              <a:solidFill>
                <a:schemeClr val="lt1"/>
              </a:solidFill>
              <a:latin typeface="Proxima Nova"/>
              <a:ea typeface="Proxima Nova"/>
              <a:cs typeface="Proxima Nova"/>
              <a:sym typeface="Proxima Nova"/>
            </a:endParaRPr>
          </a:p>
          <a:p>
            <a:pPr indent="0" lvl="0" marL="0" rtl="0" algn="l">
              <a:lnSpc>
                <a:spcPct val="85000"/>
              </a:lnSpc>
              <a:spcBef>
                <a:spcPts val="0"/>
              </a:spcBef>
              <a:spcAft>
                <a:spcPts val="0"/>
              </a:spcAft>
              <a:buNone/>
            </a:pPr>
            <a:r>
              <a:rPr b="1" lang="en" sz="3400">
                <a:solidFill>
                  <a:schemeClr val="lt1"/>
                </a:solidFill>
                <a:latin typeface="Proxima Nova"/>
                <a:ea typeface="Proxima Nova"/>
                <a:cs typeface="Proxima Nova"/>
                <a:sym typeface="Proxima Nova"/>
              </a:rPr>
              <a:t>Club</a:t>
            </a:r>
            <a:endParaRPr b="1" sz="3400">
              <a:solidFill>
                <a:schemeClr val="lt1"/>
              </a:solidFill>
              <a:latin typeface="Proxima Nova"/>
              <a:ea typeface="Proxima Nova"/>
              <a:cs typeface="Proxima Nova"/>
              <a:sym typeface="Proxima Nova"/>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77"/>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If nothing else, know…</a:t>
            </a:r>
            <a:endParaRPr/>
          </a:p>
        </p:txBody>
      </p:sp>
      <p:pic>
        <p:nvPicPr>
          <p:cNvPr id="529" name="Google Shape;529;p77"/>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530" name="Google Shape;530;p77"/>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78"/>
          <p:cNvSpPr txBox="1"/>
          <p:nvPr>
            <p:ph type="title"/>
          </p:nvPr>
        </p:nvSpPr>
        <p:spPr>
          <a:xfrm>
            <a:off x="460950" y="2065350"/>
            <a:ext cx="8222100" cy="1425300"/>
          </a:xfrm>
          <a:prstGeom prst="rect">
            <a:avLst/>
          </a:prstGeom>
        </p:spPr>
        <p:txBody>
          <a:bodyPr anchorCtr="0" anchor="ctr" bIns="91425" lIns="91425" spcFirstLastPara="1" rIns="91425" wrap="square" tIns="91425">
            <a:normAutofit fontScale="90000"/>
          </a:bodyPr>
          <a:lstStyle/>
          <a:p>
            <a:pPr indent="-468630" lvl="0" marL="457200" rtl="0" algn="l">
              <a:spcBef>
                <a:spcPts val="0"/>
              </a:spcBef>
              <a:spcAft>
                <a:spcPts val="0"/>
              </a:spcAft>
              <a:buSzPct val="100000"/>
              <a:buAutoNum type="arabicPeriod"/>
            </a:pPr>
            <a:r>
              <a:rPr lang="en"/>
              <a:t>bitcoin is a tool in your toolbox. </a:t>
            </a:r>
            <a:endParaRPr/>
          </a:p>
          <a:p>
            <a:pPr indent="-322898" lvl="1" marL="914400" rtl="0" algn="l">
              <a:spcBef>
                <a:spcPts val="0"/>
              </a:spcBef>
              <a:spcAft>
                <a:spcPts val="0"/>
              </a:spcAft>
              <a:buSzPct val="100000"/>
              <a:buChar char="○"/>
            </a:pPr>
            <a:r>
              <a:rPr lang="en" sz="1650"/>
              <a:t>to protect against monetary debasement and uncertainty</a:t>
            </a:r>
            <a:endParaRPr sz="1650"/>
          </a:p>
          <a:p>
            <a:pPr indent="-322898" lvl="1" marL="914400" rtl="0" algn="l">
              <a:spcBef>
                <a:spcPts val="0"/>
              </a:spcBef>
              <a:spcAft>
                <a:spcPts val="0"/>
              </a:spcAft>
              <a:buSzPct val="100000"/>
              <a:buChar char="○"/>
            </a:pPr>
            <a:r>
              <a:rPr lang="en" sz="1650"/>
              <a:t>It’s not a “hedge” &amp; It’s not a solution in search of a problem</a:t>
            </a:r>
            <a:endParaRPr sz="1650"/>
          </a:p>
          <a:p>
            <a:pPr indent="-322898" lvl="1" marL="914400" rtl="0" algn="l">
              <a:spcBef>
                <a:spcPts val="0"/>
              </a:spcBef>
              <a:spcAft>
                <a:spcPts val="0"/>
              </a:spcAft>
              <a:buSzPct val="100000"/>
              <a:buChar char="○"/>
            </a:pPr>
            <a:r>
              <a:rPr lang="en" sz="1650"/>
              <a:t>It’s a reset button</a:t>
            </a:r>
            <a:endParaRPr sz="1650"/>
          </a:p>
          <a:p>
            <a:pPr indent="0" lvl="0" marL="0" rtl="0" algn="l">
              <a:spcBef>
                <a:spcPts val="0"/>
              </a:spcBef>
              <a:spcAft>
                <a:spcPts val="0"/>
              </a:spcAft>
              <a:buNone/>
            </a:pPr>
            <a:r>
              <a:t/>
            </a:r>
            <a:endParaRPr i="1" sz="1650"/>
          </a:p>
        </p:txBody>
      </p:sp>
      <p:pic>
        <p:nvPicPr>
          <p:cNvPr id="536" name="Google Shape;536;p78"/>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537" name="Google Shape;537;p78"/>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79"/>
          <p:cNvSpPr txBox="1"/>
          <p:nvPr>
            <p:ph type="title"/>
          </p:nvPr>
        </p:nvSpPr>
        <p:spPr>
          <a:xfrm>
            <a:off x="460950" y="2065350"/>
            <a:ext cx="8222100" cy="1012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2. Take your bitcoin off exchanges. </a:t>
            </a:r>
            <a:endParaRPr/>
          </a:p>
        </p:txBody>
      </p:sp>
      <p:pic>
        <p:nvPicPr>
          <p:cNvPr id="543" name="Google Shape;543;p79"/>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544" name="Google Shape;544;p79"/>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80"/>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3. Our door is always open. </a:t>
            </a:r>
            <a:endParaRPr/>
          </a:p>
        </p:txBody>
      </p:sp>
      <p:pic>
        <p:nvPicPr>
          <p:cNvPr id="550" name="Google Shape;550;p80"/>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551" name="Google Shape;551;p80"/>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81"/>
          <p:cNvSpPr txBox="1"/>
          <p:nvPr/>
        </p:nvSpPr>
        <p:spPr>
          <a:xfrm>
            <a:off x="2386811" y="1984899"/>
            <a:ext cx="1452900" cy="54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Proxima Nova"/>
                <a:ea typeface="Proxima Nova"/>
                <a:cs typeface="Proxima Nova"/>
                <a:sym typeface="Proxima Nova"/>
              </a:rPr>
              <a:t>Jennifer Sun ‘25</a:t>
            </a:r>
            <a:endParaRPr sz="1200">
              <a:solidFill>
                <a:schemeClr val="lt1"/>
              </a:solidFill>
              <a:latin typeface="Proxima Nova"/>
              <a:ea typeface="Proxima Nova"/>
              <a:cs typeface="Proxima Nova"/>
              <a:sym typeface="Proxima Nova"/>
            </a:endParaRPr>
          </a:p>
          <a:p>
            <a:pPr indent="0" lvl="0" marL="0" rtl="0" algn="ctr">
              <a:spcBef>
                <a:spcPts val="0"/>
              </a:spcBef>
              <a:spcAft>
                <a:spcPts val="0"/>
              </a:spcAft>
              <a:buNone/>
            </a:pPr>
            <a:r>
              <a:rPr lang="en" sz="1200">
                <a:solidFill>
                  <a:schemeClr val="lt1"/>
                </a:solidFill>
                <a:latin typeface="Proxima Nova"/>
                <a:ea typeface="Proxima Nova"/>
                <a:cs typeface="Proxima Nova"/>
                <a:sym typeface="Proxima Nova"/>
              </a:rPr>
              <a:t>Vice President</a:t>
            </a:r>
            <a:endParaRPr sz="1200">
              <a:solidFill>
                <a:schemeClr val="lt1"/>
              </a:solidFill>
              <a:latin typeface="Proxima Nova"/>
              <a:ea typeface="Proxima Nova"/>
              <a:cs typeface="Proxima Nova"/>
              <a:sym typeface="Proxima Nova"/>
            </a:endParaRPr>
          </a:p>
        </p:txBody>
      </p:sp>
      <p:sp>
        <p:nvSpPr>
          <p:cNvPr id="557" name="Google Shape;557;p81"/>
          <p:cNvSpPr txBox="1"/>
          <p:nvPr/>
        </p:nvSpPr>
        <p:spPr>
          <a:xfrm>
            <a:off x="2243000" y="4109727"/>
            <a:ext cx="1640700" cy="54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Proxima Nova"/>
                <a:ea typeface="Proxima Nova"/>
                <a:cs typeface="Proxima Nova"/>
                <a:sym typeface="Proxima Nova"/>
              </a:rPr>
              <a:t>Rafaela Baldeon ‘27</a:t>
            </a:r>
            <a:endParaRPr sz="1200">
              <a:solidFill>
                <a:schemeClr val="lt1"/>
              </a:solidFill>
              <a:latin typeface="Proxima Nova"/>
              <a:ea typeface="Proxima Nova"/>
              <a:cs typeface="Proxima Nova"/>
              <a:sym typeface="Proxima Nova"/>
            </a:endParaRPr>
          </a:p>
          <a:p>
            <a:pPr indent="0" lvl="0" marL="0" rtl="0" algn="ctr">
              <a:spcBef>
                <a:spcPts val="0"/>
              </a:spcBef>
              <a:spcAft>
                <a:spcPts val="0"/>
              </a:spcAft>
              <a:buNone/>
            </a:pPr>
            <a:r>
              <a:rPr lang="en" sz="1200">
                <a:solidFill>
                  <a:schemeClr val="lt1"/>
                </a:solidFill>
                <a:latin typeface="Proxima Nova"/>
                <a:ea typeface="Proxima Nova"/>
                <a:cs typeface="Proxima Nova"/>
                <a:sym typeface="Proxima Nova"/>
              </a:rPr>
              <a:t>VP of Engagement</a:t>
            </a:r>
            <a:endParaRPr sz="1200">
              <a:solidFill>
                <a:schemeClr val="lt1"/>
              </a:solidFill>
              <a:latin typeface="Proxima Nova"/>
              <a:ea typeface="Proxima Nova"/>
              <a:cs typeface="Proxima Nova"/>
              <a:sym typeface="Proxima Nova"/>
            </a:endParaRPr>
          </a:p>
          <a:p>
            <a:pPr indent="0" lvl="0" marL="0" rtl="0" algn="ctr">
              <a:spcBef>
                <a:spcPts val="0"/>
              </a:spcBef>
              <a:spcAft>
                <a:spcPts val="0"/>
              </a:spcAft>
              <a:buNone/>
            </a:pPr>
            <a:r>
              <a:t/>
            </a:r>
            <a:endParaRPr sz="1200">
              <a:solidFill>
                <a:schemeClr val="lt1"/>
              </a:solidFill>
              <a:latin typeface="Proxima Nova"/>
              <a:ea typeface="Proxima Nova"/>
              <a:cs typeface="Proxima Nova"/>
              <a:sym typeface="Proxima Nova"/>
            </a:endParaRPr>
          </a:p>
        </p:txBody>
      </p:sp>
      <p:sp>
        <p:nvSpPr>
          <p:cNvPr id="558" name="Google Shape;558;p81"/>
          <p:cNvSpPr txBox="1"/>
          <p:nvPr/>
        </p:nvSpPr>
        <p:spPr>
          <a:xfrm>
            <a:off x="3883708" y="1965499"/>
            <a:ext cx="1727700" cy="54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Proxima Nova"/>
                <a:ea typeface="Proxima Nova"/>
                <a:cs typeface="Proxima Nova"/>
                <a:sym typeface="Proxima Nova"/>
              </a:rPr>
              <a:t>Victoria Varkonyi </a:t>
            </a:r>
            <a:r>
              <a:rPr lang="en" sz="1200">
                <a:solidFill>
                  <a:schemeClr val="lt1"/>
                </a:solidFill>
                <a:latin typeface="Proxima Nova"/>
                <a:ea typeface="Proxima Nova"/>
                <a:cs typeface="Proxima Nova"/>
                <a:sym typeface="Proxima Nova"/>
              </a:rPr>
              <a:t>'25</a:t>
            </a:r>
            <a:endParaRPr sz="1200">
              <a:solidFill>
                <a:schemeClr val="lt1"/>
              </a:solidFill>
              <a:latin typeface="Proxima Nova"/>
              <a:ea typeface="Proxima Nova"/>
              <a:cs typeface="Proxima Nova"/>
              <a:sym typeface="Proxima Nova"/>
            </a:endParaRPr>
          </a:p>
          <a:p>
            <a:pPr indent="0" lvl="0" marL="0" rtl="0" algn="ctr">
              <a:spcBef>
                <a:spcPts val="0"/>
              </a:spcBef>
              <a:spcAft>
                <a:spcPts val="0"/>
              </a:spcAft>
              <a:buNone/>
            </a:pPr>
            <a:r>
              <a:rPr lang="en" sz="1200">
                <a:solidFill>
                  <a:schemeClr val="lt1"/>
                </a:solidFill>
                <a:latin typeface="Proxima Nova"/>
                <a:ea typeface="Proxima Nova"/>
                <a:cs typeface="Proxima Nova"/>
                <a:sym typeface="Proxima Nova"/>
              </a:rPr>
              <a:t>Treasurer</a:t>
            </a:r>
            <a:endParaRPr sz="1200">
              <a:solidFill>
                <a:schemeClr val="lt1"/>
              </a:solidFill>
              <a:latin typeface="Proxima Nova"/>
              <a:ea typeface="Proxima Nova"/>
              <a:cs typeface="Proxima Nova"/>
              <a:sym typeface="Proxima Nova"/>
            </a:endParaRPr>
          </a:p>
        </p:txBody>
      </p:sp>
      <p:sp>
        <p:nvSpPr>
          <p:cNvPr id="559" name="Google Shape;559;p81"/>
          <p:cNvSpPr txBox="1"/>
          <p:nvPr/>
        </p:nvSpPr>
        <p:spPr>
          <a:xfrm>
            <a:off x="4063822" y="4109727"/>
            <a:ext cx="1452900" cy="54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Proxima Nova"/>
                <a:ea typeface="Proxima Nova"/>
                <a:cs typeface="Proxima Nova"/>
                <a:sym typeface="Proxima Nova"/>
              </a:rPr>
              <a:t>Maggie Gao ‘27</a:t>
            </a:r>
            <a:endParaRPr sz="1200">
              <a:solidFill>
                <a:schemeClr val="lt1"/>
              </a:solidFill>
              <a:latin typeface="Proxima Nova"/>
              <a:ea typeface="Proxima Nova"/>
              <a:cs typeface="Proxima Nova"/>
              <a:sym typeface="Proxima Nova"/>
            </a:endParaRPr>
          </a:p>
          <a:p>
            <a:pPr indent="0" lvl="0" marL="0" rtl="0" algn="ctr">
              <a:spcBef>
                <a:spcPts val="0"/>
              </a:spcBef>
              <a:spcAft>
                <a:spcPts val="0"/>
              </a:spcAft>
              <a:buNone/>
            </a:pPr>
            <a:r>
              <a:rPr lang="en" sz="1200">
                <a:solidFill>
                  <a:schemeClr val="lt1"/>
                </a:solidFill>
                <a:latin typeface="Proxima Nova"/>
                <a:ea typeface="Proxima Nova"/>
                <a:cs typeface="Proxima Nova"/>
                <a:sym typeface="Proxima Nova"/>
              </a:rPr>
              <a:t>UG Co-Lead</a:t>
            </a:r>
            <a:endParaRPr sz="1200">
              <a:solidFill>
                <a:schemeClr val="lt1"/>
              </a:solidFill>
              <a:latin typeface="Proxima Nova"/>
              <a:ea typeface="Proxima Nova"/>
              <a:cs typeface="Proxima Nova"/>
              <a:sym typeface="Proxima Nova"/>
            </a:endParaRPr>
          </a:p>
        </p:txBody>
      </p:sp>
      <p:sp>
        <p:nvSpPr>
          <p:cNvPr id="560" name="Google Shape;560;p81"/>
          <p:cNvSpPr txBox="1"/>
          <p:nvPr/>
        </p:nvSpPr>
        <p:spPr>
          <a:xfrm>
            <a:off x="5473457" y="1984900"/>
            <a:ext cx="1727700" cy="54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Proxima Nova"/>
                <a:ea typeface="Proxima Nova"/>
                <a:cs typeface="Proxima Nova"/>
                <a:sym typeface="Proxima Nova"/>
              </a:rPr>
              <a:t>Matthew Correa ‘26</a:t>
            </a:r>
            <a:endParaRPr sz="1200">
              <a:solidFill>
                <a:schemeClr val="lt1"/>
              </a:solidFill>
              <a:latin typeface="Proxima Nova"/>
              <a:ea typeface="Proxima Nova"/>
              <a:cs typeface="Proxima Nova"/>
              <a:sym typeface="Proxima Nova"/>
            </a:endParaRPr>
          </a:p>
          <a:p>
            <a:pPr indent="0" lvl="0" marL="0" rtl="0" algn="ctr">
              <a:spcBef>
                <a:spcPts val="0"/>
              </a:spcBef>
              <a:spcAft>
                <a:spcPts val="0"/>
              </a:spcAft>
              <a:buNone/>
            </a:pPr>
            <a:r>
              <a:rPr lang="en" sz="1200">
                <a:solidFill>
                  <a:schemeClr val="lt1"/>
                </a:solidFill>
                <a:latin typeface="Proxima Nova"/>
                <a:ea typeface="Proxima Nova"/>
                <a:cs typeface="Proxima Nova"/>
                <a:sym typeface="Proxima Nova"/>
              </a:rPr>
              <a:t>Secretary</a:t>
            </a:r>
            <a:endParaRPr sz="1200">
              <a:solidFill>
                <a:schemeClr val="lt1"/>
              </a:solidFill>
              <a:latin typeface="Proxima Nova"/>
              <a:ea typeface="Proxima Nova"/>
              <a:cs typeface="Proxima Nova"/>
              <a:sym typeface="Proxima Nova"/>
            </a:endParaRPr>
          </a:p>
        </p:txBody>
      </p:sp>
      <p:sp>
        <p:nvSpPr>
          <p:cNvPr id="561" name="Google Shape;561;p81"/>
          <p:cNvSpPr txBox="1"/>
          <p:nvPr/>
        </p:nvSpPr>
        <p:spPr>
          <a:xfrm>
            <a:off x="5664446" y="4129127"/>
            <a:ext cx="1452900" cy="54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Proxima Nova"/>
                <a:ea typeface="Proxima Nova"/>
                <a:cs typeface="Proxima Nova"/>
                <a:sym typeface="Proxima Nova"/>
              </a:rPr>
              <a:t>Bruno Chong ‘27</a:t>
            </a:r>
            <a:endParaRPr sz="1200">
              <a:solidFill>
                <a:schemeClr val="lt1"/>
              </a:solidFill>
              <a:latin typeface="Proxima Nova"/>
              <a:ea typeface="Proxima Nova"/>
              <a:cs typeface="Proxima Nova"/>
              <a:sym typeface="Proxima Nova"/>
            </a:endParaRPr>
          </a:p>
          <a:p>
            <a:pPr indent="0" lvl="0" marL="0" rtl="0" algn="ctr">
              <a:spcBef>
                <a:spcPts val="0"/>
              </a:spcBef>
              <a:spcAft>
                <a:spcPts val="0"/>
              </a:spcAft>
              <a:buNone/>
            </a:pPr>
            <a:r>
              <a:rPr lang="en" sz="1200">
                <a:solidFill>
                  <a:schemeClr val="lt1"/>
                </a:solidFill>
                <a:latin typeface="Proxima Nova"/>
                <a:ea typeface="Proxima Nova"/>
                <a:cs typeface="Proxima Nova"/>
                <a:sym typeface="Proxima Nova"/>
              </a:rPr>
              <a:t>Academics Lead </a:t>
            </a:r>
            <a:endParaRPr sz="1200">
              <a:solidFill>
                <a:schemeClr val="lt1"/>
              </a:solidFill>
              <a:latin typeface="Proxima Nova"/>
              <a:ea typeface="Proxima Nova"/>
              <a:cs typeface="Proxima Nova"/>
              <a:sym typeface="Proxima Nova"/>
            </a:endParaRPr>
          </a:p>
        </p:txBody>
      </p:sp>
      <p:sp>
        <p:nvSpPr>
          <p:cNvPr id="562" name="Google Shape;562;p81"/>
          <p:cNvSpPr txBox="1"/>
          <p:nvPr/>
        </p:nvSpPr>
        <p:spPr>
          <a:xfrm>
            <a:off x="7287168" y="1954676"/>
            <a:ext cx="1452900" cy="54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Proxima Nova"/>
                <a:ea typeface="Proxima Nova"/>
                <a:cs typeface="Proxima Nova"/>
                <a:sym typeface="Proxima Nova"/>
              </a:rPr>
              <a:t>Brian Liu ‘26</a:t>
            </a:r>
            <a:endParaRPr sz="1200">
              <a:solidFill>
                <a:schemeClr val="lt1"/>
              </a:solidFill>
              <a:latin typeface="Proxima Nova"/>
              <a:ea typeface="Proxima Nova"/>
              <a:cs typeface="Proxima Nova"/>
              <a:sym typeface="Proxima Nova"/>
            </a:endParaRPr>
          </a:p>
          <a:p>
            <a:pPr indent="0" lvl="0" marL="0" rtl="0" algn="ctr">
              <a:spcBef>
                <a:spcPts val="0"/>
              </a:spcBef>
              <a:spcAft>
                <a:spcPts val="0"/>
              </a:spcAft>
              <a:buNone/>
            </a:pPr>
            <a:r>
              <a:rPr lang="en" sz="1200">
                <a:solidFill>
                  <a:schemeClr val="lt1"/>
                </a:solidFill>
                <a:latin typeface="Proxima Nova"/>
                <a:ea typeface="Proxima Nova"/>
                <a:cs typeface="Proxima Nova"/>
                <a:sym typeface="Proxima Nova"/>
              </a:rPr>
              <a:t>UG Co-Lead</a:t>
            </a:r>
            <a:endParaRPr sz="1200">
              <a:solidFill>
                <a:schemeClr val="lt1"/>
              </a:solidFill>
              <a:latin typeface="Proxima Nova"/>
              <a:ea typeface="Proxima Nova"/>
              <a:cs typeface="Proxima Nova"/>
              <a:sym typeface="Proxima Nova"/>
            </a:endParaRPr>
          </a:p>
        </p:txBody>
      </p:sp>
      <p:sp>
        <p:nvSpPr>
          <p:cNvPr id="563" name="Google Shape;563;p81"/>
          <p:cNvSpPr txBox="1"/>
          <p:nvPr/>
        </p:nvSpPr>
        <p:spPr>
          <a:xfrm>
            <a:off x="7330454" y="4129120"/>
            <a:ext cx="1452900" cy="54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Proxima Nova"/>
                <a:ea typeface="Proxima Nova"/>
                <a:cs typeface="Proxima Nova"/>
                <a:sym typeface="Proxima Nova"/>
              </a:rPr>
              <a:t>Emily Gibbons ‘27</a:t>
            </a:r>
            <a:endParaRPr sz="1200">
              <a:solidFill>
                <a:schemeClr val="lt1"/>
              </a:solidFill>
              <a:latin typeface="Proxima Nova"/>
              <a:ea typeface="Proxima Nova"/>
              <a:cs typeface="Proxima Nova"/>
              <a:sym typeface="Proxima Nova"/>
            </a:endParaRPr>
          </a:p>
          <a:p>
            <a:pPr indent="0" lvl="0" marL="0" rtl="0" algn="ctr">
              <a:spcBef>
                <a:spcPts val="0"/>
              </a:spcBef>
              <a:spcAft>
                <a:spcPts val="0"/>
              </a:spcAft>
              <a:buNone/>
            </a:pPr>
            <a:r>
              <a:rPr lang="en" sz="1200">
                <a:solidFill>
                  <a:schemeClr val="lt1"/>
                </a:solidFill>
                <a:latin typeface="Proxima Nova"/>
                <a:ea typeface="Proxima Nova"/>
                <a:cs typeface="Proxima Nova"/>
                <a:sym typeface="Proxima Nova"/>
              </a:rPr>
              <a:t>Athletics Lead</a:t>
            </a:r>
            <a:endParaRPr sz="1200">
              <a:solidFill>
                <a:schemeClr val="lt1"/>
              </a:solidFill>
              <a:latin typeface="Proxima Nova"/>
              <a:ea typeface="Proxima Nova"/>
              <a:cs typeface="Proxima Nova"/>
              <a:sym typeface="Proxima Nova"/>
            </a:endParaRPr>
          </a:p>
        </p:txBody>
      </p:sp>
      <p:pic>
        <p:nvPicPr>
          <p:cNvPr id="564" name="Google Shape;564;p81"/>
          <p:cNvPicPr preferRelativeResize="0"/>
          <p:nvPr/>
        </p:nvPicPr>
        <p:blipFill>
          <a:blip r:embed="rId3">
            <a:alphaModFix/>
          </a:blip>
          <a:stretch>
            <a:fillRect/>
          </a:stretch>
        </p:blipFill>
        <p:spPr>
          <a:xfrm>
            <a:off x="2430061" y="523600"/>
            <a:ext cx="1366370" cy="1391226"/>
          </a:xfrm>
          <a:prstGeom prst="rect">
            <a:avLst/>
          </a:prstGeom>
          <a:noFill/>
          <a:ln>
            <a:noFill/>
          </a:ln>
        </p:spPr>
      </p:pic>
      <p:pic>
        <p:nvPicPr>
          <p:cNvPr id="565" name="Google Shape;565;p81"/>
          <p:cNvPicPr preferRelativeResize="0"/>
          <p:nvPr/>
        </p:nvPicPr>
        <p:blipFill>
          <a:blip r:embed="rId4">
            <a:alphaModFix/>
          </a:blip>
          <a:stretch>
            <a:fillRect/>
          </a:stretch>
        </p:blipFill>
        <p:spPr>
          <a:xfrm>
            <a:off x="4107073" y="523590"/>
            <a:ext cx="1366371" cy="1391225"/>
          </a:xfrm>
          <a:prstGeom prst="rect">
            <a:avLst/>
          </a:prstGeom>
          <a:noFill/>
          <a:ln>
            <a:noFill/>
          </a:ln>
        </p:spPr>
      </p:pic>
      <p:pic>
        <p:nvPicPr>
          <p:cNvPr id="566" name="Google Shape;566;p81"/>
          <p:cNvPicPr preferRelativeResize="0"/>
          <p:nvPr/>
        </p:nvPicPr>
        <p:blipFill>
          <a:blip r:embed="rId5">
            <a:alphaModFix/>
          </a:blip>
          <a:stretch>
            <a:fillRect/>
          </a:stretch>
        </p:blipFill>
        <p:spPr>
          <a:xfrm>
            <a:off x="5685588" y="509358"/>
            <a:ext cx="1410600" cy="1436254"/>
          </a:xfrm>
          <a:prstGeom prst="rect">
            <a:avLst/>
          </a:prstGeom>
          <a:noFill/>
          <a:ln>
            <a:noFill/>
          </a:ln>
        </p:spPr>
      </p:pic>
      <p:pic>
        <p:nvPicPr>
          <p:cNvPr id="567" name="Google Shape;567;p81"/>
          <p:cNvPicPr preferRelativeResize="0"/>
          <p:nvPr/>
        </p:nvPicPr>
        <p:blipFill>
          <a:blip r:embed="rId6">
            <a:alphaModFix/>
          </a:blip>
          <a:stretch>
            <a:fillRect/>
          </a:stretch>
        </p:blipFill>
        <p:spPr>
          <a:xfrm>
            <a:off x="2430061" y="2625907"/>
            <a:ext cx="1366370" cy="1391226"/>
          </a:xfrm>
          <a:prstGeom prst="rect">
            <a:avLst/>
          </a:prstGeom>
          <a:noFill/>
          <a:ln>
            <a:noFill/>
          </a:ln>
        </p:spPr>
      </p:pic>
      <p:pic>
        <p:nvPicPr>
          <p:cNvPr id="568" name="Google Shape;568;p81"/>
          <p:cNvPicPr preferRelativeResize="0"/>
          <p:nvPr/>
        </p:nvPicPr>
        <p:blipFill>
          <a:blip r:embed="rId7">
            <a:alphaModFix/>
          </a:blip>
          <a:stretch>
            <a:fillRect/>
          </a:stretch>
        </p:blipFill>
        <p:spPr>
          <a:xfrm>
            <a:off x="4107085" y="2625905"/>
            <a:ext cx="1366370" cy="1391226"/>
          </a:xfrm>
          <a:prstGeom prst="rect">
            <a:avLst/>
          </a:prstGeom>
          <a:noFill/>
          <a:ln>
            <a:noFill/>
          </a:ln>
        </p:spPr>
      </p:pic>
      <p:pic>
        <p:nvPicPr>
          <p:cNvPr id="569" name="Google Shape;569;p81"/>
          <p:cNvPicPr preferRelativeResize="0"/>
          <p:nvPr/>
        </p:nvPicPr>
        <p:blipFill>
          <a:blip r:embed="rId8">
            <a:alphaModFix/>
          </a:blip>
          <a:stretch>
            <a:fillRect/>
          </a:stretch>
        </p:blipFill>
        <p:spPr>
          <a:xfrm>
            <a:off x="7308350" y="501087"/>
            <a:ext cx="1410600" cy="1436254"/>
          </a:xfrm>
          <a:prstGeom prst="rect">
            <a:avLst/>
          </a:prstGeom>
          <a:noFill/>
          <a:ln>
            <a:noFill/>
          </a:ln>
        </p:spPr>
      </p:pic>
      <p:pic>
        <p:nvPicPr>
          <p:cNvPr id="570" name="Google Shape;570;p81"/>
          <p:cNvPicPr preferRelativeResize="0"/>
          <p:nvPr/>
        </p:nvPicPr>
        <p:blipFill>
          <a:blip r:embed="rId9">
            <a:alphaModFix/>
          </a:blip>
          <a:stretch>
            <a:fillRect/>
          </a:stretch>
        </p:blipFill>
        <p:spPr>
          <a:xfrm>
            <a:off x="7330443" y="2595152"/>
            <a:ext cx="1366370" cy="1391226"/>
          </a:xfrm>
          <a:prstGeom prst="rect">
            <a:avLst/>
          </a:prstGeom>
          <a:noFill/>
          <a:ln>
            <a:noFill/>
          </a:ln>
        </p:spPr>
      </p:pic>
      <p:pic>
        <p:nvPicPr>
          <p:cNvPr id="571" name="Google Shape;571;p81"/>
          <p:cNvPicPr preferRelativeResize="0"/>
          <p:nvPr/>
        </p:nvPicPr>
        <p:blipFill>
          <a:blip r:embed="rId10">
            <a:alphaModFix/>
          </a:blip>
          <a:stretch>
            <a:fillRect/>
          </a:stretch>
        </p:blipFill>
        <p:spPr>
          <a:xfrm>
            <a:off x="5675304" y="2572611"/>
            <a:ext cx="1410608" cy="1436290"/>
          </a:xfrm>
          <a:prstGeom prst="rect">
            <a:avLst/>
          </a:prstGeom>
          <a:noFill/>
          <a:ln>
            <a:noFill/>
          </a:ln>
        </p:spPr>
      </p:pic>
      <p:pic>
        <p:nvPicPr>
          <p:cNvPr id="572" name="Google Shape;572;p81"/>
          <p:cNvPicPr preferRelativeResize="0"/>
          <p:nvPr/>
        </p:nvPicPr>
        <p:blipFill>
          <a:blip r:embed="rId11">
            <a:alphaModFix/>
          </a:blip>
          <a:stretch>
            <a:fillRect/>
          </a:stretch>
        </p:blipFill>
        <p:spPr>
          <a:xfrm>
            <a:off x="839586" y="156850"/>
            <a:ext cx="1193075" cy="1193047"/>
          </a:xfrm>
          <a:prstGeom prst="rect">
            <a:avLst/>
          </a:prstGeom>
          <a:noFill/>
          <a:ln>
            <a:noFill/>
          </a:ln>
        </p:spPr>
      </p:pic>
      <p:pic>
        <p:nvPicPr>
          <p:cNvPr id="573" name="Google Shape;573;p81"/>
          <p:cNvPicPr preferRelativeResize="0"/>
          <p:nvPr/>
        </p:nvPicPr>
        <p:blipFill>
          <a:blip r:embed="rId12">
            <a:alphaModFix/>
          </a:blip>
          <a:stretch>
            <a:fillRect/>
          </a:stretch>
        </p:blipFill>
        <p:spPr>
          <a:xfrm>
            <a:off x="870488" y="1887063"/>
            <a:ext cx="1131300" cy="1131300"/>
          </a:xfrm>
          <a:prstGeom prst="rect">
            <a:avLst/>
          </a:prstGeom>
          <a:noFill/>
          <a:ln>
            <a:noFill/>
          </a:ln>
        </p:spPr>
      </p:pic>
      <p:pic>
        <p:nvPicPr>
          <p:cNvPr id="574" name="Google Shape;574;p81"/>
          <p:cNvPicPr preferRelativeResize="0"/>
          <p:nvPr/>
        </p:nvPicPr>
        <p:blipFill>
          <a:blip r:embed="rId13">
            <a:alphaModFix/>
          </a:blip>
          <a:stretch>
            <a:fillRect/>
          </a:stretch>
        </p:blipFill>
        <p:spPr>
          <a:xfrm>
            <a:off x="870487" y="3520850"/>
            <a:ext cx="1131300" cy="1131300"/>
          </a:xfrm>
          <a:prstGeom prst="rect">
            <a:avLst/>
          </a:prstGeom>
          <a:noFill/>
          <a:ln>
            <a:noFill/>
          </a:ln>
        </p:spPr>
      </p:pic>
      <p:sp>
        <p:nvSpPr>
          <p:cNvPr id="575" name="Google Shape;575;p81"/>
          <p:cNvSpPr txBox="1"/>
          <p:nvPr/>
        </p:nvSpPr>
        <p:spPr>
          <a:xfrm>
            <a:off x="839575" y="1405600"/>
            <a:ext cx="11931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lt1"/>
                </a:solidFill>
                <a:latin typeface="Proxima Nova"/>
                <a:ea typeface="Proxima Nova"/>
                <a:cs typeface="Proxima Nova"/>
                <a:sym typeface="Proxima Nova"/>
              </a:rPr>
              <a:t>Dr. Sarah Kreps</a:t>
            </a:r>
            <a:endParaRPr sz="1000">
              <a:solidFill>
                <a:schemeClr val="lt1"/>
              </a:solidFill>
              <a:latin typeface="Proxima Nova"/>
              <a:ea typeface="Proxima Nova"/>
              <a:cs typeface="Proxima Nova"/>
              <a:sym typeface="Proxima Nova"/>
            </a:endParaRPr>
          </a:p>
          <a:p>
            <a:pPr indent="0" lvl="0" marL="0" rtl="0" algn="ctr">
              <a:spcBef>
                <a:spcPts val="0"/>
              </a:spcBef>
              <a:spcAft>
                <a:spcPts val="0"/>
              </a:spcAft>
              <a:buNone/>
            </a:pPr>
            <a:r>
              <a:rPr lang="en" sz="1000">
                <a:solidFill>
                  <a:schemeClr val="lt1"/>
                </a:solidFill>
                <a:latin typeface="Proxima Nova"/>
                <a:ea typeface="Proxima Nova"/>
                <a:cs typeface="Proxima Nova"/>
                <a:sym typeface="Proxima Nova"/>
              </a:rPr>
              <a:t>Advisor</a:t>
            </a:r>
            <a:endParaRPr sz="1000">
              <a:solidFill>
                <a:schemeClr val="lt1"/>
              </a:solidFill>
              <a:latin typeface="Proxima Nova"/>
              <a:ea typeface="Proxima Nova"/>
              <a:cs typeface="Proxima Nova"/>
              <a:sym typeface="Proxima Nova"/>
            </a:endParaRPr>
          </a:p>
        </p:txBody>
      </p:sp>
      <p:sp>
        <p:nvSpPr>
          <p:cNvPr id="576" name="Google Shape;576;p81"/>
          <p:cNvSpPr txBox="1"/>
          <p:nvPr/>
        </p:nvSpPr>
        <p:spPr>
          <a:xfrm>
            <a:off x="752888" y="3028250"/>
            <a:ext cx="13665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lt1"/>
                </a:solidFill>
                <a:latin typeface="Proxima Nova"/>
                <a:ea typeface="Proxima Nova"/>
                <a:cs typeface="Proxima Nova"/>
                <a:sym typeface="Proxima Nova"/>
              </a:rPr>
              <a:t>Ella Hough ‘25</a:t>
            </a:r>
            <a:endParaRPr sz="1000">
              <a:solidFill>
                <a:schemeClr val="lt1"/>
              </a:solidFill>
              <a:latin typeface="Proxima Nova"/>
              <a:ea typeface="Proxima Nova"/>
              <a:cs typeface="Proxima Nova"/>
              <a:sym typeface="Proxima Nova"/>
            </a:endParaRPr>
          </a:p>
          <a:p>
            <a:pPr indent="0" lvl="0" marL="0" rtl="0" algn="ctr">
              <a:spcBef>
                <a:spcPts val="0"/>
              </a:spcBef>
              <a:spcAft>
                <a:spcPts val="0"/>
              </a:spcAft>
              <a:buNone/>
            </a:pPr>
            <a:r>
              <a:rPr lang="en" sz="1000">
                <a:solidFill>
                  <a:schemeClr val="lt1"/>
                </a:solidFill>
                <a:latin typeface="Proxima Nova"/>
                <a:ea typeface="Proxima Nova"/>
                <a:cs typeface="Proxima Nova"/>
                <a:sym typeface="Proxima Nova"/>
              </a:rPr>
              <a:t>Co-President</a:t>
            </a:r>
            <a:endParaRPr sz="1000">
              <a:solidFill>
                <a:schemeClr val="lt1"/>
              </a:solidFill>
              <a:latin typeface="Proxima Nova"/>
              <a:ea typeface="Proxima Nova"/>
              <a:cs typeface="Proxima Nova"/>
              <a:sym typeface="Proxima Nova"/>
            </a:endParaRPr>
          </a:p>
        </p:txBody>
      </p:sp>
      <p:sp>
        <p:nvSpPr>
          <p:cNvPr id="577" name="Google Shape;577;p81"/>
          <p:cNvSpPr txBox="1"/>
          <p:nvPr/>
        </p:nvSpPr>
        <p:spPr>
          <a:xfrm>
            <a:off x="938438" y="4650900"/>
            <a:ext cx="995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lt1"/>
                </a:solidFill>
                <a:latin typeface="Proxima Nova"/>
                <a:ea typeface="Proxima Nova"/>
                <a:cs typeface="Proxima Nova"/>
                <a:sym typeface="Proxima Nova"/>
              </a:rPr>
              <a:t>Sal Pineda ‘25</a:t>
            </a:r>
            <a:endParaRPr sz="1000">
              <a:solidFill>
                <a:schemeClr val="lt1"/>
              </a:solidFill>
              <a:latin typeface="Proxima Nova"/>
              <a:ea typeface="Proxima Nova"/>
              <a:cs typeface="Proxima Nova"/>
              <a:sym typeface="Proxima Nova"/>
            </a:endParaRPr>
          </a:p>
          <a:p>
            <a:pPr indent="0" lvl="0" marL="0" rtl="0" algn="ctr">
              <a:spcBef>
                <a:spcPts val="0"/>
              </a:spcBef>
              <a:spcAft>
                <a:spcPts val="0"/>
              </a:spcAft>
              <a:buNone/>
            </a:pPr>
            <a:r>
              <a:rPr lang="en" sz="1000">
                <a:solidFill>
                  <a:schemeClr val="lt1"/>
                </a:solidFill>
                <a:latin typeface="Proxima Nova"/>
                <a:ea typeface="Proxima Nova"/>
                <a:cs typeface="Proxima Nova"/>
                <a:sym typeface="Proxima Nova"/>
              </a:rPr>
              <a:t>Co-President</a:t>
            </a:r>
            <a:endParaRPr sz="1000">
              <a:solidFill>
                <a:schemeClr val="lt1"/>
              </a:solidFill>
              <a:latin typeface="Proxima Nova"/>
              <a:ea typeface="Proxima Nova"/>
              <a:cs typeface="Proxima Nova"/>
              <a:sym typeface="Proxima Nova"/>
            </a:endParaRPr>
          </a:p>
        </p:txBody>
      </p:sp>
      <p:pic>
        <p:nvPicPr>
          <p:cNvPr id="578" name="Google Shape;578;p81"/>
          <p:cNvPicPr preferRelativeResize="0"/>
          <p:nvPr/>
        </p:nvPicPr>
        <p:blipFill>
          <a:blip r:embed="rId14">
            <a:alphaModFix/>
          </a:blip>
          <a:stretch>
            <a:fillRect/>
          </a:stretch>
        </p:blipFill>
        <p:spPr>
          <a:xfrm>
            <a:off x="184150" y="4695625"/>
            <a:ext cx="374483" cy="355476"/>
          </a:xfrm>
          <a:prstGeom prst="rect">
            <a:avLst/>
          </a:prstGeom>
          <a:noFill/>
          <a:ln>
            <a:noFill/>
          </a:ln>
        </p:spPr>
      </p:pic>
      <p:pic>
        <p:nvPicPr>
          <p:cNvPr id="579" name="Google Shape;579;p81"/>
          <p:cNvPicPr preferRelativeResize="0"/>
          <p:nvPr/>
        </p:nvPicPr>
        <p:blipFill>
          <a:blip r:embed="rId15">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82"/>
          <p:cNvSpPr txBox="1"/>
          <p:nvPr>
            <p:ph type="title"/>
          </p:nvPr>
        </p:nvSpPr>
        <p:spPr>
          <a:xfrm>
            <a:off x="460950" y="933925"/>
            <a:ext cx="8222100" cy="3639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600"/>
              <a:t>My intent </a:t>
            </a:r>
            <a:r>
              <a:rPr b="1" lang="en" sz="1600"/>
              <a:t>is not </a:t>
            </a:r>
            <a:r>
              <a:rPr lang="en" sz="1600"/>
              <a:t>for you to leave this room and buy bitcoin. </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My intent</a:t>
            </a:r>
            <a:r>
              <a:rPr b="1" lang="en" sz="1600"/>
              <a:t> is</a:t>
            </a:r>
            <a:r>
              <a:rPr lang="en" sz="1600"/>
              <a:t> to provide factual information in an unbiased manner across a variety of topics so that we can </a:t>
            </a:r>
            <a:r>
              <a:rPr lang="en" sz="1600" u="sng"/>
              <a:t>collectively</a:t>
            </a:r>
            <a:r>
              <a:rPr lang="en" sz="1600"/>
              <a:t> think about the transitions in our world underway. </a:t>
            </a:r>
            <a:endParaRPr sz="1600"/>
          </a:p>
        </p:txBody>
      </p:sp>
      <p:pic>
        <p:nvPicPr>
          <p:cNvPr id="585" name="Google Shape;585;p82"/>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586" name="Google Shape;586;p82"/>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pic>
        <p:nvPicPr>
          <p:cNvPr id="591" name="Google Shape;591;p83"/>
          <p:cNvPicPr preferRelativeResize="0"/>
          <p:nvPr/>
        </p:nvPicPr>
        <p:blipFill>
          <a:blip r:embed="rId3">
            <a:alphaModFix/>
          </a:blip>
          <a:stretch>
            <a:fillRect/>
          </a:stretch>
        </p:blipFill>
        <p:spPr>
          <a:xfrm>
            <a:off x="288550" y="1054750"/>
            <a:ext cx="4889900" cy="3034000"/>
          </a:xfrm>
          <a:prstGeom prst="rect">
            <a:avLst/>
          </a:prstGeom>
          <a:noFill/>
          <a:ln>
            <a:noFill/>
          </a:ln>
        </p:spPr>
      </p:pic>
      <p:pic>
        <p:nvPicPr>
          <p:cNvPr id="592" name="Google Shape;592;p83"/>
          <p:cNvPicPr preferRelativeResize="0"/>
          <p:nvPr/>
        </p:nvPicPr>
        <p:blipFill>
          <a:blip r:embed="rId4">
            <a:alphaModFix/>
          </a:blip>
          <a:stretch>
            <a:fillRect/>
          </a:stretch>
        </p:blipFill>
        <p:spPr>
          <a:xfrm>
            <a:off x="184150" y="4695625"/>
            <a:ext cx="374483" cy="355476"/>
          </a:xfrm>
          <a:prstGeom prst="rect">
            <a:avLst/>
          </a:prstGeom>
          <a:noFill/>
          <a:ln>
            <a:noFill/>
          </a:ln>
        </p:spPr>
      </p:pic>
      <p:pic>
        <p:nvPicPr>
          <p:cNvPr id="593" name="Google Shape;593;p83"/>
          <p:cNvPicPr preferRelativeResize="0"/>
          <p:nvPr/>
        </p:nvPicPr>
        <p:blipFill>
          <a:blip r:embed="rId5">
            <a:alphaModFix/>
          </a:blip>
          <a:stretch>
            <a:fillRect/>
          </a:stretch>
        </p:blipFill>
        <p:spPr>
          <a:xfrm>
            <a:off x="5512675" y="1161175"/>
            <a:ext cx="3438275" cy="2821150"/>
          </a:xfrm>
          <a:prstGeom prst="rect">
            <a:avLst/>
          </a:prstGeom>
          <a:noFill/>
          <a:ln>
            <a:noFill/>
          </a:ln>
        </p:spPr>
      </p:pic>
      <p:pic>
        <p:nvPicPr>
          <p:cNvPr id="594" name="Google Shape;594;p83"/>
          <p:cNvPicPr preferRelativeResize="0"/>
          <p:nvPr/>
        </p:nvPicPr>
        <p:blipFill>
          <a:blip r:embed="rId6">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pic>
        <p:nvPicPr>
          <p:cNvPr id="599" name="Google Shape;599;p84"/>
          <p:cNvPicPr preferRelativeResize="0"/>
          <p:nvPr/>
        </p:nvPicPr>
        <p:blipFill>
          <a:blip r:embed="rId3">
            <a:alphaModFix/>
          </a:blip>
          <a:stretch>
            <a:fillRect/>
          </a:stretch>
        </p:blipFill>
        <p:spPr>
          <a:xfrm>
            <a:off x="1451025" y="333875"/>
            <a:ext cx="6761775" cy="4305700"/>
          </a:xfrm>
          <a:prstGeom prst="rect">
            <a:avLst/>
          </a:prstGeom>
          <a:noFill/>
          <a:ln>
            <a:noFill/>
          </a:ln>
        </p:spPr>
      </p:pic>
      <p:pic>
        <p:nvPicPr>
          <p:cNvPr id="600" name="Google Shape;600;p84"/>
          <p:cNvPicPr preferRelativeResize="0"/>
          <p:nvPr/>
        </p:nvPicPr>
        <p:blipFill>
          <a:blip r:embed="rId4">
            <a:alphaModFix/>
          </a:blip>
          <a:stretch>
            <a:fillRect/>
          </a:stretch>
        </p:blipFill>
        <p:spPr>
          <a:xfrm>
            <a:off x="184150" y="4695625"/>
            <a:ext cx="374483" cy="355476"/>
          </a:xfrm>
          <a:prstGeom prst="rect">
            <a:avLst/>
          </a:prstGeom>
          <a:noFill/>
          <a:ln>
            <a:noFill/>
          </a:ln>
        </p:spPr>
      </p:pic>
      <p:pic>
        <p:nvPicPr>
          <p:cNvPr id="601" name="Google Shape;601;p84"/>
          <p:cNvPicPr preferRelativeResize="0"/>
          <p:nvPr/>
        </p:nvPicPr>
        <p:blipFill>
          <a:blip r:embed="rId5">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85"/>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n"/>
              <a:t>Point: </a:t>
            </a:r>
            <a:r>
              <a:rPr lang="en"/>
              <a:t>We are so early. </a:t>
            </a:r>
            <a:endParaRPr/>
          </a:p>
        </p:txBody>
      </p:sp>
      <p:pic>
        <p:nvPicPr>
          <p:cNvPr id="607" name="Google Shape;607;p85"/>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608" name="Google Shape;608;p85"/>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86"/>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Important Information &amp; Tasks </a:t>
            </a:r>
            <a:endParaRPr sz="1983"/>
          </a:p>
        </p:txBody>
      </p:sp>
      <p:pic>
        <p:nvPicPr>
          <p:cNvPr id="614" name="Google Shape;614;p86"/>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615" name="Google Shape;615;p86"/>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p87"/>
          <p:cNvSpPr/>
          <p:nvPr/>
        </p:nvSpPr>
        <p:spPr>
          <a:xfrm>
            <a:off x="5749400" y="1146450"/>
            <a:ext cx="2912700" cy="2850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pic>
        <p:nvPicPr>
          <p:cNvPr id="621" name="Google Shape;621;p87"/>
          <p:cNvPicPr preferRelativeResize="0"/>
          <p:nvPr/>
        </p:nvPicPr>
        <p:blipFill>
          <a:blip r:embed="rId3">
            <a:alphaModFix/>
          </a:blip>
          <a:stretch>
            <a:fillRect/>
          </a:stretch>
        </p:blipFill>
        <p:spPr>
          <a:xfrm>
            <a:off x="5889263" y="1255263"/>
            <a:ext cx="2632975" cy="2632975"/>
          </a:xfrm>
          <a:prstGeom prst="rect">
            <a:avLst/>
          </a:prstGeom>
          <a:noFill/>
          <a:ln>
            <a:noFill/>
          </a:ln>
        </p:spPr>
      </p:pic>
      <p:sp>
        <p:nvSpPr>
          <p:cNvPr id="622" name="Google Shape;622;p87"/>
          <p:cNvSpPr txBox="1"/>
          <p:nvPr>
            <p:ph idx="4294967295" type="body"/>
          </p:nvPr>
        </p:nvSpPr>
        <p:spPr>
          <a:xfrm>
            <a:off x="620213" y="418813"/>
            <a:ext cx="5067600" cy="43059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SzPts val="1018"/>
              <a:buNone/>
            </a:pPr>
            <a:r>
              <a:rPr b="1" lang="en" sz="1288">
                <a:solidFill>
                  <a:schemeClr val="lt1"/>
                </a:solidFill>
              </a:rPr>
              <a:t>Join: </a:t>
            </a:r>
            <a:endParaRPr b="1" sz="1288">
              <a:solidFill>
                <a:schemeClr val="lt1"/>
              </a:solidFill>
            </a:endParaRPr>
          </a:p>
          <a:p>
            <a:pPr indent="-310356" lvl="0" marL="457200" rtl="0" algn="l">
              <a:lnSpc>
                <a:spcPct val="95000"/>
              </a:lnSpc>
              <a:spcBef>
                <a:spcPts val="1200"/>
              </a:spcBef>
              <a:spcAft>
                <a:spcPts val="0"/>
              </a:spcAft>
              <a:buClr>
                <a:schemeClr val="lt1"/>
              </a:buClr>
              <a:buSzPts val="1288"/>
              <a:buChar char="-"/>
            </a:pPr>
            <a:r>
              <a:rPr lang="en" sz="1288" u="sng">
                <a:solidFill>
                  <a:schemeClr val="lt1"/>
                </a:solidFill>
                <a:hlinkClick r:id="rId4">
                  <a:extLst>
                    <a:ext uri="{A12FA001-AC4F-418D-AE19-62706E023703}">
                      <ahyp:hlinkClr val="tx"/>
                    </a:ext>
                  </a:extLst>
                </a:hlinkClick>
              </a:rPr>
              <a:t>Slack</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u="sng">
                <a:solidFill>
                  <a:schemeClr val="lt1"/>
                </a:solidFill>
                <a:hlinkClick r:id="rId5">
                  <a:extLst>
                    <a:ext uri="{A12FA001-AC4F-418D-AE19-62706E023703}">
                      <ahyp:hlinkClr val="tx"/>
                    </a:ext>
                  </a:extLst>
                </a:hlinkClick>
              </a:rPr>
              <a:t>Gcal</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Twitter (best Bitcoin news source) </a:t>
            </a:r>
            <a:endParaRPr sz="1288">
              <a:solidFill>
                <a:schemeClr val="lt1"/>
              </a:solidFill>
            </a:endParaRPr>
          </a:p>
          <a:p>
            <a:pPr indent="-310356" lvl="1" marL="914400" rtl="0" algn="l">
              <a:lnSpc>
                <a:spcPct val="95000"/>
              </a:lnSpc>
              <a:spcBef>
                <a:spcPts val="0"/>
              </a:spcBef>
              <a:spcAft>
                <a:spcPts val="0"/>
              </a:spcAft>
              <a:buClr>
                <a:schemeClr val="lt1"/>
              </a:buClr>
              <a:buSzPts val="1288"/>
              <a:buChar char="-"/>
            </a:pPr>
            <a:r>
              <a:rPr lang="en" sz="1288">
                <a:solidFill>
                  <a:schemeClr val="lt1"/>
                </a:solidFill>
              </a:rPr>
              <a:t>Put @CornellBitcoin in your bio </a:t>
            </a:r>
            <a:endParaRPr sz="1288">
              <a:solidFill>
                <a:schemeClr val="lt1"/>
              </a:solidFill>
            </a:endParaRPr>
          </a:p>
          <a:p>
            <a:pPr indent="-310356" lvl="1" marL="914400" rtl="0" algn="l">
              <a:lnSpc>
                <a:spcPct val="95000"/>
              </a:lnSpc>
              <a:spcBef>
                <a:spcPts val="0"/>
              </a:spcBef>
              <a:spcAft>
                <a:spcPts val="0"/>
              </a:spcAft>
              <a:buClr>
                <a:schemeClr val="lt1"/>
              </a:buClr>
              <a:buSzPts val="1288"/>
              <a:buChar char="-"/>
            </a:pPr>
            <a:r>
              <a:rPr lang="en" sz="1288">
                <a:solidFill>
                  <a:schemeClr val="lt1"/>
                </a:solidFill>
              </a:rPr>
              <a:t>Add your handle </a:t>
            </a:r>
            <a:r>
              <a:rPr lang="en" sz="1288" u="sng">
                <a:solidFill>
                  <a:srgbClr val="0E101A"/>
                </a:solidFill>
                <a:highlight>
                  <a:schemeClr val="lt1"/>
                </a:highlight>
                <a:hlinkClick r:id="rId6">
                  <a:extLst>
                    <a:ext uri="{A12FA001-AC4F-418D-AE19-62706E023703}">
                      <ahyp:hlinkClr val="tx"/>
                    </a:ext>
                  </a:extLst>
                </a:hlinkClick>
              </a:rPr>
              <a:t>here</a:t>
            </a:r>
            <a:endParaRPr sz="1288">
              <a:solidFill>
                <a:srgbClr val="0E101A"/>
              </a:solidFill>
              <a:highlight>
                <a:schemeClr val="lt1"/>
              </a:highlight>
            </a:endParaRPr>
          </a:p>
          <a:p>
            <a:pPr indent="0" lvl="0" marL="0" rtl="0" algn="l">
              <a:lnSpc>
                <a:spcPct val="95000"/>
              </a:lnSpc>
              <a:spcBef>
                <a:spcPts val="1200"/>
              </a:spcBef>
              <a:spcAft>
                <a:spcPts val="0"/>
              </a:spcAft>
              <a:buSzPts val="1018"/>
              <a:buNone/>
            </a:pPr>
            <a:r>
              <a:rPr b="1" lang="en" sz="1288">
                <a:solidFill>
                  <a:schemeClr val="lt1"/>
                </a:solidFill>
              </a:rPr>
              <a:t>Forms:</a:t>
            </a:r>
            <a:endParaRPr b="1" sz="1288">
              <a:solidFill>
                <a:schemeClr val="lt1"/>
              </a:solidFill>
            </a:endParaRPr>
          </a:p>
          <a:p>
            <a:pPr indent="-310356" lvl="0" marL="457200" rtl="0" algn="l">
              <a:lnSpc>
                <a:spcPct val="95000"/>
              </a:lnSpc>
              <a:spcBef>
                <a:spcPts val="1200"/>
              </a:spcBef>
              <a:spcAft>
                <a:spcPts val="0"/>
              </a:spcAft>
              <a:buClr>
                <a:schemeClr val="lt1"/>
              </a:buClr>
              <a:buSzPts val="1288"/>
              <a:buChar char="-"/>
            </a:pPr>
            <a:r>
              <a:rPr lang="en" sz="1288">
                <a:solidFill>
                  <a:schemeClr val="lt1"/>
                </a:solidFill>
              </a:rPr>
              <a:t>Review the Constitution &amp; sign </a:t>
            </a:r>
            <a:r>
              <a:rPr lang="en" sz="1288" u="sng">
                <a:solidFill>
                  <a:schemeClr val="hlink"/>
                </a:solidFill>
                <a:highlight>
                  <a:schemeClr val="lt1"/>
                </a:highlight>
                <a:hlinkClick r:id="rId7"/>
              </a:rPr>
              <a:t>here</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Fill out interest joining form </a:t>
            </a:r>
            <a:r>
              <a:rPr lang="en" sz="1288" u="sng">
                <a:solidFill>
                  <a:srgbClr val="0E101A"/>
                </a:solidFill>
                <a:highlight>
                  <a:schemeClr val="lt1"/>
                </a:highlight>
                <a:hlinkClick r:id="rId8">
                  <a:extLst>
                    <a:ext uri="{A12FA001-AC4F-418D-AE19-62706E023703}">
                      <ahyp:hlinkClr val="tx"/>
                    </a:ext>
                  </a:extLst>
                </a:hlinkClick>
              </a:rPr>
              <a:t>here</a:t>
            </a:r>
            <a:r>
              <a:rPr lang="en" sz="1288">
                <a:solidFill>
                  <a:schemeClr val="lt1"/>
                </a:solidFill>
              </a:rPr>
              <a:t> (if haven’t already) </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Suggest topics </a:t>
            </a:r>
            <a:r>
              <a:rPr lang="en" sz="1288" u="sng">
                <a:solidFill>
                  <a:srgbClr val="0E101A"/>
                </a:solidFill>
                <a:highlight>
                  <a:schemeClr val="lt1"/>
                </a:highlight>
                <a:hlinkClick r:id="rId9">
                  <a:extLst>
                    <a:ext uri="{A12FA001-AC4F-418D-AE19-62706E023703}">
                      <ahyp:hlinkClr val="tx"/>
                    </a:ext>
                  </a:extLst>
                </a:hlinkClick>
              </a:rPr>
              <a:t>here</a:t>
            </a:r>
            <a:r>
              <a:rPr lang="en" sz="1288">
                <a:solidFill>
                  <a:srgbClr val="0E101A"/>
                </a:solidFill>
                <a:highlight>
                  <a:schemeClr val="lt1"/>
                </a:highlight>
              </a:rPr>
              <a:t> </a:t>
            </a:r>
            <a:endParaRPr b="1" sz="1288">
              <a:solidFill>
                <a:srgbClr val="0E101A"/>
              </a:solidFill>
              <a:highlight>
                <a:schemeClr val="lt1"/>
              </a:highlight>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Club playlist: add favorite songs </a:t>
            </a:r>
            <a:r>
              <a:rPr lang="en" sz="1288" u="sng">
                <a:solidFill>
                  <a:srgbClr val="000000"/>
                </a:solidFill>
                <a:highlight>
                  <a:schemeClr val="lt1"/>
                </a:highlight>
                <a:hlinkClick r:id="rId10">
                  <a:extLst>
                    <a:ext uri="{A12FA001-AC4F-418D-AE19-62706E023703}">
                      <ahyp:hlinkClr val="tx"/>
                    </a:ext>
                  </a:extLst>
                </a:hlinkClick>
              </a:rPr>
              <a:t>here</a:t>
            </a:r>
            <a:r>
              <a:rPr lang="en" sz="1288">
                <a:solidFill>
                  <a:srgbClr val="000000"/>
                </a:solidFill>
                <a:highlight>
                  <a:schemeClr val="lt1"/>
                </a:highlight>
              </a:rPr>
              <a:t> </a:t>
            </a:r>
            <a:endParaRPr sz="1288">
              <a:solidFill>
                <a:srgbClr val="000000"/>
              </a:solidFill>
              <a:highlight>
                <a:schemeClr val="lt1"/>
              </a:highlight>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Add favorite snacks </a:t>
            </a:r>
            <a:r>
              <a:rPr lang="en" sz="1288" u="sng">
                <a:solidFill>
                  <a:srgbClr val="0E101A"/>
                </a:solidFill>
                <a:highlight>
                  <a:schemeClr val="lt1"/>
                </a:highlight>
                <a:hlinkClick r:id="rId11">
                  <a:extLst>
                    <a:ext uri="{A12FA001-AC4F-418D-AE19-62706E023703}">
                      <ahyp:hlinkClr val="tx"/>
                    </a:ext>
                  </a:extLst>
                </a:hlinkClick>
              </a:rPr>
              <a:t>here</a:t>
            </a:r>
            <a:r>
              <a:rPr lang="en" sz="1288">
                <a:solidFill>
                  <a:schemeClr val="lt1"/>
                </a:solidFill>
              </a:rPr>
              <a:t> </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Resume Book </a:t>
            </a:r>
            <a:r>
              <a:rPr lang="en" sz="1288" u="sng">
                <a:solidFill>
                  <a:srgbClr val="0E101A"/>
                </a:solidFill>
                <a:highlight>
                  <a:schemeClr val="lt1"/>
                </a:highlight>
                <a:hlinkClick r:id="rId12">
                  <a:extLst>
                    <a:ext uri="{A12FA001-AC4F-418D-AE19-62706E023703}">
                      <ahyp:hlinkClr val="tx"/>
                    </a:ext>
                  </a:extLst>
                </a:hlinkClick>
              </a:rPr>
              <a:t>here</a:t>
            </a:r>
            <a:endParaRPr sz="1288">
              <a:solidFill>
                <a:srgbClr val="0E101A"/>
              </a:solidFill>
              <a:highlight>
                <a:schemeClr val="lt1"/>
              </a:highlight>
            </a:endParaRPr>
          </a:p>
          <a:p>
            <a:pPr indent="0" lvl="0" marL="0" rtl="0" algn="l">
              <a:lnSpc>
                <a:spcPct val="95000"/>
              </a:lnSpc>
              <a:spcBef>
                <a:spcPts val="1200"/>
              </a:spcBef>
              <a:spcAft>
                <a:spcPts val="0"/>
              </a:spcAft>
              <a:buSzPts val="1018"/>
              <a:buNone/>
            </a:pPr>
            <a:r>
              <a:rPr b="1" lang="en" sz="1288">
                <a:solidFill>
                  <a:schemeClr val="lt1"/>
                </a:solidFill>
              </a:rPr>
              <a:t>Follow: </a:t>
            </a:r>
            <a:endParaRPr b="1" sz="1288">
              <a:solidFill>
                <a:schemeClr val="lt1"/>
              </a:solidFill>
            </a:endParaRPr>
          </a:p>
          <a:p>
            <a:pPr indent="-310356" lvl="0" marL="457200" rtl="0" algn="l">
              <a:lnSpc>
                <a:spcPct val="95000"/>
              </a:lnSpc>
              <a:spcBef>
                <a:spcPts val="1200"/>
              </a:spcBef>
              <a:spcAft>
                <a:spcPts val="0"/>
              </a:spcAft>
              <a:buClr>
                <a:schemeClr val="lt1"/>
              </a:buClr>
              <a:buSzPts val="1288"/>
              <a:buChar char="-"/>
            </a:pPr>
            <a:r>
              <a:rPr lang="en" sz="1288">
                <a:solidFill>
                  <a:schemeClr val="lt1"/>
                </a:solidFill>
              </a:rPr>
              <a:t>@CornellBitcoin on Twitter</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@CornellBitcoinClub on Instagram</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Cornell Bitcoin Club on LinkedIn</a:t>
            </a:r>
            <a:endParaRPr sz="1288">
              <a:solidFill>
                <a:schemeClr val="lt1"/>
              </a:solidFill>
            </a:endParaRPr>
          </a:p>
        </p:txBody>
      </p:sp>
      <p:pic>
        <p:nvPicPr>
          <p:cNvPr id="623" name="Google Shape;623;p87"/>
          <p:cNvPicPr preferRelativeResize="0"/>
          <p:nvPr/>
        </p:nvPicPr>
        <p:blipFill>
          <a:blip r:embed="rId13">
            <a:alphaModFix/>
          </a:blip>
          <a:stretch>
            <a:fillRect/>
          </a:stretch>
        </p:blipFill>
        <p:spPr>
          <a:xfrm>
            <a:off x="184150" y="4695625"/>
            <a:ext cx="374483" cy="355476"/>
          </a:xfrm>
          <a:prstGeom prst="rect">
            <a:avLst/>
          </a:prstGeom>
          <a:noFill/>
          <a:ln>
            <a:noFill/>
          </a:ln>
        </p:spPr>
      </p:pic>
      <p:pic>
        <p:nvPicPr>
          <p:cNvPr id="624" name="Google Shape;624;p87"/>
          <p:cNvPicPr preferRelativeResize="0"/>
          <p:nvPr/>
        </p:nvPicPr>
        <p:blipFill>
          <a:blip r:embed="rId1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628" name="Shape 628"/>
        <p:cNvGrpSpPr/>
        <p:nvPr/>
      </p:nvGrpSpPr>
      <p:grpSpPr>
        <a:xfrm>
          <a:off x="0" y="0"/>
          <a:ext cx="0" cy="0"/>
          <a:chOff x="0" y="0"/>
          <a:chExt cx="0" cy="0"/>
        </a:xfrm>
      </p:grpSpPr>
      <p:sp>
        <p:nvSpPr>
          <p:cNvPr id="629" name="Google Shape;629;p88"/>
          <p:cNvSpPr txBox="1"/>
          <p:nvPr>
            <p:ph type="title"/>
          </p:nvPr>
        </p:nvSpPr>
        <p:spPr>
          <a:xfrm>
            <a:off x="460950" y="1590000"/>
            <a:ext cx="8222100" cy="1963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sz="6000"/>
              <a:t>Thank you!</a:t>
            </a:r>
            <a:endParaRPr b="1" sz="6000">
              <a:solidFill>
                <a:schemeClr val="lt1"/>
              </a:solidFill>
            </a:endParaRPr>
          </a:p>
        </p:txBody>
      </p:sp>
      <p:pic>
        <p:nvPicPr>
          <p:cNvPr id="630" name="Google Shape;630;p88"/>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631" name="Google Shape;631;p88"/>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Pricing Strategies Proposal by Slidesgo">
  <a:themeElements>
    <a:clrScheme name="Simple Light">
      <a:dk1>
        <a:srgbClr val="005E88"/>
      </a:dk1>
      <a:lt1>
        <a:srgbClr val="F3F3F3"/>
      </a:lt1>
      <a:dk2>
        <a:srgbClr val="E8E8E8"/>
      </a:dk2>
      <a:lt2>
        <a:srgbClr val="99B5CE"/>
      </a:lt2>
      <a:accent1>
        <a:srgbClr val="297AB8"/>
      </a:accent1>
      <a:accent2>
        <a:srgbClr val="063C53"/>
      </a:accent2>
      <a:accent3>
        <a:srgbClr val="FFFFFF"/>
      </a:accent3>
      <a:accent4>
        <a:srgbClr val="FFFFFF"/>
      </a:accent4>
      <a:accent5>
        <a:srgbClr val="FFFFFF"/>
      </a:accent5>
      <a:accent6>
        <a:srgbClr val="FFFFFF"/>
      </a:accent6>
      <a:hlink>
        <a:srgbClr val="005E8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