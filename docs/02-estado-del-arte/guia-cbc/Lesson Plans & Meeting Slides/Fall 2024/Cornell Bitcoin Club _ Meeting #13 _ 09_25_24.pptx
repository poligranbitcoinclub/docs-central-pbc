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6858000" cy="9144000"/>
  <p:embeddedFontLst>
    <p:embeddedFont>
      <p:font typeface="Proxima Nova"/>
      <p:regular r:id="rId16"/>
      <p:bold r:id="rId17"/>
      <p:italic r:id="rId18"/>
      <p:boldItalic r:id="rId19"/>
    </p:embeddedFont>
    <p:embeddedFont>
      <p:font typeface="Roboto"/>
      <p:regular r:id="rId20"/>
      <p:bold r:id="rId21"/>
      <p:italic r:id="rId22"/>
      <p:boldItalic r:id="rId23"/>
    </p:embeddedFont>
    <p:embeddedFont>
      <p:font typeface="Proxima Nova Semibold"/>
      <p:regular r:id="rId24"/>
      <p:bold r:id="rId25"/>
      <p:boldItalic r:id="rId26"/>
    </p:embeddedFont>
    <p:embeddedFont>
      <p:font typeface="Barlow"/>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ProximaNovaSemibold-regular.fntdata"/><Relationship Id="rId23"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roximaNovaSemibold-boldItalic.fntdata"/><Relationship Id="rId25" Type="http://schemas.openxmlformats.org/officeDocument/2006/relationships/font" Target="fonts/ProximaNovaSemibold-bold.fntdata"/><Relationship Id="rId28" Type="http://schemas.openxmlformats.org/officeDocument/2006/relationships/font" Target="fonts/Barlow-bold.fntdata"/><Relationship Id="rId27" Type="http://schemas.openxmlformats.org/officeDocument/2006/relationships/font" Target="fonts/Barlow-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Barlow-italic.fntdata"/><Relationship Id="rId7" Type="http://schemas.openxmlformats.org/officeDocument/2006/relationships/slide" Target="slides/slide3.xml"/><Relationship Id="rId8" Type="http://schemas.openxmlformats.org/officeDocument/2006/relationships/slide" Target="slides/slide4.xml"/><Relationship Id="rId30" Type="http://schemas.openxmlformats.org/officeDocument/2006/relationships/font" Target="fonts/Barlow-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roximaNova-bold.fntdata"/><Relationship Id="rId16" Type="http://schemas.openxmlformats.org/officeDocument/2006/relationships/font" Target="fonts/ProximaNova-regular.fntdata"/><Relationship Id="rId19" Type="http://schemas.openxmlformats.org/officeDocument/2006/relationships/font" Target="fonts/ProximaNova-boldItalic.fntdata"/><Relationship Id="rId18" Type="http://schemas.openxmlformats.org/officeDocument/2006/relationships/font" Target="fonts/ProximaNova-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866d0df8e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866d0df8e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01c119fa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01c119fa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059255eafd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059255eafd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059255eafd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059255eafd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059255eafd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059255eafd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866d0df8e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866d0df8e3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01c119fa96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01c119fa96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059255eaf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059255eaf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059255eafd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059255eafd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6869403eb0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6869403eb0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866d0df8e3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866d0df8e3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Font typeface="Proxima Nova"/>
              <a:buNone/>
              <a:defRPr sz="4800">
                <a:latin typeface="Proxima Nova"/>
                <a:ea typeface="Proxima Nova"/>
                <a:cs typeface="Proxima Nova"/>
                <a:sym typeface="Proxima Nova"/>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Font typeface="Proxima Nova"/>
              <a:buNone/>
              <a:defRPr sz="4200">
                <a:latin typeface="Proxima Nova"/>
                <a:ea typeface="Proxima Nova"/>
                <a:cs typeface="Proxima Nova"/>
                <a:sym typeface="Proxima Nova"/>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Font typeface="Proxima Nova"/>
              <a:buNone/>
              <a:defRPr>
                <a:latin typeface="Proxima Nova"/>
                <a:ea typeface="Proxima Nova"/>
                <a:cs typeface="Proxima Nova"/>
                <a:sym typeface="Proxima Nova"/>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4" name="Google Shape;24;p4"/>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B31B1B"/>
        </a:solidFill>
      </p:bgPr>
    </p:bg>
    <p:spTree>
      <p:nvGrpSpPr>
        <p:cNvPr id="25" name="Shape 25"/>
        <p:cNvGrpSpPr/>
        <p:nvPr/>
      </p:nvGrpSpPr>
      <p:grpSpPr>
        <a:xfrm>
          <a:off x="0" y="0"/>
          <a:ext cx="0" cy="0"/>
          <a:chOff x="0" y="0"/>
          <a:chExt cx="0" cy="0"/>
        </a:xfrm>
      </p:grpSpPr>
      <p:sp>
        <p:nvSpPr>
          <p:cNvPr id="26" name="Google Shape;26;p5"/>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9" name="Google Shape;29;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Font typeface="Arial"/>
              <a:buChar char="●"/>
              <a:defRPr b="1" sz="700">
                <a:latin typeface="Arial"/>
                <a:ea typeface="Arial"/>
                <a:cs typeface="Arial"/>
                <a:sym typeface="Arial"/>
              </a:defRPr>
            </a:lvl1pPr>
            <a:lvl2pPr indent="-317500" lvl="1" marL="914400">
              <a:spcBef>
                <a:spcPts val="0"/>
              </a:spcBef>
              <a:spcAft>
                <a:spcPts val="0"/>
              </a:spcAft>
              <a:buClr>
                <a:srgbClr val="000000"/>
              </a:buClr>
              <a:buSzPts val="1400"/>
              <a:buFont typeface="Arial"/>
              <a:buChar char="○"/>
              <a:defRPr sz="1200"/>
            </a:lvl2pPr>
            <a:lvl3pPr indent="-317500" lvl="2" marL="1371600">
              <a:lnSpc>
                <a:spcPct val="100000"/>
              </a:lnSpc>
              <a:spcBef>
                <a:spcPts val="0"/>
              </a:spcBef>
              <a:spcAft>
                <a:spcPts val="0"/>
              </a:spcAft>
              <a:buClr>
                <a:srgbClr val="000000"/>
              </a:buClr>
              <a:buSzPts val="1400"/>
              <a:buFont typeface="Arial"/>
              <a:buChar char="■"/>
              <a:defRPr sz="700">
                <a:latin typeface="Arial"/>
                <a:ea typeface="Arial"/>
                <a:cs typeface="Arial"/>
                <a:sym typeface="Arial"/>
              </a:defRPr>
            </a:lvl3pPr>
            <a:lvl4pPr indent="-317500" lvl="3" marL="1828800">
              <a:spcBef>
                <a:spcPts val="0"/>
              </a:spcBef>
              <a:spcAft>
                <a:spcPts val="0"/>
              </a:spcAft>
              <a:buClr>
                <a:srgbClr val="000000"/>
              </a:buClr>
              <a:buSzPts val="1400"/>
              <a:buFont typeface="Arial"/>
              <a:buChar char="●"/>
              <a:defRPr sz="1200"/>
            </a:lvl4pPr>
            <a:lvl5pPr indent="-317500" lvl="4" marL="2286000">
              <a:spcBef>
                <a:spcPts val="0"/>
              </a:spcBef>
              <a:spcAft>
                <a:spcPts val="0"/>
              </a:spcAft>
              <a:buClr>
                <a:srgbClr val="000000"/>
              </a:buClr>
              <a:buSzPts val="1400"/>
              <a:buFont typeface="Arial"/>
              <a:buChar char="○"/>
              <a:defRPr sz="1200"/>
            </a:lvl5pPr>
            <a:lvl6pPr indent="-317500" lvl="5" marL="2743200">
              <a:spcBef>
                <a:spcPts val="0"/>
              </a:spcBef>
              <a:spcAft>
                <a:spcPts val="0"/>
              </a:spcAft>
              <a:buClr>
                <a:srgbClr val="000000"/>
              </a:buClr>
              <a:buSzPts val="1400"/>
              <a:buFont typeface="Arial"/>
              <a:buChar char="■"/>
              <a:defRPr sz="1200"/>
            </a:lvl6pPr>
            <a:lvl7pPr indent="-317500" lvl="6" marL="3200400">
              <a:spcBef>
                <a:spcPts val="0"/>
              </a:spcBef>
              <a:spcAft>
                <a:spcPts val="0"/>
              </a:spcAft>
              <a:buClr>
                <a:srgbClr val="000000"/>
              </a:buClr>
              <a:buSzPts val="1400"/>
              <a:buFont typeface="Arial"/>
              <a:buChar char="●"/>
              <a:defRPr sz="1200"/>
            </a:lvl7pPr>
            <a:lvl8pPr indent="-317500" lvl="7" marL="3657600">
              <a:spcBef>
                <a:spcPts val="0"/>
              </a:spcBef>
              <a:spcAft>
                <a:spcPts val="0"/>
              </a:spcAft>
              <a:buClr>
                <a:srgbClr val="000000"/>
              </a:buClr>
              <a:buSzPts val="1400"/>
              <a:buFont typeface="Arial"/>
              <a:buChar char="○"/>
              <a:defRPr sz="1200"/>
            </a:lvl8pPr>
            <a:lvl9pPr indent="-317500" lvl="8" marL="4114800">
              <a:spcBef>
                <a:spcPts val="0"/>
              </a:spcBef>
              <a:spcAft>
                <a:spcPts val="0"/>
              </a:spcAft>
              <a:buClr>
                <a:srgbClr val="000000"/>
              </a:buClr>
              <a:buSzPts val="1400"/>
              <a:buFont typeface="Arial"/>
              <a:buChar char="■"/>
              <a:defRPr sz="1200"/>
            </a:lvl9pPr>
          </a:lstStyle>
          <a:p/>
        </p:txBody>
      </p:sp>
      <p:sp>
        <p:nvSpPr>
          <p:cNvPr id="31" name="Google Shape;31;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2" name="Google Shape;32;p5"/>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rgbClr val="B31B1B"/>
        </a:solidFill>
      </p:bgPr>
    </p:bg>
    <p:spTree>
      <p:nvGrpSpPr>
        <p:cNvPr id="33" name="Shape 33"/>
        <p:cNvGrpSpPr/>
        <p:nvPr/>
      </p:nvGrpSpPr>
      <p:grpSpPr>
        <a:xfrm>
          <a:off x="0" y="0"/>
          <a:ext cx="0" cy="0"/>
          <a:chOff x="0" y="0"/>
          <a:chExt cx="0" cy="0"/>
        </a:xfrm>
      </p:grpSpPr>
      <p:sp>
        <p:nvSpPr>
          <p:cNvPr id="34" name="Google Shape;34;p6"/>
          <p:cNvSpPr/>
          <p:nvPr/>
        </p:nvSpPr>
        <p:spPr>
          <a:xfrm flipH="1" rot="10800000">
            <a:off x="0" y="656400"/>
            <a:ext cx="9144000" cy="4487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 name="Google Shape;37;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8" name="Google Shape;38;p6"/>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txBox="1"/>
          <p:nvPr/>
        </p:nvSpPr>
        <p:spPr>
          <a:xfrm flipH="1" rot="10800000">
            <a:off x="3276600" y="25"/>
            <a:ext cx="5867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4" name="Google Shape;44;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000000"/>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7" name="Google Shape;47;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flipH="1">
            <a:off x="0" y="0"/>
            <a:ext cx="4572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52" name="Google Shape;52;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sp>
        <p:nvSpPr>
          <p:cNvPr id="56" name="Google Shape;56;p10"/>
          <p:cNvSpPr txBox="1"/>
          <p:nvPr/>
        </p:nvSpPr>
        <p:spPr>
          <a:xfrm flipH="1" rot="10800000">
            <a:off x="0" y="0"/>
            <a:ext cx="9144000" cy="46959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Clr>
                <a:schemeClr val="lt1"/>
              </a:buClr>
              <a:buSzPts val="1200"/>
              <a:buNone/>
              <a:defRPr sz="1200">
                <a:solidFill>
                  <a:schemeClr val="lt1"/>
                </a:solidFill>
              </a:defRPr>
            </a:lvl1pPr>
          </a:lstStyle>
          <a:p/>
        </p:txBody>
      </p:sp>
      <p:sp>
        <p:nvSpPr>
          <p:cNvPr id="59" name="Google Shape;59;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450B0C"/>
        </a:solidFill>
      </p:bgPr>
    </p:bg>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62" name="Google Shape;62;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63" name="Google Shape;63;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450B0C"/>
        </a:solidFill>
      </p:bgPr>
    </p:bg>
    <p:spTree>
      <p:nvGrpSpPr>
        <p:cNvPr id="64" name="Shape 64"/>
        <p:cNvGrpSpPr/>
        <p:nvPr/>
      </p:nvGrpSpPr>
      <p:grpSpPr>
        <a:xfrm>
          <a:off x="0" y="0"/>
          <a:ext cx="0" cy="0"/>
          <a:chOff x="0" y="0"/>
          <a:chExt cx="0" cy="0"/>
        </a:xfrm>
      </p:grpSpPr>
      <p:sp>
        <p:nvSpPr>
          <p:cNvPr id="65" name="Google Shape;65;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Proxima Nova"/>
              <a:buNone/>
              <a:defRPr sz="3200">
                <a:solidFill>
                  <a:schemeClr val="lt1"/>
                </a:solidFill>
                <a:latin typeface="Proxima Nova"/>
                <a:ea typeface="Proxima Nova"/>
                <a:cs typeface="Proxima Nova"/>
                <a:sym typeface="Proxima Nova"/>
              </a:defRPr>
            </a:lvl1pPr>
            <a:lvl2pPr lvl="1">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2pPr>
            <a:lvl3pPr lvl="2">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3pPr>
            <a:lvl4pPr lvl="3">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4pPr>
            <a:lvl5pPr lvl="4">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5pPr>
            <a:lvl6pPr lvl="5">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6pPr>
            <a:lvl7pPr lvl="6">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7pPr>
            <a:lvl8pPr lvl="7">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8pPr>
            <a:lvl9pPr lvl="8">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Proxima Nova"/>
              <a:buChar char="●"/>
              <a:defRPr sz="1800">
                <a:solidFill>
                  <a:schemeClr val="lt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hyperlink" Target="https://forms.gle/b5ZZTY1HZVNLziHP9" TargetMode="External"/><Relationship Id="rId4" Type="http://schemas.openxmlformats.org/officeDocument/2006/relationships/image" Target="../media/image1.png"/><Relationship Id="rId5" Type="http://schemas.openxmlformats.org/officeDocument/2006/relationships/image" Target="../media/image8.png"/><Relationship Id="rId6"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hyperlink" Target="https://docs.google.com/document/d/1HYDl2JoeSxWU580hUnfx2ABO6aLLigBz6wTC-qC4cso/edit?usp=sharing" TargetMode="External"/><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1" Type="http://schemas.openxmlformats.org/officeDocument/2006/relationships/hyperlink" Target="https://forms.gle/hYj1Gj3LAqcL7Z5CA" TargetMode="External"/><Relationship Id="rId10" Type="http://schemas.openxmlformats.org/officeDocument/2006/relationships/hyperlink" Target="https://open.spotify.com/playlist/0uFt0RJvfh143lVGQbhWHS?si=95193d92e5094f73&amp;pt=2f012d4e97b62c470b68ca9552905422" TargetMode="External"/><Relationship Id="rId13" Type="http://schemas.openxmlformats.org/officeDocument/2006/relationships/image" Target="../media/image4.png"/><Relationship Id="rId12" Type="http://schemas.openxmlformats.org/officeDocument/2006/relationships/hyperlink" Target="https://forms.gle/xh8JxpqC2XLsb72L7" TargetMode="External"/><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hyperlink" Target="https://join.slack.com/t/cornellbitcoinclub/shared_invite/zt-2bnpz3y01-wOxd_f0NcRRZyRNkzznA5Q" TargetMode="External"/><Relationship Id="rId9" Type="http://schemas.openxmlformats.org/officeDocument/2006/relationships/hyperlink" Target="https://forms.gle/yjLJ1z4EBJXzBLd49" TargetMode="External"/><Relationship Id="rId14" Type="http://schemas.openxmlformats.org/officeDocument/2006/relationships/image" Target="../media/image1.png"/><Relationship Id="rId5" Type="http://schemas.openxmlformats.org/officeDocument/2006/relationships/hyperlink" Target="https://calendar.google.com/calendar/u/0?cid=Y184YjI3M2VlZmYzOTIxMWM1OTA2NGVmOTk5YWRhZDIyNzhjMDg2NDkwMDZhYzRjM2QyZjE4M2E4YzgwMDBhYmE4QGdyb3VwLmNhbGVuZGFyLmdvb2dsZS5jb20" TargetMode="External"/><Relationship Id="rId6" Type="http://schemas.openxmlformats.org/officeDocument/2006/relationships/hyperlink" Target="https://forms.gle/R3wBeLyNpq9vbeXn9" TargetMode="External"/><Relationship Id="rId7" Type="http://schemas.openxmlformats.org/officeDocument/2006/relationships/hyperlink" Target="https://forms.gle/ZwUKC8V61m9v6SWcA" TargetMode="External"/><Relationship Id="rId8" Type="http://schemas.openxmlformats.org/officeDocument/2006/relationships/hyperlink" Target="https://forms.gle/9HEnoXqodNdaPd7W8"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69" name="Shape 69"/>
        <p:cNvGrpSpPr/>
        <p:nvPr/>
      </p:nvGrpSpPr>
      <p:grpSpPr>
        <a:xfrm>
          <a:off x="0" y="0"/>
          <a:ext cx="0" cy="0"/>
          <a:chOff x="0" y="0"/>
          <a:chExt cx="0" cy="0"/>
        </a:xfrm>
      </p:grpSpPr>
      <p:sp>
        <p:nvSpPr>
          <p:cNvPr id="70" name="Google Shape;70;p13"/>
          <p:cNvSpPr txBox="1"/>
          <p:nvPr/>
        </p:nvSpPr>
        <p:spPr>
          <a:xfrm>
            <a:off x="787925" y="3471700"/>
            <a:ext cx="3933300" cy="9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Proxima Nova Semibold"/>
                <a:ea typeface="Proxima Nova Semibold"/>
                <a:cs typeface="Proxima Nova Semibold"/>
                <a:sym typeface="Proxima Nova Semibold"/>
              </a:rPr>
              <a:t>Meeting #13: September 25, 2024</a:t>
            </a:r>
            <a:endParaRPr sz="1600">
              <a:solidFill>
                <a:schemeClr val="lt1"/>
              </a:solidFill>
              <a:latin typeface="Proxima Nova Semibold"/>
              <a:ea typeface="Proxima Nova Semibold"/>
              <a:cs typeface="Proxima Nova Semibold"/>
              <a:sym typeface="Proxima Nova Semibold"/>
            </a:endParaRPr>
          </a:p>
        </p:txBody>
      </p:sp>
      <p:sp>
        <p:nvSpPr>
          <p:cNvPr id="71" name="Google Shape;71;p13"/>
          <p:cNvSpPr txBox="1"/>
          <p:nvPr/>
        </p:nvSpPr>
        <p:spPr>
          <a:xfrm>
            <a:off x="726625" y="1532200"/>
            <a:ext cx="4893000" cy="19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Cornell</a:t>
            </a:r>
            <a:endParaRPr b="1" sz="6000">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Bitcoin</a:t>
            </a:r>
            <a:r>
              <a:rPr b="1" lang="en" sz="6000">
                <a:solidFill>
                  <a:schemeClr val="lt1"/>
                </a:solidFill>
                <a:latin typeface="Proxima Nova"/>
                <a:ea typeface="Proxima Nova"/>
                <a:cs typeface="Proxima Nova"/>
                <a:sym typeface="Proxima Nova"/>
              </a:rPr>
              <a:t> Club</a:t>
            </a:r>
            <a:endParaRPr b="1" sz="6000">
              <a:solidFill>
                <a:schemeClr val="lt1"/>
              </a:solidFill>
              <a:latin typeface="Proxima Nova"/>
              <a:ea typeface="Proxima Nova"/>
              <a:cs typeface="Proxima Nova"/>
              <a:sym typeface="Proxima Nova"/>
            </a:endParaRPr>
          </a:p>
        </p:txBody>
      </p:sp>
      <p:pic>
        <p:nvPicPr>
          <p:cNvPr id="72" name="Google Shape;72;p13"/>
          <p:cNvPicPr preferRelativeResize="0"/>
          <p:nvPr/>
        </p:nvPicPr>
        <p:blipFill>
          <a:blip r:embed="rId3">
            <a:alphaModFix/>
          </a:blip>
          <a:stretch>
            <a:fillRect/>
          </a:stretch>
        </p:blipFill>
        <p:spPr>
          <a:xfrm>
            <a:off x="5619625" y="1129869"/>
            <a:ext cx="3037974" cy="288376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Disclosure</a:t>
            </a:r>
            <a:endParaRPr/>
          </a:p>
        </p:txBody>
      </p:sp>
      <p:sp>
        <p:nvSpPr>
          <p:cNvPr id="78" name="Google Shape;78;p14"/>
          <p:cNvSpPr txBox="1"/>
          <p:nvPr/>
        </p:nvSpPr>
        <p:spPr>
          <a:xfrm>
            <a:off x="909600" y="1919025"/>
            <a:ext cx="7324800" cy="1908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600">
                <a:solidFill>
                  <a:schemeClr val="lt1"/>
                </a:solidFill>
                <a:latin typeface="Proxima Nova"/>
                <a:ea typeface="Proxima Nova"/>
                <a:cs typeface="Proxima Nova"/>
                <a:sym typeface="Proxima Nova"/>
              </a:rPr>
              <a:t>The Cornell Bitcoin Club is an undergraduate student club. The Club’s website and all published and or related materials and audio and visual recordings are not legal, investment, or accounting advice. They are for informational purposes. If any service providers are acknowledged or highlighted, it is for discussion purposes and should not be construed as an endorsement of their services. </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600">
              <a:solidFill>
                <a:schemeClr val="lt1"/>
              </a:solidFill>
              <a:latin typeface="Proxima Nova"/>
              <a:ea typeface="Proxima Nova"/>
              <a:cs typeface="Proxima Nova"/>
              <a:sym typeface="Proxima Nova"/>
            </a:endParaRPr>
          </a:p>
        </p:txBody>
      </p:sp>
      <p:pic>
        <p:nvPicPr>
          <p:cNvPr id="79" name="Google Shape;79;p14"/>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type="title"/>
          </p:nvPr>
        </p:nvSpPr>
        <p:spPr>
          <a:xfrm>
            <a:off x="607350" y="3402475"/>
            <a:ext cx="3213300" cy="1012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1500"/>
              <a:t>While we were doing this…</a:t>
            </a:r>
            <a:endParaRPr sz="1500"/>
          </a:p>
          <a:p>
            <a:pPr indent="0" lvl="0" marL="0" rtl="0" algn="ctr">
              <a:spcBef>
                <a:spcPts val="0"/>
              </a:spcBef>
              <a:spcAft>
                <a:spcPts val="0"/>
              </a:spcAft>
              <a:buNone/>
            </a:pPr>
            <a:r>
              <a:rPr lang="en" sz="1500"/>
              <a:t>(</a:t>
            </a:r>
            <a:r>
              <a:rPr lang="en" sz="1500"/>
              <a:t>Block Height: 861,896)</a:t>
            </a:r>
            <a:endParaRPr sz="1500"/>
          </a:p>
        </p:txBody>
      </p:sp>
      <p:pic>
        <p:nvPicPr>
          <p:cNvPr id="85" name="Google Shape;85;p15"/>
          <p:cNvPicPr preferRelativeResize="0"/>
          <p:nvPr/>
        </p:nvPicPr>
        <p:blipFill rotWithShape="1">
          <a:blip r:embed="rId3">
            <a:alphaModFix/>
          </a:blip>
          <a:srcRect b="0" l="4957" r="5083" t="0"/>
          <a:stretch/>
        </p:blipFill>
        <p:spPr>
          <a:xfrm>
            <a:off x="433825" y="1021000"/>
            <a:ext cx="3786875" cy="2306251"/>
          </a:xfrm>
          <a:prstGeom prst="rect">
            <a:avLst/>
          </a:prstGeom>
          <a:noFill/>
          <a:ln>
            <a:noFill/>
          </a:ln>
        </p:spPr>
      </p:pic>
      <p:pic>
        <p:nvPicPr>
          <p:cNvPr id="86" name="Google Shape;86;p15"/>
          <p:cNvPicPr preferRelativeResize="0"/>
          <p:nvPr/>
        </p:nvPicPr>
        <p:blipFill>
          <a:blip r:embed="rId4">
            <a:alphaModFix/>
          </a:blip>
          <a:stretch>
            <a:fillRect/>
          </a:stretch>
        </p:blipFill>
        <p:spPr>
          <a:xfrm>
            <a:off x="4969637" y="2088008"/>
            <a:ext cx="3213301" cy="2508893"/>
          </a:xfrm>
          <a:prstGeom prst="rect">
            <a:avLst/>
          </a:prstGeom>
          <a:noFill/>
          <a:ln>
            <a:noFill/>
          </a:ln>
        </p:spPr>
      </p:pic>
      <p:pic>
        <p:nvPicPr>
          <p:cNvPr id="87" name="Google Shape;87;p15"/>
          <p:cNvPicPr preferRelativeResize="0"/>
          <p:nvPr/>
        </p:nvPicPr>
        <p:blipFill>
          <a:blip r:embed="rId5">
            <a:alphaModFix/>
          </a:blip>
          <a:stretch>
            <a:fillRect/>
          </a:stretch>
        </p:blipFill>
        <p:spPr>
          <a:xfrm>
            <a:off x="5082150" y="438325"/>
            <a:ext cx="2988274" cy="1347751"/>
          </a:xfrm>
          <a:prstGeom prst="rect">
            <a:avLst/>
          </a:prstGeom>
          <a:noFill/>
          <a:ln>
            <a:noFill/>
          </a:ln>
        </p:spPr>
      </p:pic>
      <p:pic>
        <p:nvPicPr>
          <p:cNvPr id="88" name="Google Shape;88;p15"/>
          <p:cNvPicPr preferRelativeResize="0"/>
          <p:nvPr/>
        </p:nvPicPr>
        <p:blipFill>
          <a:blip r:embed="rId6">
            <a:alphaModFix/>
          </a:blip>
          <a:stretch>
            <a:fillRect/>
          </a:stretch>
        </p:blipFill>
        <p:spPr>
          <a:xfrm>
            <a:off x="184150" y="4695625"/>
            <a:ext cx="374483" cy="355476"/>
          </a:xfrm>
          <a:prstGeom prst="rect">
            <a:avLst/>
          </a:prstGeom>
          <a:noFill/>
          <a:ln>
            <a:noFill/>
          </a:ln>
        </p:spPr>
      </p:pic>
      <p:pic>
        <p:nvPicPr>
          <p:cNvPr id="89" name="Google Shape;89;p15"/>
          <p:cNvPicPr preferRelativeResize="0"/>
          <p:nvPr/>
        </p:nvPicPr>
        <p:blipFill>
          <a:blip r:embed="rId7">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16"/>
          <p:cNvPicPr preferRelativeResize="0"/>
          <p:nvPr/>
        </p:nvPicPr>
        <p:blipFill>
          <a:blip r:embed="rId3">
            <a:alphaModFix/>
          </a:blip>
          <a:stretch>
            <a:fillRect/>
          </a:stretch>
        </p:blipFill>
        <p:spPr>
          <a:xfrm>
            <a:off x="1409850" y="479650"/>
            <a:ext cx="6450476" cy="4067074"/>
          </a:xfrm>
          <a:prstGeom prst="rect">
            <a:avLst/>
          </a:prstGeom>
          <a:noFill/>
          <a:ln>
            <a:noFill/>
          </a:ln>
        </p:spPr>
      </p:pic>
      <p:pic>
        <p:nvPicPr>
          <p:cNvPr id="95" name="Google Shape;95;p16"/>
          <p:cNvPicPr preferRelativeResize="0"/>
          <p:nvPr/>
        </p:nvPicPr>
        <p:blipFill>
          <a:blip r:embed="rId4">
            <a:alphaModFix/>
          </a:blip>
          <a:stretch>
            <a:fillRect/>
          </a:stretch>
        </p:blipFill>
        <p:spPr>
          <a:xfrm>
            <a:off x="184150" y="4695625"/>
            <a:ext cx="374483" cy="355476"/>
          </a:xfrm>
          <a:prstGeom prst="rect">
            <a:avLst/>
          </a:prstGeom>
          <a:noFill/>
          <a:ln>
            <a:noFill/>
          </a:ln>
        </p:spPr>
      </p:pic>
      <p:pic>
        <p:nvPicPr>
          <p:cNvPr id="96" name="Google Shape;96;p16"/>
          <p:cNvPicPr preferRelativeResize="0"/>
          <p:nvPr/>
        </p:nvPicPr>
        <p:blipFill>
          <a:blip r:embed="rId5">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17"/>
          <p:cNvPicPr preferRelativeResize="0"/>
          <p:nvPr/>
        </p:nvPicPr>
        <p:blipFill>
          <a:blip r:embed="rId3">
            <a:alphaModFix/>
          </a:blip>
          <a:stretch>
            <a:fillRect/>
          </a:stretch>
        </p:blipFill>
        <p:spPr>
          <a:xfrm>
            <a:off x="2152650" y="152400"/>
            <a:ext cx="4838700" cy="4838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8"/>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Important Information &amp; Tasks </a:t>
            </a:r>
            <a:endParaRPr sz="1983"/>
          </a:p>
        </p:txBody>
      </p:sp>
      <p:pic>
        <p:nvPicPr>
          <p:cNvPr id="107" name="Google Shape;107;p18"/>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108" name="Google Shape;108;p18"/>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Event Form: </a:t>
            </a:r>
            <a:r>
              <a:rPr lang="en" u="sng">
                <a:hlinkClick r:id="rId3"/>
              </a:rPr>
              <a:t>https://forms.gle/b5ZZTY1HZVNLziHP9</a:t>
            </a:r>
            <a:r>
              <a:rPr lang="en"/>
              <a:t> </a:t>
            </a:r>
            <a:endParaRPr/>
          </a:p>
        </p:txBody>
      </p:sp>
      <p:pic>
        <p:nvPicPr>
          <p:cNvPr id="114" name="Google Shape;114;p19"/>
          <p:cNvPicPr preferRelativeResize="0"/>
          <p:nvPr/>
        </p:nvPicPr>
        <p:blipFill>
          <a:blip r:embed="rId4">
            <a:alphaModFix/>
          </a:blip>
          <a:stretch>
            <a:fillRect/>
          </a:stretch>
        </p:blipFill>
        <p:spPr>
          <a:xfrm>
            <a:off x="8611675" y="4665225"/>
            <a:ext cx="313176" cy="313176"/>
          </a:xfrm>
          <a:prstGeom prst="rect">
            <a:avLst/>
          </a:prstGeom>
          <a:noFill/>
          <a:ln>
            <a:noFill/>
          </a:ln>
        </p:spPr>
      </p:pic>
      <p:pic>
        <p:nvPicPr>
          <p:cNvPr id="115" name="Google Shape;115;p19"/>
          <p:cNvPicPr preferRelativeResize="0"/>
          <p:nvPr/>
        </p:nvPicPr>
        <p:blipFill>
          <a:blip r:embed="rId5">
            <a:alphaModFix/>
          </a:blip>
          <a:stretch>
            <a:fillRect/>
          </a:stretch>
        </p:blipFill>
        <p:spPr>
          <a:xfrm>
            <a:off x="450600" y="1655663"/>
            <a:ext cx="4732499" cy="1832176"/>
          </a:xfrm>
          <a:prstGeom prst="rect">
            <a:avLst/>
          </a:prstGeom>
          <a:noFill/>
          <a:ln>
            <a:noFill/>
          </a:ln>
        </p:spPr>
      </p:pic>
      <p:pic>
        <p:nvPicPr>
          <p:cNvPr id="116" name="Google Shape;116;p19"/>
          <p:cNvPicPr preferRelativeResize="0"/>
          <p:nvPr/>
        </p:nvPicPr>
        <p:blipFill>
          <a:blip r:embed="rId6">
            <a:alphaModFix/>
          </a:blip>
          <a:stretch>
            <a:fillRect/>
          </a:stretch>
        </p:blipFill>
        <p:spPr>
          <a:xfrm>
            <a:off x="5723700" y="1341975"/>
            <a:ext cx="2542474" cy="25424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Proof of Work Clusters: </a:t>
            </a:r>
            <a:r>
              <a:rPr lang="en" u="sng">
                <a:hlinkClick r:id="rId3"/>
              </a:rPr>
              <a:t>Document Link</a:t>
            </a:r>
            <a:endParaRPr/>
          </a:p>
        </p:txBody>
      </p:sp>
      <p:pic>
        <p:nvPicPr>
          <p:cNvPr id="122" name="Google Shape;122;p20"/>
          <p:cNvPicPr preferRelativeResize="0"/>
          <p:nvPr/>
        </p:nvPicPr>
        <p:blipFill>
          <a:blip r:embed="rId4">
            <a:alphaModFix/>
          </a:blip>
          <a:stretch>
            <a:fillRect/>
          </a:stretch>
        </p:blipFill>
        <p:spPr>
          <a:xfrm>
            <a:off x="8611675" y="4665225"/>
            <a:ext cx="313176" cy="313176"/>
          </a:xfrm>
          <a:prstGeom prst="rect">
            <a:avLst/>
          </a:prstGeom>
          <a:noFill/>
          <a:ln>
            <a:noFill/>
          </a:ln>
        </p:spPr>
      </p:pic>
      <p:pic>
        <p:nvPicPr>
          <p:cNvPr id="123" name="Google Shape;123;p20"/>
          <p:cNvPicPr preferRelativeResize="0"/>
          <p:nvPr/>
        </p:nvPicPr>
        <p:blipFill>
          <a:blip r:embed="rId5">
            <a:alphaModFix/>
          </a:blip>
          <a:stretch>
            <a:fillRect/>
          </a:stretch>
        </p:blipFill>
        <p:spPr>
          <a:xfrm>
            <a:off x="331225" y="1245900"/>
            <a:ext cx="4134000" cy="3182050"/>
          </a:xfrm>
          <a:prstGeom prst="rect">
            <a:avLst/>
          </a:prstGeom>
          <a:noFill/>
          <a:ln>
            <a:noFill/>
          </a:ln>
        </p:spPr>
      </p:pic>
      <p:pic>
        <p:nvPicPr>
          <p:cNvPr id="124" name="Google Shape;124;p20"/>
          <p:cNvPicPr preferRelativeResize="0"/>
          <p:nvPr/>
        </p:nvPicPr>
        <p:blipFill>
          <a:blip r:embed="rId6">
            <a:alphaModFix/>
          </a:blip>
          <a:stretch>
            <a:fillRect/>
          </a:stretch>
        </p:blipFill>
        <p:spPr>
          <a:xfrm>
            <a:off x="4659525" y="1577277"/>
            <a:ext cx="4332076" cy="2519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Attendance</a:t>
            </a:r>
            <a:endParaRPr/>
          </a:p>
        </p:txBody>
      </p:sp>
      <p:pic>
        <p:nvPicPr>
          <p:cNvPr id="130" name="Google Shape;130;p21"/>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131" name="Google Shape;131;p21"/>
          <p:cNvPicPr preferRelativeResize="0"/>
          <p:nvPr/>
        </p:nvPicPr>
        <p:blipFill rotWithShape="1">
          <a:blip r:embed="rId4">
            <a:alphaModFix/>
          </a:blip>
          <a:srcRect b="31503" l="6111" r="6834" t="3274"/>
          <a:stretch/>
        </p:blipFill>
        <p:spPr>
          <a:xfrm>
            <a:off x="2981175" y="1511925"/>
            <a:ext cx="2615675" cy="2752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p:nvPr/>
        </p:nvSpPr>
        <p:spPr>
          <a:xfrm>
            <a:off x="5749400" y="1146450"/>
            <a:ext cx="2912700" cy="2850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pic>
        <p:nvPicPr>
          <p:cNvPr id="137" name="Google Shape;137;p22"/>
          <p:cNvPicPr preferRelativeResize="0"/>
          <p:nvPr/>
        </p:nvPicPr>
        <p:blipFill>
          <a:blip r:embed="rId3">
            <a:alphaModFix/>
          </a:blip>
          <a:stretch>
            <a:fillRect/>
          </a:stretch>
        </p:blipFill>
        <p:spPr>
          <a:xfrm>
            <a:off x="5889263" y="1255263"/>
            <a:ext cx="2632975" cy="2632975"/>
          </a:xfrm>
          <a:prstGeom prst="rect">
            <a:avLst/>
          </a:prstGeom>
          <a:noFill/>
          <a:ln>
            <a:noFill/>
          </a:ln>
        </p:spPr>
      </p:pic>
      <p:sp>
        <p:nvSpPr>
          <p:cNvPr id="138" name="Google Shape;138;p22"/>
          <p:cNvSpPr txBox="1"/>
          <p:nvPr>
            <p:ph idx="4294967295" type="body"/>
          </p:nvPr>
        </p:nvSpPr>
        <p:spPr>
          <a:xfrm>
            <a:off x="620213" y="418813"/>
            <a:ext cx="5067600" cy="43059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1018"/>
              <a:buNone/>
            </a:pPr>
            <a:r>
              <a:rPr b="1" lang="en" sz="1288">
                <a:solidFill>
                  <a:schemeClr val="lt1"/>
                </a:solidFill>
              </a:rPr>
              <a:t>Join: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u="sng">
                <a:solidFill>
                  <a:schemeClr val="lt1"/>
                </a:solidFill>
                <a:hlinkClick r:id="rId4">
                  <a:extLst>
                    <a:ext uri="{A12FA001-AC4F-418D-AE19-62706E023703}">
                      <ahyp:hlinkClr val="tx"/>
                    </a:ext>
                  </a:extLst>
                </a:hlinkClick>
              </a:rPr>
              <a:t>Slack</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u="sng">
                <a:solidFill>
                  <a:schemeClr val="lt1"/>
                </a:solidFill>
                <a:hlinkClick r:id="rId5">
                  <a:extLst>
                    <a:ext uri="{A12FA001-AC4F-418D-AE19-62706E023703}">
                      <ahyp:hlinkClr val="tx"/>
                    </a:ext>
                  </a:extLst>
                </a:hlinkClick>
              </a:rPr>
              <a:t>Gcal</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Twitter (best Bitcoin news source)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Put @CornellBitcoin in your bio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Add your handle </a:t>
            </a:r>
            <a:r>
              <a:rPr lang="en" sz="1288" u="sng">
                <a:solidFill>
                  <a:srgbClr val="0E101A"/>
                </a:solidFill>
                <a:highlight>
                  <a:schemeClr val="lt1"/>
                </a:highlight>
                <a:hlinkClick r:id="rId6">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Forms:</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Review the Constitution &amp; sign </a:t>
            </a:r>
            <a:r>
              <a:rPr lang="en" sz="1288" u="sng">
                <a:solidFill>
                  <a:schemeClr val="hlink"/>
                </a:solidFill>
                <a:highlight>
                  <a:schemeClr val="lt1"/>
                </a:highlight>
                <a:hlinkClick r:id="rId7"/>
              </a:rPr>
              <a:t>here</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Fill out interest joining form </a:t>
            </a:r>
            <a:r>
              <a:rPr lang="en" sz="1288" u="sng">
                <a:solidFill>
                  <a:srgbClr val="0E101A"/>
                </a:solidFill>
                <a:highlight>
                  <a:schemeClr val="lt1"/>
                </a:highlight>
                <a:hlinkClick r:id="rId8">
                  <a:extLst>
                    <a:ext uri="{A12FA001-AC4F-418D-AE19-62706E023703}">
                      <ahyp:hlinkClr val="tx"/>
                    </a:ext>
                  </a:extLst>
                </a:hlinkClick>
              </a:rPr>
              <a:t>here</a:t>
            </a:r>
            <a:r>
              <a:rPr lang="en" sz="1288">
                <a:solidFill>
                  <a:schemeClr val="lt1"/>
                </a:solidFill>
              </a:rPr>
              <a:t> (if haven’t already)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Suggest topics </a:t>
            </a:r>
            <a:r>
              <a:rPr lang="en" sz="1288" u="sng">
                <a:solidFill>
                  <a:srgbClr val="0E101A"/>
                </a:solidFill>
                <a:highlight>
                  <a:schemeClr val="lt1"/>
                </a:highlight>
                <a:hlinkClick r:id="rId9">
                  <a:extLst>
                    <a:ext uri="{A12FA001-AC4F-418D-AE19-62706E023703}">
                      <ahyp:hlinkClr val="tx"/>
                    </a:ext>
                  </a:extLst>
                </a:hlinkClick>
              </a:rPr>
              <a:t>here</a:t>
            </a:r>
            <a:r>
              <a:rPr lang="en" sz="1288">
                <a:solidFill>
                  <a:srgbClr val="0E101A"/>
                </a:solidFill>
                <a:highlight>
                  <a:schemeClr val="lt1"/>
                </a:highlight>
              </a:rPr>
              <a:t> </a:t>
            </a:r>
            <a:endParaRPr b="1" sz="1288">
              <a:solidFill>
                <a:srgbClr val="0E101A"/>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Club playlist: add favorite songs </a:t>
            </a:r>
            <a:r>
              <a:rPr lang="en" sz="1288" u="sng">
                <a:solidFill>
                  <a:srgbClr val="000000"/>
                </a:solidFill>
                <a:highlight>
                  <a:schemeClr val="lt1"/>
                </a:highlight>
                <a:hlinkClick r:id="rId10">
                  <a:extLst>
                    <a:ext uri="{A12FA001-AC4F-418D-AE19-62706E023703}">
                      <ahyp:hlinkClr val="tx"/>
                    </a:ext>
                  </a:extLst>
                </a:hlinkClick>
              </a:rPr>
              <a:t>here</a:t>
            </a:r>
            <a:r>
              <a:rPr lang="en" sz="1288">
                <a:solidFill>
                  <a:srgbClr val="000000"/>
                </a:solidFill>
                <a:highlight>
                  <a:schemeClr val="lt1"/>
                </a:highlight>
              </a:rPr>
              <a:t> </a:t>
            </a:r>
            <a:endParaRPr sz="1288">
              <a:solidFill>
                <a:srgbClr val="000000"/>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Add favorite snacks </a:t>
            </a:r>
            <a:r>
              <a:rPr lang="en" sz="1288" u="sng">
                <a:solidFill>
                  <a:srgbClr val="0E101A"/>
                </a:solidFill>
                <a:highlight>
                  <a:schemeClr val="lt1"/>
                </a:highlight>
                <a:hlinkClick r:id="rId11">
                  <a:extLst>
                    <a:ext uri="{A12FA001-AC4F-418D-AE19-62706E023703}">
                      <ahyp:hlinkClr val="tx"/>
                    </a:ext>
                  </a:extLst>
                </a:hlinkClick>
              </a:rPr>
              <a:t>here</a:t>
            </a:r>
            <a:r>
              <a:rPr lang="en" sz="1288">
                <a:solidFill>
                  <a:schemeClr val="lt1"/>
                </a:solidFill>
              </a:rPr>
              <a:t>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Resume Book </a:t>
            </a:r>
            <a:r>
              <a:rPr lang="en" sz="1288" u="sng">
                <a:solidFill>
                  <a:srgbClr val="0E101A"/>
                </a:solidFill>
                <a:highlight>
                  <a:schemeClr val="lt1"/>
                </a:highlight>
                <a:hlinkClick r:id="rId12">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Follow: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@CornellBitcoin on Twitter</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@CornellBitcoinClub on Instagram</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 Bitcoin Club on LinkedIn</a:t>
            </a:r>
            <a:endParaRPr sz="1288">
              <a:solidFill>
                <a:schemeClr val="lt1"/>
              </a:solidFill>
            </a:endParaRPr>
          </a:p>
        </p:txBody>
      </p:sp>
      <p:pic>
        <p:nvPicPr>
          <p:cNvPr id="139" name="Google Shape;139;p22"/>
          <p:cNvPicPr preferRelativeResize="0"/>
          <p:nvPr/>
        </p:nvPicPr>
        <p:blipFill>
          <a:blip r:embed="rId13">
            <a:alphaModFix/>
          </a:blip>
          <a:stretch>
            <a:fillRect/>
          </a:stretch>
        </p:blipFill>
        <p:spPr>
          <a:xfrm>
            <a:off x="184150" y="4695625"/>
            <a:ext cx="374483" cy="355476"/>
          </a:xfrm>
          <a:prstGeom prst="rect">
            <a:avLst/>
          </a:prstGeom>
          <a:noFill/>
          <a:ln>
            <a:noFill/>
          </a:ln>
        </p:spPr>
      </p:pic>
      <p:pic>
        <p:nvPicPr>
          <p:cNvPr id="140" name="Google Shape;140;p22"/>
          <p:cNvPicPr preferRelativeResize="0"/>
          <p:nvPr/>
        </p:nvPicPr>
        <p:blipFill>
          <a:blip r:embed="rId1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44" name="Shape 144"/>
        <p:cNvGrpSpPr/>
        <p:nvPr/>
      </p:nvGrpSpPr>
      <p:grpSpPr>
        <a:xfrm>
          <a:off x="0" y="0"/>
          <a:ext cx="0" cy="0"/>
          <a:chOff x="0" y="0"/>
          <a:chExt cx="0" cy="0"/>
        </a:xfrm>
      </p:grpSpPr>
      <p:sp>
        <p:nvSpPr>
          <p:cNvPr id="145" name="Google Shape;145;p23"/>
          <p:cNvSpPr txBox="1"/>
          <p:nvPr>
            <p:ph type="title"/>
          </p:nvPr>
        </p:nvSpPr>
        <p:spPr>
          <a:xfrm>
            <a:off x="460950" y="1590000"/>
            <a:ext cx="8222100" cy="1963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t>Thank you!</a:t>
            </a:r>
            <a:endParaRPr b="1" sz="6000">
              <a:solidFill>
                <a:schemeClr val="lt1"/>
              </a:solidFill>
            </a:endParaRPr>
          </a:p>
        </p:txBody>
      </p:sp>
      <p:pic>
        <p:nvPicPr>
          <p:cNvPr id="146" name="Google Shape;146;p23"/>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147" name="Google Shape;147;p23"/>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