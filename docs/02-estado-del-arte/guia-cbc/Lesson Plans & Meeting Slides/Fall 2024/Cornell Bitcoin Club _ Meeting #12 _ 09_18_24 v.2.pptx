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3"/>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5143500" cx="9144000"/>
  <p:notesSz cx="6858000" cy="9144000"/>
  <p:embeddedFontLst>
    <p:embeddedFont>
      <p:font typeface="Raleway"/>
      <p:regular r:id="rId55"/>
      <p:bold r:id="rId56"/>
      <p:italic r:id="rId57"/>
      <p:boldItalic r:id="rId58"/>
    </p:embeddedFont>
    <p:embeddedFont>
      <p:font typeface="Proxima Nova"/>
      <p:regular r:id="rId59"/>
      <p:bold r:id="rId60"/>
      <p:italic r:id="rId61"/>
      <p:boldItalic r:id="rId62"/>
    </p:embeddedFont>
    <p:embeddedFont>
      <p:font typeface="Roboto"/>
      <p:regular r:id="rId63"/>
      <p:bold r:id="rId64"/>
      <p:italic r:id="rId65"/>
      <p:boldItalic r:id="rId66"/>
    </p:embeddedFont>
    <p:embeddedFont>
      <p:font typeface="Bebas Neue"/>
      <p:regular r:id="rId67"/>
    </p:embeddedFont>
    <p:embeddedFont>
      <p:font typeface="Urbanist"/>
      <p:regular r:id="rId68"/>
      <p:bold r:id="rId69"/>
      <p:italic r:id="rId70"/>
      <p:boldItalic r:id="rId71"/>
    </p:embeddedFont>
    <p:embeddedFont>
      <p:font typeface="Proxima Nova Semibold"/>
      <p:regular r:id="rId72"/>
      <p:bold r:id="rId73"/>
      <p:boldItalic r:id="rId74"/>
    </p:embeddedFont>
    <p:embeddedFont>
      <p:font typeface="Barlow"/>
      <p:regular r:id="rId75"/>
      <p:bold r:id="rId76"/>
      <p:italic r:id="rId77"/>
      <p:boldItalic r:id="rId7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ProximaNovaSemibold-bold.fntdata"/><Relationship Id="rId72" Type="http://schemas.openxmlformats.org/officeDocument/2006/relationships/font" Target="fonts/ProximaNovaSemibold-regular.fntdata"/><Relationship Id="rId31" Type="http://schemas.openxmlformats.org/officeDocument/2006/relationships/slide" Target="slides/slide26.xml"/><Relationship Id="rId75" Type="http://schemas.openxmlformats.org/officeDocument/2006/relationships/font" Target="fonts/Barlow-regular.fntdata"/><Relationship Id="rId30" Type="http://schemas.openxmlformats.org/officeDocument/2006/relationships/slide" Target="slides/slide25.xml"/><Relationship Id="rId74" Type="http://schemas.openxmlformats.org/officeDocument/2006/relationships/font" Target="fonts/ProximaNovaSemibold-boldItalic.fntdata"/><Relationship Id="rId33" Type="http://schemas.openxmlformats.org/officeDocument/2006/relationships/slide" Target="slides/slide28.xml"/><Relationship Id="rId77" Type="http://schemas.openxmlformats.org/officeDocument/2006/relationships/font" Target="fonts/Barlow-italic.fntdata"/><Relationship Id="rId32" Type="http://schemas.openxmlformats.org/officeDocument/2006/relationships/slide" Target="slides/slide27.xml"/><Relationship Id="rId76" Type="http://schemas.openxmlformats.org/officeDocument/2006/relationships/font" Target="fonts/Barlow-bold.fntdata"/><Relationship Id="rId35" Type="http://schemas.openxmlformats.org/officeDocument/2006/relationships/slide" Target="slides/slide30.xml"/><Relationship Id="rId34" Type="http://schemas.openxmlformats.org/officeDocument/2006/relationships/slide" Target="slides/slide29.xml"/><Relationship Id="rId78" Type="http://schemas.openxmlformats.org/officeDocument/2006/relationships/font" Target="fonts/Barlow-boldItalic.fntdata"/><Relationship Id="rId71" Type="http://schemas.openxmlformats.org/officeDocument/2006/relationships/font" Target="fonts/Urbanist-boldItalic.fntdata"/><Relationship Id="rId70" Type="http://schemas.openxmlformats.org/officeDocument/2006/relationships/font" Target="fonts/Urbanist-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ProximaNova-boldItalic.fntdata"/><Relationship Id="rId61" Type="http://schemas.openxmlformats.org/officeDocument/2006/relationships/font" Target="fonts/ProximaNova-italic.fntdata"/><Relationship Id="rId20" Type="http://schemas.openxmlformats.org/officeDocument/2006/relationships/slide" Target="slides/slide15.xml"/><Relationship Id="rId64" Type="http://schemas.openxmlformats.org/officeDocument/2006/relationships/font" Target="fonts/Roboto-bold.fntdata"/><Relationship Id="rId63" Type="http://schemas.openxmlformats.org/officeDocument/2006/relationships/font" Target="fonts/Roboto-regular.fntdata"/><Relationship Id="rId22" Type="http://schemas.openxmlformats.org/officeDocument/2006/relationships/slide" Target="slides/slide17.xml"/><Relationship Id="rId66" Type="http://schemas.openxmlformats.org/officeDocument/2006/relationships/font" Target="fonts/Roboto-boldItalic.fntdata"/><Relationship Id="rId21" Type="http://schemas.openxmlformats.org/officeDocument/2006/relationships/slide" Target="slides/slide16.xml"/><Relationship Id="rId65" Type="http://schemas.openxmlformats.org/officeDocument/2006/relationships/font" Target="fonts/Roboto-italic.fntdata"/><Relationship Id="rId24" Type="http://schemas.openxmlformats.org/officeDocument/2006/relationships/slide" Target="slides/slide19.xml"/><Relationship Id="rId68" Type="http://schemas.openxmlformats.org/officeDocument/2006/relationships/font" Target="fonts/Urbanist-regular.fntdata"/><Relationship Id="rId23" Type="http://schemas.openxmlformats.org/officeDocument/2006/relationships/slide" Target="slides/slide18.xml"/><Relationship Id="rId67" Type="http://schemas.openxmlformats.org/officeDocument/2006/relationships/font" Target="fonts/BebasNeue-regular.fntdata"/><Relationship Id="rId60" Type="http://schemas.openxmlformats.org/officeDocument/2006/relationships/font" Target="fonts/ProximaNova-bold.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Urbanist-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Raleway-regular.fntdata"/><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aleway-italic.fntdata"/><Relationship Id="rId12" Type="http://schemas.openxmlformats.org/officeDocument/2006/relationships/slide" Target="slides/slide7.xml"/><Relationship Id="rId56" Type="http://schemas.openxmlformats.org/officeDocument/2006/relationships/font" Target="fonts/Raleway-bold.fntdata"/><Relationship Id="rId15" Type="http://schemas.openxmlformats.org/officeDocument/2006/relationships/slide" Target="slides/slide10.xml"/><Relationship Id="rId59" Type="http://schemas.openxmlformats.org/officeDocument/2006/relationships/font" Target="fonts/ProximaNova-regular.fntdata"/><Relationship Id="rId14" Type="http://schemas.openxmlformats.org/officeDocument/2006/relationships/slide" Target="slides/slide9.xml"/><Relationship Id="rId58" Type="http://schemas.openxmlformats.org/officeDocument/2006/relationships/font" Target="fonts/Raleway-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x.com/APompliano/status/1772974125163729090" TargetMode="External"/><Relationship Id="rId3" Type="http://schemas.openxmlformats.org/officeDocument/2006/relationships/hyperlink" Target="https://www.whitehouse.gov/wp-content/uploads/2023/03/budget_fy2024.pdf" TargetMode="External"/><Relationship Id="rId4" Type="http://schemas.openxmlformats.org/officeDocument/2006/relationships/hyperlink" Target="https://www.usdebtclock.org/" TargetMode="External"/><Relationship Id="rId5" Type="http://schemas.openxmlformats.org/officeDocument/2006/relationships/hyperlink" Target="https://www.cbsnews.com/news/federal-debt-interest-payments-defense-medicare-children/" TargetMode="External"/><Relationship Id="rId6" Type="http://schemas.openxmlformats.org/officeDocument/2006/relationships/hyperlink" Target="https://www.pgpf.org/blog/2024/08/what-is-the-national-debt-costing-us#:~:text=Furthermore%2C%20interest%20will%20continue%20to,on%20Social%20Security%20that%20year"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2866d0df8e3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866d0df8e3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01c119fa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01c119fa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ff97d3c634_0_5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ff97d3c634_0_5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6869403eb0_0_6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6869403eb0_0_6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01c119fa96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01c119fa96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01c119fa96_0_2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01c119fa96_0_2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01c119fa96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01c119fa96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01c119fa96_0_1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301c119fa96_0_1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01c119fa96_0_1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g301c119fa96_0_1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01c119fa96_0_1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301c119fa96_0_1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01c119fa96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301c119fa96_0_1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01c119fa96_0_1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g301c119fa96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01c119fa96_0_1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301c119fa96_0_1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01c119fa96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01c119fa96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01c119fa96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01c119fa96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https://x.com/APompliano/status/1772974125163729090</a:t>
            </a:r>
            <a:endParaRPr/>
          </a:p>
          <a:p>
            <a:pPr indent="0" lvl="0" marL="0" rtl="0" algn="l">
              <a:spcBef>
                <a:spcPts val="0"/>
              </a:spcBef>
              <a:spcAft>
                <a:spcPts val="0"/>
              </a:spcAft>
              <a:buNone/>
            </a:pPr>
            <a:r>
              <a:rPr lang="en" u="sng">
                <a:solidFill>
                  <a:schemeClr val="hlink"/>
                </a:solidFill>
                <a:hlinkClick r:id="rId3"/>
              </a:rPr>
              <a:t>https://www.whitehouse.gov/wp-content/uploads/2023/03/budget_fy2024.pdf</a:t>
            </a:r>
            <a:endParaRPr/>
          </a:p>
          <a:p>
            <a:pPr indent="0" lvl="0" marL="0" rtl="0" algn="l">
              <a:spcBef>
                <a:spcPts val="0"/>
              </a:spcBef>
              <a:spcAft>
                <a:spcPts val="0"/>
              </a:spcAft>
              <a:buNone/>
            </a:pPr>
            <a:r>
              <a:rPr lang="en" u="sng">
                <a:solidFill>
                  <a:schemeClr val="hlink"/>
                </a:solidFill>
                <a:hlinkClick r:id="rId4"/>
              </a:rPr>
              <a:t>https://www.usdebtclock.org/</a:t>
            </a:r>
            <a:endParaRPr/>
          </a:p>
          <a:p>
            <a:pPr indent="0" lvl="0" marL="0" rtl="0" algn="l">
              <a:spcBef>
                <a:spcPts val="0"/>
              </a:spcBef>
              <a:spcAft>
                <a:spcPts val="0"/>
              </a:spcAft>
              <a:buNone/>
            </a:pPr>
            <a:r>
              <a:rPr lang="en" u="sng">
                <a:solidFill>
                  <a:schemeClr val="hlink"/>
                </a:solidFill>
                <a:hlinkClick r:id="rId5"/>
              </a:rPr>
              <a:t>https://www.cbsnews.com/news/federal-debt-interest-payments-defense-medicare-children/</a:t>
            </a:r>
            <a:r>
              <a:rPr lang="en"/>
              <a:t> </a:t>
            </a:r>
            <a:endParaRPr/>
          </a:p>
          <a:p>
            <a:pPr indent="0" lvl="0" marL="0" rtl="0" algn="l">
              <a:spcBef>
                <a:spcPts val="0"/>
              </a:spcBef>
              <a:spcAft>
                <a:spcPts val="0"/>
              </a:spcAft>
              <a:buNone/>
            </a:pPr>
            <a:r>
              <a:rPr lang="en" u="sng">
                <a:solidFill>
                  <a:schemeClr val="hlink"/>
                </a:solidFill>
                <a:hlinkClick r:id="rId6"/>
              </a:rPr>
              <a:t>https://www.pgpf.org/blog/2024/08/what-is-the-national-debt-costing-us#:~:text=Furthermore%2C%20interest%20will%20continue%20to,on%20Social%20Security%20that%20year</a:t>
            </a:r>
            <a:r>
              <a:rPr lang="en"/>
              <a:t>. </a:t>
            </a:r>
            <a:endParaRPr/>
          </a:p>
          <a:p>
            <a:pPr indent="0" lvl="0" marL="0" rtl="0" algn="l">
              <a:spcBef>
                <a:spcPts val="0"/>
              </a:spcBef>
              <a:spcAft>
                <a:spcPts val="0"/>
              </a:spcAft>
              <a:buNone/>
            </a:pPr>
            <a:r>
              <a:t/>
            </a:r>
            <a:endParaRPr sz="1150">
              <a:solidFill>
                <a:srgbClr val="FFFFFF"/>
              </a:solidFill>
              <a:highlight>
                <a:schemeClr val="dk1"/>
              </a:high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01c119fa96_0_1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g301c119fa96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01c119fa9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01c119fa9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ff97d3c634_0_4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g2ff97d3c634_0_4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2ff97d3c634_0_4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g2ff97d3c634_0_4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ff97d3c634_0_46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g2ff97d3c634_0_4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01c119fa96_0_5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g301c119fa96_0_5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01c119fa96_0_6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01c119fa96_0_6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01c119fa96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01c119fa96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ff97d3c634_0_4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g2ff97d3c634_0_4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01c119fa96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01c119fa96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01c119fa96_0_6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01c119fa96_0_6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ff97d3c634_0_5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9" name="Google Shape;309;g2ff97d3c634_0_5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01c119fa96_0_6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g301c119fa96_0_6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01c119fa96_0_6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g301c119fa96_0_65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01c119fa96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01c119fa96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01c119fa9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01c119fa9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01c119fa96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01c119fa96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01c119fa96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01c119fa96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01c119fa96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01c119fa96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6869403eb0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26869403eb0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01c119fa96_0_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01c119fa96_0_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01c119fa96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01c119fa96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01c119fa96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301c119fa96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2686e27fd3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2686e27fd3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2686e27fd3b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2686e27fd3b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2686e27fd3b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2" name="Google Shape;412;g2686e27fd3b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2686e27fd3b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2686e27fd3b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01c119fa96_0_5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301c119fa96_0_5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686e27fd3b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2686e27fd3b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01c119fa96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301c119fa96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2686e27fd3b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2686e27fd3b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2866d0df8e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2866d0df8e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6869403eb0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6869403eb0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2866d0df8e3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2866d0df8e3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Font typeface="Proxima Nova"/>
              <a:buNone/>
              <a:defRPr sz="4800">
                <a:latin typeface="Proxima Nova"/>
                <a:ea typeface="Proxima Nova"/>
                <a:cs typeface="Proxima Nova"/>
                <a:sym typeface="Proxima Nova"/>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Font typeface="Proxima Nova"/>
              <a:buNone/>
              <a:defRPr sz="4200">
                <a:latin typeface="Proxima Nova"/>
                <a:ea typeface="Proxima Nova"/>
                <a:cs typeface="Proxima Nova"/>
                <a:sym typeface="Proxima Nova"/>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Font typeface="Proxima Nova"/>
              <a:buNone/>
              <a:defRPr>
                <a:latin typeface="Proxima Nova"/>
                <a:ea typeface="Proxima Nova"/>
                <a:cs typeface="Proxima Nova"/>
                <a:sym typeface="Proxima Nova"/>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4"/>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B31B1B"/>
        </a:solidFill>
      </p:bgPr>
    </p:bg>
    <p:spTree>
      <p:nvGrpSpPr>
        <p:cNvPr id="25" name="Shape 25"/>
        <p:cNvGrpSpPr/>
        <p:nvPr/>
      </p:nvGrpSpPr>
      <p:grpSpPr>
        <a:xfrm>
          <a:off x="0" y="0"/>
          <a:ext cx="0" cy="0"/>
          <a:chOff x="0" y="0"/>
          <a:chExt cx="0" cy="0"/>
        </a:xfrm>
      </p:grpSpPr>
      <p:sp>
        <p:nvSpPr>
          <p:cNvPr id="26" name="Google Shape;26;p5"/>
          <p:cNvSpPr/>
          <p:nvPr/>
        </p:nvSpPr>
        <p:spPr>
          <a:xfrm flipH="1" rot="10800000">
            <a:off x="0" y="1686000"/>
            <a:ext cx="9144000" cy="3457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9" name="Google Shape;29;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Clr>
                <a:srgbClr val="000000"/>
              </a:buClr>
              <a:buSzPts val="1400"/>
              <a:buFont typeface="Arial"/>
              <a:buChar char="●"/>
              <a:defRPr b="1" sz="700">
                <a:latin typeface="Arial"/>
                <a:ea typeface="Arial"/>
                <a:cs typeface="Arial"/>
                <a:sym typeface="Arial"/>
              </a:defRPr>
            </a:lvl1pPr>
            <a:lvl2pPr indent="-317500" lvl="1" marL="914400">
              <a:spcBef>
                <a:spcPts val="0"/>
              </a:spcBef>
              <a:spcAft>
                <a:spcPts val="0"/>
              </a:spcAft>
              <a:buClr>
                <a:srgbClr val="000000"/>
              </a:buClr>
              <a:buSzPts val="1400"/>
              <a:buFont typeface="Arial"/>
              <a:buChar char="○"/>
              <a:defRPr sz="1200"/>
            </a:lvl2pPr>
            <a:lvl3pPr indent="-317500" lvl="2" marL="1371600">
              <a:lnSpc>
                <a:spcPct val="100000"/>
              </a:lnSpc>
              <a:spcBef>
                <a:spcPts val="0"/>
              </a:spcBef>
              <a:spcAft>
                <a:spcPts val="0"/>
              </a:spcAft>
              <a:buClr>
                <a:srgbClr val="000000"/>
              </a:buClr>
              <a:buSzPts val="1400"/>
              <a:buFont typeface="Arial"/>
              <a:buChar char="■"/>
              <a:defRPr sz="700">
                <a:latin typeface="Arial"/>
                <a:ea typeface="Arial"/>
                <a:cs typeface="Arial"/>
                <a:sym typeface="Arial"/>
              </a:defRPr>
            </a:lvl3pPr>
            <a:lvl4pPr indent="-317500" lvl="3" marL="1828800">
              <a:spcBef>
                <a:spcPts val="0"/>
              </a:spcBef>
              <a:spcAft>
                <a:spcPts val="0"/>
              </a:spcAft>
              <a:buClr>
                <a:srgbClr val="000000"/>
              </a:buClr>
              <a:buSzPts val="1400"/>
              <a:buFont typeface="Arial"/>
              <a:buChar char="●"/>
              <a:defRPr sz="1200"/>
            </a:lvl4pPr>
            <a:lvl5pPr indent="-317500" lvl="4" marL="2286000">
              <a:spcBef>
                <a:spcPts val="0"/>
              </a:spcBef>
              <a:spcAft>
                <a:spcPts val="0"/>
              </a:spcAft>
              <a:buClr>
                <a:srgbClr val="000000"/>
              </a:buClr>
              <a:buSzPts val="1400"/>
              <a:buFont typeface="Arial"/>
              <a:buChar char="○"/>
              <a:defRPr sz="1200"/>
            </a:lvl5pPr>
            <a:lvl6pPr indent="-317500" lvl="5" marL="2743200">
              <a:spcBef>
                <a:spcPts val="0"/>
              </a:spcBef>
              <a:spcAft>
                <a:spcPts val="0"/>
              </a:spcAft>
              <a:buClr>
                <a:srgbClr val="000000"/>
              </a:buClr>
              <a:buSzPts val="1400"/>
              <a:buFont typeface="Arial"/>
              <a:buChar char="■"/>
              <a:defRPr sz="1200"/>
            </a:lvl6pPr>
            <a:lvl7pPr indent="-317500" lvl="6" marL="3200400">
              <a:spcBef>
                <a:spcPts val="0"/>
              </a:spcBef>
              <a:spcAft>
                <a:spcPts val="0"/>
              </a:spcAft>
              <a:buClr>
                <a:srgbClr val="000000"/>
              </a:buClr>
              <a:buSzPts val="1400"/>
              <a:buFont typeface="Arial"/>
              <a:buChar char="●"/>
              <a:defRPr sz="1200"/>
            </a:lvl7pPr>
            <a:lvl8pPr indent="-317500" lvl="7" marL="3657600">
              <a:spcBef>
                <a:spcPts val="0"/>
              </a:spcBef>
              <a:spcAft>
                <a:spcPts val="0"/>
              </a:spcAft>
              <a:buClr>
                <a:srgbClr val="000000"/>
              </a:buClr>
              <a:buSzPts val="1400"/>
              <a:buFont typeface="Arial"/>
              <a:buChar char="○"/>
              <a:defRPr sz="1200"/>
            </a:lvl8pPr>
            <a:lvl9pPr indent="-317500" lvl="8" marL="4114800">
              <a:spcBef>
                <a:spcPts val="0"/>
              </a:spcBef>
              <a:spcAft>
                <a:spcPts val="0"/>
              </a:spcAft>
              <a:buClr>
                <a:srgbClr val="000000"/>
              </a:buClr>
              <a:buSzPts val="1400"/>
              <a:buFont typeface="Arial"/>
              <a:buChar char="■"/>
              <a:defRPr sz="1200"/>
            </a:lvl9pPr>
          </a:lstStyle>
          <a:p/>
        </p:txBody>
      </p:sp>
      <p:sp>
        <p:nvSpPr>
          <p:cNvPr id="31" name="Google Shape;31;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2" name="Google Shape;32;p5"/>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rgbClr val="B31B1B"/>
        </a:solidFill>
      </p:bgPr>
    </p:bg>
    <p:spTree>
      <p:nvGrpSpPr>
        <p:cNvPr id="33" name="Shape 33"/>
        <p:cNvGrpSpPr/>
        <p:nvPr/>
      </p:nvGrpSpPr>
      <p:grpSpPr>
        <a:xfrm>
          <a:off x="0" y="0"/>
          <a:ext cx="0" cy="0"/>
          <a:chOff x="0" y="0"/>
          <a:chExt cx="0" cy="0"/>
        </a:xfrm>
      </p:grpSpPr>
      <p:sp>
        <p:nvSpPr>
          <p:cNvPr id="34" name="Google Shape;34;p6"/>
          <p:cNvSpPr/>
          <p:nvPr/>
        </p:nvSpPr>
        <p:spPr>
          <a:xfrm flipH="1" rot="10800000">
            <a:off x="0" y="656400"/>
            <a:ext cx="9144000" cy="44871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19866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 name="Google Shape;37;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38" name="Google Shape;38;p6"/>
          <p:cNvPicPr preferRelativeResize="0"/>
          <p:nvPr/>
        </p:nvPicPr>
        <p:blipFill>
          <a:blip r:embed="rId2">
            <a:alphaModFix/>
          </a:blip>
          <a:stretch>
            <a:fillRect/>
          </a:stretch>
        </p:blipFill>
        <p:spPr>
          <a:xfrm>
            <a:off x="184150" y="4695625"/>
            <a:ext cx="374483" cy="35547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nvSpPr>
        <p:spPr>
          <a:xfrm flipH="1" rot="10800000">
            <a:off x="3276600" y="25"/>
            <a:ext cx="58674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3" name="Google Shape;43;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4" name="Google Shape;44;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000000"/>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7" name="Google Shape;47;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flipH="1">
            <a:off x="0" y="0"/>
            <a:ext cx="4572000" cy="51435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52" name="Google Shape;52;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sp>
        <p:nvSpPr>
          <p:cNvPr id="56" name="Google Shape;56;p10"/>
          <p:cNvSpPr txBox="1"/>
          <p:nvPr/>
        </p:nvSpPr>
        <p:spPr>
          <a:xfrm flipH="1" rot="10800000">
            <a:off x="0" y="0"/>
            <a:ext cx="9144000" cy="4695900"/>
          </a:xfrm>
          <a:prstGeom prst="rect">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Clr>
                <a:schemeClr val="lt1"/>
              </a:buClr>
              <a:buSzPts val="1200"/>
              <a:buNone/>
              <a:defRPr sz="1200">
                <a:solidFill>
                  <a:schemeClr val="lt1"/>
                </a:solidFill>
              </a:defRPr>
            </a:lvl1pPr>
          </a:lstStyle>
          <a:p/>
        </p:txBody>
      </p:sp>
      <p:sp>
        <p:nvSpPr>
          <p:cNvPr id="59" name="Google Shape;59;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rgbClr val="450B0C"/>
        </a:solidFill>
      </p:bgPr>
    </p:bg>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62" name="Google Shape;62;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63" name="Google Shape;63;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450B0C"/>
        </a:solidFill>
      </p:bgPr>
    </p:bg>
    <p:spTree>
      <p:nvGrpSpPr>
        <p:cNvPr id="64" name="Shape 64"/>
        <p:cNvGrpSpPr/>
        <p:nvPr/>
      </p:nvGrpSpPr>
      <p:grpSpPr>
        <a:xfrm>
          <a:off x="0" y="0"/>
          <a:ext cx="0" cy="0"/>
          <a:chOff x="0" y="0"/>
          <a:chExt cx="0" cy="0"/>
        </a:xfrm>
      </p:grpSpPr>
      <p:sp>
        <p:nvSpPr>
          <p:cNvPr id="65" name="Google Shape;65;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9" name="Shape 69"/>
        <p:cNvGrpSpPr/>
        <p:nvPr/>
      </p:nvGrpSpPr>
      <p:grpSpPr>
        <a:xfrm>
          <a:off x="0" y="0"/>
          <a:ext cx="0" cy="0"/>
          <a:chOff x="0" y="0"/>
          <a:chExt cx="0" cy="0"/>
        </a:xfrm>
      </p:grpSpPr>
      <p:sp>
        <p:nvSpPr>
          <p:cNvPr id="70" name="Google Shape;70;p14"/>
          <p:cNvSpPr txBox="1"/>
          <p:nvPr>
            <p:ph type="ctrTitle"/>
          </p:nvPr>
        </p:nvSpPr>
        <p:spPr>
          <a:xfrm>
            <a:off x="1179875" y="1660263"/>
            <a:ext cx="6784200" cy="20880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5200"/>
              <a:buNone/>
              <a:defRPr sz="6300"/>
            </a:lvl1pPr>
            <a:lvl2pPr lvl="1" rtl="0" algn="ctr">
              <a:lnSpc>
                <a:spcPct val="100000"/>
              </a:lnSpc>
              <a:spcBef>
                <a:spcPts val="0"/>
              </a:spcBef>
              <a:spcAft>
                <a:spcPts val="0"/>
              </a:spcAft>
              <a:buSzPts val="5200"/>
              <a:buNone/>
              <a:defRPr sz="5200"/>
            </a:lvl2pPr>
            <a:lvl3pPr lvl="2" rtl="0" algn="ctr">
              <a:lnSpc>
                <a:spcPct val="100000"/>
              </a:lnSpc>
              <a:spcBef>
                <a:spcPts val="0"/>
              </a:spcBef>
              <a:spcAft>
                <a:spcPts val="0"/>
              </a:spcAft>
              <a:buSzPts val="5200"/>
              <a:buNone/>
              <a:defRPr sz="5200"/>
            </a:lvl3pPr>
            <a:lvl4pPr lvl="3" rtl="0" algn="ctr">
              <a:lnSpc>
                <a:spcPct val="100000"/>
              </a:lnSpc>
              <a:spcBef>
                <a:spcPts val="0"/>
              </a:spcBef>
              <a:spcAft>
                <a:spcPts val="0"/>
              </a:spcAft>
              <a:buSzPts val="5200"/>
              <a:buNone/>
              <a:defRPr sz="5200"/>
            </a:lvl4pPr>
            <a:lvl5pPr lvl="4" rtl="0" algn="ctr">
              <a:lnSpc>
                <a:spcPct val="100000"/>
              </a:lnSpc>
              <a:spcBef>
                <a:spcPts val="0"/>
              </a:spcBef>
              <a:spcAft>
                <a:spcPts val="0"/>
              </a:spcAft>
              <a:buSzPts val="5200"/>
              <a:buNone/>
              <a:defRPr sz="5200"/>
            </a:lvl5pPr>
            <a:lvl6pPr lvl="5" rtl="0" algn="ctr">
              <a:lnSpc>
                <a:spcPct val="100000"/>
              </a:lnSpc>
              <a:spcBef>
                <a:spcPts val="0"/>
              </a:spcBef>
              <a:spcAft>
                <a:spcPts val="0"/>
              </a:spcAft>
              <a:buSzPts val="5200"/>
              <a:buNone/>
              <a:defRPr sz="5200"/>
            </a:lvl6pPr>
            <a:lvl7pPr lvl="6" rtl="0" algn="ctr">
              <a:lnSpc>
                <a:spcPct val="100000"/>
              </a:lnSpc>
              <a:spcBef>
                <a:spcPts val="0"/>
              </a:spcBef>
              <a:spcAft>
                <a:spcPts val="0"/>
              </a:spcAft>
              <a:buSzPts val="5200"/>
              <a:buNone/>
              <a:defRPr sz="5200"/>
            </a:lvl7pPr>
            <a:lvl8pPr lvl="7" rtl="0" algn="ctr">
              <a:lnSpc>
                <a:spcPct val="100000"/>
              </a:lnSpc>
              <a:spcBef>
                <a:spcPts val="0"/>
              </a:spcBef>
              <a:spcAft>
                <a:spcPts val="0"/>
              </a:spcAft>
              <a:buSzPts val="5200"/>
              <a:buNone/>
              <a:defRPr sz="5200"/>
            </a:lvl8pPr>
            <a:lvl9pPr lvl="8" rtl="0" algn="ctr">
              <a:lnSpc>
                <a:spcPct val="100000"/>
              </a:lnSpc>
              <a:spcBef>
                <a:spcPts val="0"/>
              </a:spcBef>
              <a:spcAft>
                <a:spcPts val="0"/>
              </a:spcAft>
              <a:buSzPts val="5200"/>
              <a:buNone/>
              <a:defRPr sz="5200"/>
            </a:lvl9pPr>
          </a:lstStyle>
          <a:p/>
        </p:txBody>
      </p:sp>
      <p:sp>
        <p:nvSpPr>
          <p:cNvPr id="71" name="Google Shape;71;p14"/>
          <p:cNvSpPr txBox="1"/>
          <p:nvPr>
            <p:ph idx="1" type="subTitle"/>
          </p:nvPr>
        </p:nvSpPr>
        <p:spPr>
          <a:xfrm>
            <a:off x="1179875" y="3918688"/>
            <a:ext cx="6784200" cy="4758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2" name="Shape 72"/>
        <p:cNvGrpSpPr/>
        <p:nvPr/>
      </p:nvGrpSpPr>
      <p:grpSpPr>
        <a:xfrm>
          <a:off x="0" y="0"/>
          <a:ext cx="0" cy="0"/>
          <a:chOff x="0" y="0"/>
          <a:chExt cx="0" cy="0"/>
        </a:xfrm>
      </p:grpSpPr>
      <p:sp>
        <p:nvSpPr>
          <p:cNvPr id="73" name="Google Shape;73;p15"/>
          <p:cNvSpPr/>
          <p:nvPr>
            <p:ph idx="2" type="pic"/>
          </p:nvPr>
        </p:nvSpPr>
        <p:spPr>
          <a:xfrm>
            <a:off x="0" y="0"/>
            <a:ext cx="9144000" cy="5143500"/>
          </a:xfrm>
          <a:prstGeom prst="rect">
            <a:avLst/>
          </a:prstGeom>
          <a:noFill/>
          <a:ln>
            <a:noFill/>
          </a:ln>
        </p:spPr>
      </p:sp>
      <p:sp>
        <p:nvSpPr>
          <p:cNvPr id="74" name="Google Shape;74;p15"/>
          <p:cNvSpPr txBox="1"/>
          <p:nvPr>
            <p:ph type="title"/>
          </p:nvPr>
        </p:nvSpPr>
        <p:spPr>
          <a:xfrm>
            <a:off x="720000" y="4014450"/>
            <a:ext cx="7704000" cy="572700"/>
          </a:xfrm>
          <a:prstGeom prst="rect">
            <a:avLst/>
          </a:prstGeom>
          <a:solidFill>
            <a:schemeClr val="dk1"/>
          </a:solid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3000"/>
              <a:buNone/>
              <a:defRPr>
                <a:solidFill>
                  <a:schemeClr val="lt1"/>
                </a:solidFill>
              </a:defRPr>
            </a:lvl1pPr>
            <a:lvl2pPr lvl="1" rtl="0" algn="ctr">
              <a:lnSpc>
                <a:spcPct val="100000"/>
              </a:lnSpc>
              <a:spcBef>
                <a:spcPts val="0"/>
              </a:spcBef>
              <a:spcAft>
                <a:spcPts val="0"/>
              </a:spcAft>
              <a:buSzPts val="3000"/>
              <a:buNone/>
              <a:defRPr/>
            </a:lvl2pPr>
            <a:lvl3pPr lvl="2" rtl="0" algn="ctr">
              <a:lnSpc>
                <a:spcPct val="100000"/>
              </a:lnSpc>
              <a:spcBef>
                <a:spcPts val="0"/>
              </a:spcBef>
              <a:spcAft>
                <a:spcPts val="0"/>
              </a:spcAft>
              <a:buSzPts val="3000"/>
              <a:buNone/>
              <a:defRPr/>
            </a:lvl3pPr>
            <a:lvl4pPr lvl="3" rtl="0" algn="ctr">
              <a:lnSpc>
                <a:spcPct val="100000"/>
              </a:lnSpc>
              <a:spcBef>
                <a:spcPts val="0"/>
              </a:spcBef>
              <a:spcAft>
                <a:spcPts val="0"/>
              </a:spcAft>
              <a:buSzPts val="3000"/>
              <a:buNone/>
              <a:defRPr/>
            </a:lvl4pPr>
            <a:lvl5pPr lvl="4" rtl="0" algn="ctr">
              <a:lnSpc>
                <a:spcPct val="100000"/>
              </a:lnSpc>
              <a:spcBef>
                <a:spcPts val="0"/>
              </a:spcBef>
              <a:spcAft>
                <a:spcPts val="0"/>
              </a:spcAft>
              <a:buSzPts val="3000"/>
              <a:buNone/>
              <a:defRPr/>
            </a:lvl5pPr>
            <a:lvl6pPr lvl="5" rtl="0" algn="ctr">
              <a:lnSpc>
                <a:spcPct val="100000"/>
              </a:lnSpc>
              <a:spcBef>
                <a:spcPts val="0"/>
              </a:spcBef>
              <a:spcAft>
                <a:spcPts val="0"/>
              </a:spcAft>
              <a:buSzPts val="3000"/>
              <a:buNone/>
              <a:defRPr/>
            </a:lvl6pPr>
            <a:lvl7pPr lvl="6" rtl="0" algn="ctr">
              <a:lnSpc>
                <a:spcPct val="100000"/>
              </a:lnSpc>
              <a:spcBef>
                <a:spcPts val="0"/>
              </a:spcBef>
              <a:spcAft>
                <a:spcPts val="0"/>
              </a:spcAft>
              <a:buSzPts val="3000"/>
              <a:buNone/>
              <a:defRPr/>
            </a:lvl7pPr>
            <a:lvl8pPr lvl="7" rtl="0" algn="ctr">
              <a:lnSpc>
                <a:spcPct val="100000"/>
              </a:lnSpc>
              <a:spcBef>
                <a:spcPts val="0"/>
              </a:spcBef>
              <a:spcAft>
                <a:spcPts val="0"/>
              </a:spcAft>
              <a:buSzPts val="3000"/>
              <a:buNone/>
              <a:defRPr/>
            </a:lvl8pPr>
            <a:lvl9pPr lvl="8" rtl="0" algn="ctr">
              <a:lnSpc>
                <a:spcPct val="100000"/>
              </a:lnSpc>
              <a:spcBef>
                <a:spcPts val="0"/>
              </a:spcBef>
              <a:spcAft>
                <a:spcPts val="0"/>
              </a:spcAft>
              <a:buSzPts val="30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5" name="Shape 75"/>
        <p:cNvGrpSpPr/>
        <p:nvPr/>
      </p:nvGrpSpPr>
      <p:grpSpPr>
        <a:xfrm>
          <a:off x="0" y="0"/>
          <a:ext cx="0" cy="0"/>
          <a:chOff x="0" y="0"/>
          <a:chExt cx="0" cy="0"/>
        </a:xfrm>
      </p:grpSpPr>
      <p:sp>
        <p:nvSpPr>
          <p:cNvPr id="76" name="Google Shape;76;p1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77" name="Google Shape;77;p16"/>
          <p:cNvSpPr txBox="1"/>
          <p:nvPr>
            <p:ph idx="1" type="subTitle"/>
          </p:nvPr>
        </p:nvSpPr>
        <p:spPr>
          <a:xfrm>
            <a:off x="720000" y="1735625"/>
            <a:ext cx="3146700" cy="1207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8" name="Google Shape;78;p16"/>
          <p:cNvSpPr txBox="1"/>
          <p:nvPr>
            <p:ph idx="2" type="subTitle"/>
          </p:nvPr>
        </p:nvSpPr>
        <p:spPr>
          <a:xfrm>
            <a:off x="4632773" y="1735625"/>
            <a:ext cx="3146700" cy="1207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79" name="Google Shape;79;p16"/>
          <p:cNvSpPr txBox="1"/>
          <p:nvPr>
            <p:ph idx="3" type="subTitle"/>
          </p:nvPr>
        </p:nvSpPr>
        <p:spPr>
          <a:xfrm>
            <a:off x="720000" y="3396200"/>
            <a:ext cx="3146700" cy="1207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0" name="Google Shape;80;p16"/>
          <p:cNvSpPr txBox="1"/>
          <p:nvPr>
            <p:ph idx="4" type="subTitle"/>
          </p:nvPr>
        </p:nvSpPr>
        <p:spPr>
          <a:xfrm>
            <a:off x="4632773" y="3396200"/>
            <a:ext cx="3146700" cy="12078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81" name="Google Shape;81;p16"/>
          <p:cNvSpPr txBox="1"/>
          <p:nvPr>
            <p:ph idx="5" type="subTitle"/>
          </p:nvPr>
        </p:nvSpPr>
        <p:spPr>
          <a:xfrm>
            <a:off x="720000" y="1282675"/>
            <a:ext cx="3146700" cy="4605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2400"/>
              <a:buFont typeface="Bebas Neue"/>
              <a:buNone/>
              <a:defRPr b="1" sz="2000">
                <a:solidFill>
                  <a:schemeClr val="dk1"/>
                </a:solidFill>
                <a:latin typeface="Urbanist"/>
                <a:ea typeface="Urbanist"/>
                <a:cs typeface="Urbanist"/>
                <a:sym typeface="Urbanis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2" name="Google Shape;82;p16"/>
          <p:cNvSpPr txBox="1"/>
          <p:nvPr>
            <p:ph idx="6" type="subTitle"/>
          </p:nvPr>
        </p:nvSpPr>
        <p:spPr>
          <a:xfrm>
            <a:off x="720000" y="2943425"/>
            <a:ext cx="3146700" cy="4605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2400"/>
              <a:buFont typeface="Bebas Neue"/>
              <a:buNone/>
              <a:defRPr b="1" sz="2000">
                <a:solidFill>
                  <a:schemeClr val="dk1"/>
                </a:solidFill>
                <a:latin typeface="Urbanist"/>
                <a:ea typeface="Urbanist"/>
                <a:cs typeface="Urbanist"/>
                <a:sym typeface="Urbanis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3" name="Google Shape;83;p16"/>
          <p:cNvSpPr txBox="1"/>
          <p:nvPr>
            <p:ph idx="7" type="subTitle"/>
          </p:nvPr>
        </p:nvSpPr>
        <p:spPr>
          <a:xfrm>
            <a:off x="4632748" y="1282675"/>
            <a:ext cx="3146700" cy="4605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2400"/>
              <a:buFont typeface="Bebas Neue"/>
              <a:buNone/>
              <a:defRPr b="1" sz="2000">
                <a:solidFill>
                  <a:schemeClr val="dk1"/>
                </a:solidFill>
                <a:latin typeface="Urbanist"/>
                <a:ea typeface="Urbanist"/>
                <a:cs typeface="Urbanist"/>
                <a:sym typeface="Urbanis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4" name="Google Shape;84;p16"/>
          <p:cNvSpPr txBox="1"/>
          <p:nvPr>
            <p:ph idx="8" type="subTitle"/>
          </p:nvPr>
        </p:nvSpPr>
        <p:spPr>
          <a:xfrm>
            <a:off x="4632748" y="2943425"/>
            <a:ext cx="3146700" cy="4605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SzPts val="2400"/>
              <a:buFont typeface="Bebas Neue"/>
              <a:buNone/>
              <a:defRPr b="1" sz="2000">
                <a:solidFill>
                  <a:schemeClr val="dk1"/>
                </a:solidFill>
                <a:latin typeface="Urbanist"/>
                <a:ea typeface="Urbanist"/>
                <a:cs typeface="Urbanist"/>
                <a:sym typeface="Urbanis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17"/>
          <p:cNvSpPr txBox="1"/>
          <p:nvPr>
            <p:ph type="title"/>
          </p:nvPr>
        </p:nvSpPr>
        <p:spPr>
          <a:xfrm>
            <a:off x="2317950" y="1307100"/>
            <a:ext cx="4508100" cy="2529300"/>
          </a:xfrm>
          <a:prstGeom prst="rect">
            <a:avLst/>
          </a:prstGeom>
          <a:noFill/>
          <a:ln>
            <a:noFill/>
          </a:ln>
        </p:spPr>
        <p:txBody>
          <a:bodyPr anchorCtr="0" anchor="ctr" bIns="91425" lIns="91425" spcFirstLastPara="1" rIns="91425" wrap="square" tIns="91425">
            <a:noAutofit/>
          </a:bodyPr>
          <a:lstStyle>
            <a:lvl1pPr lvl="0" rtl="0" algn="ctr">
              <a:lnSpc>
                <a:spcPct val="80000"/>
              </a:lnSpc>
              <a:spcBef>
                <a:spcPts val="0"/>
              </a:spcBef>
              <a:spcAft>
                <a:spcPts val="0"/>
              </a:spcAft>
              <a:buSzPts val="4800"/>
              <a:buNone/>
              <a:defRPr sz="10000"/>
            </a:lvl1pPr>
            <a:lvl2pPr lvl="1" rtl="0" algn="l">
              <a:lnSpc>
                <a:spcPct val="100000"/>
              </a:lnSpc>
              <a:spcBef>
                <a:spcPts val="0"/>
              </a:spcBef>
              <a:spcAft>
                <a:spcPts val="0"/>
              </a:spcAft>
              <a:buSzPts val="4800"/>
              <a:buNone/>
              <a:defRPr sz="4800"/>
            </a:lvl2pPr>
            <a:lvl3pPr lvl="2" rtl="0" algn="l">
              <a:lnSpc>
                <a:spcPct val="100000"/>
              </a:lnSpc>
              <a:spcBef>
                <a:spcPts val="0"/>
              </a:spcBef>
              <a:spcAft>
                <a:spcPts val="0"/>
              </a:spcAft>
              <a:buSzPts val="4800"/>
              <a:buNone/>
              <a:defRPr sz="4800"/>
            </a:lvl3pPr>
            <a:lvl4pPr lvl="3" rtl="0" algn="l">
              <a:lnSpc>
                <a:spcPct val="100000"/>
              </a:lnSpc>
              <a:spcBef>
                <a:spcPts val="0"/>
              </a:spcBef>
              <a:spcAft>
                <a:spcPts val="0"/>
              </a:spcAft>
              <a:buSzPts val="4800"/>
              <a:buNone/>
              <a:defRPr sz="4800"/>
            </a:lvl4pPr>
            <a:lvl5pPr lvl="4" rtl="0" algn="l">
              <a:lnSpc>
                <a:spcPct val="100000"/>
              </a:lnSpc>
              <a:spcBef>
                <a:spcPts val="0"/>
              </a:spcBef>
              <a:spcAft>
                <a:spcPts val="0"/>
              </a:spcAft>
              <a:buSzPts val="4800"/>
              <a:buNone/>
              <a:defRPr sz="4800"/>
            </a:lvl5pPr>
            <a:lvl6pPr lvl="5" rtl="0" algn="l">
              <a:lnSpc>
                <a:spcPct val="100000"/>
              </a:lnSpc>
              <a:spcBef>
                <a:spcPts val="0"/>
              </a:spcBef>
              <a:spcAft>
                <a:spcPts val="0"/>
              </a:spcAft>
              <a:buSzPts val="4800"/>
              <a:buNone/>
              <a:defRPr sz="4800"/>
            </a:lvl6pPr>
            <a:lvl7pPr lvl="6" rtl="0" algn="l">
              <a:lnSpc>
                <a:spcPct val="100000"/>
              </a:lnSpc>
              <a:spcBef>
                <a:spcPts val="0"/>
              </a:spcBef>
              <a:spcAft>
                <a:spcPts val="0"/>
              </a:spcAft>
              <a:buSzPts val="4800"/>
              <a:buNone/>
              <a:defRPr sz="4800"/>
            </a:lvl7pPr>
            <a:lvl8pPr lvl="7" rtl="0" algn="l">
              <a:lnSpc>
                <a:spcPct val="100000"/>
              </a:lnSpc>
              <a:spcBef>
                <a:spcPts val="0"/>
              </a:spcBef>
              <a:spcAft>
                <a:spcPts val="0"/>
              </a:spcAft>
              <a:buSzPts val="4800"/>
              <a:buNone/>
              <a:defRPr sz="4800"/>
            </a:lvl8pPr>
            <a:lvl9pPr lvl="8" rtl="0" algn="l">
              <a:lnSpc>
                <a:spcPct val="100000"/>
              </a:lnSpc>
              <a:spcBef>
                <a:spcPts val="0"/>
              </a:spcBef>
              <a:spcAft>
                <a:spcPts val="0"/>
              </a:spcAft>
              <a:buSzPts val="4800"/>
              <a:buNone/>
              <a:defRPr sz="4800"/>
            </a:lvl9pPr>
          </a:lstStyle>
          <a:p/>
        </p:txBody>
      </p:sp>
      <p:cxnSp>
        <p:nvCxnSpPr>
          <p:cNvPr id="87" name="Google Shape;87;p17"/>
          <p:cNvCxnSpPr/>
          <p:nvPr/>
        </p:nvCxnSpPr>
        <p:spPr>
          <a:xfrm>
            <a:off x="0" y="2571738"/>
            <a:ext cx="1237800" cy="0"/>
          </a:xfrm>
          <a:prstGeom prst="straightConnector1">
            <a:avLst/>
          </a:prstGeom>
          <a:noFill/>
          <a:ln cap="flat" cmpd="sng" w="28575">
            <a:solidFill>
              <a:srgbClr val="FFFFFF"/>
            </a:solidFill>
            <a:prstDash val="solid"/>
            <a:round/>
            <a:headEnd len="sm" w="sm" type="none"/>
            <a:tailEnd len="sm" w="sm" type="none"/>
          </a:ln>
        </p:spPr>
      </p:cxnSp>
      <p:cxnSp>
        <p:nvCxnSpPr>
          <p:cNvPr id="88" name="Google Shape;88;p17"/>
          <p:cNvCxnSpPr/>
          <p:nvPr/>
        </p:nvCxnSpPr>
        <p:spPr>
          <a:xfrm>
            <a:off x="7906200" y="2571738"/>
            <a:ext cx="1237800" cy="0"/>
          </a:xfrm>
          <a:prstGeom prst="straightConnector1">
            <a:avLst/>
          </a:prstGeom>
          <a:noFill/>
          <a:ln cap="flat" cmpd="sng" w="28575">
            <a:solidFill>
              <a:schemeClr val="accent6"/>
            </a:solidFill>
            <a:prstDash val="solid"/>
            <a:round/>
            <a:headEnd len="sm" w="sm" type="none"/>
            <a:tailEnd len="sm" w="sm"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9" name="Shape 89"/>
        <p:cNvGrpSpPr/>
        <p:nvPr/>
      </p:nvGrpSpPr>
      <p:grpSpPr>
        <a:xfrm>
          <a:off x="0" y="0"/>
          <a:ext cx="0" cy="0"/>
          <a:chOff x="0" y="0"/>
          <a:chExt cx="0" cy="0"/>
        </a:xfrm>
      </p:grpSpPr>
      <p:sp>
        <p:nvSpPr>
          <p:cNvPr id="90" name="Google Shape;90;p1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3000"/>
              <a:buNone/>
              <a:defRPr/>
            </a:lvl1pPr>
            <a:lvl2pPr lvl="1" rtl="0" algn="l">
              <a:lnSpc>
                <a:spcPct val="100000"/>
              </a:lnSpc>
              <a:spcBef>
                <a:spcPts val="0"/>
              </a:spcBef>
              <a:spcAft>
                <a:spcPts val="0"/>
              </a:spcAft>
              <a:buSzPts val="3000"/>
              <a:buNone/>
              <a:defRPr/>
            </a:lvl2pPr>
            <a:lvl3pPr lvl="2" rtl="0" algn="l">
              <a:lnSpc>
                <a:spcPct val="100000"/>
              </a:lnSpc>
              <a:spcBef>
                <a:spcPts val="0"/>
              </a:spcBef>
              <a:spcAft>
                <a:spcPts val="0"/>
              </a:spcAft>
              <a:buSzPts val="3000"/>
              <a:buNone/>
              <a:defRPr/>
            </a:lvl3pPr>
            <a:lvl4pPr lvl="3" rtl="0" algn="l">
              <a:lnSpc>
                <a:spcPct val="100000"/>
              </a:lnSpc>
              <a:spcBef>
                <a:spcPts val="0"/>
              </a:spcBef>
              <a:spcAft>
                <a:spcPts val="0"/>
              </a:spcAft>
              <a:buSzPts val="3000"/>
              <a:buNone/>
              <a:defRPr/>
            </a:lvl4pPr>
            <a:lvl5pPr lvl="4" rtl="0" algn="l">
              <a:lnSpc>
                <a:spcPct val="100000"/>
              </a:lnSpc>
              <a:spcBef>
                <a:spcPts val="0"/>
              </a:spcBef>
              <a:spcAft>
                <a:spcPts val="0"/>
              </a:spcAft>
              <a:buSzPts val="3000"/>
              <a:buNone/>
              <a:defRPr/>
            </a:lvl5pPr>
            <a:lvl6pPr lvl="5" rtl="0" algn="l">
              <a:lnSpc>
                <a:spcPct val="100000"/>
              </a:lnSpc>
              <a:spcBef>
                <a:spcPts val="0"/>
              </a:spcBef>
              <a:spcAft>
                <a:spcPts val="0"/>
              </a:spcAft>
              <a:buSzPts val="3000"/>
              <a:buNone/>
              <a:defRPr/>
            </a:lvl6pPr>
            <a:lvl7pPr lvl="6" rtl="0" algn="l">
              <a:lnSpc>
                <a:spcPct val="100000"/>
              </a:lnSpc>
              <a:spcBef>
                <a:spcPts val="0"/>
              </a:spcBef>
              <a:spcAft>
                <a:spcPts val="0"/>
              </a:spcAft>
              <a:buSzPts val="3000"/>
              <a:buNone/>
              <a:defRPr/>
            </a:lvl7pPr>
            <a:lvl8pPr lvl="7" rtl="0" algn="l">
              <a:lnSpc>
                <a:spcPct val="100000"/>
              </a:lnSpc>
              <a:spcBef>
                <a:spcPts val="0"/>
              </a:spcBef>
              <a:spcAft>
                <a:spcPts val="0"/>
              </a:spcAft>
              <a:buSzPts val="3000"/>
              <a:buNone/>
              <a:defRPr/>
            </a:lvl8pPr>
            <a:lvl9pPr lvl="8" rtl="0" algn="l">
              <a:lnSpc>
                <a:spcPct val="100000"/>
              </a:lnSpc>
              <a:spcBef>
                <a:spcPts val="0"/>
              </a:spcBef>
              <a:spcAft>
                <a:spcPts val="0"/>
              </a:spcAft>
              <a:buSzPts val="3000"/>
              <a:buNone/>
              <a:defRPr/>
            </a:lvl9pPr>
          </a:lstStyle>
          <a:p/>
        </p:txBody>
      </p:sp>
      <p:sp>
        <p:nvSpPr>
          <p:cNvPr id="91" name="Google Shape;91;p18"/>
          <p:cNvSpPr txBox="1"/>
          <p:nvPr>
            <p:ph idx="1" type="subTitle"/>
          </p:nvPr>
        </p:nvSpPr>
        <p:spPr>
          <a:xfrm>
            <a:off x="5253862" y="2909825"/>
            <a:ext cx="2505600" cy="1467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2" name="Google Shape;92;p18"/>
          <p:cNvSpPr txBox="1"/>
          <p:nvPr>
            <p:ph idx="2" type="subTitle"/>
          </p:nvPr>
        </p:nvSpPr>
        <p:spPr>
          <a:xfrm>
            <a:off x="1384538" y="2909825"/>
            <a:ext cx="2505600" cy="1467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b="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3" name="Google Shape;93;p18"/>
          <p:cNvSpPr txBox="1"/>
          <p:nvPr>
            <p:ph idx="3" type="subTitle"/>
          </p:nvPr>
        </p:nvSpPr>
        <p:spPr>
          <a:xfrm>
            <a:off x="1384538" y="2383201"/>
            <a:ext cx="2505600" cy="5265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Urbanist"/>
                <a:ea typeface="Urbanist"/>
                <a:cs typeface="Urbanist"/>
                <a:sym typeface="Urbanis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94" name="Google Shape;94;p18"/>
          <p:cNvSpPr txBox="1"/>
          <p:nvPr>
            <p:ph idx="4" type="subTitle"/>
          </p:nvPr>
        </p:nvSpPr>
        <p:spPr>
          <a:xfrm>
            <a:off x="5253863" y="2383201"/>
            <a:ext cx="2505600" cy="526500"/>
          </a:xfrm>
          <a:prstGeom prst="rect">
            <a:avLst/>
          </a:prstGeom>
          <a:noFill/>
          <a:ln>
            <a:noFill/>
          </a:ln>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b="1" sz="2000">
                <a:solidFill>
                  <a:schemeClr val="dk1"/>
                </a:solidFill>
                <a:latin typeface="Urbanist"/>
                <a:ea typeface="Urbanist"/>
                <a:cs typeface="Urbanist"/>
                <a:sym typeface="Urbanist"/>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5" name="Shape 95"/>
        <p:cNvGrpSpPr/>
        <p:nvPr/>
      </p:nvGrpSpPr>
      <p:grpSpPr>
        <a:xfrm>
          <a:off x="0" y="0"/>
          <a:ext cx="0" cy="0"/>
          <a:chOff x="0" y="0"/>
          <a:chExt cx="0" cy="0"/>
        </a:xfrm>
      </p:grpSpPr>
      <p:sp>
        <p:nvSpPr>
          <p:cNvPr id="96" name="Google Shape;96;p19"/>
          <p:cNvSpPr txBox="1"/>
          <p:nvPr>
            <p:ph type="title"/>
          </p:nvPr>
        </p:nvSpPr>
        <p:spPr>
          <a:xfrm>
            <a:off x="2135550" y="1189100"/>
            <a:ext cx="4872900" cy="19644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3000"/>
              <a:buNone/>
              <a:defRPr sz="15000"/>
            </a:lvl1pPr>
            <a:lvl2pPr lvl="1" rtl="0" algn="ctr">
              <a:lnSpc>
                <a:spcPct val="100000"/>
              </a:lnSpc>
              <a:spcBef>
                <a:spcPts val="0"/>
              </a:spcBef>
              <a:spcAft>
                <a:spcPts val="0"/>
              </a:spcAft>
              <a:buSzPts val="3000"/>
              <a:buNone/>
              <a:defRPr/>
            </a:lvl2pPr>
            <a:lvl3pPr lvl="2" rtl="0" algn="ctr">
              <a:lnSpc>
                <a:spcPct val="100000"/>
              </a:lnSpc>
              <a:spcBef>
                <a:spcPts val="0"/>
              </a:spcBef>
              <a:spcAft>
                <a:spcPts val="0"/>
              </a:spcAft>
              <a:buSzPts val="3000"/>
              <a:buNone/>
              <a:defRPr/>
            </a:lvl3pPr>
            <a:lvl4pPr lvl="3" rtl="0" algn="ctr">
              <a:lnSpc>
                <a:spcPct val="100000"/>
              </a:lnSpc>
              <a:spcBef>
                <a:spcPts val="0"/>
              </a:spcBef>
              <a:spcAft>
                <a:spcPts val="0"/>
              </a:spcAft>
              <a:buSzPts val="3000"/>
              <a:buNone/>
              <a:defRPr/>
            </a:lvl4pPr>
            <a:lvl5pPr lvl="4" rtl="0" algn="ctr">
              <a:lnSpc>
                <a:spcPct val="100000"/>
              </a:lnSpc>
              <a:spcBef>
                <a:spcPts val="0"/>
              </a:spcBef>
              <a:spcAft>
                <a:spcPts val="0"/>
              </a:spcAft>
              <a:buSzPts val="3000"/>
              <a:buNone/>
              <a:defRPr/>
            </a:lvl5pPr>
            <a:lvl6pPr lvl="5" rtl="0" algn="ctr">
              <a:lnSpc>
                <a:spcPct val="100000"/>
              </a:lnSpc>
              <a:spcBef>
                <a:spcPts val="0"/>
              </a:spcBef>
              <a:spcAft>
                <a:spcPts val="0"/>
              </a:spcAft>
              <a:buSzPts val="3000"/>
              <a:buNone/>
              <a:defRPr/>
            </a:lvl6pPr>
            <a:lvl7pPr lvl="6" rtl="0" algn="ctr">
              <a:lnSpc>
                <a:spcPct val="100000"/>
              </a:lnSpc>
              <a:spcBef>
                <a:spcPts val="0"/>
              </a:spcBef>
              <a:spcAft>
                <a:spcPts val="0"/>
              </a:spcAft>
              <a:buSzPts val="3000"/>
              <a:buNone/>
              <a:defRPr/>
            </a:lvl7pPr>
            <a:lvl8pPr lvl="7" rtl="0" algn="ctr">
              <a:lnSpc>
                <a:spcPct val="100000"/>
              </a:lnSpc>
              <a:spcBef>
                <a:spcPts val="0"/>
              </a:spcBef>
              <a:spcAft>
                <a:spcPts val="0"/>
              </a:spcAft>
              <a:buSzPts val="3000"/>
              <a:buNone/>
              <a:defRPr/>
            </a:lvl8pPr>
            <a:lvl9pPr lvl="8" rtl="0" algn="ctr">
              <a:lnSpc>
                <a:spcPct val="100000"/>
              </a:lnSpc>
              <a:spcBef>
                <a:spcPts val="0"/>
              </a:spcBef>
              <a:spcAft>
                <a:spcPts val="0"/>
              </a:spcAft>
              <a:buSzPts val="3000"/>
              <a:buNone/>
              <a:defRPr/>
            </a:lvl9pPr>
          </a:lstStyle>
          <a:p/>
        </p:txBody>
      </p:sp>
      <p:sp>
        <p:nvSpPr>
          <p:cNvPr id="97" name="Google Shape;97;p19"/>
          <p:cNvSpPr txBox="1"/>
          <p:nvPr>
            <p:ph idx="1" type="subTitle"/>
          </p:nvPr>
        </p:nvSpPr>
        <p:spPr>
          <a:xfrm>
            <a:off x="2135550" y="3153500"/>
            <a:ext cx="4872900" cy="671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200"/>
              <a:buNone/>
              <a:defRPr sz="16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cxnSp>
        <p:nvCxnSpPr>
          <p:cNvPr id="98" name="Google Shape;98;p19"/>
          <p:cNvCxnSpPr/>
          <p:nvPr/>
        </p:nvCxnSpPr>
        <p:spPr>
          <a:xfrm>
            <a:off x="4571975" y="-12"/>
            <a:ext cx="0" cy="906000"/>
          </a:xfrm>
          <a:prstGeom prst="straightConnector1">
            <a:avLst/>
          </a:prstGeom>
          <a:noFill/>
          <a:ln cap="flat" cmpd="sng" w="28575">
            <a:solidFill>
              <a:schemeClr val="dk1"/>
            </a:solidFill>
            <a:prstDash val="solid"/>
            <a:round/>
            <a:headEnd len="sm" w="sm" type="none"/>
            <a:tailEnd len="sm" w="sm" type="none"/>
          </a:ln>
        </p:spPr>
      </p:cxnSp>
      <p:cxnSp>
        <p:nvCxnSpPr>
          <p:cNvPr id="99" name="Google Shape;99;p19"/>
          <p:cNvCxnSpPr/>
          <p:nvPr/>
        </p:nvCxnSpPr>
        <p:spPr>
          <a:xfrm>
            <a:off x="4571975" y="4237488"/>
            <a:ext cx="0" cy="906000"/>
          </a:xfrm>
          <a:prstGeom prst="straightConnector1">
            <a:avLst/>
          </a:prstGeom>
          <a:noFill/>
          <a:ln cap="flat" cmpd="sng" w="28575">
            <a:solidFill>
              <a:schemeClr val="dk1"/>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3"/>
        </a:solidFill>
      </p:bgPr>
    </p:bg>
    <p:spTree>
      <p:nvGrpSpPr>
        <p:cNvPr id="100" name="Shape 100"/>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01" name="Shape 101"/>
        <p:cNvGrpSpPr/>
        <p:nvPr/>
      </p:nvGrpSpPr>
      <p:grpSpPr>
        <a:xfrm>
          <a:off x="0" y="0"/>
          <a:ext cx="0" cy="0"/>
          <a:chOff x="0" y="0"/>
          <a:chExt cx="0" cy="0"/>
        </a:xfrm>
      </p:grpSpPr>
      <p:cxnSp>
        <p:nvCxnSpPr>
          <p:cNvPr id="102" name="Google Shape;102;p21"/>
          <p:cNvCxnSpPr/>
          <p:nvPr/>
        </p:nvCxnSpPr>
        <p:spPr>
          <a:xfrm>
            <a:off x="713225" y="-12"/>
            <a:ext cx="0" cy="4575900"/>
          </a:xfrm>
          <a:prstGeom prst="straightConnector1">
            <a:avLst/>
          </a:prstGeom>
          <a:noFill/>
          <a:ln cap="flat" cmpd="sng" w="28575">
            <a:solidFill>
              <a:schemeClr val="dk1"/>
            </a:solidFill>
            <a:prstDash val="solid"/>
            <a:round/>
            <a:headEnd len="sm" w="sm" type="none"/>
            <a:tailEnd len="sm" w="sm" type="none"/>
          </a:ln>
        </p:spPr>
      </p:cxnSp>
      <p:cxnSp>
        <p:nvCxnSpPr>
          <p:cNvPr id="103" name="Google Shape;103;p21"/>
          <p:cNvCxnSpPr/>
          <p:nvPr/>
        </p:nvCxnSpPr>
        <p:spPr>
          <a:xfrm>
            <a:off x="8430775" y="567588"/>
            <a:ext cx="0" cy="4575900"/>
          </a:xfrm>
          <a:prstGeom prst="straightConnector1">
            <a:avLst/>
          </a:prstGeom>
          <a:noFill/>
          <a:ln cap="flat" cmpd="sng" w="28575">
            <a:solidFill>
              <a:schemeClr val="dk1"/>
            </a:solidFill>
            <a:prstDash val="solid"/>
            <a:round/>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04" name="Shape 104"/>
        <p:cNvGrpSpPr/>
        <p:nvPr/>
      </p:nvGrpSpPr>
      <p:grpSpPr>
        <a:xfrm>
          <a:off x="0" y="0"/>
          <a:ext cx="0" cy="0"/>
          <a:chOff x="0" y="0"/>
          <a:chExt cx="0" cy="0"/>
        </a:xfrm>
      </p:grpSpPr>
      <p:cxnSp>
        <p:nvCxnSpPr>
          <p:cNvPr id="105" name="Google Shape;105;p22"/>
          <p:cNvCxnSpPr/>
          <p:nvPr/>
        </p:nvCxnSpPr>
        <p:spPr>
          <a:xfrm>
            <a:off x="0" y="4603988"/>
            <a:ext cx="6141900" cy="0"/>
          </a:xfrm>
          <a:prstGeom prst="straightConnector1">
            <a:avLst/>
          </a:prstGeom>
          <a:noFill/>
          <a:ln cap="flat" cmpd="sng" w="28575">
            <a:solidFill>
              <a:schemeClr val="dk1"/>
            </a:solidFill>
            <a:prstDash val="solid"/>
            <a:round/>
            <a:headEnd len="sm" w="sm" type="none"/>
            <a:tailEnd len="sm" w="sm" type="none"/>
          </a:ln>
        </p:spPr>
      </p:cxnSp>
      <p:cxnSp>
        <p:nvCxnSpPr>
          <p:cNvPr id="106" name="Google Shape;106;p22"/>
          <p:cNvCxnSpPr/>
          <p:nvPr/>
        </p:nvCxnSpPr>
        <p:spPr>
          <a:xfrm>
            <a:off x="3002100" y="539488"/>
            <a:ext cx="6141900" cy="0"/>
          </a:xfrm>
          <a:prstGeom prst="straightConnector1">
            <a:avLst/>
          </a:prstGeom>
          <a:noFill/>
          <a:ln cap="flat" cmpd="sng" w="28575">
            <a:solidFill>
              <a:schemeClr val="dk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0"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000000"/>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Proxima Nova"/>
              <a:buNone/>
              <a:defRPr sz="3200">
                <a:solidFill>
                  <a:schemeClr val="lt1"/>
                </a:solidFill>
                <a:latin typeface="Proxima Nova"/>
                <a:ea typeface="Proxima Nova"/>
                <a:cs typeface="Proxima Nova"/>
                <a:sym typeface="Proxima Nova"/>
              </a:defRPr>
            </a:lvl1pPr>
            <a:lvl2pPr lvl="1">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2pPr>
            <a:lvl3pPr lvl="2">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3pPr>
            <a:lvl4pPr lvl="3">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4pPr>
            <a:lvl5pPr lvl="4">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5pPr>
            <a:lvl6pPr lvl="5">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6pPr>
            <a:lvl7pPr lvl="6">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7pPr>
            <a:lvl8pPr lvl="7">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8pPr>
            <a:lvl9pPr lvl="8">
              <a:spcBef>
                <a:spcPts val="0"/>
              </a:spcBef>
              <a:spcAft>
                <a:spcPts val="0"/>
              </a:spcAft>
              <a:buClr>
                <a:schemeClr val="lt1"/>
              </a:buClr>
              <a:buSzPts val="3200"/>
              <a:buFont typeface="Barlow"/>
              <a:buNone/>
              <a:defRPr sz="3200">
                <a:solidFill>
                  <a:schemeClr val="lt1"/>
                </a:solidFill>
                <a:latin typeface="Barlow"/>
                <a:ea typeface="Barlow"/>
                <a:cs typeface="Barlow"/>
                <a:sym typeface="Barlow"/>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Proxima Nova"/>
              <a:buChar char="●"/>
              <a:defRPr sz="1800">
                <a:solidFill>
                  <a:schemeClr val="lt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lt2"/>
              </a:buClr>
              <a:buSzPts val="1400"/>
              <a:buFont typeface="Proxima Nova"/>
              <a:buChar char="■"/>
              <a:defRPr>
                <a:solidFill>
                  <a:schemeClr val="lt2"/>
                </a:solidFill>
                <a:latin typeface="Proxima Nova"/>
                <a:ea typeface="Proxima Nova"/>
                <a:cs typeface="Proxima Nova"/>
                <a:sym typeface="Proxima Nova"/>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6" name="Shape 66"/>
        <p:cNvGrpSpPr/>
        <p:nvPr/>
      </p:nvGrpSpPr>
      <p:grpSpPr>
        <a:xfrm>
          <a:off x="0" y="0"/>
          <a:ext cx="0" cy="0"/>
          <a:chOff x="0" y="0"/>
          <a:chExt cx="0" cy="0"/>
        </a:xfrm>
      </p:grpSpPr>
      <p:sp>
        <p:nvSpPr>
          <p:cNvPr id="67" name="Google Shape;67;p13"/>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Urbanist"/>
              <a:buNone/>
              <a:defRPr b="1" i="0" sz="3000" u="none" cap="none" strike="noStrike">
                <a:solidFill>
                  <a:schemeClr val="dk1"/>
                </a:solidFill>
                <a:latin typeface="Urbanist"/>
                <a:ea typeface="Urbanist"/>
                <a:cs typeface="Urbanist"/>
                <a:sym typeface="Urbanist"/>
              </a:defRPr>
            </a:lvl1pPr>
            <a:lvl2pPr lvl="1"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2pPr>
            <a:lvl3pPr lvl="2"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3pPr>
            <a:lvl4pPr lvl="3"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4pPr>
            <a:lvl5pPr lvl="4"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5pPr>
            <a:lvl6pPr lvl="5"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6pPr>
            <a:lvl7pPr lvl="6"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7pPr>
            <a:lvl8pPr lvl="7"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8pPr>
            <a:lvl9pPr lvl="8" marR="0" rtl="0" algn="l">
              <a:lnSpc>
                <a:spcPct val="100000"/>
              </a:lnSpc>
              <a:spcBef>
                <a:spcPts val="0"/>
              </a:spcBef>
              <a:spcAft>
                <a:spcPts val="0"/>
              </a:spcAft>
              <a:buClr>
                <a:schemeClr val="dk1"/>
              </a:buClr>
              <a:buSzPts val="3000"/>
              <a:buFont typeface="Raleway"/>
              <a:buNone/>
              <a:defRPr b="1" i="0" sz="3000" u="none" cap="none" strike="noStrike">
                <a:solidFill>
                  <a:schemeClr val="dk1"/>
                </a:solidFill>
                <a:latin typeface="Raleway"/>
                <a:ea typeface="Raleway"/>
                <a:cs typeface="Raleway"/>
                <a:sym typeface="Raleway"/>
              </a:defRPr>
            </a:lvl9pPr>
          </a:lstStyle>
          <a:p/>
        </p:txBody>
      </p:sp>
      <p:sp>
        <p:nvSpPr>
          <p:cNvPr id="68" name="Google Shape;68;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1pPr>
            <a:lvl2pPr indent="-304800" lvl="1" marL="9144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2pPr>
            <a:lvl3pPr indent="-304800" lvl="2" marL="13716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3pPr>
            <a:lvl4pPr indent="-304800" lvl="3" marL="18288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4pPr>
            <a:lvl5pPr indent="-304800" lvl="4" marL="22860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5pPr>
            <a:lvl6pPr indent="-304800" lvl="5" marL="27432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6pPr>
            <a:lvl7pPr indent="-304800" lvl="6" marL="32004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7pPr>
            <a:lvl8pPr indent="-304800" lvl="7" marL="36576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8pPr>
            <a:lvl9pPr indent="-304800" lvl="8" marL="4114800" marR="0" rtl="0" algn="l">
              <a:lnSpc>
                <a:spcPct val="100000"/>
              </a:lnSpc>
              <a:spcBef>
                <a:spcPts val="0"/>
              </a:spcBef>
              <a:spcAft>
                <a:spcPts val="0"/>
              </a:spcAft>
              <a:buClr>
                <a:schemeClr val="dk1"/>
              </a:buClr>
              <a:buSzPts val="1200"/>
              <a:buFont typeface="Roboto"/>
              <a:buChar char="■"/>
              <a:defRPr b="0" i="0" sz="1200" u="none" cap="none" strike="noStrike">
                <a:solidFill>
                  <a:schemeClr val="dk1"/>
                </a:solidFill>
                <a:latin typeface="Roboto"/>
                <a:ea typeface="Roboto"/>
                <a:cs typeface="Roboto"/>
                <a:sym typeface="Robot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gif"/><Relationship Id="rId4" Type="http://schemas.openxmlformats.org/officeDocument/2006/relationships/image" Target="../media/image2.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13.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2.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32.jpg"/><Relationship Id="rId4" Type="http://schemas.openxmlformats.org/officeDocument/2006/relationships/image" Target="../media/image11.jpg"/><Relationship Id="rId5" Type="http://schemas.openxmlformats.org/officeDocument/2006/relationships/image" Target="../media/image2.png"/><Relationship Id="rId6"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6.jpg"/><Relationship Id="rId4" Type="http://schemas.openxmlformats.org/officeDocument/2006/relationships/image" Target="../media/image25.jpg"/><Relationship Id="rId5" Type="http://schemas.openxmlformats.org/officeDocument/2006/relationships/image" Target="../media/image2.png"/><Relationship Id="rId6"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 Id="rId3" Type="http://schemas.openxmlformats.org/officeDocument/2006/relationships/image" Target="../media/image2.png"/><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png"/><Relationship Id="rId4"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2.pn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png"/><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hyperlink" Target="https://forms.gle/SPQiP5ahJuWNL2m28" TargetMode="Externa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hyperlink" Target="https://docs.google.com/document/d/1HYDl2JoeSxWU580hUnfx2ABO6aLLigBz6wTC-qC4cso/edit?usp=sharing" TargetMode="External"/><Relationship Id="rId4" Type="http://schemas.openxmlformats.org/officeDocument/2006/relationships/image" Target="../media/image1.png"/><Relationship Id="rId5" Type="http://schemas.openxmlformats.org/officeDocument/2006/relationships/image" Target="../media/image23.png"/><Relationship Id="rId6"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png"/><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png"/><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pn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pn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24.png"/><Relationship Id="rId13" Type="http://schemas.openxmlformats.org/officeDocument/2006/relationships/image" Target="../media/image27.png"/><Relationship Id="rId12" Type="http://schemas.openxmlformats.org/officeDocument/2006/relationships/image" Target="../media/image31.png"/><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8.png"/><Relationship Id="rId4" Type="http://schemas.openxmlformats.org/officeDocument/2006/relationships/image" Target="../media/image7.png"/><Relationship Id="rId9" Type="http://schemas.openxmlformats.org/officeDocument/2006/relationships/image" Target="../media/image20.png"/><Relationship Id="rId15" Type="http://schemas.openxmlformats.org/officeDocument/2006/relationships/image" Target="../media/image1.png"/><Relationship Id="rId14" Type="http://schemas.openxmlformats.org/officeDocument/2006/relationships/image" Target="../media/image2.png"/><Relationship Id="rId5" Type="http://schemas.openxmlformats.org/officeDocument/2006/relationships/image" Target="../media/image17.png"/><Relationship Id="rId6" Type="http://schemas.openxmlformats.org/officeDocument/2006/relationships/image" Target="../media/image15.png"/><Relationship Id="rId7" Type="http://schemas.openxmlformats.org/officeDocument/2006/relationships/image" Target="../media/image8.png"/><Relationship Id="rId8"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6.png"/><Relationship Id="rId4" Type="http://schemas.openxmlformats.org/officeDocument/2006/relationships/image" Target="../media/image2.png"/><Relationship Id="rId5" Type="http://schemas.openxmlformats.org/officeDocument/2006/relationships/image" Target="../media/image29.png"/><Relationship Id="rId6"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8.png"/><Relationship Id="rId4" Type="http://schemas.openxmlformats.org/officeDocument/2006/relationships/image" Target="../media/image2.png"/><Relationship Id="rId5"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pn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png"/><Relationship Id="rId4" Type="http://schemas.openxmlformats.org/officeDocument/2006/relationships/image" Target="../media/image1.png"/></Relationships>
</file>

<file path=ppt/slides/_rels/slide48.xml.rels><?xml version="1.0" encoding="UTF-8" standalone="yes"?><Relationships xmlns="http://schemas.openxmlformats.org/package/2006/relationships"><Relationship Id="rId11" Type="http://schemas.openxmlformats.org/officeDocument/2006/relationships/hyperlink" Target="https://forms.gle/hYj1Gj3LAqcL7Z5CA" TargetMode="External"/><Relationship Id="rId10" Type="http://schemas.openxmlformats.org/officeDocument/2006/relationships/hyperlink" Target="https://open.spotify.com/playlist/0uFt0RJvfh143lVGQbhWHS?si=95193d92e5094f73&amp;pt=2f012d4e97b62c470b68ca9552905422" TargetMode="External"/><Relationship Id="rId13" Type="http://schemas.openxmlformats.org/officeDocument/2006/relationships/image" Target="../media/image2.png"/><Relationship Id="rId12" Type="http://schemas.openxmlformats.org/officeDocument/2006/relationships/hyperlink" Target="https://forms.gle/xh8JxpqC2XLsb72L7" TargetMode="External"/><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1.png"/><Relationship Id="rId4" Type="http://schemas.openxmlformats.org/officeDocument/2006/relationships/hyperlink" Target="https://join.slack.com/t/cornellbitcoinclub/shared_invite/zt-2bnpz3y01-wOxd_f0NcRRZyRNkzznA5Q" TargetMode="External"/><Relationship Id="rId9" Type="http://schemas.openxmlformats.org/officeDocument/2006/relationships/hyperlink" Target="https://forms.gle/yjLJ1z4EBJXzBLd49" TargetMode="External"/><Relationship Id="rId14" Type="http://schemas.openxmlformats.org/officeDocument/2006/relationships/image" Target="../media/image1.png"/><Relationship Id="rId5" Type="http://schemas.openxmlformats.org/officeDocument/2006/relationships/hyperlink" Target="https://calendar.google.com/calendar/u/0?cid=Y184YjI3M2VlZmYzOTIxMWM1OTA2NGVmOTk5YWRhZDIyNzhjMDg2NDkwMDZhYzRjM2QyZjE4M2E4YzgwMDBhYmE4QGdyb3VwLmNhbGVuZGFyLmdvb2dsZS5jb20" TargetMode="External"/><Relationship Id="rId6" Type="http://schemas.openxmlformats.org/officeDocument/2006/relationships/hyperlink" Target="https://forms.gle/R3wBeLyNpq9vbeXn9" TargetMode="External"/><Relationship Id="rId7" Type="http://schemas.openxmlformats.org/officeDocument/2006/relationships/hyperlink" Target="https://forms.gle/ZwUKC8V61m9v6SWcA" TargetMode="External"/><Relationship Id="rId8" Type="http://schemas.openxmlformats.org/officeDocument/2006/relationships/hyperlink" Target="https://forms.gle/9HEnoXqodNdaPd7W8"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9.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110" name="Shape 110"/>
        <p:cNvGrpSpPr/>
        <p:nvPr/>
      </p:nvGrpSpPr>
      <p:grpSpPr>
        <a:xfrm>
          <a:off x="0" y="0"/>
          <a:ext cx="0" cy="0"/>
          <a:chOff x="0" y="0"/>
          <a:chExt cx="0" cy="0"/>
        </a:xfrm>
      </p:grpSpPr>
      <p:sp>
        <p:nvSpPr>
          <p:cNvPr id="111" name="Google Shape;111;p23"/>
          <p:cNvSpPr txBox="1"/>
          <p:nvPr/>
        </p:nvSpPr>
        <p:spPr>
          <a:xfrm>
            <a:off x="787925" y="3471700"/>
            <a:ext cx="3933300" cy="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#12: September 18, 2024</a:t>
            </a:r>
            <a:endParaRPr sz="1600">
              <a:solidFill>
                <a:schemeClr val="lt1"/>
              </a:solidFill>
              <a:latin typeface="Proxima Nova Semibold"/>
              <a:ea typeface="Proxima Nova Semibold"/>
              <a:cs typeface="Proxima Nova Semibold"/>
              <a:sym typeface="Proxima Nova Semibold"/>
            </a:endParaRPr>
          </a:p>
        </p:txBody>
      </p:sp>
      <p:sp>
        <p:nvSpPr>
          <p:cNvPr id="112" name="Google Shape;112;p2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a:t>
            </a:r>
            <a:r>
              <a:rPr b="1" lang="en" sz="6000">
                <a:solidFill>
                  <a:schemeClr val="lt1"/>
                </a:solidFill>
                <a:latin typeface="Proxima Nova"/>
                <a:ea typeface="Proxima Nova"/>
                <a:cs typeface="Proxima Nova"/>
                <a:sym typeface="Proxima Nova"/>
              </a:rPr>
              <a:t> Club</a:t>
            </a:r>
            <a:endParaRPr b="1" sz="6000">
              <a:solidFill>
                <a:schemeClr val="lt1"/>
              </a:solidFill>
              <a:latin typeface="Proxima Nova"/>
              <a:ea typeface="Proxima Nova"/>
              <a:cs typeface="Proxima Nova"/>
              <a:sym typeface="Proxima Nova"/>
            </a:endParaRPr>
          </a:p>
        </p:txBody>
      </p:sp>
      <p:pic>
        <p:nvPicPr>
          <p:cNvPr id="113" name="Google Shape;113;p2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Disclosure</a:t>
            </a:r>
            <a:endParaRPr/>
          </a:p>
        </p:txBody>
      </p:sp>
      <p:sp>
        <p:nvSpPr>
          <p:cNvPr id="119" name="Google Shape;119;p24"/>
          <p:cNvSpPr txBox="1"/>
          <p:nvPr/>
        </p:nvSpPr>
        <p:spPr>
          <a:xfrm>
            <a:off x="909600" y="1919025"/>
            <a:ext cx="7324800" cy="1908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600">
                <a:solidFill>
                  <a:schemeClr val="lt1"/>
                </a:solidFill>
                <a:latin typeface="Proxima Nova"/>
                <a:ea typeface="Proxima Nova"/>
                <a:cs typeface="Proxima Nova"/>
                <a:sym typeface="Proxima Nova"/>
              </a:rPr>
              <a:t>The Cornell Bitcoin Club is an undergraduate student club. The Club’s website and all published and or related materials and audio and visual recordings are not legal, investment, or accounting advice. They are for informational purposes. If any service providers are acknowledged or highlighted, it is for discussion purposes and should not be construed as an endorsement of their services.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p:txBody>
      </p:sp>
      <p:pic>
        <p:nvPicPr>
          <p:cNvPr id="120" name="Google Shape;120;p24"/>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Welcome!</a:t>
            </a:r>
            <a:endParaRPr/>
          </a:p>
        </p:txBody>
      </p:sp>
      <p:pic>
        <p:nvPicPr>
          <p:cNvPr id="126" name="Google Shape;126;p2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27" name="Google Shape;127;p2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131" name="Shape 131"/>
        <p:cNvGrpSpPr/>
        <p:nvPr/>
      </p:nvGrpSpPr>
      <p:grpSpPr>
        <a:xfrm>
          <a:off x="0" y="0"/>
          <a:ext cx="0" cy="0"/>
          <a:chOff x="0" y="0"/>
          <a:chExt cx="0" cy="0"/>
        </a:xfrm>
      </p:grpSpPr>
      <p:sp>
        <p:nvSpPr>
          <p:cNvPr id="132" name="Google Shape;132;p26"/>
          <p:cNvSpPr txBox="1"/>
          <p:nvPr>
            <p:ph type="title"/>
          </p:nvPr>
        </p:nvSpPr>
        <p:spPr>
          <a:xfrm>
            <a:off x="98250" y="16350"/>
            <a:ext cx="8826600" cy="602700"/>
          </a:xfrm>
          <a:prstGeom prst="rect">
            <a:avLst/>
          </a:prstGeom>
          <a:noFill/>
        </p:spPr>
        <p:txBody>
          <a:bodyPr anchorCtr="0" anchor="ctr" bIns="91425" lIns="91425" spcFirstLastPara="1" rIns="91425" wrap="square" tIns="91425">
            <a:normAutofit/>
          </a:bodyPr>
          <a:lstStyle/>
          <a:p>
            <a:pPr indent="0" lvl="0" marL="0" rtl="0" algn="l">
              <a:spcBef>
                <a:spcPts val="0"/>
              </a:spcBef>
              <a:spcAft>
                <a:spcPts val="0"/>
              </a:spcAft>
              <a:buNone/>
            </a:pPr>
            <a:r>
              <a:rPr lang="en"/>
              <a:t>Schedule</a:t>
            </a:r>
            <a:endParaRPr/>
          </a:p>
        </p:txBody>
      </p:sp>
      <p:sp>
        <p:nvSpPr>
          <p:cNvPr id="133" name="Google Shape;133;p26"/>
          <p:cNvSpPr txBox="1"/>
          <p:nvPr/>
        </p:nvSpPr>
        <p:spPr>
          <a:xfrm>
            <a:off x="735525" y="897475"/>
            <a:ext cx="6480600" cy="38796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Welcome</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Short Lesson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Introductions</a:t>
            </a:r>
            <a:endParaRPr sz="1700">
              <a:solidFill>
                <a:schemeClr val="lt1"/>
              </a:solidFill>
              <a:latin typeface="Proxima Nova"/>
              <a:ea typeface="Proxima Nova"/>
              <a:cs typeface="Proxima Nova"/>
              <a:sym typeface="Proxima Nova"/>
            </a:endParaRPr>
          </a:p>
          <a:p>
            <a:pPr indent="-336550" lvl="1" marL="9144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Leadership</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Some Poll Questions</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Club Norms</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Important Information &amp; Tasks</a:t>
            </a:r>
            <a:endParaRPr sz="1700">
              <a:solidFill>
                <a:schemeClr val="lt1"/>
              </a:solidFill>
              <a:latin typeface="Proxima Nova"/>
              <a:ea typeface="Proxima Nova"/>
              <a:cs typeface="Proxima Nova"/>
              <a:sym typeface="Proxima Nova"/>
            </a:endParaRPr>
          </a:p>
          <a:p>
            <a:pPr indent="-336550" lvl="1" marL="9144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Housekeeping </a:t>
            </a:r>
            <a:endParaRPr sz="1700">
              <a:solidFill>
                <a:schemeClr val="lt1"/>
              </a:solidFill>
              <a:latin typeface="Proxima Nova"/>
              <a:ea typeface="Proxima Nova"/>
              <a:cs typeface="Proxima Nova"/>
              <a:sym typeface="Proxima Nova"/>
            </a:endParaRPr>
          </a:p>
          <a:p>
            <a:pPr indent="-336550" lvl="1" marL="9144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Tasks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If nothing else, know…</a:t>
            </a:r>
            <a:r>
              <a:rPr lang="en" sz="1700">
                <a:solidFill>
                  <a:schemeClr val="lt1"/>
                </a:solidFill>
                <a:latin typeface="Proxima Nova"/>
                <a:ea typeface="Proxima Nova"/>
                <a:cs typeface="Proxima Nova"/>
                <a:sym typeface="Proxima Nova"/>
              </a:rPr>
              <a:t>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Upcoming Dates</a:t>
            </a:r>
            <a:endParaRPr sz="1700">
              <a:solidFill>
                <a:schemeClr val="lt1"/>
              </a:solidFill>
              <a:latin typeface="Proxima Nova"/>
              <a:ea typeface="Proxima Nova"/>
              <a:cs typeface="Proxima Nova"/>
              <a:sym typeface="Proxima Nova"/>
            </a:endParaRPr>
          </a:p>
        </p:txBody>
      </p:sp>
      <p:pic>
        <p:nvPicPr>
          <p:cNvPr id="134" name="Google Shape;134;p26"/>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460950" y="2065350"/>
            <a:ext cx="84816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Peer-to-Peer</a:t>
            </a:r>
            <a:endParaRPr/>
          </a:p>
          <a:p>
            <a:pPr indent="0" lvl="0" marL="0" rtl="0" algn="l">
              <a:spcBef>
                <a:spcPts val="0"/>
              </a:spcBef>
              <a:spcAft>
                <a:spcPts val="0"/>
              </a:spcAft>
              <a:buNone/>
            </a:pPr>
            <a:r>
              <a:rPr i="1" lang="en" sz="2300"/>
              <a:t>Introduce yourself to the person </a:t>
            </a:r>
            <a:endParaRPr i="1" sz="2300"/>
          </a:p>
          <a:p>
            <a:pPr indent="0" lvl="0" marL="0" rtl="0" algn="l">
              <a:spcBef>
                <a:spcPts val="0"/>
              </a:spcBef>
              <a:spcAft>
                <a:spcPts val="0"/>
              </a:spcAft>
              <a:buNone/>
            </a:pPr>
            <a:r>
              <a:rPr i="1" lang="en" sz="2300"/>
              <a:t>next to you</a:t>
            </a:r>
            <a:endParaRPr i="1" sz="2300"/>
          </a:p>
        </p:txBody>
      </p:sp>
      <p:pic>
        <p:nvPicPr>
          <p:cNvPr id="140" name="Google Shape;140;p27"/>
          <p:cNvPicPr preferRelativeResize="0"/>
          <p:nvPr/>
        </p:nvPicPr>
        <p:blipFill>
          <a:blip r:embed="rId3">
            <a:alphaModFix/>
          </a:blip>
          <a:stretch>
            <a:fillRect/>
          </a:stretch>
        </p:blipFill>
        <p:spPr>
          <a:xfrm>
            <a:off x="4994300" y="1689150"/>
            <a:ext cx="3594974" cy="2007200"/>
          </a:xfrm>
          <a:prstGeom prst="rect">
            <a:avLst/>
          </a:prstGeom>
          <a:noFill/>
          <a:ln>
            <a:noFill/>
          </a:ln>
        </p:spPr>
      </p:pic>
      <p:pic>
        <p:nvPicPr>
          <p:cNvPr id="141" name="Google Shape;141;p27"/>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142" name="Google Shape;142;p27"/>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6" name="Shape 146"/>
        <p:cNvGrpSpPr/>
        <p:nvPr/>
      </p:nvGrpSpPr>
      <p:grpSpPr>
        <a:xfrm>
          <a:off x="0" y="0"/>
          <a:ext cx="0" cy="0"/>
          <a:chOff x="0" y="0"/>
          <a:chExt cx="0" cy="0"/>
        </a:xfrm>
      </p:grpSpPr>
      <p:sp>
        <p:nvSpPr>
          <p:cNvPr id="147" name="Google Shape;147;p28"/>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Price of Today: </a:t>
            </a:r>
            <a:br>
              <a:rPr lang="en"/>
            </a:br>
            <a:r>
              <a:rPr i="1" lang="en" sz="4000"/>
              <a:t>Why You Should Care About Bitcoin</a:t>
            </a:r>
            <a:endParaRPr i="1" sz="4000"/>
          </a:p>
        </p:txBody>
      </p:sp>
      <p:pic>
        <p:nvPicPr>
          <p:cNvPr id="148" name="Google Shape;148;p28"/>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49" name="Google Shape;149;p28"/>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3" name="Shape 153"/>
        <p:cNvGrpSpPr/>
        <p:nvPr/>
      </p:nvGrpSpPr>
      <p:grpSpPr>
        <a:xfrm>
          <a:off x="0" y="0"/>
          <a:ext cx="0" cy="0"/>
          <a:chOff x="0" y="0"/>
          <a:chExt cx="0" cy="0"/>
        </a:xfrm>
      </p:grpSpPr>
      <p:sp>
        <p:nvSpPr>
          <p:cNvPr id="154" name="Google Shape;154;p29"/>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Price of Today: </a:t>
            </a:r>
            <a:br>
              <a:rPr lang="en"/>
            </a:br>
            <a:r>
              <a:rPr i="1" lang="en" sz="4000"/>
              <a:t>Is the Quality of Your Tomorrow </a:t>
            </a:r>
            <a:endParaRPr i="1" sz="4000"/>
          </a:p>
        </p:txBody>
      </p:sp>
      <p:pic>
        <p:nvPicPr>
          <p:cNvPr id="155" name="Google Shape;155;p29"/>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56" name="Google Shape;156;p29"/>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0" name="Shape 160"/>
        <p:cNvGrpSpPr/>
        <p:nvPr/>
      </p:nvGrpSpPr>
      <p:grpSpPr>
        <a:xfrm>
          <a:off x="0" y="0"/>
          <a:ext cx="0" cy="0"/>
          <a:chOff x="0" y="0"/>
          <a:chExt cx="0" cy="0"/>
        </a:xfrm>
      </p:grpSpPr>
      <p:sp>
        <p:nvSpPr>
          <p:cNvPr id="161" name="Google Shape;161;p30"/>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How many seconds are in 1 minute in the US?</a:t>
            </a:r>
            <a:endParaRPr sz="5000">
              <a:solidFill>
                <a:schemeClr val="lt1"/>
              </a:solidFill>
              <a:latin typeface="Proxima Nova"/>
              <a:ea typeface="Proxima Nova"/>
              <a:cs typeface="Proxima Nova"/>
              <a:sym typeface="Proxima Nova"/>
            </a:endParaRPr>
          </a:p>
        </p:txBody>
      </p:sp>
      <p:sp>
        <p:nvSpPr>
          <p:cNvPr id="162" name="Google Shape;162;p30"/>
          <p:cNvSpPr txBox="1"/>
          <p:nvPr/>
        </p:nvSpPr>
        <p:spPr>
          <a:xfrm>
            <a:off x="3876849" y="3973848"/>
            <a:ext cx="1390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i="0" lang="en" sz="1600" u="none" cap="none" strike="noStrike">
                <a:solidFill>
                  <a:schemeClr val="lt1"/>
                </a:solidFill>
                <a:latin typeface="Proxima Nova"/>
                <a:ea typeface="Proxima Nova"/>
                <a:cs typeface="Proxima Nova"/>
                <a:sym typeface="Proxima Nova"/>
              </a:rPr>
              <a:t>60 Seconds</a:t>
            </a:r>
            <a:endParaRPr>
              <a:latin typeface="Proxima Nova"/>
              <a:ea typeface="Proxima Nova"/>
              <a:cs typeface="Proxima Nova"/>
              <a:sym typeface="Proxima Nova"/>
            </a:endParaRPr>
          </a:p>
        </p:txBody>
      </p:sp>
      <p:pic>
        <p:nvPicPr>
          <p:cNvPr id="163" name="Google Shape;163;p30"/>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64" name="Google Shape;164;p30"/>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68" name="Shape 168"/>
        <p:cNvGrpSpPr/>
        <p:nvPr/>
      </p:nvGrpSpPr>
      <p:grpSpPr>
        <a:xfrm>
          <a:off x="0" y="0"/>
          <a:ext cx="0" cy="0"/>
          <a:chOff x="0" y="0"/>
          <a:chExt cx="0" cy="0"/>
        </a:xfrm>
      </p:grpSpPr>
      <p:sp>
        <p:nvSpPr>
          <p:cNvPr id="169" name="Google Shape;169;p31"/>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How many seconds are in 1 minute in Japan?</a:t>
            </a:r>
            <a:endParaRPr sz="5000">
              <a:solidFill>
                <a:schemeClr val="lt1"/>
              </a:solidFill>
              <a:latin typeface="Proxima Nova"/>
              <a:ea typeface="Proxima Nova"/>
              <a:cs typeface="Proxima Nova"/>
              <a:sym typeface="Proxima Nova"/>
            </a:endParaRPr>
          </a:p>
        </p:txBody>
      </p:sp>
      <p:sp>
        <p:nvSpPr>
          <p:cNvPr id="170" name="Google Shape;170;p31"/>
          <p:cNvSpPr txBox="1"/>
          <p:nvPr/>
        </p:nvSpPr>
        <p:spPr>
          <a:xfrm>
            <a:off x="3876849" y="3973848"/>
            <a:ext cx="1390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i="0" lang="en" sz="1600" u="none" cap="none" strike="noStrike">
                <a:solidFill>
                  <a:schemeClr val="lt1"/>
                </a:solidFill>
                <a:latin typeface="Proxima Nova"/>
                <a:ea typeface="Proxima Nova"/>
                <a:cs typeface="Proxima Nova"/>
                <a:sym typeface="Proxima Nova"/>
              </a:rPr>
              <a:t>60 Seconds</a:t>
            </a:r>
            <a:endParaRPr>
              <a:latin typeface="Proxima Nova"/>
              <a:ea typeface="Proxima Nova"/>
              <a:cs typeface="Proxima Nova"/>
              <a:sym typeface="Proxima Nova"/>
            </a:endParaRPr>
          </a:p>
        </p:txBody>
      </p:sp>
      <p:pic>
        <p:nvPicPr>
          <p:cNvPr id="171" name="Google Shape;171;p31"/>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72" name="Google Shape;172;p31"/>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76" name="Shape 176"/>
        <p:cNvGrpSpPr/>
        <p:nvPr/>
      </p:nvGrpSpPr>
      <p:grpSpPr>
        <a:xfrm>
          <a:off x="0" y="0"/>
          <a:ext cx="0" cy="0"/>
          <a:chOff x="0" y="0"/>
          <a:chExt cx="0" cy="0"/>
        </a:xfrm>
      </p:grpSpPr>
      <p:sp>
        <p:nvSpPr>
          <p:cNvPr id="177" name="Google Shape;177;p32"/>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How many seconds are in 1 minute in Nigeria?</a:t>
            </a:r>
            <a:endParaRPr sz="5000">
              <a:solidFill>
                <a:schemeClr val="lt1"/>
              </a:solidFill>
              <a:latin typeface="Proxima Nova"/>
              <a:ea typeface="Proxima Nova"/>
              <a:cs typeface="Proxima Nova"/>
              <a:sym typeface="Proxima Nova"/>
            </a:endParaRPr>
          </a:p>
        </p:txBody>
      </p:sp>
      <p:sp>
        <p:nvSpPr>
          <p:cNvPr id="178" name="Google Shape;178;p32"/>
          <p:cNvSpPr txBox="1"/>
          <p:nvPr/>
        </p:nvSpPr>
        <p:spPr>
          <a:xfrm>
            <a:off x="3876849" y="3973848"/>
            <a:ext cx="1390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i="0" lang="en" sz="1600" u="none" cap="none" strike="noStrike">
                <a:solidFill>
                  <a:schemeClr val="lt1"/>
                </a:solidFill>
                <a:latin typeface="Proxima Nova"/>
                <a:ea typeface="Proxima Nova"/>
                <a:cs typeface="Proxima Nova"/>
                <a:sym typeface="Proxima Nova"/>
              </a:rPr>
              <a:t>60 Seconds</a:t>
            </a:r>
            <a:endParaRPr>
              <a:latin typeface="Proxima Nova"/>
              <a:ea typeface="Proxima Nova"/>
              <a:cs typeface="Proxima Nova"/>
              <a:sym typeface="Proxima Nova"/>
            </a:endParaRPr>
          </a:p>
        </p:txBody>
      </p:sp>
      <p:pic>
        <p:nvPicPr>
          <p:cNvPr id="179" name="Google Shape;179;p32"/>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180" name="Google Shape;180;p32"/>
          <p:cNvPicPr preferRelativeResize="0"/>
          <p:nvPr/>
        </p:nvPicPr>
        <p:blipFill>
          <a:blip r:embed="rId4">
            <a:alphaModFix/>
          </a:blip>
          <a:stretch>
            <a:fillRect/>
          </a:stretch>
        </p:blipFill>
        <p:spPr>
          <a:xfrm>
            <a:off x="184150" y="4695625"/>
            <a:ext cx="374483" cy="3554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84" name="Shape 184"/>
        <p:cNvGrpSpPr/>
        <p:nvPr/>
      </p:nvGrpSpPr>
      <p:grpSpPr>
        <a:xfrm>
          <a:off x="0" y="0"/>
          <a:ext cx="0" cy="0"/>
          <a:chOff x="0" y="0"/>
          <a:chExt cx="0" cy="0"/>
        </a:xfrm>
      </p:grpSpPr>
      <p:sp>
        <p:nvSpPr>
          <p:cNvPr id="185" name="Google Shape;185;p33"/>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How many Japanese yen = 1 US dollar?</a:t>
            </a:r>
            <a:endParaRPr sz="5000">
              <a:solidFill>
                <a:schemeClr val="lt1"/>
              </a:solidFill>
              <a:latin typeface="Proxima Nova"/>
              <a:ea typeface="Proxima Nova"/>
              <a:cs typeface="Proxima Nova"/>
              <a:sym typeface="Proxima Nova"/>
            </a:endParaRPr>
          </a:p>
        </p:txBody>
      </p:sp>
      <p:sp>
        <p:nvSpPr>
          <p:cNvPr id="186" name="Google Shape;186;p33"/>
          <p:cNvSpPr txBox="1"/>
          <p:nvPr/>
        </p:nvSpPr>
        <p:spPr>
          <a:xfrm>
            <a:off x="2528362" y="3619056"/>
            <a:ext cx="4087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1600" u="none" cap="none" strike="noStrike">
                <a:solidFill>
                  <a:schemeClr val="lt1"/>
                </a:solidFill>
                <a:latin typeface="Proxima Nova"/>
                <a:ea typeface="Proxima Nova"/>
                <a:cs typeface="Proxima Nova"/>
                <a:sym typeface="Proxima Nova"/>
              </a:rPr>
              <a:t>1</a:t>
            </a:r>
            <a:r>
              <a:rPr b="1" lang="en" sz="1600">
                <a:solidFill>
                  <a:schemeClr val="lt1"/>
                </a:solidFill>
                <a:latin typeface="Proxima Nova"/>
                <a:ea typeface="Proxima Nova"/>
                <a:cs typeface="Proxima Nova"/>
                <a:sym typeface="Proxima Nova"/>
              </a:rPr>
              <a:t>42.36</a:t>
            </a:r>
            <a:r>
              <a:rPr i="0" lang="en" sz="1600" u="none" cap="none" strike="noStrike">
                <a:solidFill>
                  <a:schemeClr val="lt1"/>
                </a:solidFill>
                <a:latin typeface="Proxima Nova"/>
                <a:ea typeface="Proxima Nova"/>
                <a:cs typeface="Proxima Nova"/>
                <a:sym typeface="Proxima Nova"/>
              </a:rPr>
              <a:t> Japanese yen: 1 US dollar</a:t>
            </a:r>
            <a:endParaRPr>
              <a:latin typeface="Proxima Nova"/>
              <a:ea typeface="Proxima Nova"/>
              <a:cs typeface="Proxima Nova"/>
              <a:sym typeface="Proxima Nova"/>
            </a:endParaRPr>
          </a:p>
        </p:txBody>
      </p:sp>
      <p:pic>
        <p:nvPicPr>
          <p:cNvPr id="187" name="Google Shape;187;p33"/>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88" name="Google Shape;188;p33"/>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92" name="Shape 192"/>
        <p:cNvGrpSpPr/>
        <p:nvPr/>
      </p:nvGrpSpPr>
      <p:grpSpPr>
        <a:xfrm>
          <a:off x="0" y="0"/>
          <a:ext cx="0" cy="0"/>
          <a:chOff x="0" y="0"/>
          <a:chExt cx="0" cy="0"/>
        </a:xfrm>
      </p:grpSpPr>
      <p:sp>
        <p:nvSpPr>
          <p:cNvPr id="193" name="Google Shape;193;p34"/>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How many Nigerian naira = 1 US dollar ?</a:t>
            </a:r>
            <a:endParaRPr sz="5000">
              <a:solidFill>
                <a:schemeClr val="lt1"/>
              </a:solidFill>
              <a:latin typeface="Proxima Nova"/>
              <a:ea typeface="Proxima Nova"/>
              <a:cs typeface="Proxima Nova"/>
              <a:sym typeface="Proxima Nova"/>
            </a:endParaRPr>
          </a:p>
        </p:txBody>
      </p:sp>
      <p:sp>
        <p:nvSpPr>
          <p:cNvPr id="194" name="Google Shape;194;p34"/>
          <p:cNvSpPr txBox="1"/>
          <p:nvPr/>
        </p:nvSpPr>
        <p:spPr>
          <a:xfrm>
            <a:off x="2528362" y="3615750"/>
            <a:ext cx="4087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lang="en" sz="1600">
                <a:solidFill>
                  <a:schemeClr val="lt1"/>
                </a:solidFill>
                <a:latin typeface="Proxima Nova"/>
                <a:ea typeface="Proxima Nova"/>
                <a:cs typeface="Proxima Nova"/>
                <a:sym typeface="Proxima Nova"/>
              </a:rPr>
              <a:t>1,640.55</a:t>
            </a:r>
            <a:r>
              <a:rPr b="1" i="0" lang="en" sz="1600" u="none" cap="none" strike="noStrike">
                <a:solidFill>
                  <a:schemeClr val="lt1"/>
                </a:solidFill>
                <a:latin typeface="Proxima Nova"/>
                <a:ea typeface="Proxima Nova"/>
                <a:cs typeface="Proxima Nova"/>
                <a:sym typeface="Proxima Nova"/>
              </a:rPr>
              <a:t> </a:t>
            </a:r>
            <a:r>
              <a:rPr i="0" lang="en" sz="1600" u="none" cap="none" strike="noStrike">
                <a:solidFill>
                  <a:schemeClr val="lt1"/>
                </a:solidFill>
                <a:latin typeface="Proxima Nova"/>
                <a:ea typeface="Proxima Nova"/>
                <a:cs typeface="Proxima Nova"/>
                <a:sym typeface="Proxima Nova"/>
              </a:rPr>
              <a:t>Nigerian naira: 1 US dollar</a:t>
            </a:r>
            <a:endParaRPr>
              <a:latin typeface="Proxima Nova"/>
              <a:ea typeface="Proxima Nova"/>
              <a:cs typeface="Proxima Nova"/>
              <a:sym typeface="Proxima Nova"/>
            </a:endParaRPr>
          </a:p>
        </p:txBody>
      </p:sp>
      <p:pic>
        <p:nvPicPr>
          <p:cNvPr id="195" name="Google Shape;195;p34"/>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196" name="Google Shape;196;p34"/>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00" name="Shape 200"/>
        <p:cNvGrpSpPr/>
        <p:nvPr/>
      </p:nvGrpSpPr>
      <p:grpSpPr>
        <a:xfrm>
          <a:off x="0" y="0"/>
          <a:ext cx="0" cy="0"/>
          <a:chOff x="0" y="0"/>
          <a:chExt cx="0" cy="0"/>
        </a:xfrm>
      </p:grpSpPr>
      <p:sp>
        <p:nvSpPr>
          <p:cNvPr id="201" name="Google Shape;201;p35"/>
          <p:cNvSpPr txBox="1"/>
          <p:nvPr>
            <p:ph type="ctrTitle"/>
          </p:nvPr>
        </p:nvSpPr>
        <p:spPr>
          <a:xfrm>
            <a:off x="1179900" y="814202"/>
            <a:ext cx="6784200" cy="17715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3000">
                <a:solidFill>
                  <a:schemeClr val="lt1"/>
                </a:solidFill>
                <a:latin typeface="Proxima Nova"/>
                <a:ea typeface="Proxima Nova"/>
                <a:cs typeface="Proxima Nova"/>
                <a:sym typeface="Proxima Nova"/>
              </a:rPr>
              <a:t>$ -98% since 1971 </a:t>
            </a:r>
            <a:endParaRPr sz="3000">
              <a:solidFill>
                <a:schemeClr val="lt1"/>
              </a:solidFill>
              <a:latin typeface="Proxima Nova"/>
              <a:ea typeface="Proxima Nova"/>
              <a:cs typeface="Proxima Nova"/>
              <a:sym typeface="Proxima Nova"/>
            </a:endParaRPr>
          </a:p>
        </p:txBody>
      </p:sp>
      <p:sp>
        <p:nvSpPr>
          <p:cNvPr id="202" name="Google Shape;202;p35"/>
          <p:cNvSpPr txBox="1"/>
          <p:nvPr/>
        </p:nvSpPr>
        <p:spPr>
          <a:xfrm>
            <a:off x="1179900" y="2705100"/>
            <a:ext cx="6784200" cy="1771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3000" u="none" cap="none" strike="noStrike">
                <a:solidFill>
                  <a:schemeClr val="lt1"/>
                </a:solidFill>
                <a:latin typeface="Proxima Nova"/>
                <a:ea typeface="Proxima Nova"/>
                <a:cs typeface="Proxima Nova"/>
                <a:sym typeface="Proxima Nova"/>
              </a:rPr>
              <a:t>$ -25% since 2020</a:t>
            </a:r>
            <a:endParaRPr>
              <a:latin typeface="Proxima Nova"/>
              <a:ea typeface="Proxima Nova"/>
              <a:cs typeface="Proxima Nova"/>
              <a:sym typeface="Proxima Nova"/>
            </a:endParaRPr>
          </a:p>
        </p:txBody>
      </p:sp>
      <p:pic>
        <p:nvPicPr>
          <p:cNvPr id="203" name="Google Shape;203;p3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04" name="Google Shape;204;p3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US Debt</a:t>
            </a:r>
            <a:endParaRPr/>
          </a:p>
        </p:txBody>
      </p:sp>
      <p:pic>
        <p:nvPicPr>
          <p:cNvPr descr="Image" id="210" name="Google Shape;210;p36"/>
          <p:cNvPicPr preferRelativeResize="0"/>
          <p:nvPr/>
        </p:nvPicPr>
        <p:blipFill rotWithShape="1">
          <a:blip r:embed="rId3">
            <a:alphaModFix/>
          </a:blip>
          <a:srcRect b="2875" l="0" r="0" t="0"/>
          <a:stretch/>
        </p:blipFill>
        <p:spPr>
          <a:xfrm>
            <a:off x="1649975" y="1101200"/>
            <a:ext cx="6133574" cy="3486750"/>
          </a:xfrm>
          <a:prstGeom prst="rect">
            <a:avLst/>
          </a:prstGeom>
          <a:noFill/>
          <a:ln>
            <a:noFill/>
          </a:ln>
        </p:spPr>
      </p:pic>
      <p:pic>
        <p:nvPicPr>
          <p:cNvPr id="211" name="Google Shape;211;p36"/>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7"/>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State of US Economy  </a:t>
            </a:r>
            <a:endParaRPr/>
          </a:p>
        </p:txBody>
      </p:sp>
      <p:pic>
        <p:nvPicPr>
          <p:cNvPr id="217" name="Google Shape;217;p37"/>
          <p:cNvPicPr preferRelativeResize="0"/>
          <p:nvPr/>
        </p:nvPicPr>
        <p:blipFill>
          <a:blip r:embed="rId3">
            <a:alphaModFix/>
          </a:blip>
          <a:stretch>
            <a:fillRect/>
          </a:stretch>
        </p:blipFill>
        <p:spPr>
          <a:xfrm>
            <a:off x="898750" y="2507100"/>
            <a:ext cx="2572400" cy="2139125"/>
          </a:xfrm>
          <a:prstGeom prst="rect">
            <a:avLst/>
          </a:prstGeom>
          <a:noFill/>
          <a:ln>
            <a:noFill/>
          </a:ln>
        </p:spPr>
      </p:pic>
      <p:sp>
        <p:nvSpPr>
          <p:cNvPr id="218" name="Google Shape;218;p37"/>
          <p:cNvSpPr txBox="1"/>
          <p:nvPr/>
        </p:nvSpPr>
        <p:spPr>
          <a:xfrm>
            <a:off x="278400" y="1093151"/>
            <a:ext cx="7764600" cy="121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US debt: $35.27 trillion</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rPr lang="en" sz="1500">
                <a:solidFill>
                  <a:schemeClr val="lt1"/>
                </a:solidFill>
                <a:latin typeface="Proxima Nova"/>
                <a:ea typeface="Proxima Nova"/>
                <a:cs typeface="Proxima Nova"/>
                <a:sym typeface="Proxima Nova"/>
              </a:rPr>
              <a:t>Debt interest payment: $870 billion FY24</a:t>
            </a:r>
            <a:endParaRPr sz="1500">
              <a:solidFill>
                <a:schemeClr val="lt1"/>
              </a:solidFill>
              <a:latin typeface="Proxima Nova"/>
              <a:ea typeface="Proxima Nova"/>
              <a:cs typeface="Proxima Nova"/>
              <a:sym typeface="Proxima Nova"/>
            </a:endParaRPr>
          </a:p>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Education: $90 billion</a:t>
            </a:r>
            <a:endParaRPr sz="1500">
              <a:solidFill>
                <a:schemeClr val="lt1"/>
              </a:solidFill>
              <a:latin typeface="Proxima Nova"/>
              <a:ea typeface="Proxima Nova"/>
              <a:cs typeface="Proxima Nova"/>
              <a:sym typeface="Proxima Nova"/>
            </a:endParaRPr>
          </a:p>
          <a:p>
            <a:pPr indent="-323850" lvl="0" marL="457200" rtl="0" algn="l">
              <a:spcBef>
                <a:spcPts val="0"/>
              </a:spcBef>
              <a:spcAft>
                <a:spcPts val="0"/>
              </a:spcAft>
              <a:buClr>
                <a:schemeClr val="lt1"/>
              </a:buClr>
              <a:buSzPts val="1500"/>
              <a:buFont typeface="Proxima Nova"/>
              <a:buChar char="-"/>
            </a:pPr>
            <a:r>
              <a:rPr lang="en" sz="1500">
                <a:solidFill>
                  <a:schemeClr val="lt1"/>
                </a:solidFill>
                <a:latin typeface="Proxima Nova"/>
                <a:ea typeface="Proxima Nova"/>
                <a:cs typeface="Proxima Nova"/>
                <a:sym typeface="Proxima Nova"/>
              </a:rPr>
              <a:t>Defense: $842 billion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sz="1500">
              <a:solidFill>
                <a:schemeClr val="lt2"/>
              </a:solidFill>
              <a:latin typeface="Proxima Nova"/>
              <a:ea typeface="Proxima Nova"/>
              <a:cs typeface="Proxima Nova"/>
              <a:sym typeface="Proxima Nova"/>
            </a:endParaRPr>
          </a:p>
        </p:txBody>
      </p:sp>
      <p:pic>
        <p:nvPicPr>
          <p:cNvPr id="219" name="Google Shape;219;p37"/>
          <p:cNvPicPr preferRelativeResize="0"/>
          <p:nvPr/>
        </p:nvPicPr>
        <p:blipFill>
          <a:blip r:embed="rId4">
            <a:alphaModFix/>
          </a:blip>
          <a:stretch>
            <a:fillRect/>
          </a:stretch>
        </p:blipFill>
        <p:spPr>
          <a:xfrm>
            <a:off x="4788873" y="1268425"/>
            <a:ext cx="4081827" cy="3197500"/>
          </a:xfrm>
          <a:prstGeom prst="rect">
            <a:avLst/>
          </a:prstGeom>
          <a:noFill/>
          <a:ln>
            <a:noFill/>
          </a:ln>
        </p:spPr>
      </p:pic>
      <p:pic>
        <p:nvPicPr>
          <p:cNvPr id="220" name="Google Shape;220;p37"/>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24" name="Shape 224"/>
        <p:cNvGrpSpPr/>
        <p:nvPr/>
      </p:nvGrpSpPr>
      <p:grpSpPr>
        <a:xfrm>
          <a:off x="0" y="0"/>
          <a:ext cx="0" cy="0"/>
          <a:chOff x="0" y="0"/>
          <a:chExt cx="0" cy="0"/>
        </a:xfrm>
      </p:grpSpPr>
      <p:sp>
        <p:nvSpPr>
          <p:cNvPr id="225" name="Google Shape;225;p38"/>
          <p:cNvSpPr txBox="1"/>
          <p:nvPr/>
        </p:nvSpPr>
        <p:spPr>
          <a:xfrm>
            <a:off x="2528390" y="2280290"/>
            <a:ext cx="4087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3600" u="none" cap="none" strike="noStrike">
                <a:solidFill>
                  <a:schemeClr val="lt1"/>
                </a:solidFill>
                <a:latin typeface="Proxima Nova"/>
                <a:ea typeface="Proxima Nova"/>
                <a:cs typeface="Proxima Nova"/>
                <a:sym typeface="Proxima Nova"/>
              </a:rPr>
              <a:t>8</a:t>
            </a:r>
            <a:r>
              <a:rPr b="1" lang="en" sz="3600">
                <a:solidFill>
                  <a:schemeClr val="lt1"/>
                </a:solidFill>
                <a:latin typeface="Proxima Nova"/>
                <a:ea typeface="Proxima Nova"/>
                <a:cs typeface="Proxima Nova"/>
                <a:sym typeface="Proxima Nova"/>
              </a:rPr>
              <a:t>0</a:t>
            </a:r>
            <a:r>
              <a:rPr b="1" i="0" lang="en" sz="3600" u="none" cap="none" strike="noStrike">
                <a:solidFill>
                  <a:schemeClr val="lt1"/>
                </a:solidFill>
                <a:latin typeface="Proxima Nova"/>
                <a:ea typeface="Proxima Nova"/>
                <a:cs typeface="Proxima Nova"/>
                <a:sym typeface="Proxima Nova"/>
              </a:rPr>
              <a:t>%</a:t>
            </a:r>
            <a:endParaRPr>
              <a:latin typeface="Proxima Nova"/>
              <a:ea typeface="Proxima Nova"/>
              <a:cs typeface="Proxima Nova"/>
              <a:sym typeface="Proxima Nova"/>
            </a:endParaRPr>
          </a:p>
        </p:txBody>
      </p:sp>
      <p:pic>
        <p:nvPicPr>
          <p:cNvPr id="226" name="Google Shape;226;p38"/>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27" name="Google Shape;227;p38"/>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Takeaways</a:t>
            </a:r>
            <a:endParaRPr/>
          </a:p>
        </p:txBody>
      </p:sp>
      <p:pic>
        <p:nvPicPr>
          <p:cNvPr id="233" name="Google Shape;233;p39"/>
          <p:cNvPicPr preferRelativeResize="0"/>
          <p:nvPr/>
        </p:nvPicPr>
        <p:blipFill>
          <a:blip r:embed="rId3">
            <a:alphaModFix/>
          </a:blip>
          <a:stretch>
            <a:fillRect/>
          </a:stretch>
        </p:blipFill>
        <p:spPr>
          <a:xfrm>
            <a:off x="8611675" y="4665225"/>
            <a:ext cx="313176" cy="313176"/>
          </a:xfrm>
          <a:prstGeom prst="rect">
            <a:avLst/>
          </a:prstGeom>
          <a:noFill/>
          <a:ln>
            <a:noFill/>
          </a:ln>
        </p:spPr>
      </p:pic>
      <p:sp>
        <p:nvSpPr>
          <p:cNvPr id="234" name="Google Shape;234;p39"/>
          <p:cNvSpPr txBox="1"/>
          <p:nvPr/>
        </p:nvSpPr>
        <p:spPr>
          <a:xfrm>
            <a:off x="1025000" y="1278389"/>
            <a:ext cx="3572100" cy="297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Urbanist"/>
              <a:buNone/>
            </a:pPr>
            <a:r>
              <a:rPr b="1" i="0" lang="en" sz="2500" u="none" cap="none" strike="noStrike">
                <a:solidFill>
                  <a:schemeClr val="lt1"/>
                </a:solidFill>
                <a:latin typeface="Proxima Nova"/>
                <a:ea typeface="Proxima Nova"/>
                <a:cs typeface="Proxima Nova"/>
                <a:sym typeface="Proxima Nova"/>
              </a:rPr>
              <a:t>1. </a:t>
            </a:r>
            <a:endParaRPr sz="2500">
              <a:latin typeface="Proxima Nova"/>
              <a:ea typeface="Proxima Nova"/>
              <a:cs typeface="Proxima Nova"/>
              <a:sym typeface="Proxima Nova"/>
            </a:endParaRPr>
          </a:p>
          <a:p>
            <a:pPr indent="0" lvl="0" marL="0" marR="0" rtl="0" algn="ctr">
              <a:lnSpc>
                <a:spcPct val="100000"/>
              </a:lnSpc>
              <a:spcBef>
                <a:spcPts val="0"/>
              </a:spcBef>
              <a:spcAft>
                <a:spcPts val="0"/>
              </a:spcAft>
              <a:buClr>
                <a:schemeClr val="dk1"/>
              </a:buClr>
              <a:buSzPts val="3000"/>
              <a:buFont typeface="Urbanist"/>
              <a:buNone/>
            </a:pPr>
            <a:r>
              <a:rPr i="0" lang="en" sz="2500" u="none" cap="none" strike="noStrike">
                <a:solidFill>
                  <a:schemeClr val="lt1"/>
                </a:solidFill>
                <a:latin typeface="Proxima Nova"/>
                <a:ea typeface="Proxima Nova"/>
                <a:cs typeface="Proxima Nova"/>
                <a:sym typeface="Proxima Nova"/>
              </a:rPr>
              <a:t>There exists no </a:t>
            </a:r>
            <a:r>
              <a:rPr b="1" i="0" lang="en" sz="2500" u="none" cap="none" strike="noStrike">
                <a:solidFill>
                  <a:schemeClr val="lt1"/>
                </a:solidFill>
                <a:latin typeface="Proxima Nova"/>
                <a:ea typeface="Proxima Nova"/>
                <a:cs typeface="Proxima Nova"/>
                <a:sym typeface="Proxima Nova"/>
              </a:rPr>
              <a:t>universal</a:t>
            </a:r>
            <a:r>
              <a:rPr i="0" lang="en" sz="2500" u="none" cap="none" strike="noStrike">
                <a:solidFill>
                  <a:schemeClr val="lt1"/>
                </a:solidFill>
                <a:latin typeface="Proxima Nova"/>
                <a:ea typeface="Proxima Nova"/>
                <a:cs typeface="Proxima Nova"/>
                <a:sym typeface="Proxima Nova"/>
              </a:rPr>
              <a:t> measurement of value, as there is for time. </a:t>
            </a:r>
            <a:endParaRPr sz="2500">
              <a:latin typeface="Proxima Nova"/>
              <a:ea typeface="Proxima Nova"/>
              <a:cs typeface="Proxima Nova"/>
              <a:sym typeface="Proxima Nova"/>
            </a:endParaRPr>
          </a:p>
        </p:txBody>
      </p:sp>
      <p:sp>
        <p:nvSpPr>
          <p:cNvPr id="235" name="Google Shape;235;p39"/>
          <p:cNvSpPr txBox="1"/>
          <p:nvPr/>
        </p:nvSpPr>
        <p:spPr>
          <a:xfrm>
            <a:off x="4851890" y="1278388"/>
            <a:ext cx="3572100" cy="297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3000"/>
              <a:buFont typeface="Urbanist"/>
              <a:buNone/>
            </a:pPr>
            <a:r>
              <a:rPr b="1" i="0" lang="en" sz="2500" u="none" cap="none" strike="noStrike">
                <a:solidFill>
                  <a:schemeClr val="lt1"/>
                </a:solidFill>
                <a:latin typeface="Proxima Nova"/>
                <a:ea typeface="Proxima Nova"/>
                <a:cs typeface="Proxima Nova"/>
                <a:sym typeface="Proxima Nova"/>
              </a:rPr>
              <a:t>2. </a:t>
            </a:r>
            <a:endParaRPr sz="2500">
              <a:latin typeface="Proxima Nova"/>
              <a:ea typeface="Proxima Nova"/>
              <a:cs typeface="Proxima Nova"/>
              <a:sym typeface="Proxima Nova"/>
            </a:endParaRPr>
          </a:p>
          <a:p>
            <a:pPr indent="0" lvl="0" marL="0" marR="0" rtl="0" algn="ctr">
              <a:lnSpc>
                <a:spcPct val="100000"/>
              </a:lnSpc>
              <a:spcBef>
                <a:spcPts val="0"/>
              </a:spcBef>
              <a:spcAft>
                <a:spcPts val="0"/>
              </a:spcAft>
              <a:buClr>
                <a:schemeClr val="dk1"/>
              </a:buClr>
              <a:buSzPts val="3000"/>
              <a:buFont typeface="Urbanist"/>
              <a:buNone/>
            </a:pPr>
            <a:r>
              <a:rPr i="0" lang="en" sz="2500" u="none" cap="none" strike="noStrike">
                <a:solidFill>
                  <a:schemeClr val="lt1"/>
                </a:solidFill>
                <a:latin typeface="Proxima Nova"/>
                <a:ea typeface="Proxima Nova"/>
                <a:cs typeface="Proxima Nova"/>
                <a:sym typeface="Proxima Nova"/>
              </a:rPr>
              <a:t>Money is broken. The global </a:t>
            </a:r>
            <a:r>
              <a:rPr b="1" i="0" lang="en" sz="2500" u="none" cap="none" strike="noStrike">
                <a:solidFill>
                  <a:schemeClr val="lt1"/>
                </a:solidFill>
                <a:latin typeface="Proxima Nova"/>
                <a:ea typeface="Proxima Nova"/>
                <a:cs typeface="Proxima Nova"/>
                <a:sym typeface="Proxima Nova"/>
              </a:rPr>
              <a:t>theft</a:t>
            </a:r>
            <a:r>
              <a:rPr i="0" lang="en" sz="2500" u="none" cap="none" strike="noStrike">
                <a:solidFill>
                  <a:schemeClr val="lt1"/>
                </a:solidFill>
                <a:latin typeface="Proxima Nova"/>
                <a:ea typeface="Proxima Nova"/>
                <a:cs typeface="Proxima Nova"/>
                <a:sym typeface="Proxima Nova"/>
              </a:rPr>
              <a:t> in money exists in varying degrees. </a:t>
            </a:r>
            <a:endParaRPr sz="2500">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39" name="Shape 239"/>
        <p:cNvGrpSpPr/>
        <p:nvPr/>
      </p:nvGrpSpPr>
      <p:grpSpPr>
        <a:xfrm>
          <a:off x="0" y="0"/>
          <a:ext cx="0" cy="0"/>
          <a:chOff x="0" y="0"/>
          <a:chExt cx="0" cy="0"/>
        </a:xfrm>
      </p:grpSpPr>
      <p:sp>
        <p:nvSpPr>
          <p:cNvPr id="240" name="Google Shape;240;p40"/>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Why does this matter?</a:t>
            </a:r>
            <a:endParaRPr sz="5000">
              <a:solidFill>
                <a:schemeClr val="lt1"/>
              </a:solidFill>
              <a:latin typeface="Proxima Nova"/>
              <a:ea typeface="Proxima Nova"/>
              <a:cs typeface="Proxima Nova"/>
              <a:sym typeface="Proxima Nova"/>
            </a:endParaRPr>
          </a:p>
        </p:txBody>
      </p:sp>
      <p:pic>
        <p:nvPicPr>
          <p:cNvPr id="241" name="Google Shape;241;p40"/>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42" name="Google Shape;242;p40"/>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46" name="Shape 246"/>
        <p:cNvGrpSpPr/>
        <p:nvPr/>
      </p:nvGrpSpPr>
      <p:grpSpPr>
        <a:xfrm>
          <a:off x="0" y="0"/>
          <a:ext cx="0" cy="0"/>
          <a:chOff x="0" y="0"/>
          <a:chExt cx="0" cy="0"/>
        </a:xfrm>
      </p:grpSpPr>
      <p:pic>
        <p:nvPicPr>
          <p:cNvPr descr="Sage Hall - Wikipedia" id="247" name="Google Shape;247;p41"/>
          <p:cNvPicPr preferRelativeResize="0"/>
          <p:nvPr/>
        </p:nvPicPr>
        <p:blipFill rotWithShape="1">
          <a:blip r:embed="rId3">
            <a:alphaModFix/>
          </a:blip>
          <a:srcRect b="0" l="0" r="0" t="0"/>
          <a:stretch/>
        </p:blipFill>
        <p:spPr>
          <a:xfrm>
            <a:off x="425471" y="701245"/>
            <a:ext cx="4864442" cy="3648331"/>
          </a:xfrm>
          <a:prstGeom prst="rect">
            <a:avLst/>
          </a:prstGeom>
          <a:noFill/>
          <a:ln>
            <a:noFill/>
          </a:ln>
        </p:spPr>
      </p:pic>
      <p:pic>
        <p:nvPicPr>
          <p:cNvPr id="248" name="Google Shape;248;p41"/>
          <p:cNvPicPr preferRelativeResize="0"/>
          <p:nvPr/>
        </p:nvPicPr>
        <p:blipFill rotWithShape="1">
          <a:blip r:embed="rId4">
            <a:alphaModFix/>
          </a:blip>
          <a:srcRect b="0" l="0" r="0" t="0"/>
          <a:stretch/>
        </p:blipFill>
        <p:spPr>
          <a:xfrm>
            <a:off x="5721787" y="400662"/>
            <a:ext cx="2916588" cy="3948917"/>
          </a:xfrm>
          <a:prstGeom prst="rect">
            <a:avLst/>
          </a:prstGeom>
          <a:noFill/>
          <a:ln>
            <a:noFill/>
          </a:ln>
        </p:spPr>
      </p:pic>
      <p:sp>
        <p:nvSpPr>
          <p:cNvPr id="249" name="Google Shape;249;p41"/>
          <p:cNvSpPr txBox="1"/>
          <p:nvPr/>
        </p:nvSpPr>
        <p:spPr>
          <a:xfrm>
            <a:off x="1516224" y="4442255"/>
            <a:ext cx="26829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1600" u="none" cap="none" strike="noStrike">
                <a:solidFill>
                  <a:schemeClr val="lt1"/>
                </a:solidFill>
                <a:latin typeface="Proxima Nova"/>
                <a:ea typeface="Proxima Nova"/>
                <a:cs typeface="Proxima Nova"/>
                <a:sym typeface="Proxima Nova"/>
              </a:rPr>
              <a:t>Sage Hall ca. 1875</a:t>
            </a:r>
            <a:endParaRPr i="0" sz="1600" u="none" cap="none" strike="noStrike">
              <a:solidFill>
                <a:schemeClr val="lt1"/>
              </a:solidFill>
              <a:latin typeface="Proxima Nova"/>
              <a:ea typeface="Proxima Nova"/>
              <a:cs typeface="Proxima Nova"/>
              <a:sym typeface="Proxima Nova"/>
            </a:endParaRPr>
          </a:p>
        </p:txBody>
      </p:sp>
      <p:sp>
        <p:nvSpPr>
          <p:cNvPr id="250" name="Google Shape;250;p41"/>
          <p:cNvSpPr txBox="1"/>
          <p:nvPr/>
        </p:nvSpPr>
        <p:spPr>
          <a:xfrm>
            <a:off x="5917763" y="4451460"/>
            <a:ext cx="25245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1600" u="none" cap="none" strike="noStrike">
                <a:solidFill>
                  <a:schemeClr val="lt1"/>
                </a:solidFill>
                <a:latin typeface="Proxima Nova"/>
                <a:ea typeface="Proxima Nova"/>
                <a:cs typeface="Proxima Nova"/>
                <a:sym typeface="Proxima Nova"/>
              </a:rPr>
              <a:t>Bradfield Hall ca. 1968</a:t>
            </a:r>
            <a:endParaRPr i="0" sz="1600" u="none" cap="none" strike="noStrike">
              <a:solidFill>
                <a:schemeClr val="lt1"/>
              </a:solidFill>
              <a:latin typeface="Proxima Nova"/>
              <a:ea typeface="Proxima Nova"/>
              <a:cs typeface="Proxima Nova"/>
              <a:sym typeface="Proxima Nova"/>
            </a:endParaRPr>
          </a:p>
        </p:txBody>
      </p:sp>
      <p:pic>
        <p:nvPicPr>
          <p:cNvPr id="251" name="Google Shape;251;p41"/>
          <p:cNvPicPr preferRelativeResize="0"/>
          <p:nvPr/>
        </p:nvPicPr>
        <p:blipFill>
          <a:blip r:embed="rId5">
            <a:alphaModFix/>
          </a:blip>
          <a:stretch>
            <a:fillRect/>
          </a:stretch>
        </p:blipFill>
        <p:spPr>
          <a:xfrm>
            <a:off x="184150" y="4695625"/>
            <a:ext cx="374483" cy="355476"/>
          </a:xfrm>
          <a:prstGeom prst="rect">
            <a:avLst/>
          </a:prstGeom>
          <a:noFill/>
          <a:ln>
            <a:noFill/>
          </a:ln>
        </p:spPr>
      </p:pic>
      <p:pic>
        <p:nvPicPr>
          <p:cNvPr id="252" name="Google Shape;252;p41"/>
          <p:cNvPicPr preferRelativeResize="0"/>
          <p:nvPr/>
        </p:nvPicPr>
        <p:blipFill>
          <a:blip r:embed="rId6">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56" name="Shape 256"/>
        <p:cNvGrpSpPr/>
        <p:nvPr/>
      </p:nvGrpSpPr>
      <p:grpSpPr>
        <a:xfrm>
          <a:off x="0" y="0"/>
          <a:ext cx="0" cy="0"/>
          <a:chOff x="0" y="0"/>
          <a:chExt cx="0" cy="0"/>
        </a:xfrm>
      </p:grpSpPr>
      <p:pic>
        <p:nvPicPr>
          <p:cNvPr descr="Vintage Photos of Grocery Stores Through the Years - Pictures of Grocery  Stores" id="257" name="Google Shape;257;p42"/>
          <p:cNvPicPr preferRelativeResize="0"/>
          <p:nvPr/>
        </p:nvPicPr>
        <p:blipFill rotWithShape="1">
          <a:blip r:embed="rId3">
            <a:alphaModFix/>
          </a:blip>
          <a:srcRect b="0" l="0" r="0" t="0"/>
          <a:stretch/>
        </p:blipFill>
        <p:spPr>
          <a:xfrm>
            <a:off x="512697" y="926758"/>
            <a:ext cx="3944899" cy="3101546"/>
          </a:xfrm>
          <a:prstGeom prst="rect">
            <a:avLst/>
          </a:prstGeom>
          <a:noFill/>
          <a:ln>
            <a:noFill/>
          </a:ln>
        </p:spPr>
      </p:pic>
      <p:pic>
        <p:nvPicPr>
          <p:cNvPr descr="How Cereal Became the Quintessential American Breakfast" id="258" name="Google Shape;258;p42"/>
          <p:cNvPicPr preferRelativeResize="0"/>
          <p:nvPr/>
        </p:nvPicPr>
        <p:blipFill rotWithShape="1">
          <a:blip r:embed="rId4">
            <a:alphaModFix/>
          </a:blip>
          <a:srcRect b="0" l="0" r="0" t="0"/>
          <a:stretch/>
        </p:blipFill>
        <p:spPr>
          <a:xfrm>
            <a:off x="5002426" y="1013255"/>
            <a:ext cx="3904736" cy="2928552"/>
          </a:xfrm>
          <a:prstGeom prst="rect">
            <a:avLst/>
          </a:prstGeom>
          <a:noFill/>
          <a:ln>
            <a:noFill/>
          </a:ln>
        </p:spPr>
      </p:pic>
      <p:sp>
        <p:nvSpPr>
          <p:cNvPr id="259" name="Google Shape;259;p42"/>
          <p:cNvSpPr txBox="1"/>
          <p:nvPr/>
        </p:nvSpPr>
        <p:spPr>
          <a:xfrm>
            <a:off x="726306" y="4216742"/>
            <a:ext cx="3430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1600" u="none" cap="none" strike="noStrike">
                <a:solidFill>
                  <a:schemeClr val="lt1"/>
                </a:solidFill>
                <a:latin typeface="Proxima Nova"/>
                <a:ea typeface="Proxima Nova"/>
                <a:cs typeface="Proxima Nova"/>
                <a:sym typeface="Proxima Nova"/>
              </a:rPr>
              <a:t>Whole Foods</a:t>
            </a:r>
            <a:endParaRPr i="0" sz="1600" u="none" cap="none" strike="noStrike">
              <a:solidFill>
                <a:schemeClr val="lt1"/>
              </a:solidFill>
              <a:latin typeface="Proxima Nova"/>
              <a:ea typeface="Proxima Nova"/>
              <a:cs typeface="Proxima Nova"/>
              <a:sym typeface="Proxima Nova"/>
            </a:endParaRPr>
          </a:p>
        </p:txBody>
      </p:sp>
      <p:sp>
        <p:nvSpPr>
          <p:cNvPr id="260" name="Google Shape;260;p42"/>
          <p:cNvSpPr txBox="1"/>
          <p:nvPr/>
        </p:nvSpPr>
        <p:spPr>
          <a:xfrm>
            <a:off x="5239765" y="4216742"/>
            <a:ext cx="3430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b="1" i="0" lang="en" sz="1600" u="none" cap="none" strike="noStrike">
                <a:solidFill>
                  <a:schemeClr val="lt1"/>
                </a:solidFill>
                <a:latin typeface="Proxima Nova"/>
                <a:ea typeface="Proxima Nova"/>
                <a:cs typeface="Proxima Nova"/>
                <a:sym typeface="Proxima Nova"/>
              </a:rPr>
              <a:t>Processed Foods</a:t>
            </a:r>
            <a:endParaRPr i="0" sz="1600" u="none" cap="none" strike="noStrike">
              <a:solidFill>
                <a:schemeClr val="lt1"/>
              </a:solidFill>
              <a:latin typeface="Proxima Nova"/>
              <a:ea typeface="Proxima Nova"/>
              <a:cs typeface="Proxima Nova"/>
              <a:sym typeface="Proxima Nova"/>
            </a:endParaRPr>
          </a:p>
        </p:txBody>
      </p:sp>
      <p:pic>
        <p:nvPicPr>
          <p:cNvPr id="261" name="Google Shape;261;p42"/>
          <p:cNvPicPr preferRelativeResize="0"/>
          <p:nvPr/>
        </p:nvPicPr>
        <p:blipFill>
          <a:blip r:embed="rId5">
            <a:alphaModFix/>
          </a:blip>
          <a:stretch>
            <a:fillRect/>
          </a:stretch>
        </p:blipFill>
        <p:spPr>
          <a:xfrm>
            <a:off x="184150" y="4695625"/>
            <a:ext cx="374483" cy="355476"/>
          </a:xfrm>
          <a:prstGeom prst="rect">
            <a:avLst/>
          </a:prstGeom>
          <a:noFill/>
          <a:ln>
            <a:noFill/>
          </a:ln>
        </p:spPr>
      </p:pic>
      <p:pic>
        <p:nvPicPr>
          <p:cNvPr id="262" name="Google Shape;262;p42"/>
          <p:cNvPicPr preferRelativeResize="0"/>
          <p:nvPr/>
        </p:nvPicPr>
        <p:blipFill>
          <a:blip r:embed="rId6">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66" name="Shape 266"/>
        <p:cNvGrpSpPr/>
        <p:nvPr/>
      </p:nvGrpSpPr>
      <p:grpSpPr>
        <a:xfrm>
          <a:off x="0" y="0"/>
          <a:ext cx="0" cy="0"/>
          <a:chOff x="0" y="0"/>
          <a:chExt cx="0" cy="0"/>
        </a:xfrm>
      </p:grpSpPr>
      <p:sp>
        <p:nvSpPr>
          <p:cNvPr id="267" name="Google Shape;267;p43"/>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YOU matter. </a:t>
            </a:r>
            <a:endParaRPr sz="5000">
              <a:solidFill>
                <a:schemeClr val="lt1"/>
              </a:solidFill>
              <a:latin typeface="Proxima Nova"/>
              <a:ea typeface="Proxima Nova"/>
              <a:cs typeface="Proxima Nova"/>
              <a:sym typeface="Proxima Nova"/>
            </a:endParaRPr>
          </a:p>
        </p:txBody>
      </p:sp>
      <p:pic>
        <p:nvPicPr>
          <p:cNvPr id="268" name="Google Shape;268;p43"/>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69" name="Google Shape;269;p43"/>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73" name="Shape 273"/>
        <p:cNvGrpSpPr/>
        <p:nvPr/>
      </p:nvGrpSpPr>
      <p:grpSpPr>
        <a:xfrm>
          <a:off x="0" y="0"/>
          <a:ext cx="0" cy="0"/>
          <a:chOff x="0" y="0"/>
          <a:chExt cx="0" cy="0"/>
        </a:xfrm>
      </p:grpSpPr>
      <p:sp>
        <p:nvSpPr>
          <p:cNvPr id="274" name="Google Shape;274;p44"/>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Bitcoin is a tool to protect you and your tomorrows, today. </a:t>
            </a:r>
            <a:endParaRPr/>
          </a:p>
        </p:txBody>
      </p:sp>
      <p:pic>
        <p:nvPicPr>
          <p:cNvPr id="275" name="Google Shape;275;p44"/>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76" name="Google Shape;276;p44"/>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0" name="Shape 280"/>
        <p:cNvGrpSpPr/>
        <p:nvPr/>
      </p:nvGrpSpPr>
      <p:grpSpPr>
        <a:xfrm>
          <a:off x="0" y="0"/>
          <a:ext cx="0" cy="0"/>
          <a:chOff x="0" y="0"/>
          <a:chExt cx="0" cy="0"/>
        </a:xfrm>
      </p:grpSpPr>
      <p:sp>
        <p:nvSpPr>
          <p:cNvPr id="281" name="Google Shape;281;p45"/>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Bitcoin is a tool _______. </a:t>
            </a:r>
            <a:endParaRPr/>
          </a:p>
        </p:txBody>
      </p:sp>
      <p:pic>
        <p:nvPicPr>
          <p:cNvPr id="282" name="Google Shape;282;p4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83" name="Google Shape;283;p4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87" name="Shape 287"/>
        <p:cNvGrpSpPr/>
        <p:nvPr/>
      </p:nvGrpSpPr>
      <p:grpSpPr>
        <a:xfrm>
          <a:off x="0" y="0"/>
          <a:ext cx="0" cy="0"/>
          <a:chOff x="0" y="0"/>
          <a:chExt cx="0" cy="0"/>
        </a:xfrm>
      </p:grpSpPr>
      <p:sp>
        <p:nvSpPr>
          <p:cNvPr id="288" name="Google Shape;288;p46"/>
          <p:cNvSpPr txBox="1"/>
          <p:nvPr>
            <p:ph type="title"/>
          </p:nvPr>
        </p:nvSpPr>
        <p:spPr>
          <a:xfrm>
            <a:off x="2317950" y="1307100"/>
            <a:ext cx="4508100" cy="2529300"/>
          </a:xfrm>
          <a:prstGeom prst="rect">
            <a:avLst/>
          </a:prstGeom>
          <a:no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SzPts val="4800"/>
              <a:buNone/>
            </a:pPr>
            <a:r>
              <a:rPr lang="en" sz="5000">
                <a:solidFill>
                  <a:schemeClr val="lt1"/>
                </a:solidFill>
                <a:latin typeface="Proxima Nova"/>
                <a:ea typeface="Proxima Nova"/>
                <a:cs typeface="Proxima Nova"/>
                <a:sym typeface="Proxima Nova"/>
              </a:rPr>
              <a:t>Money </a:t>
            </a:r>
            <a:r>
              <a:rPr b="0" lang="en" sz="5000">
                <a:solidFill>
                  <a:schemeClr val="lt1"/>
                </a:solidFill>
                <a:latin typeface="Proxima Nova"/>
                <a:ea typeface="Proxima Nova"/>
                <a:cs typeface="Proxima Nova"/>
                <a:sym typeface="Proxima Nova"/>
              </a:rPr>
              <a:t>allows you to express </a:t>
            </a:r>
            <a:r>
              <a:rPr lang="en" sz="5000">
                <a:solidFill>
                  <a:schemeClr val="lt1"/>
                </a:solidFill>
                <a:latin typeface="Proxima Nova"/>
                <a:ea typeface="Proxima Nova"/>
                <a:cs typeface="Proxima Nova"/>
                <a:sym typeface="Proxima Nova"/>
              </a:rPr>
              <a:t>preferences</a:t>
            </a:r>
            <a:r>
              <a:rPr b="0" lang="en" sz="5000">
                <a:solidFill>
                  <a:schemeClr val="lt1"/>
                </a:solidFill>
                <a:latin typeface="Proxima Nova"/>
                <a:ea typeface="Proxima Nova"/>
                <a:cs typeface="Proxima Nova"/>
                <a:sym typeface="Proxima Nova"/>
              </a:rPr>
              <a:t> &amp; exchange </a:t>
            </a:r>
            <a:r>
              <a:rPr lang="en" sz="5000">
                <a:solidFill>
                  <a:schemeClr val="lt1"/>
                </a:solidFill>
                <a:latin typeface="Proxima Nova"/>
                <a:ea typeface="Proxima Nova"/>
                <a:cs typeface="Proxima Nova"/>
                <a:sym typeface="Proxima Nova"/>
              </a:rPr>
              <a:t>value</a:t>
            </a:r>
            <a:r>
              <a:rPr b="0" lang="en" sz="5000">
                <a:solidFill>
                  <a:schemeClr val="lt1"/>
                </a:solidFill>
                <a:latin typeface="Proxima Nova"/>
                <a:ea typeface="Proxima Nova"/>
                <a:cs typeface="Proxima Nova"/>
                <a:sym typeface="Proxima Nova"/>
              </a:rPr>
              <a:t>. </a:t>
            </a:r>
            <a:endParaRPr>
              <a:latin typeface="Proxima Nova"/>
              <a:ea typeface="Proxima Nova"/>
              <a:cs typeface="Proxima Nova"/>
              <a:sym typeface="Proxima Nova"/>
            </a:endParaRPr>
          </a:p>
        </p:txBody>
      </p:sp>
      <p:pic>
        <p:nvPicPr>
          <p:cNvPr id="289" name="Google Shape;289;p46"/>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90" name="Google Shape;290;p46"/>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94" name="Shape 294"/>
        <p:cNvGrpSpPr/>
        <p:nvPr/>
      </p:nvGrpSpPr>
      <p:grpSpPr>
        <a:xfrm>
          <a:off x="0" y="0"/>
          <a:ext cx="0" cy="0"/>
          <a:chOff x="0" y="0"/>
          <a:chExt cx="0" cy="0"/>
        </a:xfrm>
      </p:grpSpPr>
      <p:sp>
        <p:nvSpPr>
          <p:cNvPr id="295" name="Google Shape;295;p47"/>
          <p:cNvSpPr txBox="1"/>
          <p:nvPr>
            <p:ph type="title"/>
          </p:nvPr>
        </p:nvSpPr>
        <p:spPr>
          <a:xfrm>
            <a:off x="2334750" y="3812925"/>
            <a:ext cx="4371300" cy="1012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100"/>
              <a:t>Bitcoin</a:t>
            </a:r>
            <a:r>
              <a:rPr lang="en" sz="2100"/>
              <a:t> as a communication protocol. </a:t>
            </a:r>
            <a:endParaRPr sz="2100"/>
          </a:p>
        </p:txBody>
      </p:sp>
      <p:pic>
        <p:nvPicPr>
          <p:cNvPr id="296" name="Google Shape;296;p4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97" name="Google Shape;297;p47"/>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298" name="Google Shape;298;p47"/>
          <p:cNvPicPr preferRelativeResize="0"/>
          <p:nvPr/>
        </p:nvPicPr>
        <p:blipFill>
          <a:blip r:embed="rId5">
            <a:alphaModFix/>
          </a:blip>
          <a:stretch>
            <a:fillRect/>
          </a:stretch>
        </p:blipFill>
        <p:spPr>
          <a:xfrm>
            <a:off x="1899077" y="336725"/>
            <a:ext cx="5242624" cy="3327224"/>
          </a:xfrm>
          <a:prstGeom prst="rect">
            <a:avLst/>
          </a:prstGeom>
          <a:noFill/>
          <a:ln>
            <a:noFill/>
          </a:ln>
        </p:spPr>
      </p:pic>
      <p:sp>
        <p:nvSpPr>
          <p:cNvPr id="299" name="Google Shape;299;p47"/>
          <p:cNvSpPr/>
          <p:nvPr/>
        </p:nvSpPr>
        <p:spPr>
          <a:xfrm>
            <a:off x="2052888" y="2024750"/>
            <a:ext cx="4935000" cy="873900"/>
          </a:xfrm>
          <a:prstGeom prst="rect">
            <a:avLst/>
          </a:prstGeom>
          <a:noFill/>
          <a:ln cap="flat" cmpd="sng" w="38100">
            <a:solidFill>
              <a:srgbClr val="B31B1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03" name="Shape 303"/>
        <p:cNvGrpSpPr/>
        <p:nvPr/>
      </p:nvGrpSpPr>
      <p:grpSpPr>
        <a:xfrm>
          <a:off x="0" y="0"/>
          <a:ext cx="0" cy="0"/>
          <a:chOff x="0" y="0"/>
          <a:chExt cx="0" cy="0"/>
        </a:xfrm>
      </p:grpSpPr>
      <p:sp>
        <p:nvSpPr>
          <p:cNvPr id="304" name="Google Shape;304;p48"/>
          <p:cNvSpPr txBox="1"/>
          <p:nvPr>
            <p:ph type="title"/>
          </p:nvPr>
        </p:nvSpPr>
        <p:spPr>
          <a:xfrm>
            <a:off x="468000" y="2065350"/>
            <a:ext cx="5424600" cy="1012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Thought Experiment</a:t>
            </a:r>
            <a:endParaRPr/>
          </a:p>
        </p:txBody>
      </p:sp>
      <p:pic>
        <p:nvPicPr>
          <p:cNvPr id="305" name="Google Shape;305;p48"/>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06" name="Google Shape;306;p48"/>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10" name="Shape 310"/>
        <p:cNvGrpSpPr/>
        <p:nvPr/>
      </p:nvGrpSpPr>
      <p:grpSpPr>
        <a:xfrm>
          <a:off x="0" y="0"/>
          <a:ext cx="0" cy="0"/>
          <a:chOff x="0" y="0"/>
          <a:chExt cx="0" cy="0"/>
        </a:xfrm>
      </p:grpSpPr>
      <p:sp>
        <p:nvSpPr>
          <p:cNvPr id="311" name="Google Shape;311;p49"/>
          <p:cNvSpPr txBox="1"/>
          <p:nvPr>
            <p:ph type="ctrTitle"/>
          </p:nvPr>
        </p:nvSpPr>
        <p:spPr>
          <a:xfrm>
            <a:off x="782443" y="1527750"/>
            <a:ext cx="7579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1 bitcoin = 1 bitcoin</a:t>
            </a:r>
            <a:br>
              <a:rPr lang="en" sz="5000">
                <a:solidFill>
                  <a:schemeClr val="lt1"/>
                </a:solidFill>
                <a:latin typeface="Proxima Nova"/>
                <a:ea typeface="Proxima Nova"/>
                <a:cs typeface="Proxima Nova"/>
                <a:sym typeface="Proxima Nova"/>
              </a:rPr>
            </a:br>
            <a:r>
              <a:rPr lang="en" sz="2800">
                <a:solidFill>
                  <a:schemeClr val="lt1"/>
                </a:solidFill>
                <a:latin typeface="Proxima Nova"/>
                <a:ea typeface="Proxima Nova"/>
                <a:cs typeface="Proxima Nova"/>
                <a:sym typeface="Proxima Nova"/>
              </a:rPr>
              <a:t>1 bitcoin = 100,000,000 satoshis</a:t>
            </a:r>
            <a:endParaRPr sz="4500">
              <a:solidFill>
                <a:schemeClr val="lt1"/>
              </a:solidFill>
              <a:latin typeface="Proxima Nova"/>
              <a:ea typeface="Proxima Nova"/>
              <a:cs typeface="Proxima Nova"/>
              <a:sym typeface="Proxima Nova"/>
            </a:endParaRPr>
          </a:p>
        </p:txBody>
      </p:sp>
      <p:sp>
        <p:nvSpPr>
          <p:cNvPr id="312" name="Google Shape;312;p49"/>
          <p:cNvSpPr txBox="1"/>
          <p:nvPr/>
        </p:nvSpPr>
        <p:spPr>
          <a:xfrm>
            <a:off x="2528362" y="3615750"/>
            <a:ext cx="4087200" cy="5829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chemeClr val="dk1"/>
              </a:buClr>
              <a:buSzPts val="5200"/>
              <a:buFont typeface="Urbanist"/>
              <a:buNone/>
            </a:pPr>
            <a:r>
              <a:rPr i="0" lang="en" sz="1600" u="none" cap="none" strike="noStrike">
                <a:solidFill>
                  <a:schemeClr val="lt1"/>
                </a:solidFill>
                <a:latin typeface="Proxima Nova"/>
                <a:ea typeface="Proxima Nova"/>
                <a:cs typeface="Proxima Nova"/>
                <a:sym typeface="Proxima Nova"/>
              </a:rPr>
              <a:t>For anyone, anywhere. </a:t>
            </a:r>
            <a:endParaRPr>
              <a:latin typeface="Proxima Nova"/>
              <a:ea typeface="Proxima Nova"/>
              <a:cs typeface="Proxima Nova"/>
              <a:sym typeface="Proxima Nova"/>
            </a:endParaRPr>
          </a:p>
        </p:txBody>
      </p:sp>
      <p:pic>
        <p:nvPicPr>
          <p:cNvPr id="313" name="Google Shape;313;p49"/>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14" name="Google Shape;314;p49"/>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18" name="Shape 318"/>
        <p:cNvGrpSpPr/>
        <p:nvPr/>
      </p:nvGrpSpPr>
      <p:grpSpPr>
        <a:xfrm>
          <a:off x="0" y="0"/>
          <a:ext cx="0" cy="0"/>
          <a:chOff x="0" y="0"/>
          <a:chExt cx="0" cy="0"/>
        </a:xfrm>
      </p:grpSpPr>
      <p:pic>
        <p:nvPicPr>
          <p:cNvPr id="319" name="Google Shape;319;p50"/>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20" name="Google Shape;320;p50"/>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321" name="Google Shape;321;p50"/>
          <p:cNvPicPr preferRelativeResize="0"/>
          <p:nvPr/>
        </p:nvPicPr>
        <p:blipFill>
          <a:blip r:embed="rId5">
            <a:alphaModFix/>
          </a:blip>
          <a:stretch>
            <a:fillRect/>
          </a:stretch>
        </p:blipFill>
        <p:spPr>
          <a:xfrm>
            <a:off x="973025" y="1034500"/>
            <a:ext cx="7197925" cy="2703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25" name="Shape 325"/>
        <p:cNvGrpSpPr/>
        <p:nvPr/>
      </p:nvGrpSpPr>
      <p:grpSpPr>
        <a:xfrm>
          <a:off x="0" y="0"/>
          <a:ext cx="0" cy="0"/>
          <a:chOff x="0" y="0"/>
          <a:chExt cx="0" cy="0"/>
        </a:xfrm>
      </p:grpSpPr>
      <p:sp>
        <p:nvSpPr>
          <p:cNvPr id="326" name="Google Shape;326;p51"/>
          <p:cNvSpPr txBox="1"/>
          <p:nvPr>
            <p:ph type="ctrTitle"/>
          </p:nvPr>
        </p:nvSpPr>
        <p:spPr>
          <a:xfrm>
            <a:off x="1179875" y="1527750"/>
            <a:ext cx="6784200" cy="20880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5200"/>
              <a:buNone/>
            </a:pPr>
            <a:r>
              <a:rPr lang="en" sz="5000">
                <a:solidFill>
                  <a:schemeClr val="lt1"/>
                </a:solidFill>
                <a:latin typeface="Proxima Nova"/>
                <a:ea typeface="Proxima Nova"/>
                <a:cs typeface="Proxima Nova"/>
                <a:sym typeface="Proxima Nova"/>
              </a:rPr>
              <a:t>YOU matter. </a:t>
            </a:r>
            <a:endParaRPr sz="5000">
              <a:solidFill>
                <a:schemeClr val="lt1"/>
              </a:solidFill>
              <a:latin typeface="Proxima Nova"/>
              <a:ea typeface="Proxima Nova"/>
              <a:cs typeface="Proxima Nova"/>
              <a:sym typeface="Proxima Nova"/>
            </a:endParaRPr>
          </a:p>
        </p:txBody>
      </p:sp>
      <p:pic>
        <p:nvPicPr>
          <p:cNvPr id="327" name="Google Shape;327;p51"/>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28" name="Google Shape;328;p51"/>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2"/>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Club Norms</a:t>
            </a:r>
            <a:endParaRPr/>
          </a:p>
        </p:txBody>
      </p:sp>
      <p:pic>
        <p:nvPicPr>
          <p:cNvPr id="334" name="Google Shape;334;p52"/>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35" name="Google Shape;335;p52"/>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39" name="Shape 339"/>
        <p:cNvGrpSpPr/>
        <p:nvPr/>
      </p:nvGrpSpPr>
      <p:grpSpPr>
        <a:xfrm>
          <a:off x="0" y="0"/>
          <a:ext cx="0" cy="0"/>
          <a:chOff x="0" y="0"/>
          <a:chExt cx="0" cy="0"/>
        </a:xfrm>
      </p:grpSpPr>
      <p:sp>
        <p:nvSpPr>
          <p:cNvPr id="340" name="Google Shape;340;p53"/>
          <p:cNvSpPr txBox="1"/>
          <p:nvPr>
            <p:ph type="title"/>
          </p:nvPr>
        </p:nvSpPr>
        <p:spPr>
          <a:xfrm>
            <a:off x="475500" y="1258525"/>
            <a:ext cx="8222100" cy="1963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500"/>
              <a:t>“You never change things by fighting the existing reality. To change something, build a new model that makes the existing model obsolete.”</a:t>
            </a:r>
            <a:endParaRPr sz="2500"/>
          </a:p>
        </p:txBody>
      </p:sp>
      <p:sp>
        <p:nvSpPr>
          <p:cNvPr id="341" name="Google Shape;341;p53"/>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a:t>
            </a:r>
            <a:r>
              <a:rPr lang="en"/>
              <a:t>Buckminster Fuller (American Architect)</a:t>
            </a:r>
            <a:endParaRPr/>
          </a:p>
        </p:txBody>
      </p:sp>
      <p:pic>
        <p:nvPicPr>
          <p:cNvPr id="342" name="Google Shape;342;p53"/>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43" name="Google Shape;343;p53"/>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4"/>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Club Norms</a:t>
            </a:r>
            <a:endParaRPr/>
          </a:p>
        </p:txBody>
      </p:sp>
      <p:sp>
        <p:nvSpPr>
          <p:cNvPr id="349" name="Google Shape;349;p54"/>
          <p:cNvSpPr txBox="1"/>
          <p:nvPr/>
        </p:nvSpPr>
        <p:spPr>
          <a:xfrm>
            <a:off x="372350" y="884300"/>
            <a:ext cx="8519400" cy="366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lt1"/>
                </a:solidFill>
                <a:latin typeface="Proxima Nova"/>
                <a:ea typeface="Proxima Nova"/>
                <a:cs typeface="Proxima Nova"/>
                <a:sym typeface="Proxima Nova"/>
              </a:rPr>
              <a:t>Proof of Work: </a:t>
            </a:r>
            <a:r>
              <a:rPr lang="en">
                <a:solidFill>
                  <a:schemeClr val="lt1"/>
                </a:solidFill>
                <a:latin typeface="Proxima Nova"/>
                <a:ea typeface="Proxima Nova"/>
                <a:cs typeface="Proxima Nova"/>
                <a:sym typeface="Proxima Nova"/>
              </a:rPr>
              <a:t>Exert energy to do your own work. Don’t stake your opinions/worth/ability on another’s words or actions (especially including mine).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First Principles Thinking; Don’t Trust, Verify. Do Your Own Research: </a:t>
            </a:r>
            <a:r>
              <a:rPr lang="en">
                <a:solidFill>
                  <a:schemeClr val="lt1"/>
                </a:solidFill>
                <a:latin typeface="Proxima Nova"/>
                <a:ea typeface="Proxima Nova"/>
                <a:cs typeface="Proxima Nova"/>
                <a:sym typeface="Proxima Nova"/>
              </a:rPr>
              <a:t>Learn history. Bitcoin restores your agency. Don’t rent out your ability to form your own opinions and do your own research.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Low, Not High, Time Preference: </a:t>
            </a:r>
            <a:r>
              <a:rPr lang="en">
                <a:solidFill>
                  <a:schemeClr val="lt1"/>
                </a:solidFill>
                <a:latin typeface="Proxima Nova"/>
                <a:ea typeface="Proxima Nova"/>
                <a:cs typeface="Proxima Nova"/>
                <a:sym typeface="Proxima Nova"/>
              </a:rPr>
              <a:t>Commit to curiosity and critical thinking. (Try to embrace delayed gratification.)</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Open-Source.</a:t>
            </a:r>
            <a:endParaRPr b="1">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a:solidFill>
                  <a:schemeClr val="lt1"/>
                </a:solidFill>
                <a:latin typeface="Proxima Nova"/>
                <a:ea typeface="Proxima Nova"/>
                <a:cs typeface="Proxima Nova"/>
                <a:sym typeface="Proxima Nova"/>
              </a:rPr>
              <a:t>Misc:</a:t>
            </a:r>
            <a:endParaRPr b="1">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Always ask follow-up questions. Sometimes I might just do a poor job of explaining &amp; if I don’t know the answer, I’ll find it for you.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Often will build slides w/ too much info so they can be a resource </a:t>
            </a:r>
            <a:endParaRPr>
              <a:solidFill>
                <a:schemeClr val="lt1"/>
              </a:solidFill>
              <a:latin typeface="Proxima Nova"/>
              <a:ea typeface="Proxima Nova"/>
              <a:cs typeface="Proxima Nova"/>
              <a:sym typeface="Proxima Nova"/>
            </a:endParaRPr>
          </a:p>
          <a:p>
            <a:pPr indent="-317500" lvl="0" marL="457200" rtl="0" algn="l">
              <a:spcBef>
                <a:spcPts val="0"/>
              </a:spcBef>
              <a:spcAft>
                <a:spcPts val="0"/>
              </a:spcAft>
              <a:buClr>
                <a:schemeClr val="lt1"/>
              </a:buClr>
              <a:buSzPts val="1400"/>
              <a:buFont typeface="Proxima Nova"/>
              <a:buChar char="-"/>
            </a:pPr>
            <a:r>
              <a:rPr lang="en">
                <a:solidFill>
                  <a:schemeClr val="lt1"/>
                </a:solidFill>
                <a:latin typeface="Proxima Nova"/>
                <a:ea typeface="Proxima Nova"/>
                <a:cs typeface="Proxima Nova"/>
                <a:sym typeface="Proxima Nova"/>
              </a:rPr>
              <a:t>Anonymous question form </a:t>
            </a:r>
            <a:r>
              <a:rPr lang="en">
                <a:solidFill>
                  <a:schemeClr val="lt1"/>
                </a:solidFill>
                <a:latin typeface="Proxima Nova"/>
                <a:ea typeface="Proxima Nova"/>
                <a:cs typeface="Proxima Nova"/>
                <a:sym typeface="Proxima Nova"/>
              </a:rPr>
              <a:t>→ </a:t>
            </a:r>
            <a:r>
              <a:rPr lang="en">
                <a:solidFill>
                  <a:schemeClr val="lt1"/>
                </a:solidFill>
                <a:latin typeface="Proxima Nova"/>
                <a:ea typeface="Proxima Nova"/>
                <a:cs typeface="Proxima Nova"/>
                <a:sym typeface="Proxima Nova"/>
              </a:rPr>
              <a:t> </a:t>
            </a:r>
            <a:r>
              <a:rPr lang="en" u="sng">
                <a:solidFill>
                  <a:srgbClr val="0E101A"/>
                </a:solidFill>
                <a:highlight>
                  <a:schemeClr val="lt1"/>
                </a:highlight>
                <a:latin typeface="Proxima Nova"/>
                <a:ea typeface="Proxima Nova"/>
                <a:cs typeface="Proxima Nova"/>
                <a:sym typeface="Proxima Nova"/>
                <a:hlinkClick r:id="rId3">
                  <a:extLst>
                    <a:ext uri="{A12FA001-AC4F-418D-AE19-62706E023703}">
                      <ahyp:hlinkClr val="tx"/>
                    </a:ext>
                  </a:extLst>
                </a:hlinkClick>
              </a:rPr>
              <a:t>https://forms.gle/SPQiP5ahJuWNL2m28</a:t>
            </a:r>
            <a:r>
              <a:rPr lang="en">
                <a:solidFill>
                  <a:srgbClr val="0E101A"/>
                </a:solidFill>
                <a:highlight>
                  <a:schemeClr val="lt1"/>
                </a:highlight>
                <a:latin typeface="Proxima Nova"/>
                <a:ea typeface="Proxima Nova"/>
                <a:cs typeface="Proxima Nova"/>
                <a:sym typeface="Proxima Nova"/>
              </a:rPr>
              <a:t> </a:t>
            </a:r>
            <a:endParaRPr>
              <a:solidFill>
                <a:srgbClr val="0E101A"/>
              </a:solidFill>
              <a:highlight>
                <a:schemeClr val="lt1"/>
              </a:highlight>
              <a:latin typeface="Proxima Nova"/>
              <a:ea typeface="Proxima Nova"/>
              <a:cs typeface="Proxima Nova"/>
              <a:sym typeface="Proxima Nova"/>
            </a:endParaRPr>
          </a:p>
        </p:txBody>
      </p:sp>
      <p:pic>
        <p:nvPicPr>
          <p:cNvPr id="350" name="Google Shape;350;p54"/>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55"/>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Operations</a:t>
            </a:r>
            <a:endParaRPr/>
          </a:p>
        </p:txBody>
      </p:sp>
      <p:pic>
        <p:nvPicPr>
          <p:cNvPr id="356" name="Google Shape;356;p5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57" name="Google Shape;357;p55"/>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5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Proof of Work Clusters: </a:t>
            </a:r>
            <a:r>
              <a:rPr lang="en" u="sng">
                <a:hlinkClick r:id="rId3"/>
              </a:rPr>
              <a:t>Document Link</a:t>
            </a:r>
            <a:endParaRPr/>
          </a:p>
        </p:txBody>
      </p:sp>
      <p:pic>
        <p:nvPicPr>
          <p:cNvPr id="363" name="Google Shape;363;p56"/>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364" name="Google Shape;364;p56"/>
          <p:cNvPicPr preferRelativeResize="0"/>
          <p:nvPr/>
        </p:nvPicPr>
        <p:blipFill>
          <a:blip r:embed="rId5">
            <a:alphaModFix/>
          </a:blip>
          <a:stretch>
            <a:fillRect/>
          </a:stretch>
        </p:blipFill>
        <p:spPr>
          <a:xfrm>
            <a:off x="331225" y="1245900"/>
            <a:ext cx="4134000" cy="3182050"/>
          </a:xfrm>
          <a:prstGeom prst="rect">
            <a:avLst/>
          </a:prstGeom>
          <a:noFill/>
          <a:ln>
            <a:noFill/>
          </a:ln>
        </p:spPr>
      </p:pic>
      <p:pic>
        <p:nvPicPr>
          <p:cNvPr id="365" name="Google Shape;365;p56"/>
          <p:cNvPicPr preferRelativeResize="0"/>
          <p:nvPr/>
        </p:nvPicPr>
        <p:blipFill>
          <a:blip r:embed="rId6">
            <a:alphaModFix/>
          </a:blip>
          <a:stretch>
            <a:fillRect/>
          </a:stretch>
        </p:blipFill>
        <p:spPr>
          <a:xfrm>
            <a:off x="4659525" y="1577277"/>
            <a:ext cx="4332076" cy="25193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57"/>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Some polls…</a:t>
            </a:r>
            <a:endParaRPr/>
          </a:p>
        </p:txBody>
      </p:sp>
      <p:pic>
        <p:nvPicPr>
          <p:cNvPr id="371" name="Google Shape;371;p57"/>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372" name="Google Shape;372;p57"/>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373" name="Google Shape;373;p57"/>
          <p:cNvPicPr preferRelativeResize="0"/>
          <p:nvPr/>
        </p:nvPicPr>
        <p:blipFill>
          <a:blip r:embed="rId5">
            <a:alphaModFix/>
          </a:blip>
          <a:stretch>
            <a:fillRect/>
          </a:stretch>
        </p:blipFill>
        <p:spPr>
          <a:xfrm>
            <a:off x="4489250" y="1044450"/>
            <a:ext cx="3146275" cy="31462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8"/>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Workshop Ideas: </a:t>
            </a:r>
            <a:endParaRPr/>
          </a:p>
        </p:txBody>
      </p:sp>
      <p:sp>
        <p:nvSpPr>
          <p:cNvPr id="379" name="Google Shape;379;p58"/>
          <p:cNvSpPr txBox="1"/>
          <p:nvPr/>
        </p:nvSpPr>
        <p:spPr>
          <a:xfrm>
            <a:off x="454450" y="1043850"/>
            <a:ext cx="7070100" cy="30558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Onchain data walkthrough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Working session on orange-pilling local businesses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Bitcoin in an investment portfolio</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Socratic seminar </a:t>
            </a:r>
            <a:r>
              <a:rPr lang="en" sz="1700">
                <a:solidFill>
                  <a:schemeClr val="lt1"/>
                </a:solidFill>
                <a:latin typeface="Proxima Nova"/>
                <a:ea typeface="Proxima Nova"/>
                <a:cs typeface="Proxima Nova"/>
                <a:sym typeface="Proxima Nova"/>
              </a:rPr>
              <a:t>style</a:t>
            </a:r>
            <a:r>
              <a:rPr lang="en" sz="1700">
                <a:solidFill>
                  <a:schemeClr val="lt1"/>
                </a:solidFill>
                <a:latin typeface="Proxima Nova"/>
                <a:ea typeface="Proxima Nova"/>
                <a:cs typeface="Proxima Nova"/>
                <a:sym typeface="Proxima Nova"/>
              </a:rPr>
              <a:t> discussions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Networking / recruiting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Self-custody workshop</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Running a Lightning node</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Sentiment gathering of Bitcoin at Cornell</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Bitcoin mining case study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Sending and </a:t>
            </a:r>
            <a:r>
              <a:rPr lang="en" sz="1700">
                <a:solidFill>
                  <a:schemeClr val="lt1"/>
                </a:solidFill>
                <a:latin typeface="Proxima Nova"/>
                <a:ea typeface="Proxima Nova"/>
                <a:cs typeface="Proxima Nova"/>
                <a:sym typeface="Proxima Nova"/>
              </a:rPr>
              <a:t>receiving</a:t>
            </a:r>
            <a:r>
              <a:rPr lang="en" sz="1700">
                <a:solidFill>
                  <a:schemeClr val="lt1"/>
                </a:solidFill>
                <a:latin typeface="Proxima Nova"/>
                <a:ea typeface="Proxima Nova"/>
                <a:cs typeface="Proxima Nova"/>
                <a:sym typeface="Proxima Nova"/>
              </a:rPr>
              <a:t> sats</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Bitcoin as a tool → Bitcoin fixes ecash, Bitcoin fixes Nostr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BSN Node Meetings</a:t>
            </a:r>
            <a:endParaRPr sz="1700">
              <a:solidFill>
                <a:schemeClr val="lt1"/>
              </a:solidFill>
              <a:latin typeface="Proxima Nova"/>
              <a:ea typeface="Proxima Nova"/>
              <a:cs typeface="Proxima Nova"/>
              <a:sym typeface="Proxima Nova"/>
            </a:endParaRPr>
          </a:p>
        </p:txBody>
      </p:sp>
      <p:pic>
        <p:nvPicPr>
          <p:cNvPr id="380" name="Google Shape;380;p58"/>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9"/>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Projects</a:t>
            </a:r>
            <a:endParaRPr/>
          </a:p>
        </p:txBody>
      </p:sp>
      <p:sp>
        <p:nvSpPr>
          <p:cNvPr id="386" name="Google Shape;386;p59"/>
          <p:cNvSpPr txBox="1"/>
          <p:nvPr/>
        </p:nvSpPr>
        <p:spPr>
          <a:xfrm>
            <a:off x="435475" y="1210900"/>
            <a:ext cx="7070100" cy="3055800"/>
          </a:xfrm>
          <a:prstGeom prst="rect">
            <a:avLst/>
          </a:prstGeom>
          <a:noFill/>
          <a:ln>
            <a:noFill/>
          </a:ln>
        </p:spPr>
        <p:txBody>
          <a:bodyPr anchorCtr="0" anchor="t" bIns="91425" lIns="91425" spcFirstLastPara="1" rIns="91425" wrap="square" tIns="91425">
            <a:noAutofit/>
          </a:bodyPr>
          <a:lstStyle/>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Research Study w/ Brooks Tech Policy Institute</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Onboard Cornell Bitcoin Club to the Lightning Network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Educate </a:t>
            </a:r>
            <a:r>
              <a:rPr lang="en" sz="1700">
                <a:solidFill>
                  <a:schemeClr val="lt1"/>
                </a:solidFill>
                <a:latin typeface="Proxima Nova"/>
                <a:ea typeface="Proxima Nova"/>
                <a:cs typeface="Proxima Nova"/>
                <a:sym typeface="Proxima Nova"/>
              </a:rPr>
              <a:t>local businesses about Bitcoin</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Present opportunity of Bitcoin in Cornell’s investment portfolio</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Brainstorm impact of Bitcoin on Cornell’s campus</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Screen Bitcoin Documentaries</a:t>
            </a:r>
            <a:endParaRPr sz="1700">
              <a:solidFill>
                <a:schemeClr val="lt1"/>
              </a:solidFill>
              <a:latin typeface="Proxima Nova"/>
              <a:ea typeface="Proxima Nova"/>
              <a:cs typeface="Proxima Nova"/>
              <a:sym typeface="Proxima Nova"/>
            </a:endParaRPr>
          </a:p>
          <a:p>
            <a:pPr indent="0" lvl="0" marL="457200" rtl="0" algn="l">
              <a:spcBef>
                <a:spcPts val="0"/>
              </a:spcBef>
              <a:spcAft>
                <a:spcPts val="0"/>
              </a:spcAft>
              <a:buNone/>
            </a:pPr>
            <a:r>
              <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Running Bitcoin challenge</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Update alumni database</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Update Club's website</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Make flyers &amp; graphics for each event</a:t>
            </a:r>
            <a:endParaRPr sz="1700">
              <a:solidFill>
                <a:schemeClr val="lt1"/>
              </a:solidFill>
              <a:latin typeface="Proxima Nova"/>
              <a:ea typeface="Proxima Nova"/>
              <a:cs typeface="Proxima Nova"/>
              <a:sym typeface="Proxima Nova"/>
            </a:endParaRPr>
          </a:p>
          <a:p>
            <a:pPr indent="-336550" lvl="0" marL="457200" rtl="0" algn="l">
              <a:spcBef>
                <a:spcPts val="0"/>
              </a:spcBef>
              <a:spcAft>
                <a:spcPts val="0"/>
              </a:spcAft>
              <a:buClr>
                <a:schemeClr val="lt1"/>
              </a:buClr>
              <a:buSzPts val="1700"/>
              <a:buFont typeface="Proxima Nova"/>
              <a:buChar char="●"/>
            </a:pPr>
            <a:r>
              <a:rPr lang="en" sz="1700">
                <a:solidFill>
                  <a:schemeClr val="lt1"/>
                </a:solidFill>
                <a:latin typeface="Proxima Nova"/>
                <a:ea typeface="Proxima Nova"/>
                <a:cs typeface="Proxima Nova"/>
                <a:sym typeface="Proxima Nova"/>
              </a:rPr>
              <a:t>Co-host events w/ other clubs </a:t>
            </a:r>
            <a:endParaRPr sz="1700">
              <a:solidFill>
                <a:schemeClr val="lt1"/>
              </a:solidFill>
              <a:latin typeface="Proxima Nova"/>
              <a:ea typeface="Proxima Nova"/>
              <a:cs typeface="Proxima Nova"/>
              <a:sym typeface="Proxima Nova"/>
            </a:endParaRPr>
          </a:p>
        </p:txBody>
      </p:sp>
      <p:pic>
        <p:nvPicPr>
          <p:cNvPr id="387" name="Google Shape;387;p59"/>
          <p:cNvPicPr preferRelativeResize="0"/>
          <p:nvPr/>
        </p:nvPicPr>
        <p:blipFill>
          <a:blip r:embed="rId3">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60"/>
          <p:cNvSpPr txBox="1"/>
          <p:nvPr>
            <p:ph type="title"/>
          </p:nvPr>
        </p:nvSpPr>
        <p:spPr>
          <a:xfrm>
            <a:off x="3981900" y="1987338"/>
            <a:ext cx="1180200" cy="14097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5100"/>
              <a:t>🤝</a:t>
            </a:r>
            <a:endParaRPr sz="5100"/>
          </a:p>
        </p:txBody>
      </p:sp>
      <p:pic>
        <p:nvPicPr>
          <p:cNvPr id="393" name="Google Shape;393;p60"/>
          <p:cNvPicPr preferRelativeResize="0"/>
          <p:nvPr/>
        </p:nvPicPr>
        <p:blipFill>
          <a:blip r:embed="rId3">
            <a:alphaModFix/>
          </a:blip>
          <a:stretch>
            <a:fillRect/>
          </a:stretch>
        </p:blipFill>
        <p:spPr>
          <a:xfrm>
            <a:off x="691500" y="1987362"/>
            <a:ext cx="1485000" cy="1409600"/>
          </a:xfrm>
          <a:prstGeom prst="rect">
            <a:avLst/>
          </a:prstGeom>
          <a:noFill/>
          <a:ln>
            <a:noFill/>
          </a:ln>
        </p:spPr>
      </p:pic>
      <p:pic>
        <p:nvPicPr>
          <p:cNvPr id="394" name="Google Shape;394;p60"/>
          <p:cNvPicPr preferRelativeResize="0"/>
          <p:nvPr/>
        </p:nvPicPr>
        <p:blipFill>
          <a:blip r:embed="rId4">
            <a:alphaModFix/>
          </a:blip>
          <a:stretch>
            <a:fillRect/>
          </a:stretch>
        </p:blipFill>
        <p:spPr>
          <a:xfrm>
            <a:off x="5322750" y="2064588"/>
            <a:ext cx="3241949" cy="1255224"/>
          </a:xfrm>
          <a:prstGeom prst="rect">
            <a:avLst/>
          </a:prstGeom>
          <a:noFill/>
          <a:ln>
            <a:noFill/>
          </a:ln>
        </p:spPr>
      </p:pic>
      <p:sp>
        <p:nvSpPr>
          <p:cNvPr id="395" name="Google Shape;395;p60"/>
          <p:cNvSpPr txBox="1"/>
          <p:nvPr/>
        </p:nvSpPr>
        <p:spPr>
          <a:xfrm>
            <a:off x="2176500" y="1987350"/>
            <a:ext cx="1805400" cy="1519200"/>
          </a:xfrm>
          <a:prstGeom prst="rect">
            <a:avLst/>
          </a:prstGeom>
          <a:noFill/>
          <a:ln>
            <a:noFill/>
          </a:ln>
        </p:spPr>
        <p:txBody>
          <a:bodyPr anchorCtr="0" anchor="t" bIns="91425" lIns="91425" spcFirstLastPara="1" rIns="91425" wrap="square" tIns="91425">
            <a:spAutoFit/>
          </a:bodyPr>
          <a:lstStyle/>
          <a:p>
            <a:pPr indent="0" lvl="0" marL="0" rtl="0" algn="l">
              <a:lnSpc>
                <a:spcPct val="85000"/>
              </a:lnSpc>
              <a:spcBef>
                <a:spcPts val="0"/>
              </a:spcBef>
              <a:spcAft>
                <a:spcPts val="0"/>
              </a:spcAft>
              <a:buNone/>
            </a:pPr>
            <a:r>
              <a:rPr b="1" lang="en" sz="3400">
                <a:solidFill>
                  <a:schemeClr val="lt1"/>
                </a:solidFill>
                <a:latin typeface="Proxima Nova"/>
                <a:ea typeface="Proxima Nova"/>
                <a:cs typeface="Proxima Nova"/>
                <a:sym typeface="Proxima Nova"/>
              </a:rPr>
              <a:t>Cornell</a:t>
            </a:r>
            <a:endParaRPr b="1" sz="3400">
              <a:solidFill>
                <a:schemeClr val="lt1"/>
              </a:solidFill>
              <a:latin typeface="Proxima Nova"/>
              <a:ea typeface="Proxima Nova"/>
              <a:cs typeface="Proxima Nova"/>
              <a:sym typeface="Proxima Nova"/>
            </a:endParaRPr>
          </a:p>
          <a:p>
            <a:pPr indent="0" lvl="0" marL="0" rtl="0" algn="l">
              <a:lnSpc>
                <a:spcPct val="85000"/>
              </a:lnSpc>
              <a:spcBef>
                <a:spcPts val="0"/>
              </a:spcBef>
              <a:spcAft>
                <a:spcPts val="0"/>
              </a:spcAft>
              <a:buNone/>
            </a:pPr>
            <a:r>
              <a:rPr b="1" lang="en" sz="3400">
                <a:solidFill>
                  <a:schemeClr val="lt1"/>
                </a:solidFill>
                <a:latin typeface="Proxima Nova"/>
                <a:ea typeface="Proxima Nova"/>
                <a:cs typeface="Proxima Nova"/>
                <a:sym typeface="Proxima Nova"/>
              </a:rPr>
              <a:t>Bitcoin </a:t>
            </a:r>
            <a:endParaRPr b="1" sz="3400">
              <a:solidFill>
                <a:schemeClr val="lt1"/>
              </a:solidFill>
              <a:latin typeface="Proxima Nova"/>
              <a:ea typeface="Proxima Nova"/>
              <a:cs typeface="Proxima Nova"/>
              <a:sym typeface="Proxima Nova"/>
            </a:endParaRPr>
          </a:p>
          <a:p>
            <a:pPr indent="0" lvl="0" marL="0" rtl="0" algn="l">
              <a:lnSpc>
                <a:spcPct val="85000"/>
              </a:lnSpc>
              <a:spcBef>
                <a:spcPts val="0"/>
              </a:spcBef>
              <a:spcAft>
                <a:spcPts val="0"/>
              </a:spcAft>
              <a:buNone/>
            </a:pPr>
            <a:r>
              <a:rPr b="1" lang="en" sz="3400">
                <a:solidFill>
                  <a:schemeClr val="lt1"/>
                </a:solidFill>
                <a:latin typeface="Proxima Nova"/>
                <a:ea typeface="Proxima Nova"/>
                <a:cs typeface="Proxima Nova"/>
                <a:sym typeface="Proxima Nova"/>
              </a:rPr>
              <a:t>Club</a:t>
            </a:r>
            <a:endParaRPr b="1" sz="3400">
              <a:solidFill>
                <a:schemeClr val="lt1"/>
              </a:solidFill>
              <a:latin typeface="Proxima Nova"/>
              <a:ea typeface="Proxima Nova"/>
              <a:cs typeface="Proxima Nova"/>
              <a:sym typeface="Proxima Nov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61"/>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If nothing else, know…</a:t>
            </a:r>
            <a:endParaRPr/>
          </a:p>
        </p:txBody>
      </p:sp>
      <p:pic>
        <p:nvPicPr>
          <p:cNvPr id="401" name="Google Shape;401;p61"/>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02" name="Google Shape;402;p61"/>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62"/>
          <p:cNvSpPr txBox="1"/>
          <p:nvPr>
            <p:ph type="title"/>
          </p:nvPr>
        </p:nvSpPr>
        <p:spPr>
          <a:xfrm>
            <a:off x="460950" y="2065350"/>
            <a:ext cx="8222100" cy="1425300"/>
          </a:xfrm>
          <a:prstGeom prst="rect">
            <a:avLst/>
          </a:prstGeom>
        </p:spPr>
        <p:txBody>
          <a:bodyPr anchorCtr="0" anchor="ctr" bIns="91425" lIns="91425" spcFirstLastPara="1" rIns="91425" wrap="square" tIns="91425">
            <a:normAutofit fontScale="90000"/>
          </a:bodyPr>
          <a:lstStyle/>
          <a:p>
            <a:pPr indent="-468630" lvl="0" marL="457200" rtl="0" algn="l">
              <a:spcBef>
                <a:spcPts val="0"/>
              </a:spcBef>
              <a:spcAft>
                <a:spcPts val="0"/>
              </a:spcAft>
              <a:buSzPct val="100000"/>
              <a:buAutoNum type="arabicPeriod"/>
            </a:pPr>
            <a:r>
              <a:rPr lang="en"/>
              <a:t>bitcoin is a tool in your toolbox. </a:t>
            </a:r>
            <a:endParaRPr/>
          </a:p>
          <a:p>
            <a:pPr indent="-322898" lvl="1" marL="914400" rtl="0" algn="l">
              <a:spcBef>
                <a:spcPts val="0"/>
              </a:spcBef>
              <a:spcAft>
                <a:spcPts val="0"/>
              </a:spcAft>
              <a:buSzPct val="100000"/>
              <a:buChar char="○"/>
            </a:pPr>
            <a:r>
              <a:rPr lang="en" sz="1650"/>
              <a:t>to protect against monetary debasement and uncertainty</a:t>
            </a:r>
            <a:endParaRPr sz="1650"/>
          </a:p>
          <a:p>
            <a:pPr indent="-322898" lvl="1" marL="914400" rtl="0" algn="l">
              <a:spcBef>
                <a:spcPts val="0"/>
              </a:spcBef>
              <a:spcAft>
                <a:spcPts val="0"/>
              </a:spcAft>
              <a:buSzPct val="100000"/>
              <a:buChar char="○"/>
            </a:pPr>
            <a:r>
              <a:rPr lang="en" sz="1650"/>
              <a:t>It’s not a “hedge” &amp; It’s not a solution in search of a problem</a:t>
            </a:r>
            <a:endParaRPr sz="1650"/>
          </a:p>
          <a:p>
            <a:pPr indent="-322898" lvl="1" marL="914400" rtl="0" algn="l">
              <a:spcBef>
                <a:spcPts val="0"/>
              </a:spcBef>
              <a:spcAft>
                <a:spcPts val="0"/>
              </a:spcAft>
              <a:buSzPct val="100000"/>
              <a:buChar char="○"/>
            </a:pPr>
            <a:r>
              <a:rPr lang="en" sz="1650"/>
              <a:t>It’s a reset button</a:t>
            </a:r>
            <a:endParaRPr sz="1650"/>
          </a:p>
          <a:p>
            <a:pPr indent="0" lvl="0" marL="0" rtl="0" algn="l">
              <a:spcBef>
                <a:spcPts val="0"/>
              </a:spcBef>
              <a:spcAft>
                <a:spcPts val="0"/>
              </a:spcAft>
              <a:buNone/>
            </a:pPr>
            <a:r>
              <a:t/>
            </a:r>
            <a:endParaRPr i="1" sz="1650"/>
          </a:p>
        </p:txBody>
      </p:sp>
      <p:pic>
        <p:nvPicPr>
          <p:cNvPr id="408" name="Google Shape;408;p62"/>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09" name="Google Shape;409;p62"/>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63"/>
          <p:cNvSpPr txBox="1"/>
          <p:nvPr>
            <p:ph type="title"/>
          </p:nvPr>
        </p:nvSpPr>
        <p:spPr>
          <a:xfrm>
            <a:off x="460950" y="2065350"/>
            <a:ext cx="8222100" cy="10128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n"/>
              <a:t>2. Take your bitcoin off exchanges. </a:t>
            </a:r>
            <a:endParaRPr/>
          </a:p>
        </p:txBody>
      </p:sp>
      <p:pic>
        <p:nvPicPr>
          <p:cNvPr id="415" name="Google Shape;415;p63"/>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16" name="Google Shape;416;p63"/>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64"/>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3. Our door is always open. </a:t>
            </a:r>
            <a:endParaRPr/>
          </a:p>
        </p:txBody>
      </p:sp>
      <p:pic>
        <p:nvPicPr>
          <p:cNvPr id="422" name="Google Shape;422;p64"/>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23" name="Google Shape;423;p64"/>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65"/>
          <p:cNvSpPr txBox="1"/>
          <p:nvPr/>
        </p:nvSpPr>
        <p:spPr>
          <a:xfrm>
            <a:off x="2386811" y="1984899"/>
            <a:ext cx="14529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Jennifer Sun ‘25</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Vice President</a:t>
            </a:r>
            <a:endParaRPr sz="1200">
              <a:solidFill>
                <a:schemeClr val="lt1"/>
              </a:solidFill>
              <a:latin typeface="Proxima Nova"/>
              <a:ea typeface="Proxima Nova"/>
              <a:cs typeface="Proxima Nova"/>
              <a:sym typeface="Proxima Nova"/>
            </a:endParaRPr>
          </a:p>
        </p:txBody>
      </p:sp>
      <p:sp>
        <p:nvSpPr>
          <p:cNvPr id="429" name="Google Shape;429;p65"/>
          <p:cNvSpPr txBox="1"/>
          <p:nvPr/>
        </p:nvSpPr>
        <p:spPr>
          <a:xfrm>
            <a:off x="2243000" y="4109727"/>
            <a:ext cx="16407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Rafaela Baldeon ‘27</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VP of Engagement</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t/>
            </a:r>
            <a:endParaRPr sz="1200">
              <a:solidFill>
                <a:schemeClr val="lt1"/>
              </a:solidFill>
              <a:latin typeface="Proxima Nova"/>
              <a:ea typeface="Proxima Nova"/>
              <a:cs typeface="Proxima Nova"/>
              <a:sym typeface="Proxima Nova"/>
            </a:endParaRPr>
          </a:p>
        </p:txBody>
      </p:sp>
      <p:sp>
        <p:nvSpPr>
          <p:cNvPr id="430" name="Google Shape;430;p65"/>
          <p:cNvSpPr txBox="1"/>
          <p:nvPr/>
        </p:nvSpPr>
        <p:spPr>
          <a:xfrm>
            <a:off x="3883708" y="1965499"/>
            <a:ext cx="17277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Victoria Varkonyi </a:t>
            </a:r>
            <a:r>
              <a:rPr lang="en" sz="1200">
                <a:solidFill>
                  <a:schemeClr val="lt1"/>
                </a:solidFill>
                <a:latin typeface="Proxima Nova"/>
                <a:ea typeface="Proxima Nova"/>
                <a:cs typeface="Proxima Nova"/>
                <a:sym typeface="Proxima Nova"/>
              </a:rPr>
              <a:t>'25</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Treasurer</a:t>
            </a:r>
            <a:endParaRPr sz="1200">
              <a:solidFill>
                <a:schemeClr val="lt1"/>
              </a:solidFill>
              <a:latin typeface="Proxima Nova"/>
              <a:ea typeface="Proxima Nova"/>
              <a:cs typeface="Proxima Nova"/>
              <a:sym typeface="Proxima Nova"/>
            </a:endParaRPr>
          </a:p>
        </p:txBody>
      </p:sp>
      <p:sp>
        <p:nvSpPr>
          <p:cNvPr id="431" name="Google Shape;431;p65"/>
          <p:cNvSpPr txBox="1"/>
          <p:nvPr/>
        </p:nvSpPr>
        <p:spPr>
          <a:xfrm>
            <a:off x="4063822" y="4109727"/>
            <a:ext cx="14529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Maggie Gao ‘27</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UG Co-Lead</a:t>
            </a:r>
            <a:endParaRPr sz="1200">
              <a:solidFill>
                <a:schemeClr val="lt1"/>
              </a:solidFill>
              <a:latin typeface="Proxima Nova"/>
              <a:ea typeface="Proxima Nova"/>
              <a:cs typeface="Proxima Nova"/>
              <a:sym typeface="Proxima Nova"/>
            </a:endParaRPr>
          </a:p>
        </p:txBody>
      </p:sp>
      <p:sp>
        <p:nvSpPr>
          <p:cNvPr id="432" name="Google Shape;432;p65"/>
          <p:cNvSpPr txBox="1"/>
          <p:nvPr/>
        </p:nvSpPr>
        <p:spPr>
          <a:xfrm>
            <a:off x="5473457" y="1984900"/>
            <a:ext cx="17277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Matthew Correa ‘26</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Secretary</a:t>
            </a:r>
            <a:endParaRPr sz="1200">
              <a:solidFill>
                <a:schemeClr val="lt1"/>
              </a:solidFill>
              <a:latin typeface="Proxima Nova"/>
              <a:ea typeface="Proxima Nova"/>
              <a:cs typeface="Proxima Nova"/>
              <a:sym typeface="Proxima Nova"/>
            </a:endParaRPr>
          </a:p>
        </p:txBody>
      </p:sp>
      <p:sp>
        <p:nvSpPr>
          <p:cNvPr id="433" name="Google Shape;433;p65"/>
          <p:cNvSpPr txBox="1"/>
          <p:nvPr/>
        </p:nvSpPr>
        <p:spPr>
          <a:xfrm>
            <a:off x="5664446" y="4129127"/>
            <a:ext cx="14529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Bruno Chong ‘27</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Academics Lead </a:t>
            </a:r>
            <a:endParaRPr sz="1200">
              <a:solidFill>
                <a:schemeClr val="lt1"/>
              </a:solidFill>
              <a:latin typeface="Proxima Nova"/>
              <a:ea typeface="Proxima Nova"/>
              <a:cs typeface="Proxima Nova"/>
              <a:sym typeface="Proxima Nova"/>
            </a:endParaRPr>
          </a:p>
        </p:txBody>
      </p:sp>
      <p:sp>
        <p:nvSpPr>
          <p:cNvPr id="434" name="Google Shape;434;p65"/>
          <p:cNvSpPr txBox="1"/>
          <p:nvPr/>
        </p:nvSpPr>
        <p:spPr>
          <a:xfrm>
            <a:off x="7287168" y="1954676"/>
            <a:ext cx="14529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Brian Liu ‘26</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UG Co-Lead</a:t>
            </a:r>
            <a:endParaRPr sz="1200">
              <a:solidFill>
                <a:schemeClr val="lt1"/>
              </a:solidFill>
              <a:latin typeface="Proxima Nova"/>
              <a:ea typeface="Proxima Nova"/>
              <a:cs typeface="Proxima Nova"/>
              <a:sym typeface="Proxima Nova"/>
            </a:endParaRPr>
          </a:p>
        </p:txBody>
      </p:sp>
      <p:sp>
        <p:nvSpPr>
          <p:cNvPr id="435" name="Google Shape;435;p65"/>
          <p:cNvSpPr txBox="1"/>
          <p:nvPr/>
        </p:nvSpPr>
        <p:spPr>
          <a:xfrm>
            <a:off x="7330454" y="4129120"/>
            <a:ext cx="1452900" cy="54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Emily Gibbons ‘27</a:t>
            </a:r>
            <a:endParaRPr sz="12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200">
                <a:solidFill>
                  <a:schemeClr val="lt1"/>
                </a:solidFill>
                <a:latin typeface="Proxima Nova"/>
                <a:ea typeface="Proxima Nova"/>
                <a:cs typeface="Proxima Nova"/>
                <a:sym typeface="Proxima Nova"/>
              </a:rPr>
              <a:t>Athletics Lead</a:t>
            </a:r>
            <a:endParaRPr sz="1200">
              <a:solidFill>
                <a:schemeClr val="lt1"/>
              </a:solidFill>
              <a:latin typeface="Proxima Nova"/>
              <a:ea typeface="Proxima Nova"/>
              <a:cs typeface="Proxima Nova"/>
              <a:sym typeface="Proxima Nova"/>
            </a:endParaRPr>
          </a:p>
        </p:txBody>
      </p:sp>
      <p:pic>
        <p:nvPicPr>
          <p:cNvPr id="436" name="Google Shape;436;p65"/>
          <p:cNvPicPr preferRelativeResize="0"/>
          <p:nvPr/>
        </p:nvPicPr>
        <p:blipFill>
          <a:blip r:embed="rId3">
            <a:alphaModFix/>
          </a:blip>
          <a:stretch>
            <a:fillRect/>
          </a:stretch>
        </p:blipFill>
        <p:spPr>
          <a:xfrm>
            <a:off x="2430061" y="523600"/>
            <a:ext cx="1366370" cy="1391226"/>
          </a:xfrm>
          <a:prstGeom prst="rect">
            <a:avLst/>
          </a:prstGeom>
          <a:noFill/>
          <a:ln>
            <a:noFill/>
          </a:ln>
        </p:spPr>
      </p:pic>
      <p:pic>
        <p:nvPicPr>
          <p:cNvPr id="437" name="Google Shape;437;p65"/>
          <p:cNvPicPr preferRelativeResize="0"/>
          <p:nvPr/>
        </p:nvPicPr>
        <p:blipFill>
          <a:blip r:embed="rId4">
            <a:alphaModFix/>
          </a:blip>
          <a:stretch>
            <a:fillRect/>
          </a:stretch>
        </p:blipFill>
        <p:spPr>
          <a:xfrm>
            <a:off x="4107073" y="523590"/>
            <a:ext cx="1366371" cy="1391225"/>
          </a:xfrm>
          <a:prstGeom prst="rect">
            <a:avLst/>
          </a:prstGeom>
          <a:noFill/>
          <a:ln>
            <a:noFill/>
          </a:ln>
        </p:spPr>
      </p:pic>
      <p:pic>
        <p:nvPicPr>
          <p:cNvPr id="438" name="Google Shape;438;p65"/>
          <p:cNvPicPr preferRelativeResize="0"/>
          <p:nvPr/>
        </p:nvPicPr>
        <p:blipFill>
          <a:blip r:embed="rId5">
            <a:alphaModFix/>
          </a:blip>
          <a:stretch>
            <a:fillRect/>
          </a:stretch>
        </p:blipFill>
        <p:spPr>
          <a:xfrm>
            <a:off x="5685588" y="509358"/>
            <a:ext cx="1410600" cy="1436254"/>
          </a:xfrm>
          <a:prstGeom prst="rect">
            <a:avLst/>
          </a:prstGeom>
          <a:noFill/>
          <a:ln>
            <a:noFill/>
          </a:ln>
        </p:spPr>
      </p:pic>
      <p:pic>
        <p:nvPicPr>
          <p:cNvPr id="439" name="Google Shape;439;p65"/>
          <p:cNvPicPr preferRelativeResize="0"/>
          <p:nvPr/>
        </p:nvPicPr>
        <p:blipFill>
          <a:blip r:embed="rId6">
            <a:alphaModFix/>
          </a:blip>
          <a:stretch>
            <a:fillRect/>
          </a:stretch>
        </p:blipFill>
        <p:spPr>
          <a:xfrm>
            <a:off x="2430061" y="2625907"/>
            <a:ext cx="1366370" cy="1391226"/>
          </a:xfrm>
          <a:prstGeom prst="rect">
            <a:avLst/>
          </a:prstGeom>
          <a:noFill/>
          <a:ln>
            <a:noFill/>
          </a:ln>
        </p:spPr>
      </p:pic>
      <p:pic>
        <p:nvPicPr>
          <p:cNvPr id="440" name="Google Shape;440;p65"/>
          <p:cNvPicPr preferRelativeResize="0"/>
          <p:nvPr/>
        </p:nvPicPr>
        <p:blipFill>
          <a:blip r:embed="rId7">
            <a:alphaModFix/>
          </a:blip>
          <a:stretch>
            <a:fillRect/>
          </a:stretch>
        </p:blipFill>
        <p:spPr>
          <a:xfrm>
            <a:off x="4107085" y="2625905"/>
            <a:ext cx="1366370" cy="1391226"/>
          </a:xfrm>
          <a:prstGeom prst="rect">
            <a:avLst/>
          </a:prstGeom>
          <a:noFill/>
          <a:ln>
            <a:noFill/>
          </a:ln>
        </p:spPr>
      </p:pic>
      <p:pic>
        <p:nvPicPr>
          <p:cNvPr id="441" name="Google Shape;441;p65"/>
          <p:cNvPicPr preferRelativeResize="0"/>
          <p:nvPr/>
        </p:nvPicPr>
        <p:blipFill>
          <a:blip r:embed="rId8">
            <a:alphaModFix/>
          </a:blip>
          <a:stretch>
            <a:fillRect/>
          </a:stretch>
        </p:blipFill>
        <p:spPr>
          <a:xfrm>
            <a:off x="7308350" y="501087"/>
            <a:ext cx="1410600" cy="1436254"/>
          </a:xfrm>
          <a:prstGeom prst="rect">
            <a:avLst/>
          </a:prstGeom>
          <a:noFill/>
          <a:ln>
            <a:noFill/>
          </a:ln>
        </p:spPr>
      </p:pic>
      <p:pic>
        <p:nvPicPr>
          <p:cNvPr id="442" name="Google Shape;442;p65"/>
          <p:cNvPicPr preferRelativeResize="0"/>
          <p:nvPr/>
        </p:nvPicPr>
        <p:blipFill>
          <a:blip r:embed="rId9">
            <a:alphaModFix/>
          </a:blip>
          <a:stretch>
            <a:fillRect/>
          </a:stretch>
        </p:blipFill>
        <p:spPr>
          <a:xfrm>
            <a:off x="7330443" y="2595152"/>
            <a:ext cx="1366370" cy="1391226"/>
          </a:xfrm>
          <a:prstGeom prst="rect">
            <a:avLst/>
          </a:prstGeom>
          <a:noFill/>
          <a:ln>
            <a:noFill/>
          </a:ln>
        </p:spPr>
      </p:pic>
      <p:pic>
        <p:nvPicPr>
          <p:cNvPr id="443" name="Google Shape;443;p65"/>
          <p:cNvPicPr preferRelativeResize="0"/>
          <p:nvPr/>
        </p:nvPicPr>
        <p:blipFill>
          <a:blip r:embed="rId10">
            <a:alphaModFix/>
          </a:blip>
          <a:stretch>
            <a:fillRect/>
          </a:stretch>
        </p:blipFill>
        <p:spPr>
          <a:xfrm>
            <a:off x="5675304" y="2572611"/>
            <a:ext cx="1410608" cy="1436290"/>
          </a:xfrm>
          <a:prstGeom prst="rect">
            <a:avLst/>
          </a:prstGeom>
          <a:noFill/>
          <a:ln>
            <a:noFill/>
          </a:ln>
        </p:spPr>
      </p:pic>
      <p:pic>
        <p:nvPicPr>
          <p:cNvPr id="444" name="Google Shape;444;p65"/>
          <p:cNvPicPr preferRelativeResize="0"/>
          <p:nvPr/>
        </p:nvPicPr>
        <p:blipFill>
          <a:blip r:embed="rId11">
            <a:alphaModFix/>
          </a:blip>
          <a:stretch>
            <a:fillRect/>
          </a:stretch>
        </p:blipFill>
        <p:spPr>
          <a:xfrm>
            <a:off x="839586" y="156850"/>
            <a:ext cx="1193075" cy="1193047"/>
          </a:xfrm>
          <a:prstGeom prst="rect">
            <a:avLst/>
          </a:prstGeom>
          <a:noFill/>
          <a:ln>
            <a:noFill/>
          </a:ln>
        </p:spPr>
      </p:pic>
      <p:pic>
        <p:nvPicPr>
          <p:cNvPr id="445" name="Google Shape;445;p65"/>
          <p:cNvPicPr preferRelativeResize="0"/>
          <p:nvPr/>
        </p:nvPicPr>
        <p:blipFill>
          <a:blip r:embed="rId12">
            <a:alphaModFix/>
          </a:blip>
          <a:stretch>
            <a:fillRect/>
          </a:stretch>
        </p:blipFill>
        <p:spPr>
          <a:xfrm>
            <a:off x="870488" y="1887063"/>
            <a:ext cx="1131300" cy="1131300"/>
          </a:xfrm>
          <a:prstGeom prst="rect">
            <a:avLst/>
          </a:prstGeom>
          <a:noFill/>
          <a:ln>
            <a:noFill/>
          </a:ln>
        </p:spPr>
      </p:pic>
      <p:pic>
        <p:nvPicPr>
          <p:cNvPr id="446" name="Google Shape;446;p65"/>
          <p:cNvPicPr preferRelativeResize="0"/>
          <p:nvPr/>
        </p:nvPicPr>
        <p:blipFill>
          <a:blip r:embed="rId13">
            <a:alphaModFix/>
          </a:blip>
          <a:stretch>
            <a:fillRect/>
          </a:stretch>
        </p:blipFill>
        <p:spPr>
          <a:xfrm>
            <a:off x="870487" y="3520850"/>
            <a:ext cx="1131300" cy="1131300"/>
          </a:xfrm>
          <a:prstGeom prst="rect">
            <a:avLst/>
          </a:prstGeom>
          <a:noFill/>
          <a:ln>
            <a:noFill/>
          </a:ln>
        </p:spPr>
      </p:pic>
      <p:sp>
        <p:nvSpPr>
          <p:cNvPr id="447" name="Google Shape;447;p65"/>
          <p:cNvSpPr txBox="1"/>
          <p:nvPr/>
        </p:nvSpPr>
        <p:spPr>
          <a:xfrm>
            <a:off x="839575" y="1405600"/>
            <a:ext cx="11931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Dr. Sarah Kreps</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Advisor</a:t>
            </a:r>
            <a:endParaRPr sz="1000">
              <a:solidFill>
                <a:schemeClr val="lt1"/>
              </a:solidFill>
              <a:latin typeface="Proxima Nova"/>
              <a:ea typeface="Proxima Nova"/>
              <a:cs typeface="Proxima Nova"/>
              <a:sym typeface="Proxima Nova"/>
            </a:endParaRPr>
          </a:p>
        </p:txBody>
      </p:sp>
      <p:sp>
        <p:nvSpPr>
          <p:cNvPr id="448" name="Google Shape;448;p65"/>
          <p:cNvSpPr txBox="1"/>
          <p:nvPr/>
        </p:nvSpPr>
        <p:spPr>
          <a:xfrm>
            <a:off x="752888" y="3028250"/>
            <a:ext cx="13665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Ella Hough ‘25</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Co-President</a:t>
            </a:r>
            <a:endParaRPr sz="1000">
              <a:solidFill>
                <a:schemeClr val="lt1"/>
              </a:solidFill>
              <a:latin typeface="Proxima Nova"/>
              <a:ea typeface="Proxima Nova"/>
              <a:cs typeface="Proxima Nova"/>
              <a:sym typeface="Proxima Nova"/>
            </a:endParaRPr>
          </a:p>
        </p:txBody>
      </p:sp>
      <p:sp>
        <p:nvSpPr>
          <p:cNvPr id="449" name="Google Shape;449;p65"/>
          <p:cNvSpPr txBox="1"/>
          <p:nvPr/>
        </p:nvSpPr>
        <p:spPr>
          <a:xfrm>
            <a:off x="938438" y="4650900"/>
            <a:ext cx="995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Sal Pineda ‘25</a:t>
            </a:r>
            <a:endParaRPr sz="1000">
              <a:solidFill>
                <a:schemeClr val="lt1"/>
              </a:solidFill>
              <a:latin typeface="Proxima Nova"/>
              <a:ea typeface="Proxima Nova"/>
              <a:cs typeface="Proxima Nova"/>
              <a:sym typeface="Proxima Nova"/>
            </a:endParaRPr>
          </a:p>
          <a:p>
            <a:pPr indent="0" lvl="0" marL="0" rtl="0" algn="ctr">
              <a:spcBef>
                <a:spcPts val="0"/>
              </a:spcBef>
              <a:spcAft>
                <a:spcPts val="0"/>
              </a:spcAft>
              <a:buNone/>
            </a:pPr>
            <a:r>
              <a:rPr lang="en" sz="1000">
                <a:solidFill>
                  <a:schemeClr val="lt1"/>
                </a:solidFill>
                <a:latin typeface="Proxima Nova"/>
                <a:ea typeface="Proxima Nova"/>
                <a:cs typeface="Proxima Nova"/>
                <a:sym typeface="Proxima Nova"/>
              </a:rPr>
              <a:t>Co-President</a:t>
            </a:r>
            <a:endParaRPr sz="1000">
              <a:solidFill>
                <a:schemeClr val="lt1"/>
              </a:solidFill>
              <a:latin typeface="Proxima Nova"/>
              <a:ea typeface="Proxima Nova"/>
              <a:cs typeface="Proxima Nova"/>
              <a:sym typeface="Proxima Nova"/>
            </a:endParaRPr>
          </a:p>
        </p:txBody>
      </p:sp>
      <p:pic>
        <p:nvPicPr>
          <p:cNvPr id="450" name="Google Shape;450;p65"/>
          <p:cNvPicPr preferRelativeResize="0"/>
          <p:nvPr/>
        </p:nvPicPr>
        <p:blipFill>
          <a:blip r:embed="rId14">
            <a:alphaModFix/>
          </a:blip>
          <a:stretch>
            <a:fillRect/>
          </a:stretch>
        </p:blipFill>
        <p:spPr>
          <a:xfrm>
            <a:off x="184150" y="4695625"/>
            <a:ext cx="374483" cy="355476"/>
          </a:xfrm>
          <a:prstGeom prst="rect">
            <a:avLst/>
          </a:prstGeom>
          <a:noFill/>
          <a:ln>
            <a:noFill/>
          </a:ln>
        </p:spPr>
      </p:pic>
      <p:pic>
        <p:nvPicPr>
          <p:cNvPr id="451" name="Google Shape;451;p65"/>
          <p:cNvPicPr preferRelativeResize="0"/>
          <p:nvPr/>
        </p:nvPicPr>
        <p:blipFill>
          <a:blip r:embed="rId1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pic>
        <p:nvPicPr>
          <p:cNvPr id="456" name="Google Shape;456;p66"/>
          <p:cNvPicPr preferRelativeResize="0"/>
          <p:nvPr/>
        </p:nvPicPr>
        <p:blipFill>
          <a:blip r:embed="rId3">
            <a:alphaModFix/>
          </a:blip>
          <a:stretch>
            <a:fillRect/>
          </a:stretch>
        </p:blipFill>
        <p:spPr>
          <a:xfrm>
            <a:off x="288550" y="1054750"/>
            <a:ext cx="4889900" cy="3034000"/>
          </a:xfrm>
          <a:prstGeom prst="rect">
            <a:avLst/>
          </a:prstGeom>
          <a:noFill/>
          <a:ln>
            <a:noFill/>
          </a:ln>
        </p:spPr>
      </p:pic>
      <p:pic>
        <p:nvPicPr>
          <p:cNvPr id="457" name="Google Shape;457;p66"/>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458" name="Google Shape;458;p66"/>
          <p:cNvPicPr preferRelativeResize="0"/>
          <p:nvPr/>
        </p:nvPicPr>
        <p:blipFill>
          <a:blip r:embed="rId5">
            <a:alphaModFix/>
          </a:blip>
          <a:stretch>
            <a:fillRect/>
          </a:stretch>
        </p:blipFill>
        <p:spPr>
          <a:xfrm>
            <a:off x="5512675" y="1161175"/>
            <a:ext cx="3438275" cy="2821150"/>
          </a:xfrm>
          <a:prstGeom prst="rect">
            <a:avLst/>
          </a:prstGeom>
          <a:noFill/>
          <a:ln>
            <a:noFill/>
          </a:ln>
        </p:spPr>
      </p:pic>
      <p:pic>
        <p:nvPicPr>
          <p:cNvPr id="459" name="Google Shape;459;p66"/>
          <p:cNvPicPr preferRelativeResize="0"/>
          <p:nvPr/>
        </p:nvPicPr>
        <p:blipFill>
          <a:blip r:embed="rId6">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pic>
        <p:nvPicPr>
          <p:cNvPr id="464" name="Google Shape;464;p67"/>
          <p:cNvPicPr preferRelativeResize="0"/>
          <p:nvPr/>
        </p:nvPicPr>
        <p:blipFill>
          <a:blip r:embed="rId3">
            <a:alphaModFix/>
          </a:blip>
          <a:stretch>
            <a:fillRect/>
          </a:stretch>
        </p:blipFill>
        <p:spPr>
          <a:xfrm>
            <a:off x="1451025" y="333875"/>
            <a:ext cx="6761775" cy="4305700"/>
          </a:xfrm>
          <a:prstGeom prst="rect">
            <a:avLst/>
          </a:prstGeom>
          <a:noFill/>
          <a:ln>
            <a:noFill/>
          </a:ln>
        </p:spPr>
      </p:pic>
      <p:pic>
        <p:nvPicPr>
          <p:cNvPr id="465" name="Google Shape;465;p67"/>
          <p:cNvPicPr preferRelativeResize="0"/>
          <p:nvPr/>
        </p:nvPicPr>
        <p:blipFill>
          <a:blip r:embed="rId4">
            <a:alphaModFix/>
          </a:blip>
          <a:stretch>
            <a:fillRect/>
          </a:stretch>
        </p:blipFill>
        <p:spPr>
          <a:xfrm>
            <a:off x="184150" y="4695625"/>
            <a:ext cx="374483" cy="355476"/>
          </a:xfrm>
          <a:prstGeom prst="rect">
            <a:avLst/>
          </a:prstGeom>
          <a:noFill/>
          <a:ln>
            <a:noFill/>
          </a:ln>
        </p:spPr>
      </p:pic>
      <p:pic>
        <p:nvPicPr>
          <p:cNvPr id="466" name="Google Shape;466;p67"/>
          <p:cNvPicPr preferRelativeResize="0"/>
          <p:nvPr/>
        </p:nvPicPr>
        <p:blipFill>
          <a:blip r:embed="rId5">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8"/>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en"/>
              <a:t>Point: </a:t>
            </a:r>
            <a:r>
              <a:rPr lang="en"/>
              <a:t>We are so early. </a:t>
            </a:r>
            <a:endParaRPr/>
          </a:p>
        </p:txBody>
      </p:sp>
      <p:pic>
        <p:nvPicPr>
          <p:cNvPr id="472" name="Google Shape;472;p68"/>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73" name="Google Shape;473;p68"/>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9"/>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Important Information &amp; Tasks </a:t>
            </a:r>
            <a:endParaRPr sz="1983"/>
          </a:p>
        </p:txBody>
      </p:sp>
      <p:pic>
        <p:nvPicPr>
          <p:cNvPr id="479" name="Google Shape;479;p69"/>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80" name="Google Shape;480;p69"/>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0"/>
          <p:cNvSpPr/>
          <p:nvPr/>
        </p:nvSpPr>
        <p:spPr>
          <a:xfrm>
            <a:off x="5749400" y="1146450"/>
            <a:ext cx="2912700" cy="2850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Proxima Nova"/>
              <a:ea typeface="Proxima Nova"/>
              <a:cs typeface="Proxima Nova"/>
              <a:sym typeface="Proxima Nova"/>
            </a:endParaRPr>
          </a:p>
        </p:txBody>
      </p:sp>
      <p:pic>
        <p:nvPicPr>
          <p:cNvPr id="486" name="Google Shape;486;p70"/>
          <p:cNvPicPr preferRelativeResize="0"/>
          <p:nvPr/>
        </p:nvPicPr>
        <p:blipFill>
          <a:blip r:embed="rId3">
            <a:alphaModFix/>
          </a:blip>
          <a:stretch>
            <a:fillRect/>
          </a:stretch>
        </p:blipFill>
        <p:spPr>
          <a:xfrm>
            <a:off x="5889263" y="1255263"/>
            <a:ext cx="2632975" cy="2632975"/>
          </a:xfrm>
          <a:prstGeom prst="rect">
            <a:avLst/>
          </a:prstGeom>
          <a:noFill/>
          <a:ln>
            <a:noFill/>
          </a:ln>
        </p:spPr>
      </p:pic>
      <p:sp>
        <p:nvSpPr>
          <p:cNvPr id="487" name="Google Shape;487;p70"/>
          <p:cNvSpPr txBox="1"/>
          <p:nvPr>
            <p:ph idx="4294967295" type="body"/>
          </p:nvPr>
        </p:nvSpPr>
        <p:spPr>
          <a:xfrm>
            <a:off x="620213" y="418813"/>
            <a:ext cx="5067600" cy="43059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SzPts val="1018"/>
              <a:buNone/>
            </a:pPr>
            <a:r>
              <a:rPr b="1" lang="en" sz="1288">
                <a:solidFill>
                  <a:schemeClr val="lt1"/>
                </a:solidFill>
              </a:rPr>
              <a:t>Join: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u="sng">
                <a:solidFill>
                  <a:schemeClr val="lt1"/>
                </a:solidFill>
                <a:hlinkClick r:id="rId4">
                  <a:extLst>
                    <a:ext uri="{A12FA001-AC4F-418D-AE19-62706E023703}">
                      <ahyp:hlinkClr val="tx"/>
                    </a:ext>
                  </a:extLst>
                </a:hlinkClick>
              </a:rPr>
              <a:t>Slack</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u="sng">
                <a:solidFill>
                  <a:schemeClr val="lt1"/>
                </a:solidFill>
                <a:hlinkClick r:id="rId5">
                  <a:extLst>
                    <a:ext uri="{A12FA001-AC4F-418D-AE19-62706E023703}">
                      <ahyp:hlinkClr val="tx"/>
                    </a:ext>
                  </a:extLst>
                </a:hlinkClick>
              </a:rPr>
              <a:t>Gcal</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Twitter (best Bitcoin news source)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Put @CornellBitcoin in your bio </a:t>
            </a:r>
            <a:endParaRPr sz="1288">
              <a:solidFill>
                <a:schemeClr val="lt1"/>
              </a:solidFill>
            </a:endParaRPr>
          </a:p>
          <a:p>
            <a:pPr indent="-310356" lvl="1" marL="914400" rtl="0" algn="l">
              <a:lnSpc>
                <a:spcPct val="95000"/>
              </a:lnSpc>
              <a:spcBef>
                <a:spcPts val="0"/>
              </a:spcBef>
              <a:spcAft>
                <a:spcPts val="0"/>
              </a:spcAft>
              <a:buClr>
                <a:schemeClr val="lt1"/>
              </a:buClr>
              <a:buSzPts val="1288"/>
              <a:buChar char="-"/>
            </a:pPr>
            <a:r>
              <a:rPr lang="en" sz="1288">
                <a:solidFill>
                  <a:schemeClr val="lt1"/>
                </a:solidFill>
              </a:rPr>
              <a:t>Add your handle </a:t>
            </a:r>
            <a:r>
              <a:rPr lang="en" sz="1288" u="sng">
                <a:solidFill>
                  <a:srgbClr val="0E101A"/>
                </a:solidFill>
                <a:highlight>
                  <a:schemeClr val="lt1"/>
                </a:highlight>
                <a:hlinkClick r:id="rId6">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Forms:</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Review the Constitution &amp; sign </a:t>
            </a:r>
            <a:r>
              <a:rPr lang="en" sz="1288" u="sng">
                <a:solidFill>
                  <a:schemeClr val="hlink"/>
                </a:solidFill>
                <a:highlight>
                  <a:schemeClr val="lt1"/>
                </a:highlight>
                <a:hlinkClick r:id="rId7"/>
              </a:rPr>
              <a:t>here</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Fill out interest joining form </a:t>
            </a:r>
            <a:r>
              <a:rPr lang="en" sz="1288" u="sng">
                <a:solidFill>
                  <a:srgbClr val="0E101A"/>
                </a:solidFill>
                <a:highlight>
                  <a:schemeClr val="lt1"/>
                </a:highlight>
                <a:hlinkClick r:id="rId8">
                  <a:extLst>
                    <a:ext uri="{A12FA001-AC4F-418D-AE19-62706E023703}">
                      <ahyp:hlinkClr val="tx"/>
                    </a:ext>
                  </a:extLst>
                </a:hlinkClick>
              </a:rPr>
              <a:t>here</a:t>
            </a:r>
            <a:r>
              <a:rPr lang="en" sz="1288">
                <a:solidFill>
                  <a:schemeClr val="lt1"/>
                </a:solidFill>
              </a:rPr>
              <a:t> (if haven’t already)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Suggest topics </a:t>
            </a:r>
            <a:r>
              <a:rPr lang="en" sz="1288" u="sng">
                <a:solidFill>
                  <a:srgbClr val="0E101A"/>
                </a:solidFill>
                <a:highlight>
                  <a:schemeClr val="lt1"/>
                </a:highlight>
                <a:hlinkClick r:id="rId9">
                  <a:extLst>
                    <a:ext uri="{A12FA001-AC4F-418D-AE19-62706E023703}">
                      <ahyp:hlinkClr val="tx"/>
                    </a:ext>
                  </a:extLst>
                </a:hlinkClick>
              </a:rPr>
              <a:t>here</a:t>
            </a:r>
            <a:r>
              <a:rPr lang="en" sz="1288">
                <a:solidFill>
                  <a:srgbClr val="0E101A"/>
                </a:solidFill>
                <a:highlight>
                  <a:schemeClr val="lt1"/>
                </a:highlight>
              </a:rPr>
              <a:t> </a:t>
            </a:r>
            <a:endParaRPr b="1" sz="1288">
              <a:solidFill>
                <a:srgbClr val="0E101A"/>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Club playlist: add favorite songs </a:t>
            </a:r>
            <a:r>
              <a:rPr lang="en" sz="1288" u="sng">
                <a:solidFill>
                  <a:srgbClr val="000000"/>
                </a:solidFill>
                <a:highlight>
                  <a:schemeClr val="lt1"/>
                </a:highlight>
                <a:hlinkClick r:id="rId10">
                  <a:extLst>
                    <a:ext uri="{A12FA001-AC4F-418D-AE19-62706E023703}">
                      <ahyp:hlinkClr val="tx"/>
                    </a:ext>
                  </a:extLst>
                </a:hlinkClick>
              </a:rPr>
              <a:t>here</a:t>
            </a:r>
            <a:r>
              <a:rPr lang="en" sz="1288">
                <a:solidFill>
                  <a:srgbClr val="000000"/>
                </a:solidFill>
                <a:highlight>
                  <a:schemeClr val="lt1"/>
                </a:highlight>
              </a:rPr>
              <a:t> </a:t>
            </a:r>
            <a:endParaRPr sz="1288">
              <a:solidFill>
                <a:srgbClr val="000000"/>
              </a:solidFill>
              <a:highlight>
                <a:schemeClr val="lt1"/>
              </a:highlight>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Add favorite snacks </a:t>
            </a:r>
            <a:r>
              <a:rPr lang="en" sz="1288" u="sng">
                <a:solidFill>
                  <a:srgbClr val="0E101A"/>
                </a:solidFill>
                <a:highlight>
                  <a:schemeClr val="lt1"/>
                </a:highlight>
                <a:hlinkClick r:id="rId11">
                  <a:extLst>
                    <a:ext uri="{A12FA001-AC4F-418D-AE19-62706E023703}">
                      <ahyp:hlinkClr val="tx"/>
                    </a:ext>
                  </a:extLst>
                </a:hlinkClick>
              </a:rPr>
              <a:t>here</a:t>
            </a:r>
            <a:r>
              <a:rPr lang="en" sz="1288">
                <a:solidFill>
                  <a:schemeClr val="lt1"/>
                </a:solidFill>
              </a:rPr>
              <a:t> </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Resume Book </a:t>
            </a:r>
            <a:r>
              <a:rPr lang="en" sz="1288" u="sng">
                <a:solidFill>
                  <a:srgbClr val="0E101A"/>
                </a:solidFill>
                <a:highlight>
                  <a:schemeClr val="lt1"/>
                </a:highlight>
                <a:hlinkClick r:id="rId12">
                  <a:extLst>
                    <a:ext uri="{A12FA001-AC4F-418D-AE19-62706E023703}">
                      <ahyp:hlinkClr val="tx"/>
                    </a:ext>
                  </a:extLst>
                </a:hlinkClick>
              </a:rPr>
              <a:t>here</a:t>
            </a:r>
            <a:endParaRPr sz="1288">
              <a:solidFill>
                <a:srgbClr val="0E101A"/>
              </a:solidFill>
              <a:highlight>
                <a:schemeClr val="lt1"/>
              </a:highlight>
            </a:endParaRPr>
          </a:p>
          <a:p>
            <a:pPr indent="0" lvl="0" marL="0" rtl="0" algn="l">
              <a:lnSpc>
                <a:spcPct val="95000"/>
              </a:lnSpc>
              <a:spcBef>
                <a:spcPts val="1200"/>
              </a:spcBef>
              <a:spcAft>
                <a:spcPts val="0"/>
              </a:spcAft>
              <a:buSzPts val="1018"/>
              <a:buNone/>
            </a:pPr>
            <a:r>
              <a:rPr b="1" lang="en" sz="1288">
                <a:solidFill>
                  <a:schemeClr val="lt1"/>
                </a:solidFill>
              </a:rPr>
              <a:t>Follow: </a:t>
            </a:r>
            <a:endParaRPr b="1" sz="1288">
              <a:solidFill>
                <a:schemeClr val="lt1"/>
              </a:solidFill>
            </a:endParaRPr>
          </a:p>
          <a:p>
            <a:pPr indent="-310356" lvl="0" marL="457200" rtl="0" algn="l">
              <a:lnSpc>
                <a:spcPct val="95000"/>
              </a:lnSpc>
              <a:spcBef>
                <a:spcPts val="1200"/>
              </a:spcBef>
              <a:spcAft>
                <a:spcPts val="0"/>
              </a:spcAft>
              <a:buClr>
                <a:schemeClr val="lt1"/>
              </a:buClr>
              <a:buSzPts val="1288"/>
              <a:buChar char="-"/>
            </a:pPr>
            <a:r>
              <a:rPr lang="en" sz="1288">
                <a:solidFill>
                  <a:schemeClr val="lt1"/>
                </a:solidFill>
              </a:rPr>
              <a:t>@CornellBitcoin on Twitter</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@CornellBitcoinClub on Instagram</a:t>
            </a:r>
            <a:endParaRPr sz="1288">
              <a:solidFill>
                <a:schemeClr val="lt1"/>
              </a:solidFill>
            </a:endParaRPr>
          </a:p>
          <a:p>
            <a:pPr indent="-310356" lvl="0" marL="457200" rtl="0" algn="l">
              <a:lnSpc>
                <a:spcPct val="95000"/>
              </a:lnSpc>
              <a:spcBef>
                <a:spcPts val="0"/>
              </a:spcBef>
              <a:spcAft>
                <a:spcPts val="0"/>
              </a:spcAft>
              <a:buClr>
                <a:schemeClr val="lt1"/>
              </a:buClr>
              <a:buSzPts val="1288"/>
              <a:buChar char="-"/>
            </a:pPr>
            <a:r>
              <a:rPr lang="en" sz="1288">
                <a:solidFill>
                  <a:schemeClr val="lt1"/>
                </a:solidFill>
              </a:rPr>
              <a:t>Cornell Bitcoin Club on LinkedIn</a:t>
            </a:r>
            <a:endParaRPr sz="1288">
              <a:solidFill>
                <a:schemeClr val="lt1"/>
              </a:solidFill>
            </a:endParaRPr>
          </a:p>
        </p:txBody>
      </p:sp>
      <p:pic>
        <p:nvPicPr>
          <p:cNvPr id="488" name="Google Shape;488;p70"/>
          <p:cNvPicPr preferRelativeResize="0"/>
          <p:nvPr/>
        </p:nvPicPr>
        <p:blipFill>
          <a:blip r:embed="rId13">
            <a:alphaModFix/>
          </a:blip>
          <a:stretch>
            <a:fillRect/>
          </a:stretch>
        </p:blipFill>
        <p:spPr>
          <a:xfrm>
            <a:off x="184150" y="4695625"/>
            <a:ext cx="374483" cy="355476"/>
          </a:xfrm>
          <a:prstGeom prst="rect">
            <a:avLst/>
          </a:prstGeom>
          <a:noFill/>
          <a:ln>
            <a:noFill/>
          </a:ln>
        </p:spPr>
      </p:pic>
      <p:pic>
        <p:nvPicPr>
          <p:cNvPr id="489" name="Google Shape;489;p70"/>
          <p:cNvPicPr preferRelativeResize="0"/>
          <p:nvPr/>
        </p:nvPicPr>
        <p:blipFill>
          <a:blip r:embed="rId14">
            <a:alphaModFix/>
          </a:blip>
          <a:stretch>
            <a:fillRect/>
          </a:stretch>
        </p:blipFill>
        <p:spPr>
          <a:xfrm>
            <a:off x="8611675" y="4665225"/>
            <a:ext cx="313176" cy="31317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493" name="Shape 493"/>
        <p:cNvGrpSpPr/>
        <p:nvPr/>
      </p:nvGrpSpPr>
      <p:grpSpPr>
        <a:xfrm>
          <a:off x="0" y="0"/>
          <a:ext cx="0" cy="0"/>
          <a:chOff x="0" y="0"/>
          <a:chExt cx="0" cy="0"/>
        </a:xfrm>
      </p:grpSpPr>
      <p:sp>
        <p:nvSpPr>
          <p:cNvPr id="494" name="Google Shape;494;p71"/>
          <p:cNvSpPr txBox="1"/>
          <p:nvPr>
            <p:ph type="title"/>
          </p:nvPr>
        </p:nvSpPr>
        <p:spPr>
          <a:xfrm>
            <a:off x="460950" y="1590000"/>
            <a:ext cx="8222100" cy="1963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t>Thank you!</a:t>
            </a:r>
            <a:endParaRPr b="1" sz="6000">
              <a:solidFill>
                <a:schemeClr val="lt1"/>
              </a:solidFill>
            </a:endParaRPr>
          </a:p>
        </p:txBody>
      </p:sp>
      <p:pic>
        <p:nvPicPr>
          <p:cNvPr id="495" name="Google Shape;495;p71"/>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496" name="Google Shape;496;p71"/>
          <p:cNvPicPr preferRelativeResize="0"/>
          <p:nvPr/>
        </p:nvPicPr>
        <p:blipFill>
          <a:blip r:embed="rId4">
            <a:alphaModFix/>
          </a:blip>
          <a:stretch>
            <a:fillRect/>
          </a:stretch>
        </p:blipFill>
        <p:spPr>
          <a:xfrm>
            <a:off x="8611675" y="4665225"/>
            <a:ext cx="313176" cy="3131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ricing Strategies Proposal by Slidesgo">
  <a:themeElements>
    <a:clrScheme name="Simple Light">
      <a:dk1>
        <a:srgbClr val="005E88"/>
      </a:dk1>
      <a:lt1>
        <a:srgbClr val="F3F3F3"/>
      </a:lt1>
      <a:dk2>
        <a:srgbClr val="E8E8E8"/>
      </a:dk2>
      <a:lt2>
        <a:srgbClr val="99B5CE"/>
      </a:lt2>
      <a:accent1>
        <a:srgbClr val="297AB8"/>
      </a:accent1>
      <a:accent2>
        <a:srgbClr val="063C53"/>
      </a:accent2>
      <a:accent3>
        <a:srgbClr val="FFFFFF"/>
      </a:accent3>
      <a:accent4>
        <a:srgbClr val="FFFFFF"/>
      </a:accent4>
      <a:accent5>
        <a:srgbClr val="FFFFFF"/>
      </a:accent5>
      <a:accent6>
        <a:srgbClr val="FFFFFF"/>
      </a:accent6>
      <a:hlink>
        <a:srgbClr val="005E8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