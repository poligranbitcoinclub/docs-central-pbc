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Proxima Nova"/>
      <p:regular r:id="rId30"/>
      <p:bold r:id="rId31"/>
      <p:italic r:id="rId32"/>
      <p:boldItalic r:id="rId33"/>
    </p:embeddedFont>
    <p:embeddedFont>
      <p:font typeface="Proxima Nova Semibold"/>
      <p:regular r:id="rId34"/>
      <p:bold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roximaNova-bold.fntdata"/><Relationship Id="rId30" Type="http://schemas.openxmlformats.org/officeDocument/2006/relationships/font" Target="fonts/ProximaNova-regular.fntdata"/><Relationship Id="rId11" Type="http://schemas.openxmlformats.org/officeDocument/2006/relationships/slide" Target="slides/slide6.xml"/><Relationship Id="rId33" Type="http://schemas.openxmlformats.org/officeDocument/2006/relationships/font" Target="fonts/ProximaNova-boldItalic.fntdata"/><Relationship Id="rId10" Type="http://schemas.openxmlformats.org/officeDocument/2006/relationships/slide" Target="slides/slide5.xml"/><Relationship Id="rId32" Type="http://schemas.openxmlformats.org/officeDocument/2006/relationships/font" Target="fonts/ProximaNova-italic.fntdata"/><Relationship Id="rId13" Type="http://schemas.openxmlformats.org/officeDocument/2006/relationships/slide" Target="slides/slide8.xml"/><Relationship Id="rId35" Type="http://schemas.openxmlformats.org/officeDocument/2006/relationships/font" Target="fonts/ProximaNovaSemibold-bold.fntdata"/><Relationship Id="rId12" Type="http://schemas.openxmlformats.org/officeDocument/2006/relationships/slide" Target="slides/slide7.xml"/><Relationship Id="rId34" Type="http://schemas.openxmlformats.org/officeDocument/2006/relationships/font" Target="fonts/ProximaNovaSemibold-regular.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ProximaNovaSemibold-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0ba6cb8a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0ba6cb8a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0ba6cb8af5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0ba6cb8af5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0ba6cb8af5_0_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0ba6cb8af5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Hi everybody, my name is Matthew Correa and I am secretary of the Bitcoin Club.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Today, we will be exploring the phenomenon of democratic erosion and assess how citizens leverage Bitcoin as a tool for financial independence and resistance against authoritarian behavior.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Consequently, you should have an understanding of how Bitcoin has an impact on the complex dynamics behind democratic backsliding. </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 sz="1200">
                <a:solidFill>
                  <a:schemeClr val="dk1"/>
                </a:solidFill>
                <a:latin typeface="Times New Roman"/>
                <a:ea typeface="Times New Roman"/>
                <a:cs typeface="Times New Roman"/>
                <a:sym typeface="Times New Roman"/>
              </a:rPr>
              <a:t>A policy-response simulation will offer you the opportunity to evaluate Bitcoin’s decentralized nature and determine whether you think it’s crucial in supporting democratic resilience. </a:t>
            </a:r>
            <a:endParaRP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0ba6cb8af5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0ba6cb8af5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So, what is democracy? Well, democracy is a system of government where power is distributed amongst the people. These people elect representatives in free and fair elections that are meant to promote political equality by upholding the majority’s preferences and protect individuals’ civil liberties like free speech.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 healthy democracy requires active political participation, accountability under the law, an equal distribution of power among political institutions, and the protection of basic rights.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In this context, democratic backsliding - also known as erosion or decline, happens when democratic institutions and their processes are gradually weakened. This regression is marked by a shift to authoritarianism within a formal democratic system.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One key aspect of democratic backsliding is the weakening of political institutions like the judiciary, legislative bodies, and electoral systems. Leaders may aim to reduce checks on and consolidate their power by manipulating and limiting these institutions’ agency. </a:t>
            </a:r>
            <a:endParaRPr>
              <a:solidFill>
                <a:schemeClr val="dk1"/>
              </a:solidFill>
              <a:latin typeface="Times New Roman"/>
              <a:ea typeface="Times New Roman"/>
              <a:cs typeface="Times New Roman"/>
              <a:sym typeface="Times New Roman"/>
            </a:endParaRPr>
          </a:p>
          <a:p>
            <a:pPr indent="0" lvl="0" marL="45720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Civil liberties like freedom of speech, freedom of the press, and freedom of assembly are often eroded due to democratic backsliding. Governments will impose censorship and intimidate or criminalize opponents through intense surveillance.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During backsliding, the rule of law is also compromised. The rule of law is a principle that individuals, institutions, and governments are subject to and accountable under the law. Illiberal democracies will enforce selective regulations, interfere in judicial processes, and use legal systems to punish political adversaries. This undermines the idea of legal equality.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However, backsliding governments maintain the appearance of democracy by continuing to hold elections. They then use techniques like voter suppression and the manipulation of media coverage to diminish democratic competition and centralize authority.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This erodes public trust in democratic processes and creates deep divisions between political factions. Consequently, communities suffer from widespread fear and mistrust as collective commitment to democratic principles is eroded. </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0ba6cb8af5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0ba6cb8af5_0_4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In the Global North, countries such as the United States experience democratic backsliding through the gradual undermining of democratic institutions, norms, and practices. This process is more subtle and takes place within a constitutional framework where legal mechanisms are manipulated to serve political interests.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For example, in the U.S. concerns about democratic backsliding have increased following widespread accusations of a rigged election and the January 6th attack on the Capital. Attempts to delegitimize the election process and undermine trust in electoral institutions signals a weakness of our core democratic practices.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Meanwhile, in the Global South, countries experience democratic erosion through overt authoritarian measures. Leaders often use unlawful killing and attacks on the media through nationalistic means to consolidate power.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For instance, the Philippines’ president Rodrigo Duerte used populist rhetoric to create a ‘war on drugs’ that led to the death of thousands. His actions were bypassed by institutional norms that would typically ensure due process to implement authoritarian control.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Evidently, democratic backsliding in the Global North. is more institutional because leaders manipulate legal structures and delegitimize electoral processes. Meanwhile, in the Global South, violence plays a more central role as leaders directly attack civil liberties and democratic opposition.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The United States' example is meant to underlie the main idea that no long standing democracy is immune from democratic backsliding because its electoral system was still manipulated.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At the same time, the Philippines exemplifies dangers in populist rhetoric as its executive leader exploited national anxieties over drug-related crimes to justify undemocratic actions.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Together, these examples illustrate how democratic backsliding is a universal problem with democratic systems in both the Global North and South being vulnerable to political manipulation. A consequence of this manipulation is economic instability.</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0ba6cb8af5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0ba6cb8af5_0_4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In situations like the United States’ or the Philippines, democratic backsliding weakens the rule of law which leads to reduced investor confidence. When the legitimacy of the government is weakened, businesses and investors perceive greater risks and pull out of their investments. This hurts economic growth.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 lack of predictable governance and fears of increasing authoritarianism causes political uncertainty which leads to fluctuations in currency values, stock markets, and foreign investments.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This is closely intertwined with rising levels of corruption where political leaders abuse state resources. When funds are diverted away from public services and infrastructure, it contributes to economic stagnation.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Social divisions then increase and different sectors of society fail to cooperate. This political dysfunction hurts existing and future economic policies.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In cases like the Philippines under Duterte, authoritarian-centric policies can result in a shift away from market-driven economic approaches as political control and state intervention are prioritized over economic liberalization.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Consequently, stable Western democracies may impose punitive measures like sanctions or a reduction in foreign aid as human rights abuses escalate. Social unrest then follows.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Civil disorder like protests and strikes disrupt daily economic activities like retail sales and manufacturing production lines which lowers productivity and leads to the loss of economic opportunities.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 feedback loop is then created as economies decline because governments may resort to further authoritarian measures to consolidate control which only leads to worse economic conditions. This leads to full-blown crises, as seen with contemporary Turkey. </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0ba6cb8af5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0ba6cb8af5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In the midst of economic instability - such as hyper inflation or currency devaluation, citizens will often seek out other financial alternatives. Decentralized options like Bitcoin emerge as solutions because they give people a way to store and transfer their wealth without relying on state-controlled banks which may appear corrupt or unstable.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As backsliding leads to economic mismanagement, Bitcoin is viewed as a way to store wealth over time, similar to how people store gold or other solid assets. People can use this asset to protect themselves against the collapse of their local currencies because it’s decentralized and globally accessible. This means economic policies don’t affect its value in the same way as traditional currencies.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Since Bitcoin transactions occur outside state control, illiberal governments have fears over losing their ability to control monetary policy and track financial actions which are key to maintaining power.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As a response, regimes may introduce strict controls on cryptocurrency exchanges and or outright ban Bitcoin to maintain a monopoly over their financial system. For instance, in 2021 the Turkish central bank banned cryptocurrency as a legitimate payment to prevent citizens from circumventing state authority.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However, despite such government crackdowns, citizens in countries with democratic backsliding continue to use Bitcoin as a tool for exercising their own economic freedoms. Decentralized currencies like Bitcoin allow citizens to avoid restrictive capital controls, protect their savings from inflation, and engage in international trade without relying on failing financial systems.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It has even been used as a direct form of resistance against authoritarian control with individuals using it to fund opposition movements outside governments’ regulated financial systems.</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Bitcoin, therefore, can be a critical tool because people in countries with failing democratic regimes like the Philippines or Venezuela can send and receive money without the high fees, delays, or restrictions imposed by their traditional banking systems.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In a way, the financial asset’s decentralized structure embodies democratic ideals because it supports principles of autonomy and economic self-determination that are fundamental to democratic governance. </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0ba6cb8af5_0_5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0ba6cb8af5_0_5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For the next twenty minutes, I would like to do a case study on Russia and Turkey to examine how Bitcoin has been used as a tool for democratic resilience in the face of authoritarianism.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Before doing that, I’d like to open up the conversation to your own experiences or thoughts on how Bitcoin has upheld democracy in your own lives or communities. </a:t>
            </a:r>
            <a:endParaRPr>
              <a:solidFill>
                <a:schemeClr val="dk1"/>
              </a:solidFill>
              <a:latin typeface="Times New Roman"/>
              <a:ea typeface="Times New Roman"/>
              <a:cs typeface="Times New Roman"/>
              <a:sym typeface="Times New Roman"/>
            </a:endParaRPr>
          </a:p>
          <a:p>
            <a:pPr indent="-298450" lvl="1" marL="9144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I’m from Palm Springs, California and I know Bitcoin has empowered local boba shop owners’ individual autonomy because, by choosing to accept cryptocurrency as an alternative form of payment, they have greater control over how they can manage their money and make wise investments. </a:t>
            </a:r>
            <a:endParaRPr>
              <a:solidFill>
                <a:schemeClr val="dk1"/>
              </a:solidFill>
              <a:latin typeface="Times New Roman"/>
              <a:ea typeface="Times New Roman"/>
              <a:cs typeface="Times New Roman"/>
              <a:sym typeface="Times New Roman"/>
            </a:endParaRPr>
          </a:p>
          <a:p>
            <a:pPr indent="-298450" lvl="1" marL="9144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Ex. holding it as a long term asset or reinvesting it back into equipment without high cost transactional fees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While Bitcoin has helped us as individuals and our local communities manage financial autonomy, I’d like to shift our focus to a global perspective. In particular, let’s explore how Bitcoin has been used to navigate democratic freedoms in the face of authoritarian control in countries like Russia or Turkey.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0ba6cb8af5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0ba6cb8af5_0_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So, Russia is a federal republic made up of eight three administrative regions - not counting Crimea or Ukraine. These regions are federal subjects with varying levels of autonomy. While the constitution grants these regions some autonomy, Putin’s administration has centralized authority by reducing the independence of regional leaders.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The Russian government is now centered around a powerful executive branch where the president holds significant influence over the legislative and judicial branches. The presidency oversees foreign policy and has the power to issue decrees that carry the force of law without needing parliamentary approval. Putin’s reforms now have control over the appointment and dismissal of executive officials.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This system of governance is known as a</a:t>
            </a:r>
            <a:r>
              <a:rPr b="1" lang="en">
                <a:solidFill>
                  <a:schemeClr val="dk1"/>
                </a:solidFill>
                <a:latin typeface="Times New Roman"/>
                <a:ea typeface="Times New Roman"/>
                <a:cs typeface="Times New Roman"/>
                <a:sym typeface="Times New Roman"/>
              </a:rPr>
              <a:t> ‘power vertical’ </a:t>
            </a:r>
            <a:r>
              <a:rPr lang="en">
                <a:solidFill>
                  <a:schemeClr val="dk1"/>
                </a:solidFill>
                <a:latin typeface="Times New Roman"/>
                <a:ea typeface="Times New Roman"/>
                <a:cs typeface="Times New Roman"/>
                <a:sym typeface="Times New Roman"/>
              </a:rPr>
              <a:t>where political authority is concentrated at the federal level. This ensures that officials are held accountable by the central government rather than to local populations that they serve.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For instance, the Federation Council composes the upper house of Russia’s federal assembly and is meant to represent local regions. However, Putin altered its composition in the early 2000s and changed it from an elected body to a legislative appointment. This reduced the Council’s independence and made it insubordinate to the presidency.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At the same time, the lower house of the Federal Assembly - known as the State Duma, was responsible for passing legislation and holding executives accountable. However, Putin’s cabinet enforced reforms to electoral laws and party requirements that ensured a pro-Kremlin majority. For instance, Putin passed a bill in 2014 that imposed stricter rules for party registration, making it harder for the opposition to compete.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Another prime example of the ‘power vertical’ is Russia’s judiciary which is supposed to be an independent branch of government. However, Putin strategically appointed judges to key positions in the Constitutional and Supreme Courts to create a system where rulings in cases of electoral disputes would favor the Kremlin.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Evidently, Putin’s control over regional appointments ensures a sense of loyalty from the judiciary and the legislature that ultimately undermine a system of checks and balances meant to uphold democratic principles of representation and accountability in Russia’s political system.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This spills over into the economy because Putin has integrated oligarchs who control state-owned enterprises, specifically over energy and natural resources, into the political system. It gives the regime significant economic leverage because it can use its political power to manipulate markets and control the distribution of wealth. </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0ba6cb8af5_0_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0ba6cb8af5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Russia’s consolidation of natural resources has created what can be referred to as a rentier economy. A rentier economy is a system where the state relies heavily on revenue from renting out natural resources - like oil, gas, or minerals rather than productive activities like manufacturing or services.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In Russia’s case, its reliance on the exportation of these resources to foreign markets has made it economically vulnerable. I say this because their stability is now heavily dependent on fluctuating global commodity prices. As a result, the volatility of global oil prices and the effects of international sanctions have strained their budget.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To compensate for revenue shortfalls, the government has resorted to printing money and raising domestic loans which have led to a rise in inflation. The ruble has lost substantial value against foreign currencies, and inflationary pressures have been exacerbated by the cost of military financing, as seen with the annexation of Crimea in 2014 and the invasion of Ukraine in 2022.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As inflation rises and the ruble’s value decreases, the cost of basic goods like food and fuel have skyrocketed while wages have stagnated. The cost of living has only further increased due to sanctions which have limited access to foreign goods and services. International isolation and deteriorating living conditions have led to public discontent swiftly suppressed by the government.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Cryptocurrency’s role in this predicament of democratic backsliding has been two-sided. In general, cryptocurrency has acted as a financial loophole amidst heavy international sanctions.  It has provided Russian businesses with an alternative to engage in cross-border trade because transactions are decentralized, and therefore not subject to sanctions on international banking networks like SWIFT.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Meanwhile, there have also been reports of pro-Russian media accounts soliciting millions of dollars in crypto to fund their equipment, weapons, and supplies to sustain separatist fighters. Due to the fact that these transactions are recorded on a blockchain, these groups’ identities are obscured and they can gather donations without it being traced back to them.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The Russian government now faces a dilemma because a resource like Bitcoin can facilitate trade and investment. On the other hand, it also undermines the government’s centralized economy because it makes it more difficult for the Kremlin to regulate capital flows and tax transactions.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 want to present a total of four minutes from this video where Youtuber Anthony P. presents a dilemma between Russian opposition and the potential adoption of Bitcoin today. </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0ba6cb8af5_0_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0ba6cb8af5_0_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0ba6cb8af5_0_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0ba6cb8af5_0_5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As of August 8th, Putin signed a law legalizing cryptocurrency mining in Russia, including Bitcoin. This law allows Russian legal entities and individual entrepreneurs to legally mine crypto and trade foreign digital assets on Russian blockchain platforms.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Having said that, the law prohibits cryptocurrencies like Bitcoin from being used as a means of payment within Russia, ensuring that the ruble remains the sole official currency for financial transactions.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 think this dual role between the government’s attempt to embrace cryptocurrency but also restrict it domestically reveals the fragility of Russian democracy and demonstrates how the Kremlin prioritizes state control and power preservation over financial freedom and democratic accountability.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b="1" lang="en">
                <a:solidFill>
                  <a:schemeClr val="dk1"/>
                </a:solidFill>
                <a:latin typeface="Times New Roman"/>
                <a:ea typeface="Times New Roman"/>
                <a:cs typeface="Times New Roman"/>
                <a:sym typeface="Times New Roman"/>
              </a:rPr>
              <a:t>Question: </a:t>
            </a:r>
            <a:r>
              <a:rPr lang="en">
                <a:solidFill>
                  <a:schemeClr val="dk1"/>
                </a:solidFill>
                <a:latin typeface="Times New Roman"/>
                <a:ea typeface="Times New Roman"/>
                <a:cs typeface="Times New Roman"/>
                <a:sym typeface="Times New Roman"/>
              </a:rPr>
              <a:t>Given the government’s control over both resources and financial systems, do you think the adoption of cryptocurrency like Bitcoin, despite its limitations, could eventually empower Russian citizens and challenge state authority? Or, will it strengthen authoritarian control by helping the government bypass international pressure?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0ba6cb8af5_0_5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0ba6cb8af5_0_5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Let’s move onto our next case of Turkey. In 1982, Turkey was established as a constitutional parliamentary democracy. The government separated its powers between the executive, legislative, and judicial branches. The prime minister was the head of state while the president served as a ceremonial figurehead. There was also a Grand National Assembly where deputies held legislative authority in a proportional representation system. This structure was meant to prevent authoritarianism.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However, Tayyip Erdogan was elected as Prime Minister in 2003 after his political party - the Justice and Development Party, won the 2002 general election. His government originally focused on economic reforms and EU accession policies that led to democratic improvements like the military’s limited involvement in politics.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However, in 2013, the Gezi Park Protests marked a shift in his policies. The protests first began as an opposition movement to the demolition of Gezi Park for commercial development but spiraled into national demonstration against a crackdown on free speech and tightened control over the judiciary. Erdogan’s use of police violence represented state suppression of dissent.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After Erdogan was elected as president in 2014, the prime minister’s role became subordinate to the president. This represented an elimination to checks on presidential power as Erdogan began to control the government’s decisions from his office.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After a failed coup in July 2016, Erdoghan declared a state of emergency and used that predicament to bypass the legislature entirely. He then purged the military, judiciary, and educational institutions which represented the end of independent civil institutions.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Circumstances became more dire in April 2017 when a constitutional referendum allowed Erdogan to shift Turkey from a parliamentary to executive presidential system.</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This change abolished the office of the prime minister and granted the president the power to issue decrees, control the budget, and appoint ministers and judges directly without parliamentary oversight.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Since 2016, Erdogan’s government has proceeded to restrict press freedom and civil liberties by closing media outlets and jailing journalists under the pretext of national security. </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0ba6cb8af5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0ba6cb8af5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These facets of democratic erosion have set a precedent for a poorly managed economy as the destruction of checks and balances have led to the devaluation of the Turkish lira and rising inflation.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 say this because Turkey’s economic policies are now oriented around Erdogan’s religious beliefs. For instance, he opposes high interest rates because his Islamic faith prohibits lending money at excessive rates.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This has contributed to a tightening monetary policy where low interest rates have weakened the Turkish lira because investors see fewer returns on their investments which leads them to move capital elsewhere in search of higher yields.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Imports have also become more expensive, reducing the purchasing power of Turkish citizens and businesses reliant on foreign goods and materials.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0ba6cb8af5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0ba6cb8af5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Here’s a video to understand a little bit more about Turkey’s economic circumstances and how cryptocurrencies like Bitcoin are being used to provide an opportunity for financial freedom against the government’s increasing economic instability.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0ba6cb8af5_0_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0ba6cb8af5_0_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Based on the video, we see that cryptocurrencies like Bitcoin or stablecoins like Tether are being used to access a more stable financial value and hedge against Erdogan’s undemocratic policies.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It’s also made clear that Turkey could implement more strict reforms like Russia to regulate how a currency like Bitcoin is used in comparison to the Turkish Lira.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b="1" lang="en">
                <a:solidFill>
                  <a:schemeClr val="dk1"/>
                </a:solidFill>
                <a:latin typeface="Times New Roman"/>
                <a:ea typeface="Times New Roman"/>
                <a:cs typeface="Times New Roman"/>
                <a:sym typeface="Times New Roman"/>
              </a:rPr>
              <a:t>Question: </a:t>
            </a:r>
            <a:r>
              <a:rPr lang="en">
                <a:solidFill>
                  <a:schemeClr val="dk1"/>
                </a:solidFill>
                <a:latin typeface="Times New Roman"/>
                <a:ea typeface="Times New Roman"/>
                <a:cs typeface="Times New Roman"/>
                <a:sym typeface="Times New Roman"/>
              </a:rPr>
              <a:t>How do you think Bitcoin could be used as a tool to reduce Erdoghan’s control over the economy and reinstate financial democracy? And, how do you think Bitcoin compares to tether as a tool for providing financial stability and reducing government control? </a:t>
            </a:r>
            <a:endParaRPr>
              <a:solidFill>
                <a:schemeClr val="dk1"/>
              </a:solidFill>
              <a:latin typeface="Times New Roman"/>
              <a:ea typeface="Times New Roman"/>
              <a:cs typeface="Times New Roman"/>
              <a:sym typeface="Times New Roman"/>
            </a:endParaRPr>
          </a:p>
          <a:p>
            <a:pPr indent="-298450" lvl="1" marL="9144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My response for #1: I think as I’ve said before, Bitcoin’s fixed supply and decentralized nature ensure that it cannot be devalued or controlled by the state. I think the main issue is the reinstatement of financial democracy because this decentralized financial autonomy is a threat to the government’s grip on the economy. So we have to figure out a way around that. </a:t>
            </a:r>
            <a:endParaRPr>
              <a:solidFill>
                <a:schemeClr val="dk1"/>
              </a:solidFill>
              <a:latin typeface="Times New Roman"/>
              <a:ea typeface="Times New Roman"/>
              <a:cs typeface="Times New Roman"/>
              <a:sym typeface="Times New Roman"/>
            </a:endParaRPr>
          </a:p>
          <a:p>
            <a:pPr indent="-298450" lvl="1" marL="9144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My response for #2:  I think there’s just a difference between short term versus long term stability where tether is used for everyday transactions and bitcoin is used for longer term investments. So, I'm not sure how tether would be able to address Turkey’s economic instability in comparison to Bitcoin because it’s less capable of being a long-term hedge against inflation. </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0ba6cb8af5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0ba6cb8af5_0_5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Okay, we’ve gone over what democracy is and Bitcoin’s role in circumventing or even possibly complicating the concept of democratic erosion in countries like Turkey and Russia.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Now, it's your turn to decide how you would handle such a situation in a position of authority. Please take photos of the slides so you can look back at the directions.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b="1" lang="en">
                <a:solidFill>
                  <a:schemeClr val="dk1"/>
                </a:solidFill>
                <a:latin typeface="Times New Roman"/>
                <a:ea typeface="Times New Roman"/>
                <a:cs typeface="Times New Roman"/>
                <a:sym typeface="Times New Roman"/>
              </a:rPr>
              <a:t>Background</a:t>
            </a:r>
            <a:r>
              <a:rPr lang="en">
                <a:solidFill>
                  <a:schemeClr val="dk1"/>
                </a:solidFill>
                <a:latin typeface="Times New Roman"/>
                <a:ea typeface="Times New Roman"/>
                <a:cs typeface="Times New Roman"/>
                <a:sym typeface="Times New Roman"/>
              </a:rPr>
              <a:t>: You have a situation where Venezuela is experiencing a severe economic crisis with tensions exacerbating between the government and Venezuelans over Bitcoin’s use.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0ba6cb8af5_0_6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0ba6cb8af5_0_6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Challenge: Consequently, Venezuela has convened a council to determine its Bitcoin policy.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0ba6cb8af5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0ba6cb8af5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0ba6cb8af5_0_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0ba6cb8af5_0_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Task: It is now your job to work together to present a two minute statement explaining the council’s stance on the government’s proposed regulation of Bitcoin. Please negotiate and reconcile your differences to provide me with a collective policy recommendation.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0ba6cb8af5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0ba6cb8af5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highlight>
                  <a:srgbClr val="C9DAF8"/>
                </a:highlight>
                <a:latin typeface="Times New Roman"/>
                <a:ea typeface="Times New Roman"/>
                <a:cs typeface="Times New Roman"/>
                <a:sym typeface="Times New Roman"/>
              </a:rPr>
              <a:t>Slide One - Questions for debate </a:t>
            </a:r>
            <a:r>
              <a:rPr b="1" lang="en">
                <a:solidFill>
                  <a:schemeClr val="dk1"/>
                </a:solidFill>
                <a:highlight>
                  <a:srgbClr val="C9DAF8"/>
                </a:highlight>
                <a:latin typeface="Times New Roman"/>
                <a:ea typeface="Times New Roman"/>
                <a:cs typeface="Times New Roman"/>
                <a:sym typeface="Times New Roman"/>
              </a:rPr>
              <a:t>(10 min)</a:t>
            </a:r>
            <a:endParaRPr b="1">
              <a:solidFill>
                <a:schemeClr val="dk1"/>
              </a:solidFill>
              <a:highlight>
                <a:srgbClr val="C9DAF8"/>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How should the government balance the need for economic control with the right of citizens to protect their savings?</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Would regulating or banning Bitcoin help stabilize the economy, or push more people to use it in secret?</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AutoNum type="arabicPeriod"/>
            </a:pPr>
            <a:r>
              <a:rPr lang="en">
                <a:solidFill>
                  <a:schemeClr val="dk1"/>
                </a:solidFill>
                <a:latin typeface="Times New Roman"/>
                <a:ea typeface="Times New Roman"/>
                <a:cs typeface="Times New Roman"/>
                <a:sym typeface="Times New Roman"/>
              </a:rPr>
              <a:t>How would Venezuela’s decision on Bitcoin affect its relationship with international financial institutions and markets?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highlight>
                  <a:srgbClr val="C9DAF8"/>
                </a:highlight>
                <a:latin typeface="Times New Roman"/>
                <a:ea typeface="Times New Roman"/>
                <a:cs typeface="Times New Roman"/>
                <a:sym typeface="Times New Roman"/>
              </a:rPr>
              <a:t>Slide Two </a:t>
            </a:r>
            <a:r>
              <a:rPr b="1" lang="en">
                <a:solidFill>
                  <a:schemeClr val="dk1"/>
                </a:solidFill>
                <a:highlight>
                  <a:srgbClr val="C9DAF8"/>
                </a:highlight>
                <a:latin typeface="Times New Roman"/>
                <a:ea typeface="Times New Roman"/>
                <a:cs typeface="Times New Roman"/>
                <a:sym typeface="Times New Roman"/>
              </a:rPr>
              <a:t>(5 min)</a:t>
            </a:r>
            <a:endParaRPr>
              <a:solidFill>
                <a:schemeClr val="dk1"/>
              </a:solidFill>
              <a:highlight>
                <a:srgbClr val="EAD1DC"/>
              </a:highlight>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I’d like to conclude by saying that Bitcoin, in the context of democratic backsliding, can serve as a tool for financial freedom and challenge government control by empowering citizens to uphold their individual rights through financial autonomy. </a:t>
            </a:r>
            <a:endParaRPr>
              <a:solidFill>
                <a:schemeClr val="dk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dk1"/>
              </a:buClr>
              <a:buSzPts val="1100"/>
              <a:buFont typeface="Times New Roman"/>
              <a:buChar char="●"/>
            </a:pPr>
            <a:r>
              <a:rPr lang="en">
                <a:solidFill>
                  <a:schemeClr val="dk1"/>
                </a:solidFill>
                <a:latin typeface="Times New Roman"/>
                <a:ea typeface="Times New Roman"/>
                <a:cs typeface="Times New Roman"/>
                <a:sym typeface="Times New Roman"/>
              </a:rPr>
              <a:t>I think the future of Bitcoin will now depend on its ability to balance regulatory frameworks with the preservation of civil liberties in the face of oppressive state oversight. </a:t>
            </a:r>
            <a:endParaRPr>
              <a:solidFill>
                <a:schemeClr val="dk1"/>
              </a:solidFill>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0ba6cb8af5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0ba6cb8af5_0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0ba6cb8af5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0ba6cb8af5_0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0ba6cb8af5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0ba6cb8af5_0_4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8.png"/><Relationship Id="rId5" Type="http://schemas.openxmlformats.org/officeDocument/2006/relationships/image" Target="../media/image17.png"/><Relationship Id="rId6" Type="http://schemas.openxmlformats.org/officeDocument/2006/relationships/image" Target="../media/image4.png"/><Relationship Id="rId7"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hyperlink" Target="http://www.youtube.com/watch?v=Cdd2dV8FqvU" TargetMode="External"/><Relationship Id="rId5"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hyperlink" Target="http://www.youtube.com/watch?v=sfpS-OMcKh0" TargetMode="External"/><Relationship Id="rId5"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21.png"/></Relationships>
</file>

<file path=ppt/slides/_rels/slide23.xml.rels><?xml version="1.0" encoding="UTF-8" standalone="yes"?><Relationships xmlns="http://schemas.openxmlformats.org/package/2006/relationships"><Relationship Id="rId11" Type="http://schemas.openxmlformats.org/officeDocument/2006/relationships/hyperlink" Target="https://forms.gle/yjLJ1z4EBJXzBLd49" TargetMode="External"/><Relationship Id="rId10" Type="http://schemas.openxmlformats.org/officeDocument/2006/relationships/hyperlink" Target="https://forms.gle/9HEnoXqodNdaPd7W8" TargetMode="External"/><Relationship Id="rId13" Type="http://schemas.openxmlformats.org/officeDocument/2006/relationships/hyperlink" Target="https://forms.gle/hYj1Gj3LAqcL7Z5CA" TargetMode="External"/><Relationship Id="rId12" Type="http://schemas.openxmlformats.org/officeDocument/2006/relationships/hyperlink" Target="https://open.spotify.com/playlist/0uFt0RJvfh143lVGQbhWHS?si=95193d92e5094f73&amp;pt=2f012d4e97b62c470b68ca9552905422" TargetMode="External"/><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png"/><Relationship Id="rId4" Type="http://schemas.openxmlformats.org/officeDocument/2006/relationships/image" Target="../media/image1.png"/><Relationship Id="rId9" Type="http://schemas.openxmlformats.org/officeDocument/2006/relationships/hyperlink" Target="https://forms.gle/ZwUKC8V61m9v6SWcA" TargetMode="External"/><Relationship Id="rId15" Type="http://schemas.openxmlformats.org/officeDocument/2006/relationships/image" Target="../media/image14.png"/><Relationship Id="rId14" Type="http://schemas.openxmlformats.org/officeDocument/2006/relationships/hyperlink" Target="https://forms.gle/xh8JxpqC2XLsb72L7" TargetMode="External"/><Relationship Id="rId5" Type="http://schemas.openxmlformats.org/officeDocument/2006/relationships/image" Target="../media/image11.png"/><Relationship Id="rId6" Type="http://schemas.openxmlformats.org/officeDocument/2006/relationships/hyperlink" Target="https://join.slack.com/t/cornellbitcoinclub/shared_invite/zt-2bnpz3y01-wOxd_f0NcRRZyRNkzznA5Q" TargetMode="External"/><Relationship Id="rId7" Type="http://schemas.openxmlformats.org/officeDocument/2006/relationships/hyperlink" Target="https://calendar.google.com/calendar/u/0?cid=Y184YjI3M2VlZmYzOTIxMWM1OTA2NGVmOTk5YWRhZDIyNzhjMDg2NDkwMDZhYzRjM2QyZjE4M2E4YzgwMDBhYmE4QGdyb3VwLmNhbGVuZGFyLmdvb2dsZS5jb20" TargetMode="External"/><Relationship Id="rId8" Type="http://schemas.openxmlformats.org/officeDocument/2006/relationships/hyperlink" Target="https://forms.gle/R3wBeLyNpq9vbeXn9"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 Id="rId4" Type="http://schemas.openxmlformats.org/officeDocument/2006/relationships/image" Target="../media/image1.png"/><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31B1B"/>
        </a:solidFill>
      </p:bgPr>
    </p:bg>
    <p:spTree>
      <p:nvGrpSpPr>
        <p:cNvPr id="53" name="Shape 53"/>
        <p:cNvGrpSpPr/>
        <p:nvPr/>
      </p:nvGrpSpPr>
      <p:grpSpPr>
        <a:xfrm>
          <a:off x="0" y="0"/>
          <a:ext cx="0" cy="0"/>
          <a:chOff x="0" y="0"/>
          <a:chExt cx="0" cy="0"/>
        </a:xfrm>
      </p:grpSpPr>
      <p:sp>
        <p:nvSpPr>
          <p:cNvPr id="54" name="Google Shape;54;p13"/>
          <p:cNvSpPr txBox="1"/>
          <p:nvPr/>
        </p:nvSpPr>
        <p:spPr>
          <a:xfrm>
            <a:off x="787925" y="3471700"/>
            <a:ext cx="3933300" cy="90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lt1"/>
                </a:solidFill>
                <a:latin typeface="Proxima Nova Semibold"/>
                <a:ea typeface="Proxima Nova Semibold"/>
                <a:cs typeface="Proxima Nova Semibold"/>
                <a:sym typeface="Proxima Nova Semibold"/>
              </a:rPr>
              <a:t>Meeting #23: February 13, 2024</a:t>
            </a:r>
            <a:endParaRPr sz="1600">
              <a:solidFill>
                <a:schemeClr val="lt1"/>
              </a:solidFill>
              <a:latin typeface="Proxima Nova Semibold"/>
              <a:ea typeface="Proxima Nova Semibold"/>
              <a:cs typeface="Proxima Nova Semibold"/>
              <a:sym typeface="Proxima Nova Semibold"/>
            </a:endParaRPr>
          </a:p>
        </p:txBody>
      </p:sp>
      <p:sp>
        <p:nvSpPr>
          <p:cNvPr id="55" name="Google Shape;55;p13"/>
          <p:cNvSpPr txBox="1"/>
          <p:nvPr/>
        </p:nvSpPr>
        <p:spPr>
          <a:xfrm>
            <a:off x="726625" y="1532200"/>
            <a:ext cx="4893000" cy="193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Cornell</a:t>
            </a:r>
            <a:endParaRPr b="1" sz="6000">
              <a:solidFill>
                <a:schemeClr val="lt1"/>
              </a:solidFill>
              <a:latin typeface="Proxima Nova"/>
              <a:ea typeface="Proxima Nova"/>
              <a:cs typeface="Proxima Nova"/>
              <a:sym typeface="Proxima Nova"/>
            </a:endParaRPr>
          </a:p>
          <a:p>
            <a:pPr indent="0" lvl="0" marL="0" rtl="0" algn="l">
              <a:spcBef>
                <a:spcPts val="0"/>
              </a:spcBef>
              <a:spcAft>
                <a:spcPts val="0"/>
              </a:spcAft>
              <a:buNone/>
            </a:pPr>
            <a:r>
              <a:rPr b="1" lang="en" sz="6000">
                <a:solidFill>
                  <a:schemeClr val="lt1"/>
                </a:solidFill>
                <a:latin typeface="Proxima Nova"/>
                <a:ea typeface="Proxima Nova"/>
                <a:cs typeface="Proxima Nova"/>
                <a:sym typeface="Proxima Nova"/>
              </a:rPr>
              <a:t>Bitcoin Club</a:t>
            </a:r>
            <a:endParaRPr b="1" sz="6000">
              <a:solidFill>
                <a:schemeClr val="lt1"/>
              </a:solidFill>
              <a:latin typeface="Proxima Nova"/>
              <a:ea typeface="Proxima Nova"/>
              <a:cs typeface="Proxima Nova"/>
              <a:sym typeface="Proxima Nova"/>
            </a:endParaRPr>
          </a:p>
        </p:txBody>
      </p:sp>
      <p:pic>
        <p:nvPicPr>
          <p:cNvPr id="56" name="Google Shape;56;p13"/>
          <p:cNvPicPr preferRelativeResize="0"/>
          <p:nvPr/>
        </p:nvPicPr>
        <p:blipFill>
          <a:blip r:embed="rId3">
            <a:alphaModFix/>
          </a:blip>
          <a:stretch>
            <a:fillRect/>
          </a:stretch>
        </p:blipFill>
        <p:spPr>
          <a:xfrm>
            <a:off x="5619625" y="1129869"/>
            <a:ext cx="3037974" cy="288376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0" y="0"/>
            <a:ext cx="9144000" cy="51434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1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67" name="Google Shape;67;p15"/>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68" name="Google Shape;68;p15"/>
          <p:cNvPicPr preferRelativeResize="0"/>
          <p:nvPr/>
        </p:nvPicPr>
        <p:blipFill>
          <a:blip r:embed="rId5">
            <a:alphaModFix/>
          </a:blip>
          <a:stretch>
            <a:fillRect/>
          </a:stretch>
        </p:blipFill>
        <p:spPr>
          <a:xfrm>
            <a:off x="0" y="0"/>
            <a:ext cx="9144000" cy="5143500"/>
          </a:xfrm>
          <a:prstGeom prst="rect">
            <a:avLst/>
          </a:prstGeom>
          <a:noFill/>
          <a:ln>
            <a:noFill/>
          </a:ln>
        </p:spPr>
      </p:pic>
      <p:sp>
        <p:nvSpPr>
          <p:cNvPr id="69" name="Google Shape;69;p15"/>
          <p:cNvSpPr txBox="1"/>
          <p:nvPr/>
        </p:nvSpPr>
        <p:spPr>
          <a:xfrm>
            <a:off x="1016850" y="1332750"/>
            <a:ext cx="73647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200">
                <a:solidFill>
                  <a:schemeClr val="lt1"/>
                </a:solidFill>
                <a:latin typeface="Proxima Nova"/>
                <a:ea typeface="Proxima Nova"/>
                <a:cs typeface="Proxima Nova"/>
                <a:sym typeface="Proxima Nova"/>
              </a:rPr>
              <a:t>Lesson: Navigating Bitcoin’s Role in Democratic Resilience &amp; Ruin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6"/>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75" name="Google Shape;75;p16"/>
          <p:cNvPicPr preferRelativeResize="0"/>
          <p:nvPr/>
        </p:nvPicPr>
        <p:blipFill>
          <a:blip r:embed="rId4">
            <a:alphaModFix/>
          </a:blip>
          <a:stretch>
            <a:fillRect/>
          </a:stretch>
        </p:blipFill>
        <p:spPr>
          <a:xfrm>
            <a:off x="1430201" y="0"/>
            <a:ext cx="6283598"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pic>
        <p:nvPicPr>
          <p:cNvPr id="80" name="Google Shape;80;p17"/>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81" name="Google Shape;81;p17"/>
          <p:cNvPicPr preferRelativeResize="0"/>
          <p:nvPr/>
        </p:nvPicPr>
        <p:blipFill>
          <a:blip r:embed="rId4">
            <a:alphaModFix/>
          </a:blip>
          <a:stretch>
            <a:fillRect/>
          </a:stretch>
        </p:blipFill>
        <p:spPr>
          <a:xfrm>
            <a:off x="3405975" y="296150"/>
            <a:ext cx="5422100" cy="4185899"/>
          </a:xfrm>
          <a:prstGeom prst="rect">
            <a:avLst/>
          </a:prstGeom>
          <a:noFill/>
          <a:ln>
            <a:noFill/>
          </a:ln>
        </p:spPr>
      </p:pic>
      <p:sp>
        <p:nvSpPr>
          <p:cNvPr id="82" name="Google Shape;82;p17"/>
          <p:cNvSpPr txBox="1"/>
          <p:nvPr/>
        </p:nvSpPr>
        <p:spPr>
          <a:xfrm>
            <a:off x="227075" y="730575"/>
            <a:ext cx="3000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Global North: Economically developed, industrialized countries characterized by higher income levels &amp; stronger political influence</a:t>
            </a:r>
            <a:endParaRPr/>
          </a:p>
        </p:txBody>
      </p:sp>
      <p:sp>
        <p:nvSpPr>
          <p:cNvPr id="83" name="Google Shape;83;p17"/>
          <p:cNvSpPr txBox="1"/>
          <p:nvPr/>
        </p:nvSpPr>
        <p:spPr>
          <a:xfrm>
            <a:off x="172125" y="2403325"/>
            <a:ext cx="3000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Global South: Economically developing countries characterized by lower income levels, less industrialization, and less political influence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8"/>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89" name="Google Shape;89;p18"/>
          <p:cNvPicPr preferRelativeResize="0"/>
          <p:nvPr/>
        </p:nvPicPr>
        <p:blipFill>
          <a:blip r:embed="rId4">
            <a:alphaModFix/>
          </a:blip>
          <a:stretch>
            <a:fillRect/>
          </a:stretch>
        </p:blipFill>
        <p:spPr>
          <a:xfrm>
            <a:off x="892612" y="873713"/>
            <a:ext cx="2550527" cy="1461126"/>
          </a:xfrm>
          <a:prstGeom prst="rect">
            <a:avLst/>
          </a:prstGeom>
          <a:noFill/>
          <a:ln>
            <a:noFill/>
          </a:ln>
        </p:spPr>
      </p:pic>
      <p:sp>
        <p:nvSpPr>
          <p:cNvPr id="90" name="Google Shape;90;p18"/>
          <p:cNvSpPr txBox="1"/>
          <p:nvPr/>
        </p:nvSpPr>
        <p:spPr>
          <a:xfrm>
            <a:off x="667863" y="375150"/>
            <a:ext cx="3000000" cy="431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Font typeface="Proxima Nova"/>
              <a:buAutoNum type="arabicPeriod"/>
            </a:pPr>
            <a:r>
              <a:rPr i="1" lang="en" sz="1600">
                <a:solidFill>
                  <a:schemeClr val="lt1"/>
                </a:solidFill>
                <a:latin typeface="Proxima Nova"/>
                <a:ea typeface="Proxima Nova"/>
                <a:cs typeface="Proxima Nova"/>
                <a:sym typeface="Proxima Nova"/>
              </a:rPr>
              <a:t>Economic Decline</a:t>
            </a:r>
            <a:endParaRPr/>
          </a:p>
        </p:txBody>
      </p:sp>
      <p:pic>
        <p:nvPicPr>
          <p:cNvPr id="91" name="Google Shape;91;p18"/>
          <p:cNvPicPr preferRelativeResize="0"/>
          <p:nvPr/>
        </p:nvPicPr>
        <p:blipFill>
          <a:blip r:embed="rId5">
            <a:alphaModFix/>
          </a:blip>
          <a:stretch>
            <a:fillRect/>
          </a:stretch>
        </p:blipFill>
        <p:spPr>
          <a:xfrm>
            <a:off x="5409725" y="873726"/>
            <a:ext cx="2550524" cy="1461126"/>
          </a:xfrm>
          <a:prstGeom prst="rect">
            <a:avLst/>
          </a:prstGeom>
          <a:noFill/>
          <a:ln>
            <a:noFill/>
          </a:ln>
        </p:spPr>
      </p:pic>
      <p:sp>
        <p:nvSpPr>
          <p:cNvPr id="92" name="Google Shape;92;p18"/>
          <p:cNvSpPr txBox="1"/>
          <p:nvPr/>
        </p:nvSpPr>
        <p:spPr>
          <a:xfrm>
            <a:off x="5330738" y="375150"/>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2.     Social Unrest</a:t>
            </a:r>
            <a:endParaRPr/>
          </a:p>
        </p:txBody>
      </p:sp>
      <p:pic>
        <p:nvPicPr>
          <p:cNvPr id="93" name="Google Shape;93;p18"/>
          <p:cNvPicPr preferRelativeResize="0"/>
          <p:nvPr/>
        </p:nvPicPr>
        <p:blipFill>
          <a:blip r:embed="rId6">
            <a:alphaModFix/>
          </a:blip>
          <a:stretch>
            <a:fillRect/>
          </a:stretch>
        </p:blipFill>
        <p:spPr>
          <a:xfrm>
            <a:off x="892600" y="3057150"/>
            <a:ext cx="2550526" cy="1461125"/>
          </a:xfrm>
          <a:prstGeom prst="rect">
            <a:avLst/>
          </a:prstGeom>
          <a:noFill/>
          <a:ln>
            <a:noFill/>
          </a:ln>
        </p:spPr>
      </p:pic>
      <p:sp>
        <p:nvSpPr>
          <p:cNvPr id="94" name="Google Shape;94;p18"/>
          <p:cNvSpPr txBox="1"/>
          <p:nvPr/>
        </p:nvSpPr>
        <p:spPr>
          <a:xfrm>
            <a:off x="751163" y="2530625"/>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3.    Declining Civil Liberties</a:t>
            </a:r>
            <a:endParaRPr/>
          </a:p>
        </p:txBody>
      </p:sp>
      <p:pic>
        <p:nvPicPr>
          <p:cNvPr id="95" name="Google Shape;95;p18"/>
          <p:cNvPicPr preferRelativeResize="0"/>
          <p:nvPr/>
        </p:nvPicPr>
        <p:blipFill rotWithShape="1">
          <a:blip r:embed="rId7">
            <a:alphaModFix/>
          </a:blip>
          <a:srcRect b="0" l="6190" r="-6190" t="0"/>
          <a:stretch/>
        </p:blipFill>
        <p:spPr>
          <a:xfrm>
            <a:off x="5409725" y="3057150"/>
            <a:ext cx="2775274" cy="1461124"/>
          </a:xfrm>
          <a:prstGeom prst="rect">
            <a:avLst/>
          </a:prstGeom>
          <a:noFill/>
          <a:ln>
            <a:noFill/>
          </a:ln>
        </p:spPr>
      </p:pic>
      <p:sp>
        <p:nvSpPr>
          <p:cNvPr id="96" name="Google Shape;96;p18"/>
          <p:cNvSpPr txBox="1"/>
          <p:nvPr/>
        </p:nvSpPr>
        <p:spPr>
          <a:xfrm>
            <a:off x="5184988" y="2530625"/>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4. Consolidation of Power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9"/>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102" name="Google Shape;102;p19"/>
          <p:cNvPicPr preferRelativeResize="0"/>
          <p:nvPr/>
        </p:nvPicPr>
        <p:blipFill>
          <a:blip r:embed="rId4">
            <a:alphaModFix/>
          </a:blip>
          <a:stretch>
            <a:fillRect/>
          </a:stretch>
        </p:blipFill>
        <p:spPr>
          <a:xfrm>
            <a:off x="4274725" y="660700"/>
            <a:ext cx="4521551" cy="3594275"/>
          </a:xfrm>
          <a:prstGeom prst="rect">
            <a:avLst/>
          </a:prstGeom>
          <a:noFill/>
          <a:ln>
            <a:noFill/>
          </a:ln>
        </p:spPr>
      </p:pic>
      <p:sp>
        <p:nvSpPr>
          <p:cNvPr id="103" name="Google Shape;103;p19"/>
          <p:cNvSpPr txBox="1"/>
          <p:nvPr/>
        </p:nvSpPr>
        <p:spPr>
          <a:xfrm>
            <a:off x="168900" y="750325"/>
            <a:ext cx="4403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2200">
                <a:solidFill>
                  <a:schemeClr val="lt1"/>
                </a:solidFill>
                <a:latin typeface="Proxima Nova"/>
                <a:ea typeface="Proxima Nova"/>
                <a:cs typeface="Proxima Nova"/>
                <a:sym typeface="Proxima Nova"/>
              </a:rPr>
              <a:t>Underlying Democratic Values</a:t>
            </a:r>
            <a:endParaRPr i="1" sz="2200"/>
          </a:p>
        </p:txBody>
      </p:sp>
      <p:sp>
        <p:nvSpPr>
          <p:cNvPr id="104" name="Google Shape;104;p19"/>
          <p:cNvSpPr txBox="1"/>
          <p:nvPr/>
        </p:nvSpPr>
        <p:spPr>
          <a:xfrm>
            <a:off x="497950" y="1346975"/>
            <a:ext cx="4403100" cy="2555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2200">
                <a:solidFill>
                  <a:schemeClr val="lt1"/>
                </a:solidFill>
                <a:latin typeface="Proxima Nova"/>
                <a:ea typeface="Proxima Nova"/>
                <a:cs typeface="Proxima Nova"/>
                <a:sym typeface="Proxima Nova"/>
              </a:rPr>
              <a:t>1. Liberty</a:t>
            </a:r>
            <a:endParaRPr i="1" sz="22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22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2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2200">
                <a:solidFill>
                  <a:schemeClr val="lt1"/>
                </a:solidFill>
                <a:latin typeface="Proxima Nova"/>
                <a:ea typeface="Proxima Nova"/>
                <a:cs typeface="Proxima Nova"/>
                <a:sym typeface="Proxima Nova"/>
              </a:rPr>
              <a:t>2. Equality</a:t>
            </a:r>
            <a:endParaRPr i="1" sz="22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22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22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2200">
                <a:solidFill>
                  <a:schemeClr val="lt1"/>
                </a:solidFill>
                <a:latin typeface="Proxima Nova"/>
                <a:ea typeface="Proxima Nova"/>
                <a:cs typeface="Proxima Nova"/>
                <a:sym typeface="Proxima Nova"/>
              </a:rPr>
              <a:t>3. Transparency</a:t>
            </a:r>
            <a:endParaRPr i="1" sz="2200">
              <a:solidFill>
                <a:schemeClr val="lt1"/>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20"/>
          <p:cNvPicPr preferRelativeResize="0"/>
          <p:nvPr/>
        </p:nvPicPr>
        <p:blipFill>
          <a:blip r:embed="rId3">
            <a:alphaModFix/>
          </a:blip>
          <a:stretch>
            <a:fillRect/>
          </a:stretch>
        </p:blipFill>
        <p:spPr>
          <a:xfrm>
            <a:off x="0" y="0"/>
            <a:ext cx="9144000" cy="5143500"/>
          </a:xfrm>
          <a:prstGeom prst="rect">
            <a:avLst/>
          </a:prstGeom>
          <a:noFill/>
          <a:ln>
            <a:noFill/>
          </a:ln>
        </p:spPr>
      </p:pic>
      <p:sp>
        <p:nvSpPr>
          <p:cNvPr id="110" name="Google Shape;110;p20"/>
          <p:cNvSpPr txBox="1"/>
          <p:nvPr/>
        </p:nvSpPr>
        <p:spPr>
          <a:xfrm>
            <a:off x="1382125" y="1283425"/>
            <a:ext cx="6535500" cy="2401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3600">
                <a:solidFill>
                  <a:schemeClr val="lt1"/>
                </a:solidFill>
                <a:latin typeface="Proxima Nova"/>
                <a:ea typeface="Proxima Nova"/>
                <a:cs typeface="Proxima Nova"/>
                <a:sym typeface="Proxima Nova"/>
              </a:rPr>
              <a:t>QUESTION: HOW HAS BITCOIN UPHELD DEMOCRACY IN YOUR OWN LIFE? </a:t>
            </a:r>
            <a:endParaRPr sz="3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pic>
        <p:nvPicPr>
          <p:cNvPr id="115" name="Google Shape;115;p21"/>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116" name="Google Shape;116;p21"/>
          <p:cNvPicPr preferRelativeResize="0"/>
          <p:nvPr/>
        </p:nvPicPr>
        <p:blipFill>
          <a:blip r:embed="rId4">
            <a:alphaModFix/>
          </a:blip>
          <a:stretch>
            <a:fillRect/>
          </a:stretch>
        </p:blipFill>
        <p:spPr>
          <a:xfrm>
            <a:off x="3977375" y="1046500"/>
            <a:ext cx="4770900" cy="2922175"/>
          </a:xfrm>
          <a:prstGeom prst="rect">
            <a:avLst/>
          </a:prstGeom>
          <a:noFill/>
          <a:ln>
            <a:noFill/>
          </a:ln>
        </p:spPr>
      </p:pic>
      <p:sp>
        <p:nvSpPr>
          <p:cNvPr id="117" name="Google Shape;117;p21"/>
          <p:cNvSpPr txBox="1"/>
          <p:nvPr/>
        </p:nvSpPr>
        <p:spPr>
          <a:xfrm>
            <a:off x="227075" y="967525"/>
            <a:ext cx="3633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1. Centralized Authority: Russia operated under a ‘power vertical’ with federally concentrates authority</a:t>
            </a:r>
            <a:endParaRPr/>
          </a:p>
        </p:txBody>
      </p:sp>
      <p:sp>
        <p:nvSpPr>
          <p:cNvPr id="118" name="Google Shape;118;p21"/>
          <p:cNvSpPr txBox="1"/>
          <p:nvPr/>
        </p:nvSpPr>
        <p:spPr>
          <a:xfrm>
            <a:off x="227075" y="2225625"/>
            <a:ext cx="3562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2. Executive Dominance: Power to issues decrees, appoint key officials, and ensure </a:t>
            </a:r>
            <a:r>
              <a:rPr i="1" lang="en" sz="1600">
                <a:solidFill>
                  <a:schemeClr val="lt1"/>
                </a:solidFill>
                <a:latin typeface="Proxima Nova"/>
                <a:ea typeface="Proxima Nova"/>
                <a:cs typeface="Proxima Nova"/>
                <a:sym typeface="Proxima Nova"/>
              </a:rPr>
              <a:t>loyalty</a:t>
            </a:r>
            <a:r>
              <a:rPr i="1" lang="en" sz="1600">
                <a:solidFill>
                  <a:schemeClr val="lt1"/>
                </a:solidFill>
                <a:latin typeface="Proxima Nova"/>
                <a:ea typeface="Proxima Nova"/>
                <a:cs typeface="Proxima Nova"/>
                <a:sym typeface="Proxima Nova"/>
              </a:rPr>
              <a:t>. </a:t>
            </a:r>
            <a:endParaRPr/>
          </a:p>
        </p:txBody>
      </p:sp>
      <p:sp>
        <p:nvSpPr>
          <p:cNvPr id="119" name="Google Shape;119;p21"/>
          <p:cNvSpPr txBox="1"/>
          <p:nvPr/>
        </p:nvSpPr>
        <p:spPr>
          <a:xfrm>
            <a:off x="191975" y="3266550"/>
            <a:ext cx="3633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3. </a:t>
            </a:r>
            <a:r>
              <a:rPr i="1" lang="en" sz="1600">
                <a:solidFill>
                  <a:schemeClr val="lt1"/>
                </a:solidFill>
                <a:latin typeface="Proxima Nova"/>
                <a:ea typeface="Proxima Nova"/>
                <a:cs typeface="Proxima Nova"/>
                <a:sym typeface="Proxima Nova"/>
              </a:rPr>
              <a:t>Limited</a:t>
            </a:r>
            <a:r>
              <a:rPr i="1" lang="en" sz="1600">
                <a:solidFill>
                  <a:schemeClr val="lt1"/>
                </a:solidFill>
                <a:latin typeface="Proxima Nova"/>
                <a:ea typeface="Proxima Nova"/>
                <a:cs typeface="Proxima Nova"/>
                <a:sym typeface="Proxima Nova"/>
              </a:rPr>
              <a:t> Legislature &amp; Judiciary:</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Favoritism towards the executive, undermining of checks and balances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p:cNvPicPr preferRelativeResize="0"/>
          <p:nvPr/>
        </p:nvPicPr>
        <p:blipFill>
          <a:blip r:embed="rId3">
            <a:alphaModFix/>
          </a:blip>
          <a:stretch>
            <a:fillRect/>
          </a:stretch>
        </p:blipFill>
        <p:spPr>
          <a:xfrm>
            <a:off x="0" y="0"/>
            <a:ext cx="9144000" cy="5143500"/>
          </a:xfrm>
          <a:prstGeom prst="rect">
            <a:avLst/>
          </a:prstGeom>
          <a:noFill/>
          <a:ln>
            <a:noFill/>
          </a:ln>
        </p:spPr>
      </p:pic>
      <p:sp>
        <p:nvSpPr>
          <p:cNvPr id="125" name="Google Shape;125;p22"/>
          <p:cNvSpPr txBox="1"/>
          <p:nvPr/>
        </p:nvSpPr>
        <p:spPr>
          <a:xfrm>
            <a:off x="478900" y="1320675"/>
            <a:ext cx="28530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1. Rentier Economy: A system where the state derives some of its revenue from renting out natural resources like oil or gas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6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600">
                <a:solidFill>
                  <a:schemeClr val="lt1"/>
                </a:solidFill>
                <a:latin typeface="Proxima Nova"/>
                <a:ea typeface="Proxima Nova"/>
                <a:cs typeface="Proxima Nova"/>
                <a:sym typeface="Proxima Nova"/>
              </a:rPr>
              <a:t>2. SWIFT: Society for Worldwide Interbank Financial Telecommunication </a:t>
            </a:r>
            <a:endParaRPr/>
          </a:p>
        </p:txBody>
      </p:sp>
      <p:pic>
        <p:nvPicPr>
          <p:cNvPr id="126" name="Google Shape;126;p22"/>
          <p:cNvPicPr preferRelativeResize="0"/>
          <p:nvPr/>
        </p:nvPicPr>
        <p:blipFill>
          <a:blip r:embed="rId4">
            <a:alphaModFix/>
          </a:blip>
          <a:stretch>
            <a:fillRect/>
          </a:stretch>
        </p:blipFill>
        <p:spPr>
          <a:xfrm>
            <a:off x="3684125" y="760225"/>
            <a:ext cx="4885050" cy="3218326"/>
          </a:xfrm>
          <a:prstGeom prst="rect">
            <a:avLst/>
          </a:prstGeom>
          <a:noFill/>
          <a:ln>
            <a:noFill/>
          </a:ln>
        </p:spPr>
      </p:pic>
      <p:sp>
        <p:nvSpPr>
          <p:cNvPr id="127" name="Google Shape;127;p22"/>
          <p:cNvSpPr txBox="1"/>
          <p:nvPr/>
        </p:nvSpPr>
        <p:spPr>
          <a:xfrm>
            <a:off x="-256650" y="681250"/>
            <a:ext cx="4403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2200">
                <a:solidFill>
                  <a:schemeClr val="lt1"/>
                </a:solidFill>
                <a:latin typeface="Proxima Nova"/>
                <a:ea typeface="Proxima Nova"/>
                <a:cs typeface="Proxima Nova"/>
                <a:sym typeface="Proxima Nova"/>
              </a:rPr>
              <a:t>                   KEY TERMS</a:t>
            </a:r>
            <a:endParaRPr i="1" sz="2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p:cNvPicPr preferRelativeResize="0"/>
          <p:nvPr/>
        </p:nvPicPr>
        <p:blipFill>
          <a:blip r:embed="rId3">
            <a:alphaModFix/>
          </a:blip>
          <a:stretch>
            <a:fillRect/>
          </a:stretch>
        </p:blipFill>
        <p:spPr>
          <a:xfrm>
            <a:off x="0" y="0"/>
            <a:ext cx="9144000" cy="5143500"/>
          </a:xfrm>
          <a:prstGeom prst="rect">
            <a:avLst/>
          </a:prstGeom>
          <a:noFill/>
          <a:ln>
            <a:noFill/>
          </a:ln>
        </p:spPr>
      </p:pic>
      <p:pic>
        <p:nvPicPr>
          <p:cNvPr descr="SoFi is the exclusive partner app of The Best Business Show. Visit https://sofi.com/pomp for more info and start investing today&#10;&#10;Subscribe to the NEW Best Business Show Live Channel. This channel will be only be clips from the show only going forward&#10;https://www.youtube.com/channel/UCgE46TG0RwAkaolFgH-MTYg&#10;&#10;The Best Business Show Is LIVE 11AM-1PM EST Monday - Friday discussing Bitcoin, Finance, Crypto &amp; everything in between. &#10;&#10;Check out our Store! https://thebestbusinessshow.com/&#10;&#10;Pomp writes a daily letter to over 185,000 investors about business, technology, and finance. He breaks down complex topics into easy-to-understand language while sharing opinions on various aspects of each industry. You can subscribe at https://pomp.substack.com/&#10;&#10;Follow Pomp on social media:&#10;Twitter: https://twitter.com/APompliano&#10;Instagram: https://www.instagram.com/pompglobal/&#10;LinkedIn: https://www.linkedin.com/in/anthonypompliano/&#10;Website: https://anthonypompliano.com/&#10;&#10;#AnthonyPompliano #Pomp #Bitcoin #Finance #Business" id="133" name="Google Shape;133;p23" title="Vladimir Putin Loves Bitcoin?">
            <a:hlinkClick r:id="rId4"/>
          </p:cNvPr>
          <p:cNvPicPr preferRelativeResize="0"/>
          <p:nvPr/>
        </p:nvPicPr>
        <p:blipFill>
          <a:blip r:embed="rId5">
            <a:alphaModFix/>
          </a:blip>
          <a:stretch>
            <a:fillRect/>
          </a:stretch>
        </p:blipFill>
        <p:spPr>
          <a:xfrm>
            <a:off x="1419788" y="638425"/>
            <a:ext cx="6482125" cy="3646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4"/>
          <p:cNvPicPr preferRelativeResize="0"/>
          <p:nvPr/>
        </p:nvPicPr>
        <p:blipFill>
          <a:blip r:embed="rId3">
            <a:alphaModFix/>
          </a:blip>
          <a:stretch>
            <a:fillRect/>
          </a:stretch>
        </p:blipFill>
        <p:spPr>
          <a:xfrm>
            <a:off x="0" y="0"/>
            <a:ext cx="9144000" cy="5143500"/>
          </a:xfrm>
          <a:prstGeom prst="rect">
            <a:avLst/>
          </a:prstGeom>
          <a:noFill/>
          <a:ln>
            <a:noFill/>
          </a:ln>
        </p:spPr>
      </p:pic>
      <p:sp>
        <p:nvSpPr>
          <p:cNvPr id="139" name="Google Shape;139;p24"/>
          <p:cNvSpPr txBox="1"/>
          <p:nvPr/>
        </p:nvSpPr>
        <p:spPr>
          <a:xfrm>
            <a:off x="776100" y="1293300"/>
            <a:ext cx="7591800" cy="3509400"/>
          </a:xfrm>
          <a:prstGeom prst="rect">
            <a:avLst/>
          </a:prstGeom>
          <a:noFill/>
          <a:ln>
            <a:noFill/>
          </a:ln>
        </p:spPr>
        <p:txBody>
          <a:bodyPr anchorCtr="0" anchor="t" bIns="91425" lIns="91425" spcFirstLastPara="1" rIns="91425" wrap="square" tIns="91425">
            <a:spAutoFit/>
          </a:bodyPr>
          <a:lstStyle/>
          <a:p>
            <a:pPr indent="-381000" lvl="0" marL="457200" rtl="0" algn="ctr">
              <a:spcBef>
                <a:spcPts val="0"/>
              </a:spcBef>
              <a:spcAft>
                <a:spcPts val="0"/>
              </a:spcAft>
              <a:buClr>
                <a:schemeClr val="lt1"/>
              </a:buClr>
              <a:buSzPts val="2400"/>
              <a:buFont typeface="Proxima Nova"/>
              <a:buAutoNum type="arabicPeriod"/>
            </a:pPr>
            <a:r>
              <a:rPr i="1" lang="en" sz="2400">
                <a:solidFill>
                  <a:schemeClr val="lt1"/>
                </a:solidFill>
                <a:latin typeface="Proxima Nova"/>
                <a:ea typeface="Proxima Nova"/>
                <a:cs typeface="Proxima Nova"/>
                <a:sym typeface="Proxima Nova"/>
              </a:rPr>
              <a:t>Given the Government’s control over both resources and financial systems, do you think the adoption of cryptocurrency like Bitcoin could eventually empower Russian citizens and challenge state authority?</a:t>
            </a:r>
            <a:endParaRPr i="1" sz="2400">
              <a:solidFill>
                <a:schemeClr val="lt1"/>
              </a:solidFill>
              <a:latin typeface="Proxima Nova"/>
              <a:ea typeface="Proxima Nova"/>
              <a:cs typeface="Proxima Nova"/>
              <a:sym typeface="Proxima Nova"/>
            </a:endParaRPr>
          </a:p>
          <a:p>
            <a:pPr indent="0" lvl="0" marL="457200" rtl="0" algn="l">
              <a:spcBef>
                <a:spcPts val="0"/>
              </a:spcBef>
              <a:spcAft>
                <a:spcPts val="0"/>
              </a:spcAft>
              <a:buNone/>
            </a:pPr>
            <a:r>
              <a:t/>
            </a:r>
            <a:endParaRPr i="1" sz="2400">
              <a:solidFill>
                <a:schemeClr val="lt1"/>
              </a:solidFill>
              <a:latin typeface="Proxima Nova"/>
              <a:ea typeface="Proxima Nova"/>
              <a:cs typeface="Proxima Nova"/>
              <a:sym typeface="Proxima Nova"/>
            </a:endParaRPr>
          </a:p>
          <a:p>
            <a:pPr indent="0" lvl="0" marL="457200" rtl="0" algn="ctr">
              <a:spcBef>
                <a:spcPts val="0"/>
              </a:spcBef>
              <a:spcAft>
                <a:spcPts val="0"/>
              </a:spcAft>
              <a:buNone/>
            </a:pPr>
            <a:r>
              <a:rPr i="1" lang="en" sz="2400">
                <a:solidFill>
                  <a:schemeClr val="lt1"/>
                </a:solidFill>
                <a:latin typeface="Proxima Nova"/>
                <a:ea typeface="Proxima Nova"/>
                <a:cs typeface="Proxima Nova"/>
                <a:sym typeface="Proxima Nova"/>
              </a:rPr>
              <a:t>2. Or, will Bitcoin strengthen authoritarian control by helping the government bypass international pressure? </a:t>
            </a:r>
            <a:endParaRPr i="1" sz="2400">
              <a:solidFill>
                <a:schemeClr val="lt1"/>
              </a:solidFill>
              <a:latin typeface="Proxima Nova"/>
              <a:ea typeface="Proxima Nova"/>
              <a:cs typeface="Proxima Nova"/>
              <a:sym typeface="Proxima Nova"/>
            </a:endParaRPr>
          </a:p>
        </p:txBody>
      </p:sp>
      <p:sp>
        <p:nvSpPr>
          <p:cNvPr id="140" name="Google Shape;140;p24"/>
          <p:cNvSpPr txBox="1"/>
          <p:nvPr/>
        </p:nvSpPr>
        <p:spPr>
          <a:xfrm>
            <a:off x="1402975" y="128375"/>
            <a:ext cx="65355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6000">
                <a:solidFill>
                  <a:schemeClr val="lt1"/>
                </a:solidFill>
                <a:latin typeface="Proxima Nova"/>
                <a:ea typeface="Proxima Nova"/>
                <a:cs typeface="Proxima Nova"/>
                <a:sym typeface="Proxima Nova"/>
              </a:rPr>
              <a:t>QUESTIONS</a:t>
            </a:r>
            <a:endParaRPr sz="6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id="145" name="Google Shape;145;p25"/>
          <p:cNvPicPr preferRelativeResize="0"/>
          <p:nvPr/>
        </p:nvPicPr>
        <p:blipFill>
          <a:blip r:embed="rId3">
            <a:alphaModFix/>
          </a:blip>
          <a:stretch>
            <a:fillRect/>
          </a:stretch>
        </p:blipFill>
        <p:spPr>
          <a:xfrm>
            <a:off x="0" y="0"/>
            <a:ext cx="9144000" cy="5143500"/>
          </a:xfrm>
          <a:prstGeom prst="rect">
            <a:avLst/>
          </a:prstGeom>
          <a:noFill/>
          <a:ln>
            <a:noFill/>
          </a:ln>
        </p:spPr>
      </p:pic>
      <p:sp>
        <p:nvSpPr>
          <p:cNvPr id="146" name="Google Shape;146;p25"/>
          <p:cNvSpPr txBox="1"/>
          <p:nvPr/>
        </p:nvSpPr>
        <p:spPr>
          <a:xfrm>
            <a:off x="2260750" y="98750"/>
            <a:ext cx="6387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4800">
                <a:solidFill>
                  <a:schemeClr val="lt1"/>
                </a:solidFill>
                <a:latin typeface="Proxima Nova"/>
                <a:ea typeface="Proxima Nova"/>
                <a:cs typeface="Proxima Nova"/>
                <a:sym typeface="Proxima Nova"/>
              </a:rPr>
              <a:t>BRIEF TIMELINE</a:t>
            </a:r>
            <a:endParaRPr i="1" sz="4800"/>
          </a:p>
        </p:txBody>
      </p:sp>
      <p:sp>
        <p:nvSpPr>
          <p:cNvPr id="147" name="Google Shape;147;p25"/>
          <p:cNvSpPr txBox="1"/>
          <p:nvPr/>
        </p:nvSpPr>
        <p:spPr>
          <a:xfrm>
            <a:off x="386725" y="939975"/>
            <a:ext cx="4941000" cy="3786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chemeClr val="lt1"/>
                </a:solidFill>
                <a:latin typeface="Proxima Nova"/>
                <a:ea typeface="Proxima Nova"/>
                <a:cs typeface="Proxima Nova"/>
                <a:sym typeface="Proxima Nova"/>
              </a:rPr>
              <a:t>1. 1982: Turkey established a constitutional parliamentary democracy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800">
                <a:solidFill>
                  <a:schemeClr val="lt1"/>
                </a:solidFill>
                <a:latin typeface="Proxima Nova"/>
                <a:ea typeface="Proxima Nova"/>
                <a:cs typeface="Proxima Nova"/>
                <a:sym typeface="Proxima Nova"/>
              </a:rPr>
              <a:t>2. 2003: Tayyip Erdogan becomes prime minister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800">
                <a:solidFill>
                  <a:schemeClr val="lt1"/>
                </a:solidFill>
                <a:latin typeface="Proxima Nova"/>
                <a:ea typeface="Proxima Nova"/>
                <a:cs typeface="Proxima Nova"/>
                <a:sym typeface="Proxima Nova"/>
              </a:rPr>
              <a:t>3. 2013: The Gezi Park protests mark a shift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800">
                <a:solidFill>
                  <a:schemeClr val="lt1"/>
                </a:solidFill>
                <a:latin typeface="Proxima Nova"/>
                <a:ea typeface="Proxima Nova"/>
                <a:cs typeface="Proxima Nova"/>
                <a:sym typeface="Proxima Nova"/>
              </a:rPr>
              <a:t>4. 2014: Erdogan elected president</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800">
                <a:solidFill>
                  <a:schemeClr val="lt1"/>
                </a:solidFill>
                <a:latin typeface="Proxima Nova"/>
                <a:ea typeface="Proxima Nova"/>
                <a:cs typeface="Proxima Nova"/>
                <a:sym typeface="Proxima Nova"/>
              </a:rPr>
              <a:t>5. 2016: Failed Coup and State of Emergency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800">
                <a:solidFill>
                  <a:schemeClr val="lt1"/>
                </a:solidFill>
                <a:latin typeface="Proxima Nova"/>
                <a:ea typeface="Proxima Nova"/>
                <a:cs typeface="Proxima Nova"/>
                <a:sym typeface="Proxima Nova"/>
              </a:rPr>
              <a:t>6. 2017: The constitutional referendum </a:t>
            </a:r>
            <a:endParaRPr i="1" sz="1800">
              <a:solidFill>
                <a:schemeClr val="lt1"/>
              </a:solidFill>
              <a:latin typeface="Proxima Nova"/>
              <a:ea typeface="Proxima Nova"/>
              <a:cs typeface="Proxima Nova"/>
              <a:sym typeface="Proxima Nova"/>
            </a:endParaRPr>
          </a:p>
        </p:txBody>
      </p:sp>
      <p:pic>
        <p:nvPicPr>
          <p:cNvPr id="148" name="Google Shape;148;p25"/>
          <p:cNvPicPr preferRelativeResize="0"/>
          <p:nvPr/>
        </p:nvPicPr>
        <p:blipFill>
          <a:blip r:embed="rId4">
            <a:alphaModFix/>
          </a:blip>
          <a:stretch>
            <a:fillRect/>
          </a:stretch>
        </p:blipFill>
        <p:spPr>
          <a:xfrm>
            <a:off x="5155301" y="1349400"/>
            <a:ext cx="3755250" cy="282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pic>
        <p:nvPicPr>
          <p:cNvPr id="153" name="Google Shape;153;p26"/>
          <p:cNvPicPr preferRelativeResize="0"/>
          <p:nvPr/>
        </p:nvPicPr>
        <p:blipFill>
          <a:blip r:embed="rId3">
            <a:alphaModFix/>
          </a:blip>
          <a:stretch>
            <a:fillRect/>
          </a:stretch>
        </p:blipFill>
        <p:spPr>
          <a:xfrm>
            <a:off x="0" y="0"/>
            <a:ext cx="9144000" cy="5143500"/>
          </a:xfrm>
          <a:prstGeom prst="rect">
            <a:avLst/>
          </a:prstGeom>
          <a:noFill/>
          <a:ln>
            <a:noFill/>
          </a:ln>
        </p:spPr>
      </p:pic>
      <p:pic>
        <p:nvPicPr>
          <p:cNvPr id="154" name="Google Shape;154;p26"/>
          <p:cNvPicPr preferRelativeResize="0"/>
          <p:nvPr/>
        </p:nvPicPr>
        <p:blipFill>
          <a:blip r:embed="rId4">
            <a:alphaModFix/>
          </a:blip>
          <a:stretch>
            <a:fillRect/>
          </a:stretch>
        </p:blipFill>
        <p:spPr>
          <a:xfrm>
            <a:off x="4019300" y="646650"/>
            <a:ext cx="4815949" cy="3850201"/>
          </a:xfrm>
          <a:prstGeom prst="rect">
            <a:avLst/>
          </a:prstGeom>
          <a:noFill/>
          <a:ln>
            <a:noFill/>
          </a:ln>
        </p:spPr>
      </p:pic>
      <p:sp>
        <p:nvSpPr>
          <p:cNvPr id="155" name="Google Shape;155;p26"/>
          <p:cNvSpPr txBox="1"/>
          <p:nvPr/>
        </p:nvSpPr>
        <p:spPr>
          <a:xfrm>
            <a:off x="167850" y="947775"/>
            <a:ext cx="44622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900">
                <a:solidFill>
                  <a:schemeClr val="lt1"/>
                </a:solidFill>
                <a:latin typeface="Proxima Nova"/>
                <a:ea typeface="Proxima Nova"/>
                <a:cs typeface="Proxima Nova"/>
                <a:sym typeface="Proxima Nova"/>
              </a:rPr>
              <a:t>Elements of a Declining Economy</a:t>
            </a:r>
            <a:endParaRPr i="1" sz="1900"/>
          </a:p>
        </p:txBody>
      </p:sp>
      <p:sp>
        <p:nvSpPr>
          <p:cNvPr id="156" name="Google Shape;156;p26"/>
          <p:cNvSpPr txBox="1"/>
          <p:nvPr/>
        </p:nvSpPr>
        <p:spPr>
          <a:xfrm>
            <a:off x="720675" y="1579550"/>
            <a:ext cx="30000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chemeClr val="lt1"/>
                </a:solidFill>
                <a:latin typeface="Proxima Nova"/>
                <a:ea typeface="Proxima Nova"/>
                <a:cs typeface="Proxima Nova"/>
                <a:sym typeface="Proxima Nova"/>
              </a:rPr>
              <a:t>1. Recession</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800">
                <a:solidFill>
                  <a:schemeClr val="lt1"/>
                </a:solidFill>
                <a:latin typeface="Proxima Nova"/>
                <a:ea typeface="Proxima Nova"/>
                <a:cs typeface="Proxima Nova"/>
                <a:sym typeface="Proxima Nova"/>
              </a:rPr>
              <a:t>2. Inflation</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t/>
            </a:r>
            <a:endParaRPr i="1" sz="1800">
              <a:solidFill>
                <a:schemeClr val="lt1"/>
              </a:solidFill>
              <a:latin typeface="Proxima Nova"/>
              <a:ea typeface="Proxima Nova"/>
              <a:cs typeface="Proxima Nova"/>
              <a:sym typeface="Proxima Nova"/>
            </a:endParaRPr>
          </a:p>
          <a:p>
            <a:pPr indent="0" lvl="0" marL="0" rtl="0" algn="l">
              <a:spcBef>
                <a:spcPts val="0"/>
              </a:spcBef>
              <a:spcAft>
                <a:spcPts val="0"/>
              </a:spcAft>
              <a:buNone/>
            </a:pPr>
            <a:r>
              <a:rPr i="1" lang="en" sz="1800">
                <a:solidFill>
                  <a:schemeClr val="lt1"/>
                </a:solidFill>
                <a:latin typeface="Proxima Nova"/>
                <a:ea typeface="Proxima Nova"/>
                <a:cs typeface="Proxima Nova"/>
                <a:sym typeface="Proxima Nova"/>
              </a:rPr>
              <a:t>3. Unemployment</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id="161" name="Google Shape;161;p27"/>
          <p:cNvPicPr preferRelativeResize="0"/>
          <p:nvPr/>
        </p:nvPicPr>
        <p:blipFill>
          <a:blip r:embed="rId3">
            <a:alphaModFix/>
          </a:blip>
          <a:stretch>
            <a:fillRect/>
          </a:stretch>
        </p:blipFill>
        <p:spPr>
          <a:xfrm>
            <a:off x="0" y="0"/>
            <a:ext cx="9144000" cy="5143500"/>
          </a:xfrm>
          <a:prstGeom prst="rect">
            <a:avLst/>
          </a:prstGeom>
          <a:noFill/>
          <a:ln>
            <a:noFill/>
          </a:ln>
        </p:spPr>
      </p:pic>
      <p:pic>
        <p:nvPicPr>
          <p:cNvPr descr="With inflation in Turkey soaring and the value of the Turkish lira sliding, many Turks have ditched their local currency and moved money into cryptocurrencies like bitcoin and tether. So what does this all mean for Turkey’s economy and the broader crypto market? I headed into WSJ’s New York office to make calls and learn more. &#10;&#10;0:00 Intro&#10;1:02 Why did the Turkish lira plunge so quickly?&#10;2:03 Is crypto the answer to Turkey’s inflation problem?&#10;4:04 What Turkey’s crypto trend means for the global economy&#10;&#10;#Turkey #Crypto #ShelbyHolliday" id="162" name="Google Shape;162;p27" title="Why Spiraling Inflation is Pushing Turks Into Cryptocurrencies">
            <a:hlinkClick r:id="rId4"/>
          </p:cNvPr>
          <p:cNvPicPr preferRelativeResize="0"/>
          <p:nvPr/>
        </p:nvPicPr>
        <p:blipFill>
          <a:blip r:embed="rId5">
            <a:alphaModFix/>
          </a:blip>
          <a:stretch>
            <a:fillRect/>
          </a:stretch>
        </p:blipFill>
        <p:spPr>
          <a:xfrm>
            <a:off x="1183038" y="531275"/>
            <a:ext cx="6935875" cy="3901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pic>
        <p:nvPicPr>
          <p:cNvPr id="167" name="Google Shape;167;p28"/>
          <p:cNvPicPr preferRelativeResize="0"/>
          <p:nvPr/>
        </p:nvPicPr>
        <p:blipFill>
          <a:blip r:embed="rId3">
            <a:alphaModFix/>
          </a:blip>
          <a:stretch>
            <a:fillRect/>
          </a:stretch>
        </p:blipFill>
        <p:spPr>
          <a:xfrm>
            <a:off x="0" y="0"/>
            <a:ext cx="9144000" cy="5143500"/>
          </a:xfrm>
          <a:prstGeom prst="rect">
            <a:avLst/>
          </a:prstGeom>
          <a:noFill/>
          <a:ln>
            <a:noFill/>
          </a:ln>
        </p:spPr>
      </p:pic>
      <p:sp>
        <p:nvSpPr>
          <p:cNvPr id="168" name="Google Shape;168;p28"/>
          <p:cNvSpPr txBox="1"/>
          <p:nvPr/>
        </p:nvSpPr>
        <p:spPr>
          <a:xfrm>
            <a:off x="1402975" y="128375"/>
            <a:ext cx="65355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6000">
                <a:solidFill>
                  <a:schemeClr val="lt1"/>
                </a:solidFill>
                <a:latin typeface="Proxima Nova"/>
                <a:ea typeface="Proxima Nova"/>
                <a:cs typeface="Proxima Nova"/>
                <a:sym typeface="Proxima Nova"/>
              </a:rPr>
              <a:t>QUESTIONS</a:t>
            </a:r>
            <a:endParaRPr sz="6000"/>
          </a:p>
        </p:txBody>
      </p:sp>
      <p:sp>
        <p:nvSpPr>
          <p:cNvPr id="169" name="Google Shape;169;p28"/>
          <p:cNvSpPr txBox="1"/>
          <p:nvPr/>
        </p:nvSpPr>
        <p:spPr>
          <a:xfrm>
            <a:off x="776100" y="1293300"/>
            <a:ext cx="7591800" cy="2770500"/>
          </a:xfrm>
          <a:prstGeom prst="rect">
            <a:avLst/>
          </a:prstGeom>
          <a:noFill/>
          <a:ln>
            <a:noFill/>
          </a:ln>
        </p:spPr>
        <p:txBody>
          <a:bodyPr anchorCtr="0" anchor="t" bIns="91425" lIns="91425" spcFirstLastPara="1" rIns="91425" wrap="square" tIns="91425">
            <a:spAutoFit/>
          </a:bodyPr>
          <a:lstStyle/>
          <a:p>
            <a:pPr indent="-381000" lvl="0" marL="457200" rtl="0" algn="ctr">
              <a:spcBef>
                <a:spcPts val="0"/>
              </a:spcBef>
              <a:spcAft>
                <a:spcPts val="0"/>
              </a:spcAft>
              <a:buClr>
                <a:schemeClr val="lt1"/>
              </a:buClr>
              <a:buSzPts val="2400"/>
              <a:buFont typeface="Proxima Nova"/>
              <a:buAutoNum type="arabicPeriod"/>
            </a:pPr>
            <a:r>
              <a:rPr i="1" lang="en" sz="2400">
                <a:solidFill>
                  <a:schemeClr val="lt1"/>
                </a:solidFill>
                <a:latin typeface="Proxima Nova"/>
                <a:ea typeface="Proxima Nova"/>
                <a:cs typeface="Proxima Nova"/>
                <a:sym typeface="Proxima Nova"/>
              </a:rPr>
              <a:t>How do you think Bitcoin can be used as a tool to reduce Erdogan’s control over the economy and reinstate financial democracy?</a:t>
            </a:r>
            <a:endParaRPr i="1" sz="2400">
              <a:solidFill>
                <a:schemeClr val="lt1"/>
              </a:solidFill>
              <a:latin typeface="Proxima Nova"/>
              <a:ea typeface="Proxima Nova"/>
              <a:cs typeface="Proxima Nova"/>
              <a:sym typeface="Proxima Nova"/>
            </a:endParaRPr>
          </a:p>
          <a:p>
            <a:pPr indent="0" lvl="0" marL="457200" rtl="0" algn="l">
              <a:spcBef>
                <a:spcPts val="0"/>
              </a:spcBef>
              <a:spcAft>
                <a:spcPts val="0"/>
              </a:spcAft>
              <a:buNone/>
            </a:pPr>
            <a:r>
              <a:t/>
            </a:r>
            <a:endParaRPr i="1" sz="2400">
              <a:solidFill>
                <a:schemeClr val="lt1"/>
              </a:solidFill>
              <a:latin typeface="Proxima Nova"/>
              <a:ea typeface="Proxima Nova"/>
              <a:cs typeface="Proxima Nova"/>
              <a:sym typeface="Proxima Nova"/>
            </a:endParaRPr>
          </a:p>
          <a:p>
            <a:pPr indent="0" lvl="0" marL="457200" rtl="0" algn="ctr">
              <a:spcBef>
                <a:spcPts val="0"/>
              </a:spcBef>
              <a:spcAft>
                <a:spcPts val="0"/>
              </a:spcAft>
              <a:buNone/>
            </a:pPr>
            <a:r>
              <a:rPr i="1" lang="en" sz="2400">
                <a:solidFill>
                  <a:schemeClr val="lt1"/>
                </a:solidFill>
                <a:latin typeface="Proxima Nova"/>
                <a:ea typeface="Proxima Nova"/>
                <a:cs typeface="Proxima Nova"/>
                <a:sym typeface="Proxima Nova"/>
              </a:rPr>
              <a:t>2. And, how do you think Bitcoin compares to </a:t>
            </a:r>
            <a:r>
              <a:rPr i="1" lang="en" sz="2400">
                <a:solidFill>
                  <a:schemeClr val="lt1"/>
                </a:solidFill>
                <a:latin typeface="Proxima Nova"/>
                <a:ea typeface="Proxima Nova"/>
                <a:cs typeface="Proxima Nova"/>
                <a:sym typeface="Proxima Nova"/>
              </a:rPr>
              <a:t>tether</a:t>
            </a:r>
            <a:r>
              <a:rPr i="1" lang="en" sz="2400">
                <a:solidFill>
                  <a:schemeClr val="lt1"/>
                </a:solidFill>
                <a:latin typeface="Proxima Nova"/>
                <a:ea typeface="Proxima Nova"/>
                <a:cs typeface="Proxima Nova"/>
                <a:sym typeface="Proxima Nova"/>
              </a:rPr>
              <a:t> as a tool for providing financial stability and reducing government control?</a:t>
            </a:r>
            <a:endParaRPr i="1" sz="2400">
              <a:solidFill>
                <a:schemeClr val="lt1"/>
              </a:solidFill>
              <a:latin typeface="Proxima Nova"/>
              <a:ea typeface="Proxima Nova"/>
              <a:cs typeface="Proxima Nova"/>
              <a:sym typeface="Proxima Nov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29"/>
          <p:cNvPicPr preferRelativeResize="0"/>
          <p:nvPr/>
        </p:nvPicPr>
        <p:blipFill>
          <a:blip r:embed="rId3">
            <a:alphaModFix/>
          </a:blip>
          <a:stretch>
            <a:fillRect/>
          </a:stretch>
        </p:blipFill>
        <p:spPr>
          <a:xfrm>
            <a:off x="0" y="0"/>
            <a:ext cx="9144000" cy="5143500"/>
          </a:xfrm>
          <a:prstGeom prst="rect">
            <a:avLst/>
          </a:prstGeom>
          <a:noFill/>
          <a:ln>
            <a:noFill/>
          </a:ln>
        </p:spPr>
      </p:pic>
      <p:sp>
        <p:nvSpPr>
          <p:cNvPr id="175" name="Google Shape;175;p29"/>
          <p:cNvSpPr txBox="1"/>
          <p:nvPr/>
        </p:nvSpPr>
        <p:spPr>
          <a:xfrm>
            <a:off x="730550" y="138250"/>
            <a:ext cx="74154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6000">
                <a:solidFill>
                  <a:schemeClr val="lt1"/>
                </a:solidFill>
                <a:latin typeface="Proxima Nova"/>
                <a:ea typeface="Proxima Nova"/>
                <a:cs typeface="Proxima Nova"/>
                <a:sym typeface="Proxima Nova"/>
              </a:rPr>
              <a:t>P.S. BACKGROUND</a:t>
            </a:r>
            <a:endParaRPr sz="6000"/>
          </a:p>
        </p:txBody>
      </p:sp>
      <p:sp>
        <p:nvSpPr>
          <p:cNvPr id="176" name="Google Shape;176;p29"/>
          <p:cNvSpPr txBox="1"/>
          <p:nvPr/>
        </p:nvSpPr>
        <p:spPr>
          <a:xfrm>
            <a:off x="914325" y="1293300"/>
            <a:ext cx="7591800" cy="3010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Clr>
                <a:schemeClr val="dk1"/>
              </a:buClr>
              <a:buSzPts val="1100"/>
              <a:buFont typeface="Arial"/>
              <a:buNone/>
            </a:pPr>
            <a:r>
              <a:rPr i="1" lang="en" sz="1800">
                <a:solidFill>
                  <a:schemeClr val="lt1"/>
                </a:solidFill>
                <a:latin typeface="Proxima Nova"/>
                <a:ea typeface="Proxima Nova"/>
                <a:cs typeface="Proxima Nova"/>
                <a:sym typeface="Proxima Nova"/>
              </a:rPr>
              <a:t>Venezuela has been suffering from one of the worst economic crises in modern history, with hyperinflation rendering the national currency, the bolívar, nearly worthless. As the government under Nicolás Maduro has become increasingly authoritarian, Venezuelans have turned to Bitcoin and other cryptocurrencies as a way to protect their savings and conduct transactions without relying on the collapsing national economy. Meanwhile, the Venezuelan government views Bitcoin with suspicion, fearing that it could undermine state control and be used for illegal activities or to evade government restriction</a:t>
            </a:r>
            <a:r>
              <a:rPr lang="en" sz="1100">
                <a:solidFill>
                  <a:schemeClr val="dk1"/>
                </a:solidFill>
                <a:latin typeface="Times New Roman"/>
                <a:ea typeface="Times New Roman"/>
                <a:cs typeface="Times New Roman"/>
                <a:sym typeface="Times New Roman"/>
              </a:rPr>
              <a:t>s.</a:t>
            </a:r>
            <a:endParaRPr i="1" sz="2400">
              <a:solidFill>
                <a:schemeClr val="lt1"/>
              </a:solidFill>
              <a:latin typeface="Proxima Nova"/>
              <a:ea typeface="Proxima Nova"/>
              <a:cs typeface="Proxima Nova"/>
              <a:sym typeface="Proxima Nov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30"/>
          <p:cNvPicPr preferRelativeResize="0"/>
          <p:nvPr/>
        </p:nvPicPr>
        <p:blipFill>
          <a:blip r:embed="rId3">
            <a:alphaModFix/>
          </a:blip>
          <a:stretch>
            <a:fillRect/>
          </a:stretch>
        </p:blipFill>
        <p:spPr>
          <a:xfrm>
            <a:off x="0" y="0"/>
            <a:ext cx="9144000" cy="5143500"/>
          </a:xfrm>
          <a:prstGeom prst="rect">
            <a:avLst/>
          </a:prstGeom>
          <a:noFill/>
          <a:ln>
            <a:noFill/>
          </a:ln>
        </p:spPr>
      </p:pic>
      <p:sp>
        <p:nvSpPr>
          <p:cNvPr id="182" name="Google Shape;182;p30"/>
          <p:cNvSpPr txBox="1"/>
          <p:nvPr/>
        </p:nvSpPr>
        <p:spPr>
          <a:xfrm>
            <a:off x="1402975" y="128375"/>
            <a:ext cx="65355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6000">
                <a:solidFill>
                  <a:schemeClr val="lt1"/>
                </a:solidFill>
                <a:latin typeface="Proxima Nova"/>
                <a:ea typeface="Proxima Nova"/>
                <a:cs typeface="Proxima Nova"/>
                <a:sym typeface="Proxima Nova"/>
              </a:rPr>
              <a:t>P.S. CHALLENGE</a:t>
            </a:r>
            <a:endParaRPr sz="6000"/>
          </a:p>
        </p:txBody>
      </p:sp>
      <p:sp>
        <p:nvSpPr>
          <p:cNvPr id="183" name="Google Shape;183;p30"/>
          <p:cNvSpPr txBox="1"/>
          <p:nvPr/>
        </p:nvSpPr>
        <p:spPr>
          <a:xfrm>
            <a:off x="953825" y="1293300"/>
            <a:ext cx="7591800" cy="2678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2400">
                <a:solidFill>
                  <a:schemeClr val="lt1"/>
                </a:solidFill>
                <a:latin typeface="Proxima Nova"/>
                <a:ea typeface="Proxima Nova"/>
                <a:cs typeface="Proxima Nova"/>
                <a:sym typeface="Proxima Nova"/>
              </a:rPr>
              <a:t>The Venezuelan government is now considering a new policy on Bitcoin. They must decide whether to regulate, restrict, or promote its use while balancing the need for financial stability, state control, and the welfare of its citizens, many of whom depend on cryptocurrencies for survival.</a:t>
            </a:r>
            <a:endParaRPr i="1" sz="2400">
              <a:solidFill>
                <a:schemeClr val="lt1"/>
              </a:solidFill>
              <a:latin typeface="Proxima Nova"/>
              <a:ea typeface="Proxima Nova"/>
              <a:cs typeface="Proxima Nova"/>
              <a:sym typeface="Proxima Nov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1"/>
          <p:cNvPicPr preferRelativeResize="0"/>
          <p:nvPr/>
        </p:nvPicPr>
        <p:blipFill>
          <a:blip r:embed="rId3">
            <a:alphaModFix/>
          </a:blip>
          <a:stretch>
            <a:fillRect/>
          </a:stretch>
        </p:blipFill>
        <p:spPr>
          <a:xfrm>
            <a:off x="0" y="0"/>
            <a:ext cx="9144000" cy="5143500"/>
          </a:xfrm>
          <a:prstGeom prst="rect">
            <a:avLst/>
          </a:prstGeom>
          <a:noFill/>
          <a:ln>
            <a:noFill/>
          </a:ln>
        </p:spPr>
      </p:pic>
      <p:sp>
        <p:nvSpPr>
          <p:cNvPr id="189" name="Google Shape;189;p31"/>
          <p:cNvSpPr txBox="1"/>
          <p:nvPr/>
        </p:nvSpPr>
        <p:spPr>
          <a:xfrm>
            <a:off x="2425350" y="121550"/>
            <a:ext cx="41946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3600">
                <a:solidFill>
                  <a:schemeClr val="lt1"/>
                </a:solidFill>
                <a:latin typeface="Proxima Nova"/>
                <a:ea typeface="Proxima Nova"/>
                <a:cs typeface="Proxima Nova"/>
                <a:sym typeface="Proxima Nova"/>
              </a:rPr>
              <a:t>P.S. KEY ROLES</a:t>
            </a:r>
            <a:endParaRPr sz="3600"/>
          </a:p>
        </p:txBody>
      </p:sp>
      <p:sp>
        <p:nvSpPr>
          <p:cNvPr id="190" name="Google Shape;190;p31"/>
          <p:cNvSpPr txBox="1"/>
          <p:nvPr/>
        </p:nvSpPr>
        <p:spPr>
          <a:xfrm>
            <a:off x="188375" y="975500"/>
            <a:ext cx="4194600" cy="176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i="1" lang="en" sz="1300">
                <a:solidFill>
                  <a:schemeClr val="lt1"/>
                </a:solidFill>
                <a:latin typeface="Proxima Nova"/>
                <a:ea typeface="Proxima Nova"/>
                <a:cs typeface="Proxima Nova"/>
                <a:sym typeface="Proxima Nova"/>
              </a:rPr>
              <a:t>1. </a:t>
            </a:r>
            <a:r>
              <a:rPr b="1" i="1" lang="en" sz="1300">
                <a:solidFill>
                  <a:schemeClr val="lt1"/>
                </a:solidFill>
                <a:latin typeface="Proxima Nova"/>
                <a:ea typeface="Proxima Nova"/>
                <a:cs typeface="Proxima Nova"/>
                <a:sym typeface="Proxima Nova"/>
              </a:rPr>
              <a:t>Minister of Finance</a:t>
            </a:r>
            <a:r>
              <a:rPr i="1" lang="en" sz="1300">
                <a:solidFill>
                  <a:schemeClr val="lt1"/>
                </a:solidFill>
                <a:latin typeface="Proxima Nova"/>
                <a:ea typeface="Proxima Nova"/>
                <a:cs typeface="Proxima Nova"/>
                <a:sym typeface="Proxima Nova"/>
              </a:rPr>
              <a:t>: You believe Bitcoin poses a serious threat to Venezuela’s economic stability. The government already struggles to maintain control over the bolívar, and allowing widespread use of Bitcoin could further destabilize the currency. You advocate for strict regulation or even banning Bitcoin to protect the state's financial sovereignty.</a:t>
            </a:r>
            <a:endParaRPr i="1" sz="1300">
              <a:solidFill>
                <a:schemeClr val="lt1"/>
              </a:solidFill>
              <a:latin typeface="Proxima Nova"/>
              <a:ea typeface="Proxima Nova"/>
              <a:cs typeface="Proxima Nova"/>
              <a:sym typeface="Proxima Nova"/>
            </a:endParaRPr>
          </a:p>
        </p:txBody>
      </p:sp>
      <p:sp>
        <p:nvSpPr>
          <p:cNvPr id="191" name="Google Shape;191;p31"/>
          <p:cNvSpPr txBox="1"/>
          <p:nvPr/>
        </p:nvSpPr>
        <p:spPr>
          <a:xfrm>
            <a:off x="128825" y="2571750"/>
            <a:ext cx="4313700" cy="199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i="1" lang="en" sz="1300">
                <a:solidFill>
                  <a:schemeClr val="lt1"/>
                </a:solidFill>
                <a:latin typeface="Proxima Nova"/>
                <a:ea typeface="Proxima Nova"/>
                <a:cs typeface="Proxima Nova"/>
                <a:sym typeface="Proxima Nova"/>
              </a:rPr>
              <a:t>2. Cryptocurrency Advocate</a:t>
            </a:r>
            <a:r>
              <a:rPr i="1" lang="en" sz="1300">
                <a:solidFill>
                  <a:schemeClr val="lt1"/>
                </a:solidFill>
                <a:latin typeface="Proxima Nova"/>
                <a:ea typeface="Proxima Nova"/>
                <a:cs typeface="Proxima Nova"/>
                <a:sym typeface="Proxima Nova"/>
              </a:rPr>
              <a:t>: You are a business owner and early Bitcoin adopter in Venezuela, and you view Bitcoin as a lifeline for citizens who are suffering under hyperinflation. Bitcoin offers Venezuelans a way to store value and conduct transactions without relying on the government-controlled bolívar. You strongly oppose regulation, arguing that it would only hurt ordinary people who are trying to survive the economic crisis.</a:t>
            </a:r>
            <a:endParaRPr i="1" sz="1300">
              <a:solidFill>
                <a:schemeClr val="lt1"/>
              </a:solidFill>
              <a:latin typeface="Proxima Nova"/>
              <a:ea typeface="Proxima Nova"/>
              <a:cs typeface="Proxima Nova"/>
              <a:sym typeface="Proxima Nova"/>
            </a:endParaRPr>
          </a:p>
        </p:txBody>
      </p:sp>
      <p:sp>
        <p:nvSpPr>
          <p:cNvPr id="192" name="Google Shape;192;p31"/>
          <p:cNvSpPr txBox="1"/>
          <p:nvPr/>
        </p:nvSpPr>
        <p:spPr>
          <a:xfrm>
            <a:off x="4521425" y="975500"/>
            <a:ext cx="4234800" cy="1995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i="1" lang="en" sz="1300">
                <a:solidFill>
                  <a:schemeClr val="lt1"/>
                </a:solidFill>
                <a:latin typeface="Proxima Nova"/>
                <a:ea typeface="Proxima Nova"/>
                <a:cs typeface="Proxima Nova"/>
                <a:sym typeface="Proxima Nova"/>
              </a:rPr>
              <a:t>3. Opposition Politician</a:t>
            </a:r>
            <a:r>
              <a:rPr i="1" lang="en" sz="1300">
                <a:solidFill>
                  <a:schemeClr val="lt1"/>
                </a:solidFill>
                <a:latin typeface="Proxima Nova"/>
                <a:ea typeface="Proxima Nova"/>
                <a:cs typeface="Proxima Nova"/>
                <a:sym typeface="Proxima Nova"/>
              </a:rPr>
              <a:t>: As a member of the political opposition, you view Bitcoin as an essential tool for resisting Maduro’s authoritarian government. By using Bitcoin, citizens can bypass the state’s control over financial institutions and reclaim some degree of economic freedom. You oppose any government attempt to regulate or ban Bitcoin and believe it should be left unregulated.</a:t>
            </a:r>
            <a:endParaRPr i="1" sz="1300">
              <a:solidFill>
                <a:schemeClr val="lt1"/>
              </a:solidFill>
              <a:latin typeface="Proxima Nova"/>
              <a:ea typeface="Proxima Nova"/>
              <a:cs typeface="Proxima Nova"/>
              <a:sym typeface="Proxima Nova"/>
            </a:endParaRPr>
          </a:p>
        </p:txBody>
      </p:sp>
      <p:sp>
        <p:nvSpPr>
          <p:cNvPr id="193" name="Google Shape;193;p31"/>
          <p:cNvSpPr txBox="1"/>
          <p:nvPr/>
        </p:nvSpPr>
        <p:spPr>
          <a:xfrm>
            <a:off x="4442525" y="2826950"/>
            <a:ext cx="4313700" cy="176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i="1" lang="en" sz="1300">
                <a:solidFill>
                  <a:schemeClr val="lt1"/>
                </a:solidFill>
                <a:latin typeface="Proxima Nova"/>
                <a:ea typeface="Proxima Nova"/>
                <a:cs typeface="Proxima Nova"/>
                <a:sym typeface="Proxima Nova"/>
              </a:rPr>
              <a:t>4. Central Bank Official</a:t>
            </a:r>
            <a:r>
              <a:rPr i="1" lang="en" sz="1300">
                <a:solidFill>
                  <a:schemeClr val="lt1"/>
                </a:solidFill>
                <a:latin typeface="Proxima Nova"/>
                <a:ea typeface="Proxima Nova"/>
                <a:cs typeface="Proxima Nova"/>
                <a:sym typeface="Proxima Nova"/>
              </a:rPr>
              <a:t>: You are concerned that Bitcoin undermines the central bank’s ability to control monetary policy and manage inflation. However, you understand that banning Bitcoin outright may be impractical. You propose a regulatory framework that would allow Bitcoin to be used but with oversight to prevent illegal activities like money laundering or tax evasion.</a:t>
            </a:r>
            <a:endParaRPr i="1" sz="1300">
              <a:solidFill>
                <a:schemeClr val="lt1"/>
              </a:solidFill>
              <a:latin typeface="Proxima Nova"/>
              <a:ea typeface="Proxima Nova"/>
              <a:cs typeface="Proxima Nova"/>
              <a:sym typeface="Proxima Nov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32"/>
          <p:cNvPicPr preferRelativeResize="0"/>
          <p:nvPr/>
        </p:nvPicPr>
        <p:blipFill>
          <a:blip r:embed="rId3">
            <a:alphaModFix/>
          </a:blip>
          <a:stretch>
            <a:fillRect/>
          </a:stretch>
        </p:blipFill>
        <p:spPr>
          <a:xfrm>
            <a:off x="0" y="0"/>
            <a:ext cx="9144000" cy="5143500"/>
          </a:xfrm>
          <a:prstGeom prst="rect">
            <a:avLst/>
          </a:prstGeom>
          <a:noFill/>
          <a:ln>
            <a:noFill/>
          </a:ln>
        </p:spPr>
      </p:pic>
      <p:sp>
        <p:nvSpPr>
          <p:cNvPr id="199" name="Google Shape;199;p32"/>
          <p:cNvSpPr txBox="1"/>
          <p:nvPr/>
        </p:nvSpPr>
        <p:spPr>
          <a:xfrm>
            <a:off x="2721525" y="121550"/>
            <a:ext cx="41946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6000">
                <a:solidFill>
                  <a:schemeClr val="lt1"/>
                </a:solidFill>
                <a:latin typeface="Proxima Nova"/>
                <a:ea typeface="Proxima Nova"/>
                <a:cs typeface="Proxima Nova"/>
                <a:sym typeface="Proxima Nova"/>
              </a:rPr>
              <a:t>P.S. TASKS</a:t>
            </a:r>
            <a:endParaRPr sz="6000"/>
          </a:p>
        </p:txBody>
      </p:sp>
      <p:sp>
        <p:nvSpPr>
          <p:cNvPr id="200" name="Google Shape;200;p32"/>
          <p:cNvSpPr txBox="1"/>
          <p:nvPr/>
        </p:nvSpPr>
        <p:spPr>
          <a:xfrm>
            <a:off x="963700" y="1229750"/>
            <a:ext cx="7591800" cy="3528000"/>
          </a:xfrm>
          <a:prstGeom prst="rect">
            <a:avLst/>
          </a:prstGeom>
          <a:noFill/>
          <a:ln>
            <a:noFill/>
          </a:ln>
        </p:spPr>
        <p:txBody>
          <a:bodyPr anchorCtr="0" anchor="t" bIns="91425" lIns="91425" spcFirstLastPara="1" rIns="91425" wrap="square" tIns="91425">
            <a:spAutoFit/>
          </a:bodyPr>
          <a:lstStyle/>
          <a:p>
            <a:pPr indent="-381000" lvl="0" marL="457200" rtl="0" algn="l">
              <a:lnSpc>
                <a:spcPct val="115000"/>
              </a:lnSpc>
              <a:spcBef>
                <a:spcPts val="1200"/>
              </a:spcBef>
              <a:spcAft>
                <a:spcPts val="0"/>
              </a:spcAft>
              <a:buClr>
                <a:schemeClr val="lt1"/>
              </a:buClr>
              <a:buSzPts val="2400"/>
              <a:buFont typeface="Times New Roman"/>
              <a:buChar char="●"/>
            </a:pPr>
            <a:r>
              <a:rPr b="1" i="1" lang="en" sz="2400">
                <a:solidFill>
                  <a:schemeClr val="lt1"/>
                </a:solidFill>
                <a:latin typeface="Proxima Nova"/>
                <a:ea typeface="Proxima Nova"/>
                <a:cs typeface="Proxima Nova"/>
                <a:sym typeface="Proxima Nova"/>
              </a:rPr>
              <a:t>Step 1</a:t>
            </a:r>
            <a:r>
              <a:rPr i="1" lang="en" sz="2400">
                <a:solidFill>
                  <a:schemeClr val="lt1"/>
                </a:solidFill>
                <a:latin typeface="Proxima Nova"/>
                <a:ea typeface="Proxima Nova"/>
                <a:cs typeface="Proxima Nova"/>
                <a:sym typeface="Proxima Nova"/>
              </a:rPr>
              <a:t>: Each participant delivers a two-minute statement on their position regarding the regulation of Bitcoin in Venezuela.</a:t>
            </a:r>
            <a:endParaRPr i="1" sz="2400">
              <a:solidFill>
                <a:schemeClr val="lt1"/>
              </a:solidFill>
              <a:latin typeface="Proxima Nova"/>
              <a:ea typeface="Proxima Nova"/>
              <a:cs typeface="Proxima Nova"/>
              <a:sym typeface="Proxima Nova"/>
            </a:endParaRPr>
          </a:p>
          <a:p>
            <a:pPr indent="-381000" lvl="0" marL="457200" rtl="0" algn="l">
              <a:lnSpc>
                <a:spcPct val="115000"/>
              </a:lnSpc>
              <a:spcBef>
                <a:spcPts val="0"/>
              </a:spcBef>
              <a:spcAft>
                <a:spcPts val="0"/>
              </a:spcAft>
              <a:buClr>
                <a:schemeClr val="lt1"/>
              </a:buClr>
              <a:buSzPts val="2400"/>
              <a:buFont typeface="Times New Roman"/>
              <a:buChar char="●"/>
            </a:pPr>
            <a:r>
              <a:rPr b="1" i="1" lang="en" sz="2400">
                <a:solidFill>
                  <a:schemeClr val="lt1"/>
                </a:solidFill>
                <a:latin typeface="Proxima Nova"/>
                <a:ea typeface="Proxima Nova"/>
                <a:cs typeface="Proxima Nova"/>
                <a:sym typeface="Proxima Nova"/>
              </a:rPr>
              <a:t>Step 2</a:t>
            </a:r>
            <a:r>
              <a:rPr i="1" lang="en" sz="2400">
                <a:solidFill>
                  <a:schemeClr val="lt1"/>
                </a:solidFill>
                <a:latin typeface="Proxima Nova"/>
                <a:ea typeface="Proxima Nova"/>
                <a:cs typeface="Proxima Nova"/>
                <a:sym typeface="Proxima Nova"/>
              </a:rPr>
              <a:t>: Participants must negotiate, trying to balance concerns about economic stability, financial freedom, and state control. They should work together to develop a policy recommendation.</a:t>
            </a:r>
            <a:endParaRPr i="1" sz="2400">
              <a:solidFill>
                <a:schemeClr val="lt1"/>
              </a:solidFill>
              <a:latin typeface="Proxima Nova"/>
              <a:ea typeface="Proxima Nova"/>
              <a:cs typeface="Proxima Nova"/>
              <a:sym typeface="Proxima Nova"/>
            </a:endParaRPr>
          </a:p>
          <a:p>
            <a:pPr indent="-381000" lvl="0" marL="457200" rtl="0" algn="l">
              <a:lnSpc>
                <a:spcPct val="115000"/>
              </a:lnSpc>
              <a:spcBef>
                <a:spcPts val="0"/>
              </a:spcBef>
              <a:spcAft>
                <a:spcPts val="0"/>
              </a:spcAft>
              <a:buClr>
                <a:schemeClr val="lt1"/>
              </a:buClr>
              <a:buSzPts val="2400"/>
              <a:buFont typeface="Times New Roman"/>
              <a:buChar char="●"/>
            </a:pPr>
            <a:r>
              <a:rPr b="1" i="1" lang="en" sz="2400">
                <a:solidFill>
                  <a:schemeClr val="lt1"/>
                </a:solidFill>
                <a:latin typeface="Proxima Nova"/>
                <a:ea typeface="Proxima Nova"/>
                <a:cs typeface="Proxima Nova"/>
                <a:sym typeface="Proxima Nova"/>
              </a:rPr>
              <a:t>Step 3</a:t>
            </a:r>
            <a:r>
              <a:rPr i="1" lang="en" sz="2400">
                <a:solidFill>
                  <a:schemeClr val="lt1"/>
                </a:solidFill>
                <a:latin typeface="Proxima Nova"/>
                <a:ea typeface="Proxima Nova"/>
                <a:cs typeface="Proxima Nova"/>
                <a:sym typeface="Proxima Nova"/>
              </a:rPr>
              <a:t>: The group must agree on a policy</a:t>
            </a:r>
            <a:endParaRPr i="1" sz="2400">
              <a:solidFill>
                <a:schemeClr val="lt1"/>
              </a:solidFill>
              <a:latin typeface="Proxima Nova"/>
              <a:ea typeface="Proxima Nova"/>
              <a:cs typeface="Proxima Nova"/>
              <a:sym typeface="Proxima Nov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pic>
        <p:nvPicPr>
          <p:cNvPr id="205" name="Google Shape;205;p33"/>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06" name="Google Shape;206;p33"/>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207" name="Google Shape;207;p33"/>
          <p:cNvPicPr preferRelativeResize="0"/>
          <p:nvPr/>
        </p:nvPicPr>
        <p:blipFill>
          <a:blip r:embed="rId5">
            <a:alphaModFix/>
          </a:blip>
          <a:stretch>
            <a:fillRect/>
          </a:stretch>
        </p:blipFill>
        <p:spPr>
          <a:xfrm>
            <a:off x="0" y="0"/>
            <a:ext cx="9144000" cy="5143500"/>
          </a:xfrm>
          <a:prstGeom prst="rect">
            <a:avLst/>
          </a:prstGeom>
          <a:noFill/>
          <a:ln>
            <a:noFill/>
          </a:ln>
        </p:spPr>
      </p:pic>
      <p:sp>
        <p:nvSpPr>
          <p:cNvPr id="208" name="Google Shape;208;p33"/>
          <p:cNvSpPr txBox="1"/>
          <p:nvPr/>
        </p:nvSpPr>
        <p:spPr>
          <a:xfrm>
            <a:off x="1026725" y="1698025"/>
            <a:ext cx="73647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4200">
                <a:solidFill>
                  <a:schemeClr val="lt1"/>
                </a:solidFill>
                <a:latin typeface="Proxima Nova"/>
                <a:ea typeface="Proxima Nova"/>
                <a:cs typeface="Proxima Nova"/>
                <a:sym typeface="Proxima Nova"/>
              </a:rPr>
              <a:t>Debrief: Key Takeaways from the Policy Simulation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34"/>
          <p:cNvPicPr preferRelativeResize="0"/>
          <p:nvPr/>
        </p:nvPicPr>
        <p:blipFill>
          <a:blip r:embed="rId3">
            <a:alphaModFix/>
          </a:blip>
          <a:stretch>
            <a:fillRect/>
          </a:stretch>
        </p:blipFill>
        <p:spPr>
          <a:xfrm>
            <a:off x="8611675" y="4665225"/>
            <a:ext cx="313176" cy="313176"/>
          </a:xfrm>
          <a:prstGeom prst="rect">
            <a:avLst/>
          </a:prstGeom>
          <a:noFill/>
          <a:ln>
            <a:noFill/>
          </a:ln>
        </p:spPr>
      </p:pic>
      <p:pic>
        <p:nvPicPr>
          <p:cNvPr id="214" name="Google Shape;214;p34"/>
          <p:cNvPicPr preferRelativeResize="0"/>
          <p:nvPr/>
        </p:nvPicPr>
        <p:blipFill>
          <a:blip r:embed="rId4">
            <a:alphaModFix/>
          </a:blip>
          <a:stretch>
            <a:fillRect/>
          </a:stretch>
        </p:blipFill>
        <p:spPr>
          <a:xfrm>
            <a:off x="0" y="0"/>
            <a:ext cx="9144001" cy="5143500"/>
          </a:xfrm>
          <a:prstGeom prst="rect">
            <a:avLst/>
          </a:prstGeom>
          <a:noFill/>
          <a:ln>
            <a:noFill/>
          </a:ln>
        </p:spPr>
      </p:pic>
      <p:sp>
        <p:nvSpPr>
          <p:cNvPr id="215" name="Google Shape;215;p34"/>
          <p:cNvSpPr txBox="1"/>
          <p:nvPr/>
        </p:nvSpPr>
        <p:spPr>
          <a:xfrm>
            <a:off x="217175" y="98725"/>
            <a:ext cx="3000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roxima Nova"/>
                <a:ea typeface="Proxima Nova"/>
                <a:cs typeface="Proxima Nova"/>
                <a:sym typeface="Proxima Nova"/>
              </a:rPr>
              <a:t>Attendance</a:t>
            </a:r>
            <a:endParaRPr/>
          </a:p>
        </p:txBody>
      </p:sp>
      <p:pic>
        <p:nvPicPr>
          <p:cNvPr id="216" name="Google Shape;216;p34"/>
          <p:cNvPicPr preferRelativeResize="0"/>
          <p:nvPr/>
        </p:nvPicPr>
        <p:blipFill rotWithShape="1">
          <a:blip r:embed="rId5">
            <a:alphaModFix/>
          </a:blip>
          <a:srcRect b="31503" l="6111" r="6834" t="3274"/>
          <a:stretch/>
        </p:blipFill>
        <p:spPr>
          <a:xfrm>
            <a:off x="3356325" y="1531675"/>
            <a:ext cx="2615675" cy="2752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id="221" name="Google Shape;221;p35"/>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22" name="Google Shape;222;p35"/>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223" name="Google Shape;223;p35"/>
          <p:cNvPicPr preferRelativeResize="0"/>
          <p:nvPr/>
        </p:nvPicPr>
        <p:blipFill>
          <a:blip r:embed="rId5">
            <a:alphaModFix/>
          </a:blip>
          <a:stretch>
            <a:fillRect/>
          </a:stretch>
        </p:blipFill>
        <p:spPr>
          <a:xfrm>
            <a:off x="0" y="0"/>
            <a:ext cx="9144000" cy="5143500"/>
          </a:xfrm>
          <a:prstGeom prst="rect">
            <a:avLst/>
          </a:prstGeom>
          <a:noFill/>
          <a:ln>
            <a:noFill/>
          </a:ln>
        </p:spPr>
      </p:pic>
      <p:sp>
        <p:nvSpPr>
          <p:cNvPr id="224" name="Google Shape;224;p35"/>
          <p:cNvSpPr txBox="1"/>
          <p:nvPr/>
        </p:nvSpPr>
        <p:spPr>
          <a:xfrm>
            <a:off x="819400" y="322125"/>
            <a:ext cx="4195800" cy="43431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0"/>
              </a:spcAft>
              <a:buNone/>
            </a:pPr>
            <a:r>
              <a:rPr b="1" lang="en" sz="1288">
                <a:solidFill>
                  <a:schemeClr val="lt1"/>
                </a:solidFill>
                <a:latin typeface="Proxima Nova"/>
                <a:ea typeface="Proxima Nova"/>
                <a:cs typeface="Proxima Nova"/>
                <a:sym typeface="Proxima Nova"/>
              </a:rPr>
              <a:t>Join: </a:t>
            </a:r>
            <a:endParaRPr b="1" sz="1288">
              <a:solidFill>
                <a:schemeClr val="lt1"/>
              </a:solidFill>
              <a:latin typeface="Proxima Nova"/>
              <a:ea typeface="Proxima Nova"/>
              <a:cs typeface="Proxima Nova"/>
              <a:sym typeface="Proxima Nova"/>
            </a:endParaRPr>
          </a:p>
          <a:p>
            <a:pPr indent="-310356" lvl="0" marL="457200" rtl="0" algn="l">
              <a:lnSpc>
                <a:spcPct val="95000"/>
              </a:lnSpc>
              <a:spcBef>
                <a:spcPts val="1200"/>
              </a:spcBef>
              <a:spcAft>
                <a:spcPts val="0"/>
              </a:spcAft>
              <a:buClr>
                <a:schemeClr val="lt1"/>
              </a:buClr>
              <a:buSzPts val="1288"/>
              <a:buFont typeface="Proxima Nova"/>
              <a:buChar char="-"/>
            </a:pPr>
            <a:r>
              <a:rPr lang="en" sz="1288" u="sng">
                <a:solidFill>
                  <a:schemeClr val="lt1"/>
                </a:solidFill>
                <a:latin typeface="Proxima Nova"/>
                <a:ea typeface="Proxima Nova"/>
                <a:cs typeface="Proxima Nova"/>
                <a:sym typeface="Proxima Nova"/>
                <a:hlinkClick r:id="rId6">
                  <a:extLst>
                    <a:ext uri="{A12FA001-AC4F-418D-AE19-62706E023703}">
                      <ahyp:hlinkClr val="tx"/>
                    </a:ext>
                  </a:extLst>
                </a:hlinkClick>
              </a:rPr>
              <a:t>Slack</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u="sng">
                <a:solidFill>
                  <a:schemeClr val="lt1"/>
                </a:solidFill>
                <a:latin typeface="Proxima Nova"/>
                <a:ea typeface="Proxima Nova"/>
                <a:cs typeface="Proxima Nova"/>
                <a:sym typeface="Proxima Nova"/>
                <a:hlinkClick r:id="rId7">
                  <a:extLst>
                    <a:ext uri="{A12FA001-AC4F-418D-AE19-62706E023703}">
                      <ahyp:hlinkClr val="tx"/>
                    </a:ext>
                  </a:extLst>
                </a:hlinkClick>
              </a:rPr>
              <a:t>Gcal</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Twitter (best Bitcoin news source) </a:t>
            </a:r>
            <a:endParaRPr sz="1288">
              <a:solidFill>
                <a:schemeClr val="lt1"/>
              </a:solidFill>
              <a:latin typeface="Proxima Nova"/>
              <a:ea typeface="Proxima Nova"/>
              <a:cs typeface="Proxima Nova"/>
              <a:sym typeface="Proxima Nova"/>
            </a:endParaRPr>
          </a:p>
          <a:p>
            <a:pPr indent="-310356" lvl="1" marL="9144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Put @CornellBitcoin in your bio </a:t>
            </a:r>
            <a:endParaRPr sz="1288">
              <a:solidFill>
                <a:schemeClr val="lt1"/>
              </a:solidFill>
              <a:latin typeface="Proxima Nova"/>
              <a:ea typeface="Proxima Nova"/>
              <a:cs typeface="Proxima Nova"/>
              <a:sym typeface="Proxima Nova"/>
            </a:endParaRPr>
          </a:p>
          <a:p>
            <a:pPr indent="-310356" lvl="1" marL="9144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Add your handle </a:t>
            </a:r>
            <a:r>
              <a:rPr lang="en" sz="1288" u="sng">
                <a:solidFill>
                  <a:srgbClr val="0E101A"/>
                </a:solidFill>
                <a:highlight>
                  <a:schemeClr val="lt1"/>
                </a:highlight>
                <a:latin typeface="Proxima Nova"/>
                <a:ea typeface="Proxima Nova"/>
                <a:cs typeface="Proxima Nova"/>
                <a:sym typeface="Proxima Nova"/>
                <a:hlinkClick r:id="rId8">
                  <a:extLst>
                    <a:ext uri="{A12FA001-AC4F-418D-AE19-62706E023703}">
                      <ahyp:hlinkClr val="tx"/>
                    </a:ext>
                  </a:extLst>
                </a:hlinkClick>
              </a:rPr>
              <a:t>here</a:t>
            </a:r>
            <a:endParaRPr sz="1288">
              <a:solidFill>
                <a:srgbClr val="0E101A"/>
              </a:solidFill>
              <a:highlight>
                <a:schemeClr val="lt1"/>
              </a:highlight>
              <a:latin typeface="Proxima Nova"/>
              <a:ea typeface="Proxima Nova"/>
              <a:cs typeface="Proxima Nova"/>
              <a:sym typeface="Proxima Nova"/>
            </a:endParaRPr>
          </a:p>
          <a:p>
            <a:pPr indent="0" lvl="0" marL="0" rtl="0" algn="l">
              <a:lnSpc>
                <a:spcPct val="95000"/>
              </a:lnSpc>
              <a:spcBef>
                <a:spcPts val="1200"/>
              </a:spcBef>
              <a:spcAft>
                <a:spcPts val="0"/>
              </a:spcAft>
              <a:buNone/>
            </a:pPr>
            <a:r>
              <a:rPr b="1" lang="en" sz="1288">
                <a:solidFill>
                  <a:schemeClr val="lt1"/>
                </a:solidFill>
                <a:latin typeface="Proxima Nova"/>
                <a:ea typeface="Proxima Nova"/>
                <a:cs typeface="Proxima Nova"/>
                <a:sym typeface="Proxima Nova"/>
              </a:rPr>
              <a:t>Forms:</a:t>
            </a:r>
            <a:endParaRPr b="1" sz="1288">
              <a:solidFill>
                <a:schemeClr val="lt1"/>
              </a:solidFill>
              <a:latin typeface="Proxima Nova"/>
              <a:ea typeface="Proxima Nova"/>
              <a:cs typeface="Proxima Nova"/>
              <a:sym typeface="Proxima Nova"/>
            </a:endParaRPr>
          </a:p>
          <a:p>
            <a:pPr indent="-310356" lvl="0" marL="457200" rtl="0" algn="l">
              <a:lnSpc>
                <a:spcPct val="95000"/>
              </a:lnSpc>
              <a:spcBef>
                <a:spcPts val="120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Review the Constitution &amp; sign </a:t>
            </a:r>
            <a:r>
              <a:rPr lang="en" sz="1288" u="sng">
                <a:solidFill>
                  <a:srgbClr val="1A237E"/>
                </a:solidFill>
                <a:highlight>
                  <a:schemeClr val="lt1"/>
                </a:highlight>
                <a:latin typeface="Proxima Nova"/>
                <a:ea typeface="Proxima Nova"/>
                <a:cs typeface="Proxima Nova"/>
                <a:sym typeface="Proxima Nova"/>
                <a:hlinkClick r:id="rId9">
                  <a:extLst>
                    <a:ext uri="{A12FA001-AC4F-418D-AE19-62706E023703}">
                      <ahyp:hlinkClr val="tx"/>
                    </a:ext>
                  </a:extLst>
                </a:hlinkClick>
              </a:rPr>
              <a:t>here</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Fill out interest joining form </a:t>
            </a:r>
            <a:r>
              <a:rPr lang="en" sz="1288" u="sng">
                <a:solidFill>
                  <a:srgbClr val="0E101A"/>
                </a:solidFill>
                <a:highlight>
                  <a:schemeClr val="lt1"/>
                </a:highlight>
                <a:latin typeface="Proxima Nova"/>
                <a:ea typeface="Proxima Nova"/>
                <a:cs typeface="Proxima Nova"/>
                <a:sym typeface="Proxima Nova"/>
                <a:hlinkClick r:id="rId10">
                  <a:extLst>
                    <a:ext uri="{A12FA001-AC4F-418D-AE19-62706E023703}">
                      <ahyp:hlinkClr val="tx"/>
                    </a:ext>
                  </a:extLst>
                </a:hlinkClick>
              </a:rPr>
              <a:t>here</a:t>
            </a:r>
            <a:r>
              <a:rPr lang="en" sz="1288">
                <a:solidFill>
                  <a:schemeClr val="lt1"/>
                </a:solidFill>
                <a:latin typeface="Proxima Nova"/>
                <a:ea typeface="Proxima Nova"/>
                <a:cs typeface="Proxima Nova"/>
                <a:sym typeface="Proxima Nova"/>
              </a:rPr>
              <a:t> (if haven’t already) </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Suggest topics </a:t>
            </a:r>
            <a:r>
              <a:rPr lang="en" sz="1288" u="sng">
                <a:solidFill>
                  <a:srgbClr val="0E101A"/>
                </a:solidFill>
                <a:highlight>
                  <a:schemeClr val="lt1"/>
                </a:highlight>
                <a:latin typeface="Proxima Nova"/>
                <a:ea typeface="Proxima Nova"/>
                <a:cs typeface="Proxima Nova"/>
                <a:sym typeface="Proxima Nova"/>
                <a:hlinkClick r:id="rId11">
                  <a:extLst>
                    <a:ext uri="{A12FA001-AC4F-418D-AE19-62706E023703}">
                      <ahyp:hlinkClr val="tx"/>
                    </a:ext>
                  </a:extLst>
                </a:hlinkClick>
              </a:rPr>
              <a:t>here</a:t>
            </a:r>
            <a:r>
              <a:rPr lang="en" sz="1288">
                <a:solidFill>
                  <a:srgbClr val="0E101A"/>
                </a:solidFill>
                <a:highlight>
                  <a:schemeClr val="lt1"/>
                </a:highlight>
                <a:latin typeface="Proxima Nova"/>
                <a:ea typeface="Proxima Nova"/>
                <a:cs typeface="Proxima Nova"/>
                <a:sym typeface="Proxima Nova"/>
              </a:rPr>
              <a:t> </a:t>
            </a:r>
            <a:endParaRPr b="1" sz="1288">
              <a:solidFill>
                <a:srgbClr val="0E101A"/>
              </a:solidFill>
              <a:highlight>
                <a:schemeClr val="lt1"/>
              </a:highlight>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Club playlist: add favorite songs </a:t>
            </a:r>
            <a:r>
              <a:rPr lang="en" sz="1288" u="sng">
                <a:solidFill>
                  <a:schemeClr val="dk1"/>
                </a:solidFill>
                <a:highlight>
                  <a:schemeClr val="lt1"/>
                </a:highlight>
                <a:latin typeface="Proxima Nova"/>
                <a:ea typeface="Proxima Nova"/>
                <a:cs typeface="Proxima Nova"/>
                <a:sym typeface="Proxima Nova"/>
                <a:hlinkClick r:id="rId12">
                  <a:extLst>
                    <a:ext uri="{A12FA001-AC4F-418D-AE19-62706E023703}">
                      <ahyp:hlinkClr val="tx"/>
                    </a:ext>
                  </a:extLst>
                </a:hlinkClick>
              </a:rPr>
              <a:t>here</a:t>
            </a:r>
            <a:r>
              <a:rPr lang="en" sz="1288">
                <a:solidFill>
                  <a:schemeClr val="dk1"/>
                </a:solidFill>
                <a:highlight>
                  <a:schemeClr val="lt1"/>
                </a:highlight>
                <a:latin typeface="Proxima Nova"/>
                <a:ea typeface="Proxima Nova"/>
                <a:cs typeface="Proxima Nova"/>
                <a:sym typeface="Proxima Nova"/>
              </a:rPr>
              <a:t> </a:t>
            </a:r>
            <a:endParaRPr sz="1288">
              <a:solidFill>
                <a:schemeClr val="dk1"/>
              </a:solidFill>
              <a:highlight>
                <a:schemeClr val="lt1"/>
              </a:highlight>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Add favorite snacks </a:t>
            </a:r>
            <a:r>
              <a:rPr lang="en" sz="1288" u="sng">
                <a:solidFill>
                  <a:srgbClr val="0E101A"/>
                </a:solidFill>
                <a:highlight>
                  <a:schemeClr val="lt1"/>
                </a:highlight>
                <a:latin typeface="Proxima Nova"/>
                <a:ea typeface="Proxima Nova"/>
                <a:cs typeface="Proxima Nova"/>
                <a:sym typeface="Proxima Nova"/>
                <a:hlinkClick r:id="rId13">
                  <a:extLst>
                    <a:ext uri="{A12FA001-AC4F-418D-AE19-62706E023703}">
                      <ahyp:hlinkClr val="tx"/>
                    </a:ext>
                  </a:extLst>
                </a:hlinkClick>
              </a:rPr>
              <a:t>here</a:t>
            </a:r>
            <a:r>
              <a:rPr lang="en" sz="1288">
                <a:solidFill>
                  <a:schemeClr val="lt1"/>
                </a:solidFill>
                <a:latin typeface="Proxima Nova"/>
                <a:ea typeface="Proxima Nova"/>
                <a:cs typeface="Proxima Nova"/>
                <a:sym typeface="Proxima Nova"/>
              </a:rPr>
              <a:t> </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Resume Book </a:t>
            </a:r>
            <a:r>
              <a:rPr lang="en" sz="1288" u="sng">
                <a:solidFill>
                  <a:srgbClr val="0E101A"/>
                </a:solidFill>
                <a:highlight>
                  <a:schemeClr val="lt1"/>
                </a:highlight>
                <a:latin typeface="Proxima Nova"/>
                <a:ea typeface="Proxima Nova"/>
                <a:cs typeface="Proxima Nova"/>
                <a:sym typeface="Proxima Nova"/>
                <a:hlinkClick r:id="rId14">
                  <a:extLst>
                    <a:ext uri="{A12FA001-AC4F-418D-AE19-62706E023703}">
                      <ahyp:hlinkClr val="tx"/>
                    </a:ext>
                  </a:extLst>
                </a:hlinkClick>
              </a:rPr>
              <a:t>here</a:t>
            </a:r>
            <a:endParaRPr sz="1288">
              <a:solidFill>
                <a:srgbClr val="0E101A"/>
              </a:solidFill>
              <a:highlight>
                <a:schemeClr val="lt1"/>
              </a:highlight>
              <a:latin typeface="Proxima Nova"/>
              <a:ea typeface="Proxima Nova"/>
              <a:cs typeface="Proxima Nova"/>
              <a:sym typeface="Proxima Nova"/>
            </a:endParaRPr>
          </a:p>
          <a:p>
            <a:pPr indent="0" lvl="0" marL="0" rtl="0" algn="l">
              <a:lnSpc>
                <a:spcPct val="95000"/>
              </a:lnSpc>
              <a:spcBef>
                <a:spcPts val="1200"/>
              </a:spcBef>
              <a:spcAft>
                <a:spcPts val="0"/>
              </a:spcAft>
              <a:buNone/>
            </a:pPr>
            <a:r>
              <a:rPr b="1" lang="en" sz="1288">
                <a:solidFill>
                  <a:schemeClr val="lt1"/>
                </a:solidFill>
                <a:latin typeface="Proxima Nova"/>
                <a:ea typeface="Proxima Nova"/>
                <a:cs typeface="Proxima Nova"/>
                <a:sym typeface="Proxima Nova"/>
              </a:rPr>
              <a:t>Follow: </a:t>
            </a:r>
            <a:endParaRPr b="1" sz="1288">
              <a:solidFill>
                <a:schemeClr val="lt1"/>
              </a:solidFill>
              <a:latin typeface="Proxima Nova"/>
              <a:ea typeface="Proxima Nova"/>
              <a:cs typeface="Proxima Nova"/>
              <a:sym typeface="Proxima Nova"/>
            </a:endParaRPr>
          </a:p>
          <a:p>
            <a:pPr indent="-310356" lvl="0" marL="457200" rtl="0" algn="l">
              <a:lnSpc>
                <a:spcPct val="95000"/>
              </a:lnSpc>
              <a:spcBef>
                <a:spcPts val="120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@CornellBitcoin on Twitter</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@CornellBitcoinClub on Instagram</a:t>
            </a:r>
            <a:endParaRPr sz="1288">
              <a:solidFill>
                <a:schemeClr val="lt1"/>
              </a:solidFill>
              <a:latin typeface="Proxima Nova"/>
              <a:ea typeface="Proxima Nova"/>
              <a:cs typeface="Proxima Nova"/>
              <a:sym typeface="Proxima Nova"/>
            </a:endParaRPr>
          </a:p>
          <a:p>
            <a:pPr indent="-310356" lvl="0" marL="457200" rtl="0" algn="l">
              <a:lnSpc>
                <a:spcPct val="95000"/>
              </a:lnSpc>
              <a:spcBef>
                <a:spcPts val="0"/>
              </a:spcBef>
              <a:spcAft>
                <a:spcPts val="0"/>
              </a:spcAft>
              <a:buClr>
                <a:schemeClr val="lt1"/>
              </a:buClr>
              <a:buSzPts val="1288"/>
              <a:buFont typeface="Proxima Nova"/>
              <a:buChar char="-"/>
            </a:pPr>
            <a:r>
              <a:rPr lang="en" sz="1288">
                <a:solidFill>
                  <a:schemeClr val="lt1"/>
                </a:solidFill>
                <a:latin typeface="Proxima Nova"/>
                <a:ea typeface="Proxima Nova"/>
                <a:cs typeface="Proxima Nova"/>
                <a:sym typeface="Proxima Nova"/>
              </a:rPr>
              <a:t>Cornell Bitcoin Club on LinkedIn</a:t>
            </a:r>
            <a:endParaRPr/>
          </a:p>
        </p:txBody>
      </p:sp>
      <p:pic>
        <p:nvPicPr>
          <p:cNvPr id="225" name="Google Shape;225;p35"/>
          <p:cNvPicPr preferRelativeResize="0"/>
          <p:nvPr/>
        </p:nvPicPr>
        <p:blipFill>
          <a:blip r:embed="rId15">
            <a:alphaModFix/>
          </a:blip>
          <a:stretch>
            <a:fillRect/>
          </a:stretch>
        </p:blipFill>
        <p:spPr>
          <a:xfrm>
            <a:off x="4936225" y="1061727"/>
            <a:ext cx="3432100" cy="333147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pic>
        <p:nvPicPr>
          <p:cNvPr id="230" name="Google Shape;230;p36"/>
          <p:cNvPicPr preferRelativeResize="0"/>
          <p:nvPr/>
        </p:nvPicPr>
        <p:blipFill>
          <a:blip r:embed="rId3">
            <a:alphaModFix/>
          </a:blip>
          <a:stretch>
            <a:fillRect/>
          </a:stretch>
        </p:blipFill>
        <p:spPr>
          <a:xfrm>
            <a:off x="184150" y="4695625"/>
            <a:ext cx="374483" cy="355476"/>
          </a:xfrm>
          <a:prstGeom prst="rect">
            <a:avLst/>
          </a:prstGeom>
          <a:noFill/>
          <a:ln>
            <a:noFill/>
          </a:ln>
        </p:spPr>
      </p:pic>
      <p:pic>
        <p:nvPicPr>
          <p:cNvPr id="231" name="Google Shape;231;p36"/>
          <p:cNvPicPr preferRelativeResize="0"/>
          <p:nvPr/>
        </p:nvPicPr>
        <p:blipFill>
          <a:blip r:embed="rId4">
            <a:alphaModFix/>
          </a:blip>
          <a:stretch>
            <a:fillRect/>
          </a:stretch>
        </p:blipFill>
        <p:spPr>
          <a:xfrm>
            <a:off x="8611675" y="4665225"/>
            <a:ext cx="313176" cy="313176"/>
          </a:xfrm>
          <a:prstGeom prst="rect">
            <a:avLst/>
          </a:prstGeom>
          <a:noFill/>
          <a:ln>
            <a:noFill/>
          </a:ln>
        </p:spPr>
      </p:pic>
      <p:pic>
        <p:nvPicPr>
          <p:cNvPr id="232" name="Google Shape;232;p36"/>
          <p:cNvPicPr preferRelativeResize="0"/>
          <p:nvPr/>
        </p:nvPicPr>
        <p:blipFill>
          <a:blip r:embed="rId5">
            <a:alphaModFix/>
          </a:blip>
          <a:stretch>
            <a:fillRect/>
          </a:stretch>
        </p:blipFill>
        <p:spPr>
          <a:xfrm>
            <a:off x="0" y="0"/>
            <a:ext cx="9144000" cy="5143500"/>
          </a:xfrm>
          <a:prstGeom prst="rect">
            <a:avLst/>
          </a:prstGeom>
          <a:noFill/>
          <a:ln>
            <a:noFill/>
          </a:ln>
        </p:spPr>
      </p:pic>
      <p:sp>
        <p:nvSpPr>
          <p:cNvPr id="233" name="Google Shape;233;p36"/>
          <p:cNvSpPr txBox="1"/>
          <p:nvPr/>
        </p:nvSpPr>
        <p:spPr>
          <a:xfrm>
            <a:off x="460950" y="1590000"/>
            <a:ext cx="8222100" cy="1963500"/>
          </a:xfrm>
          <a:prstGeom prst="rect">
            <a:avLst/>
          </a:prstGeom>
          <a:no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b="1" lang="en" sz="6000">
                <a:solidFill>
                  <a:srgbClr val="FFFFFF"/>
                </a:solidFill>
                <a:latin typeface="Proxima Nova"/>
                <a:ea typeface="Proxima Nova"/>
                <a:cs typeface="Proxima Nova"/>
                <a:sym typeface="Proxima Nova"/>
              </a:rPr>
              <a:t>Thank you!</a:t>
            </a:r>
            <a:endParaRPr b="1" sz="6000">
              <a:solidFill>
                <a:srgbClr val="FFFFFF"/>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