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Lst>
  <p:sldSz cy="5143500" cx="9144000"/>
  <p:notesSz cx="6858000" cy="9144000"/>
  <p:embeddedFontLst>
    <p:embeddedFont>
      <p:font typeface="Proxima Nova"/>
      <p:regular r:id="rId60"/>
      <p:bold r:id="rId61"/>
      <p:italic r:id="rId62"/>
      <p:boldItalic r:id="rId63"/>
    </p:embeddedFont>
    <p:embeddedFont>
      <p:font typeface="Roboto"/>
      <p:regular r:id="rId64"/>
      <p:bold r:id="rId65"/>
      <p:italic r:id="rId66"/>
      <p:boldItalic r:id="rId67"/>
    </p:embeddedFont>
    <p:embeddedFont>
      <p:font typeface="Proxima Nova Semibold"/>
      <p:regular r:id="rId68"/>
      <p:bold r:id="rId69"/>
      <p:boldItalic r:id="rId70"/>
    </p:embeddedFont>
    <p:embeddedFont>
      <p:font typeface="Barlow"/>
      <p:regular r:id="rId71"/>
      <p:bold r:id="rId72"/>
      <p:italic r:id="rId73"/>
      <p:boldItalic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font" Target="fonts/Barlow-italic.fntdata"/><Relationship Id="rId72" Type="http://schemas.openxmlformats.org/officeDocument/2006/relationships/font" Target="fonts/Barlow-bold.fntdata"/><Relationship Id="rId31" Type="http://schemas.openxmlformats.org/officeDocument/2006/relationships/slide" Target="slides/slide27.xml"/><Relationship Id="rId30" Type="http://schemas.openxmlformats.org/officeDocument/2006/relationships/slide" Target="slides/slide26.xml"/><Relationship Id="rId74" Type="http://schemas.openxmlformats.org/officeDocument/2006/relationships/font" Target="fonts/Barlow-boldItalic.fntdata"/><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71" Type="http://schemas.openxmlformats.org/officeDocument/2006/relationships/font" Target="fonts/Barlow-regular.fntdata"/><Relationship Id="rId70" Type="http://schemas.openxmlformats.org/officeDocument/2006/relationships/font" Target="fonts/ProximaNovaSemibold-boldItalic.fntdata"/><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font" Target="fonts/ProximaNova-italic.fntdata"/><Relationship Id="rId61" Type="http://schemas.openxmlformats.org/officeDocument/2006/relationships/font" Target="fonts/ProximaNova-bold.fntdata"/><Relationship Id="rId20" Type="http://schemas.openxmlformats.org/officeDocument/2006/relationships/slide" Target="slides/slide16.xml"/><Relationship Id="rId64" Type="http://schemas.openxmlformats.org/officeDocument/2006/relationships/font" Target="fonts/Roboto-regular.fntdata"/><Relationship Id="rId63" Type="http://schemas.openxmlformats.org/officeDocument/2006/relationships/font" Target="fonts/ProximaNova-boldItalic.fntdata"/><Relationship Id="rId22" Type="http://schemas.openxmlformats.org/officeDocument/2006/relationships/slide" Target="slides/slide18.xml"/><Relationship Id="rId66" Type="http://schemas.openxmlformats.org/officeDocument/2006/relationships/font" Target="fonts/Roboto-italic.fntdata"/><Relationship Id="rId21" Type="http://schemas.openxmlformats.org/officeDocument/2006/relationships/slide" Target="slides/slide17.xml"/><Relationship Id="rId65" Type="http://schemas.openxmlformats.org/officeDocument/2006/relationships/font" Target="fonts/Roboto-bold.fntdata"/><Relationship Id="rId24" Type="http://schemas.openxmlformats.org/officeDocument/2006/relationships/slide" Target="slides/slide20.xml"/><Relationship Id="rId68" Type="http://schemas.openxmlformats.org/officeDocument/2006/relationships/font" Target="fonts/ProximaNovaSemibold-regular.fntdata"/><Relationship Id="rId23" Type="http://schemas.openxmlformats.org/officeDocument/2006/relationships/slide" Target="slides/slide19.xml"/><Relationship Id="rId67" Type="http://schemas.openxmlformats.org/officeDocument/2006/relationships/font" Target="fonts/Roboto-boldItalic.fntdata"/><Relationship Id="rId60" Type="http://schemas.openxmlformats.org/officeDocument/2006/relationships/font" Target="fonts/ProximaNova-regular.fntdata"/><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font" Target="fonts/ProximaNovaSemibold-bold.fntdata"/><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hoxtonmacs.co.uk/blogs/news/bitcoin-white-paper"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activism.net/cypherpunk/manifesto.html"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x.com/w_s_bitcoin/status/1742551968759816238?s=20"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tcoinmagazine.com/markets/how-halvings-will-bring-the-bitcoin-price-to-400000" TargetMode="External"/><Relationship Id="rId3" Type="http://schemas.openxmlformats.org/officeDocument/2006/relationships/hyperlink" Target="https://x.com/lopp/status/1756490177030303949?s=20"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tcorn.io/cbtc" TargetMode="External"/><Relationship Id="rId3" Type="http://schemas.openxmlformats.org/officeDocument/2006/relationships/hyperlink" Target="https://coinos.io"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linkedin.com/pulse/14-facts-bitcoin-white-paper-its-14th-anniversary-giannis-rousopoulos/" TargetMode="Externa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866d0df8e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866d0df8e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01c119fa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01c119fa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ff97d3c634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ff97d3c634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1014d03c19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1014d03c19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1014d03c19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1014d03c19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https://www.hoxtonmacs.co.uk/blogs/news/bitcoin-white-paper</a:t>
            </a:r>
            <a:r>
              <a:rPr lang="en"/>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1014d03c19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1014d03c19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1014d03c19_0_6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1014d03c19_0_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1014d03c19_0_9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1014d03c19_0_9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1014d03c19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1014d03c19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lot of people think bitcoin is the first and there are better. They disregard the 40 years of pre-hisotyr.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1014d03c19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1014d03c19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lot of people think bitcoin is the first and there are better. They disregard the 40 years of </a:t>
            </a:r>
            <a:r>
              <a:rPr lang="en"/>
              <a:t>prehistory</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2"/>
              </a:rPr>
              <a:t>https://www.activism.net/cypherpunk/manifesto.html</a:t>
            </a:r>
            <a:r>
              <a:rPr lang="en"/>
              <a:t>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1014d03c19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1014d03c19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1014d03c19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1014d03c19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1014d03c19_0_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1014d03c19_0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1014d03c19_0_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1014d03c19_0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1014d03c19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1014d03c19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1014d03c19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1014d03c19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1014d03c19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1014d03c19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1014d03c19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1014d03c19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1014d03c19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1014d03c19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1014d03c19_0_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1014d03c19_0_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arenR"/>
            </a:pPr>
            <a:r>
              <a:rPr lang="en"/>
              <a:t>15 yr history: </a:t>
            </a:r>
            <a:r>
              <a:rPr lang="en" u="sng">
                <a:solidFill>
                  <a:schemeClr val="hlink"/>
                </a:solidFill>
                <a:hlinkClick r:id="rId2"/>
              </a:rPr>
              <a:t>https://x.com/w_s_bitcoin/status/1742551968759816238?s=20</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t>History: </a:t>
            </a:r>
            <a:endParaRPr b="1"/>
          </a:p>
          <a:p>
            <a:pPr indent="0" lvl="0" marL="0" rtl="0" algn="l">
              <a:spcBef>
                <a:spcPts val="0"/>
              </a:spcBef>
              <a:spcAft>
                <a:spcPts val="0"/>
              </a:spcAft>
              <a:buClr>
                <a:schemeClr val="dk1"/>
              </a:buClr>
              <a:buSzPts val="1100"/>
              <a:buFont typeface="Arial"/>
              <a:buNone/>
            </a:pPr>
            <a:r>
              <a:rPr lang="en"/>
              <a:t>On October 31, 2008, Satoshi Nakamoto published the Bitcoin Whitepaper (a 9 page pdf), creating “A purely peer-to-peer version of electronic cash would allow online payments to be sent directly from one party to another without going through a financial institution” and is the result of 40 years of research. 2 key attributes were implicitly stated &amp; shouldn’t be overlooked: (1) There will only ever be 21,000,000 bitcoin (2) bitcoin requires a scarce input/resource (energy) through its consensus method called Proof of Work (PoW) (how it validates the information being stored).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b="1" lang="en"/>
              <a:t>Context: </a:t>
            </a:r>
            <a:endParaRPr b="1"/>
          </a:p>
          <a:p>
            <a:pPr indent="0" lvl="0" marL="0" rtl="0" algn="l">
              <a:spcBef>
                <a:spcPts val="0"/>
              </a:spcBef>
              <a:spcAft>
                <a:spcPts val="0"/>
              </a:spcAft>
              <a:buClr>
                <a:schemeClr val="dk1"/>
              </a:buClr>
              <a:buSzPts val="1100"/>
              <a:buFont typeface="Arial"/>
              <a:buNone/>
            </a:pPr>
            <a:r>
              <a:rPr lang="en"/>
              <a:t>At this time, the world was reeling from the biggest financial crisis since the 1920s. Public trust in the financial system was at an all time-low, showing the need for a new financial system that didn’t depend on a few key players who can, and did, fail. </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1014d03c19_0_7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1014d03c19_0_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lot of people think that bitcoin is only for math or CS </a:t>
            </a:r>
            <a:r>
              <a:rPr lang="en"/>
              <a:t>majors</a:t>
            </a:r>
            <a:r>
              <a:rPr lang="en"/>
              <a:t>.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1014d03c19_0_7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1014d03c19_0_7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1014d03c19_0_7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1014d03c19_0_7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Don’t rent out your ability to think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to go into some of this..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866d0df8e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866d0df8e3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1014d03c19_0_9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1014d03c19_0_9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1014d03c19_0_7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1014d03c19_0_7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Then it was $35 - devalued by over 40%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1014d03c19_0_8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1014d03c19_0_8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1014d03c19_0_7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1014d03c19_0_7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1014d03c19_0_7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1014d03c19_0_7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1014d03c19_0_10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1014d03c19_0_10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1014d03c19_0_7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1014d03c19_0_7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https://bitcoinmagazine.com/markets/how-halvings-will-bring-the-bitcoin-price-to-400000</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3"/>
              </a:rPr>
              <a:t>https://x.com/lopp/status/1756490177030303949?s=20</a:t>
            </a:r>
            <a:r>
              <a:rPr lang="en"/>
              <a:t>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1014d03c19_0_7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1014d03c19_0_7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1014d03c19_0_8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1014d03c19_0_8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1014d03c19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1014d03c19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1014d03c19_0_9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1014d03c19_0_9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https://bitcorn.io/cbtc</a:t>
            </a:r>
            <a:r>
              <a:rPr lang="en"/>
              <a:t> </a:t>
            </a:r>
            <a:endParaRPr/>
          </a:p>
          <a:p>
            <a:pPr indent="0" lvl="0" marL="0" rtl="0" algn="l">
              <a:spcBef>
                <a:spcPts val="0"/>
              </a:spcBef>
              <a:spcAft>
                <a:spcPts val="0"/>
              </a:spcAft>
              <a:buNone/>
            </a:pPr>
            <a:r>
              <a:rPr lang="en" u="sng">
                <a:solidFill>
                  <a:schemeClr val="hlink"/>
                </a:solidFill>
                <a:hlinkClick r:id="rId3"/>
              </a:rPr>
              <a:t>https://coinos.io</a:t>
            </a:r>
            <a:r>
              <a:rPr lang="en"/>
              <a:t>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1014d03c19_0_8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1014d03c19_0_8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33</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1014d03c19_0_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1014d03c19_0_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April 5, 1975</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1014d03c19_0_8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1014d03c19_0_8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9 (8 + references)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1014d03c19_0_8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1014d03c19_0_8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1014d03c19_0_8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1014d03c19_0_8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January 3, 2009</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1014d03c19_0_9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1014d03c19_0_9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Privacy</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1014d03c19_0_9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1014d03c19_0_9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Off gold standard 20.67 → 35 per troy ounce</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1014d03c19_0_9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1014d03c19_0_9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3.125%</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1014d03c19_0_9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1014d03c19_0_9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8</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1014d03c19_0_9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1014d03c19_0_9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1014d03c19_0_9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1014d03c19_0_9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https://www.linkedin.com/pulse/14-facts-bitcoin-white-paper-its-14th-anniversary-giannis-rousopoulos/</a:t>
            </a:r>
            <a:r>
              <a:rPr lang="en"/>
              <a:t>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1014d03c19_0_9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1014d03c19_0_9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highlight>
                  <a:srgbClr val="FFFFFF"/>
                </a:highlight>
                <a:latin typeface="Roboto"/>
                <a:ea typeface="Roboto"/>
                <a:cs typeface="Roboto"/>
                <a:sym typeface="Roboto"/>
              </a:rPr>
              <a:t>Code → white paper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1014d03c19_0_9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1014d03c19_0_9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highlight>
                  <a:srgbClr val="FFFFFF"/>
                </a:highlight>
                <a:latin typeface="Roboto"/>
                <a:ea typeface="Roboto"/>
                <a:cs typeface="Roboto"/>
                <a:sym typeface="Roboto"/>
              </a:rPr>
              <a:t>Block - 48 times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1014d03c19_0_1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1014d03c19_0_1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highlight>
                  <a:srgbClr val="FFFFFF"/>
                </a:highlight>
                <a:latin typeface="Roboto"/>
                <a:ea typeface="Roboto"/>
                <a:cs typeface="Roboto"/>
                <a:sym typeface="Roboto"/>
              </a:rPr>
              <a:t>2:10 pm ET &amp; 18:10 UTC</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1014d03c19_0_9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1014d03c19_0_9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highlight>
                  <a:srgbClr val="FFFFFF"/>
                </a:highlight>
                <a:latin typeface="Roboto"/>
                <a:ea typeface="Roboto"/>
                <a:cs typeface="Roboto"/>
                <a:sym typeface="Roboto"/>
              </a:rPr>
              <a:t>BIP 42?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1014d03c19_0_9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1014d03c19_0_9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highlight>
                  <a:srgbClr val="FFFFFF"/>
                </a:highlight>
                <a:latin typeface="Roboto"/>
                <a:ea typeface="Roboto"/>
                <a:cs typeface="Roboto"/>
                <a:sym typeface="Roboto"/>
              </a:rPr>
              <a:t>BIP 42?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1014d03c19_0_1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1014d03c19_0_1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1014d03c19_0_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1014d03c19_0_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26869403eb0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26869403eb0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2866d0df8e3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2866d0df8e3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Font typeface="Proxima Nova"/>
              <a:buNone/>
              <a:defRPr sz="4800">
                <a:latin typeface="Proxima Nova"/>
                <a:ea typeface="Proxima Nova"/>
                <a:cs typeface="Proxima Nova"/>
                <a:sym typeface="Proxima Nova"/>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Font typeface="Proxima Nova"/>
              <a:buNone/>
              <a:defRPr sz="4200">
                <a:latin typeface="Proxima Nova"/>
                <a:ea typeface="Proxima Nova"/>
                <a:cs typeface="Proxima Nova"/>
                <a:sym typeface="Proxima Nova"/>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Font typeface="Proxima Nova"/>
              <a:buNone/>
              <a:defRPr>
                <a:latin typeface="Proxima Nova"/>
                <a:ea typeface="Proxima Nova"/>
                <a:cs typeface="Proxima Nova"/>
                <a:sym typeface="Proxima Nova"/>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4" name="Google Shape;24;p4"/>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B31B1B"/>
        </a:solidFill>
      </p:bgPr>
    </p:bg>
    <p:spTree>
      <p:nvGrpSpPr>
        <p:cNvPr id="25" name="Shape 25"/>
        <p:cNvGrpSpPr/>
        <p:nvPr/>
      </p:nvGrpSpPr>
      <p:grpSpPr>
        <a:xfrm>
          <a:off x="0" y="0"/>
          <a:ext cx="0" cy="0"/>
          <a:chOff x="0" y="0"/>
          <a:chExt cx="0" cy="0"/>
        </a:xfrm>
      </p:grpSpPr>
      <p:sp>
        <p:nvSpPr>
          <p:cNvPr id="26" name="Google Shape;26;p5"/>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9" name="Google Shape;29;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Font typeface="Arial"/>
              <a:buChar char="●"/>
              <a:defRPr b="1" sz="700">
                <a:latin typeface="Arial"/>
                <a:ea typeface="Arial"/>
                <a:cs typeface="Arial"/>
                <a:sym typeface="Arial"/>
              </a:defRPr>
            </a:lvl1pPr>
            <a:lvl2pPr indent="-317500" lvl="1" marL="914400">
              <a:spcBef>
                <a:spcPts val="0"/>
              </a:spcBef>
              <a:spcAft>
                <a:spcPts val="0"/>
              </a:spcAft>
              <a:buClr>
                <a:srgbClr val="000000"/>
              </a:buClr>
              <a:buSzPts val="1400"/>
              <a:buFont typeface="Arial"/>
              <a:buChar char="○"/>
              <a:defRPr sz="1200"/>
            </a:lvl2pPr>
            <a:lvl3pPr indent="-317500" lvl="2" marL="1371600">
              <a:lnSpc>
                <a:spcPct val="100000"/>
              </a:lnSpc>
              <a:spcBef>
                <a:spcPts val="0"/>
              </a:spcBef>
              <a:spcAft>
                <a:spcPts val="0"/>
              </a:spcAft>
              <a:buClr>
                <a:srgbClr val="000000"/>
              </a:buClr>
              <a:buSzPts val="1400"/>
              <a:buFont typeface="Arial"/>
              <a:buChar char="■"/>
              <a:defRPr sz="700">
                <a:latin typeface="Arial"/>
                <a:ea typeface="Arial"/>
                <a:cs typeface="Arial"/>
                <a:sym typeface="Arial"/>
              </a:defRPr>
            </a:lvl3pPr>
            <a:lvl4pPr indent="-317500" lvl="3" marL="1828800">
              <a:spcBef>
                <a:spcPts val="0"/>
              </a:spcBef>
              <a:spcAft>
                <a:spcPts val="0"/>
              </a:spcAft>
              <a:buClr>
                <a:srgbClr val="000000"/>
              </a:buClr>
              <a:buSzPts val="1400"/>
              <a:buFont typeface="Arial"/>
              <a:buChar char="●"/>
              <a:defRPr sz="1200"/>
            </a:lvl4pPr>
            <a:lvl5pPr indent="-317500" lvl="4" marL="2286000">
              <a:spcBef>
                <a:spcPts val="0"/>
              </a:spcBef>
              <a:spcAft>
                <a:spcPts val="0"/>
              </a:spcAft>
              <a:buClr>
                <a:srgbClr val="000000"/>
              </a:buClr>
              <a:buSzPts val="1400"/>
              <a:buFont typeface="Arial"/>
              <a:buChar char="○"/>
              <a:defRPr sz="1200"/>
            </a:lvl5pPr>
            <a:lvl6pPr indent="-317500" lvl="5" marL="2743200">
              <a:spcBef>
                <a:spcPts val="0"/>
              </a:spcBef>
              <a:spcAft>
                <a:spcPts val="0"/>
              </a:spcAft>
              <a:buClr>
                <a:srgbClr val="000000"/>
              </a:buClr>
              <a:buSzPts val="1400"/>
              <a:buFont typeface="Arial"/>
              <a:buChar char="■"/>
              <a:defRPr sz="1200"/>
            </a:lvl6pPr>
            <a:lvl7pPr indent="-317500" lvl="6" marL="3200400">
              <a:spcBef>
                <a:spcPts val="0"/>
              </a:spcBef>
              <a:spcAft>
                <a:spcPts val="0"/>
              </a:spcAft>
              <a:buClr>
                <a:srgbClr val="000000"/>
              </a:buClr>
              <a:buSzPts val="1400"/>
              <a:buFont typeface="Arial"/>
              <a:buChar char="●"/>
              <a:defRPr sz="1200"/>
            </a:lvl7pPr>
            <a:lvl8pPr indent="-317500" lvl="7" marL="3657600">
              <a:spcBef>
                <a:spcPts val="0"/>
              </a:spcBef>
              <a:spcAft>
                <a:spcPts val="0"/>
              </a:spcAft>
              <a:buClr>
                <a:srgbClr val="000000"/>
              </a:buClr>
              <a:buSzPts val="1400"/>
              <a:buFont typeface="Arial"/>
              <a:buChar char="○"/>
              <a:defRPr sz="1200"/>
            </a:lvl8pPr>
            <a:lvl9pPr indent="-317500" lvl="8" marL="4114800">
              <a:spcBef>
                <a:spcPts val="0"/>
              </a:spcBef>
              <a:spcAft>
                <a:spcPts val="0"/>
              </a:spcAft>
              <a:buClr>
                <a:srgbClr val="000000"/>
              </a:buClr>
              <a:buSzPts val="1400"/>
              <a:buFont typeface="Arial"/>
              <a:buChar char="■"/>
              <a:defRPr sz="1200"/>
            </a:lvl9pPr>
          </a:lstStyle>
          <a:p/>
        </p:txBody>
      </p:sp>
      <p:sp>
        <p:nvSpPr>
          <p:cNvPr id="31" name="Google Shape;31;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2" name="Google Shape;32;p5"/>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rgbClr val="B31B1B"/>
        </a:solidFill>
      </p:bgPr>
    </p:bg>
    <p:spTree>
      <p:nvGrpSpPr>
        <p:cNvPr id="33" name="Shape 33"/>
        <p:cNvGrpSpPr/>
        <p:nvPr/>
      </p:nvGrpSpPr>
      <p:grpSpPr>
        <a:xfrm>
          <a:off x="0" y="0"/>
          <a:ext cx="0" cy="0"/>
          <a:chOff x="0" y="0"/>
          <a:chExt cx="0" cy="0"/>
        </a:xfrm>
      </p:grpSpPr>
      <p:sp>
        <p:nvSpPr>
          <p:cNvPr id="34" name="Google Shape;34;p6"/>
          <p:cNvSpPr/>
          <p:nvPr/>
        </p:nvSpPr>
        <p:spPr>
          <a:xfrm flipH="1" rot="10800000">
            <a:off x="0" y="656400"/>
            <a:ext cx="9144000" cy="4487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 name="Google Shape;37;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8" name="Google Shape;38;p6"/>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txBox="1"/>
          <p:nvPr/>
        </p:nvSpPr>
        <p:spPr>
          <a:xfrm flipH="1" rot="10800000">
            <a:off x="3276600" y="25"/>
            <a:ext cx="5867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4" name="Google Shape;44;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000000"/>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7" name="Google Shape;47;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flipH="1">
            <a:off x="0" y="0"/>
            <a:ext cx="4572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52" name="Google Shape;52;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sp>
        <p:nvSpPr>
          <p:cNvPr id="56" name="Google Shape;56;p10"/>
          <p:cNvSpPr txBox="1"/>
          <p:nvPr/>
        </p:nvSpPr>
        <p:spPr>
          <a:xfrm flipH="1" rot="10800000">
            <a:off x="0" y="0"/>
            <a:ext cx="9144000" cy="46959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Clr>
                <a:schemeClr val="lt1"/>
              </a:buClr>
              <a:buSzPts val="1200"/>
              <a:buNone/>
              <a:defRPr sz="1200">
                <a:solidFill>
                  <a:schemeClr val="lt1"/>
                </a:solidFill>
              </a:defRPr>
            </a:lvl1pPr>
          </a:lstStyle>
          <a:p/>
        </p:txBody>
      </p:sp>
      <p:sp>
        <p:nvSpPr>
          <p:cNvPr id="59" name="Google Shape;59;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450B0C"/>
        </a:solidFill>
      </p:bgPr>
    </p:bg>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62" name="Google Shape;62;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63" name="Google Shape;63;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450B0C"/>
        </a:solidFill>
      </p:bgPr>
    </p:bg>
    <p:spTree>
      <p:nvGrpSpPr>
        <p:cNvPr id="64" name="Shape 64"/>
        <p:cNvGrpSpPr/>
        <p:nvPr/>
      </p:nvGrpSpPr>
      <p:grpSpPr>
        <a:xfrm>
          <a:off x="0" y="0"/>
          <a:ext cx="0" cy="0"/>
          <a:chOff x="0" y="0"/>
          <a:chExt cx="0" cy="0"/>
        </a:xfrm>
      </p:grpSpPr>
      <p:sp>
        <p:nvSpPr>
          <p:cNvPr id="65" name="Google Shape;65;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Proxima Nova"/>
              <a:buNone/>
              <a:defRPr sz="3200">
                <a:solidFill>
                  <a:schemeClr val="lt1"/>
                </a:solidFill>
                <a:latin typeface="Proxima Nova"/>
                <a:ea typeface="Proxima Nova"/>
                <a:cs typeface="Proxima Nova"/>
                <a:sym typeface="Proxima Nova"/>
              </a:defRPr>
            </a:lvl1pPr>
            <a:lvl2pPr lvl="1">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2pPr>
            <a:lvl3pPr lvl="2">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3pPr>
            <a:lvl4pPr lvl="3">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4pPr>
            <a:lvl5pPr lvl="4">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5pPr>
            <a:lvl6pPr lvl="5">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6pPr>
            <a:lvl7pPr lvl="6">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7pPr>
            <a:lvl8pPr lvl="7">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8pPr>
            <a:lvl9pPr lvl="8">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Proxima Nova"/>
              <a:buChar char="●"/>
              <a:defRPr sz="1800">
                <a:solidFill>
                  <a:schemeClr val="lt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hyperlink" Target="http://www.youtube.com/watch?v=KG0Q05Lnm7s" TargetMode="External"/><Relationship Id="rId4" Type="http://schemas.openxmlformats.org/officeDocument/2006/relationships/image" Target="../media/image2.jp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hyperlink" Target="https://mempool.space/block/000000000019d6689c085ae165831e934ff763ae46a2a6c172b3f1b60a8ce26f" TargetMode="Externa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20.png"/><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hyperlink" Target="https://dergigi.com/2021/01/14/bitcoin-is-time/" TargetMode="External"/><Relationship Id="rId6"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1.png"/><Relationship Id="rId4" Type="http://schemas.openxmlformats.org/officeDocument/2006/relationships/hyperlink" Target="https://tftc.io/issue-441" TargetMode="External"/><Relationship Id="rId5" Type="http://schemas.openxmlformats.org/officeDocument/2006/relationships/image" Target="../media/image6.png"/><Relationship Id="rId6"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25.png"/><Relationship Id="rId5" Type="http://schemas.openxmlformats.org/officeDocument/2006/relationships/image" Target="../media/image6.png"/><Relationship Id="rId6" Type="http://schemas.openxmlformats.org/officeDocument/2006/relationships/hyperlink" Target="https://dergigi.com/2021/01/14/bitcoin-is-time/" TargetMode="External"/><Relationship Id="rId7"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6.png"/><Relationship Id="rId6" Type="http://schemas.openxmlformats.org/officeDocument/2006/relationships/hyperlink" Target="https://dergigi.com/2021/01/14/bitcoin-is-time/" TargetMode="External"/><Relationship Id="rId7"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13.png"/><Relationship Id="rId4" Type="http://schemas.openxmlformats.org/officeDocument/2006/relationships/hyperlink" Target="https://x.com/w_s_bitcoin/status/1742551968759816238?s=20" TargetMode="External"/><Relationship Id="rId5"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6.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15.png"/><Relationship Id="rId4" Type="http://schemas.openxmlformats.org/officeDocument/2006/relationships/image" Target="../media/image28.png"/><Relationship Id="rId5" Type="http://schemas.openxmlformats.org/officeDocument/2006/relationships/hyperlink" Target="https://timechaincalendar.com/en" TargetMode="External"/><Relationship Id="rId6"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hyperlink" Target="https://www.coindesk.com/learn/bitcoin-mining-difficulty-everything-you-need-to-know/" TargetMode="External"/><Relationship Id="rId4" Type="http://schemas.openxmlformats.org/officeDocument/2006/relationships/image" Target="../media/image10.png"/><Relationship Id="rId5"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26.png"/><Relationship Id="rId4" Type="http://schemas.openxmlformats.org/officeDocument/2006/relationships/hyperlink" Target="https://dergigi.com/2021/01/14/bitcoin-is-time/" TargetMode="External"/><Relationship Id="rId5"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6.png"/><Relationship Id="rId4" Type="http://schemas.openxmlformats.org/officeDocument/2006/relationships/image" Target="../media/image6.png"/><Relationship Id="rId5"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hyperlink" Target="https://www.history.com/topics/reformation/martin-luther-and-the-95-theses" TargetMode="External"/><Relationship Id="rId4" Type="http://schemas.openxmlformats.org/officeDocument/2006/relationships/hyperlink" Target="https://www.history.com/this-day-in-history/martin-luther-excommunicated#:~:text=In%20January%201521%2C%20Pope%20Leo,an%20outlaw%20and%20a%20heretic." TargetMode="External"/><Relationship Id="rId5" Type="http://schemas.openxmlformats.org/officeDocument/2006/relationships/hyperlink" Target="https://www.worldhistory.org/Protestant_Reformation/" TargetMode="External"/><Relationship Id="rId6"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6.png"/><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27.png"/><Relationship Id="rId4" Type="http://schemas.openxmlformats.org/officeDocument/2006/relationships/image" Target="../media/image29.png"/><Relationship Id="rId5"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6.png"/><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6.png"/><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6.png"/><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6.png"/><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6.png"/><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6.png"/><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6.png"/><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6.png"/><Relationship Id="rId4"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6.png"/><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6.png"/><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6.png"/><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6.png"/><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6.png"/><Relationship Id="rId4"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6.png"/><Relationship Id="rId4"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6.png"/><Relationship Id="rId4"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2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 Id="rId3"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6.png"/><Relationship Id="rId4" Type="http://schemas.openxmlformats.org/officeDocument/2006/relationships/image" Target="../media/image1.png"/></Relationships>
</file>

<file path=ppt/slides/_rels/slide54.xml.rels><?xml version="1.0" encoding="UTF-8" standalone="yes"?><Relationships xmlns="http://schemas.openxmlformats.org/package/2006/relationships"><Relationship Id="rId11" Type="http://schemas.openxmlformats.org/officeDocument/2006/relationships/hyperlink" Target="https://forms.gle/hYj1Gj3LAqcL7Z5CA" TargetMode="External"/><Relationship Id="rId10" Type="http://schemas.openxmlformats.org/officeDocument/2006/relationships/hyperlink" Target="https://open.spotify.com/playlist/0uFt0RJvfh143lVGQbhWHS?si=95193d92e5094f73&amp;pt=2f012d4e97b62c470b68ca9552905422" TargetMode="External"/><Relationship Id="rId13" Type="http://schemas.openxmlformats.org/officeDocument/2006/relationships/image" Target="../media/image6.png"/><Relationship Id="rId12" Type="http://schemas.openxmlformats.org/officeDocument/2006/relationships/hyperlink" Target="https://forms.gle/xh8JxpqC2XLsb72L7" TargetMode="External"/><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12.png"/><Relationship Id="rId4" Type="http://schemas.openxmlformats.org/officeDocument/2006/relationships/hyperlink" Target="https://join.slack.com/t/cornellbitcoinclub/shared_invite/zt-2bnpz3y01-wOxd_f0NcRRZyRNkzznA5Q" TargetMode="External"/><Relationship Id="rId9" Type="http://schemas.openxmlformats.org/officeDocument/2006/relationships/hyperlink" Target="https://forms.gle/yjLJ1z4EBJXzBLd49" TargetMode="External"/><Relationship Id="rId14" Type="http://schemas.openxmlformats.org/officeDocument/2006/relationships/image" Target="../media/image1.png"/><Relationship Id="rId5" Type="http://schemas.openxmlformats.org/officeDocument/2006/relationships/hyperlink" Target="https://calendar.google.com/calendar/u/0?cid=Y184YjI3M2VlZmYzOTIxMWM1OTA2NGVmOTk5YWRhZDIyNzhjMDg2NDkwMDZhYzRjM2QyZjE4M2E4YzgwMDBhYmE4QGdyb3VwLmNhbGVuZGFyLmdvb2dsZS5jb20" TargetMode="External"/><Relationship Id="rId6" Type="http://schemas.openxmlformats.org/officeDocument/2006/relationships/hyperlink" Target="https://forms.gle/R3wBeLyNpq9vbeXn9" TargetMode="External"/><Relationship Id="rId7" Type="http://schemas.openxmlformats.org/officeDocument/2006/relationships/hyperlink" Target="https://forms.gle/ZwUKC8V61m9v6SWcA" TargetMode="External"/><Relationship Id="rId8" Type="http://schemas.openxmlformats.org/officeDocument/2006/relationships/hyperlink" Target="https://forms.gle/9HEnoXqodNdaPd7W8"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5.xml"/><Relationship Id="rId3" Type="http://schemas.openxmlformats.org/officeDocument/2006/relationships/image" Target="../media/image6.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69" name="Shape 69"/>
        <p:cNvGrpSpPr/>
        <p:nvPr/>
      </p:nvGrpSpPr>
      <p:grpSpPr>
        <a:xfrm>
          <a:off x="0" y="0"/>
          <a:ext cx="0" cy="0"/>
          <a:chOff x="0" y="0"/>
          <a:chExt cx="0" cy="0"/>
        </a:xfrm>
      </p:grpSpPr>
      <p:sp>
        <p:nvSpPr>
          <p:cNvPr id="70" name="Google Shape;70;p13"/>
          <p:cNvSpPr txBox="1"/>
          <p:nvPr/>
        </p:nvSpPr>
        <p:spPr>
          <a:xfrm>
            <a:off x="787925" y="3471700"/>
            <a:ext cx="3933300" cy="9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Proxima Nova Semibold"/>
                <a:ea typeface="Proxima Nova Semibold"/>
                <a:cs typeface="Proxima Nova Semibold"/>
                <a:sym typeface="Proxima Nova Semibold"/>
              </a:rPr>
              <a:t>Meeting #18: October 30, 2024</a:t>
            </a:r>
            <a:endParaRPr sz="1600">
              <a:solidFill>
                <a:schemeClr val="lt1"/>
              </a:solidFill>
              <a:latin typeface="Proxima Nova Semibold"/>
              <a:ea typeface="Proxima Nova Semibold"/>
              <a:cs typeface="Proxima Nova Semibold"/>
              <a:sym typeface="Proxima Nova Semibold"/>
            </a:endParaRPr>
          </a:p>
        </p:txBody>
      </p:sp>
      <p:sp>
        <p:nvSpPr>
          <p:cNvPr id="71" name="Google Shape;71;p13"/>
          <p:cNvSpPr txBox="1"/>
          <p:nvPr/>
        </p:nvSpPr>
        <p:spPr>
          <a:xfrm>
            <a:off x="726625" y="1532200"/>
            <a:ext cx="4893000" cy="19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Cornell</a:t>
            </a:r>
            <a:endParaRPr b="1" sz="6000">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Bitcoin</a:t>
            </a:r>
            <a:r>
              <a:rPr b="1" lang="en" sz="6000">
                <a:solidFill>
                  <a:schemeClr val="lt1"/>
                </a:solidFill>
                <a:latin typeface="Proxima Nova"/>
                <a:ea typeface="Proxima Nova"/>
                <a:cs typeface="Proxima Nova"/>
                <a:sym typeface="Proxima Nova"/>
              </a:rPr>
              <a:t> Club</a:t>
            </a:r>
            <a:endParaRPr b="1" sz="6000">
              <a:solidFill>
                <a:schemeClr val="lt1"/>
              </a:solidFill>
              <a:latin typeface="Proxima Nova"/>
              <a:ea typeface="Proxima Nova"/>
              <a:cs typeface="Proxima Nova"/>
              <a:sym typeface="Proxima Nova"/>
            </a:endParaRPr>
          </a:p>
        </p:txBody>
      </p:sp>
      <p:pic>
        <p:nvPicPr>
          <p:cNvPr id="72" name="Google Shape;72;p13"/>
          <p:cNvPicPr preferRelativeResize="0"/>
          <p:nvPr/>
        </p:nvPicPr>
        <p:blipFill>
          <a:blip r:embed="rId3">
            <a:alphaModFix/>
          </a:blip>
          <a:stretch>
            <a:fillRect/>
          </a:stretch>
        </p:blipFill>
        <p:spPr>
          <a:xfrm>
            <a:off x="5619625" y="1129869"/>
            <a:ext cx="3037974" cy="288376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Disclosure</a:t>
            </a:r>
            <a:endParaRPr/>
          </a:p>
        </p:txBody>
      </p:sp>
      <p:sp>
        <p:nvSpPr>
          <p:cNvPr id="78" name="Google Shape;78;p14"/>
          <p:cNvSpPr txBox="1"/>
          <p:nvPr/>
        </p:nvSpPr>
        <p:spPr>
          <a:xfrm>
            <a:off x="909600" y="1919025"/>
            <a:ext cx="7324800" cy="1908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600">
                <a:solidFill>
                  <a:schemeClr val="lt1"/>
                </a:solidFill>
                <a:latin typeface="Proxima Nova"/>
                <a:ea typeface="Proxima Nova"/>
                <a:cs typeface="Proxima Nova"/>
                <a:sym typeface="Proxima Nova"/>
              </a:rPr>
              <a:t>The Cornell Bitcoin Club is an undergraduate student club. The Club’s website and all published and or related materials and audio and visual recordings are not legal, investment, or accounting advice. They are for informational purposes. If any service providers are acknowledged or highlighted, it is for discussion purposes and should not be construed as an endorsement of their services. </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600">
              <a:solidFill>
                <a:schemeClr val="lt1"/>
              </a:solidFill>
              <a:latin typeface="Proxima Nova"/>
              <a:ea typeface="Proxima Nova"/>
              <a:cs typeface="Proxima Nova"/>
              <a:sym typeface="Proxima Nova"/>
            </a:endParaRPr>
          </a:p>
        </p:txBody>
      </p:sp>
      <p:pic>
        <p:nvPicPr>
          <p:cNvPr id="79" name="Google Shape;79;p14"/>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Happy Whitepaper Eve!</a:t>
            </a:r>
            <a:endParaRPr/>
          </a:p>
        </p:txBody>
      </p:sp>
      <p:pic>
        <p:nvPicPr>
          <p:cNvPr id="85" name="Google Shape;85;p15"/>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86" name="Google Shape;86;p15"/>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Warm-Up</a:t>
            </a:r>
            <a:endParaRPr/>
          </a:p>
        </p:txBody>
      </p:sp>
      <p:pic>
        <p:nvPicPr>
          <p:cNvPr id="92" name="Google Shape;92;p16"/>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93" name="Google Shape;93;p16"/>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97" name="Shape 97"/>
        <p:cNvGrpSpPr/>
        <p:nvPr/>
      </p:nvGrpSpPr>
      <p:grpSpPr>
        <a:xfrm>
          <a:off x="0" y="0"/>
          <a:ext cx="0" cy="0"/>
          <a:chOff x="0" y="0"/>
          <a:chExt cx="0" cy="0"/>
        </a:xfrm>
      </p:grpSpPr>
      <p:sp>
        <p:nvSpPr>
          <p:cNvPr id="98" name="Google Shape;98;p17"/>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p>
            <a:pPr indent="0" lvl="0" marL="0" rtl="0" algn="l">
              <a:spcBef>
                <a:spcPts val="0"/>
              </a:spcBef>
              <a:spcAft>
                <a:spcPts val="0"/>
              </a:spcAft>
              <a:buNone/>
            </a:pPr>
            <a:r>
              <a:rPr b="1" lang="en"/>
              <a:t>Warm-Up</a:t>
            </a:r>
            <a:endParaRPr b="1"/>
          </a:p>
        </p:txBody>
      </p:sp>
      <p:sp>
        <p:nvSpPr>
          <p:cNvPr id="99" name="Google Shape;99;p17"/>
          <p:cNvSpPr txBox="1"/>
          <p:nvPr>
            <p:ph idx="4294967295" type="body"/>
          </p:nvPr>
        </p:nvSpPr>
        <p:spPr>
          <a:xfrm>
            <a:off x="400500" y="1172450"/>
            <a:ext cx="8222100" cy="2710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sz="1500">
                <a:solidFill>
                  <a:schemeClr val="lt1"/>
                </a:solidFill>
              </a:rPr>
              <a:t>Open up your laptop: </a:t>
            </a:r>
            <a:endParaRPr sz="1500">
              <a:solidFill>
                <a:schemeClr val="lt1"/>
              </a:solidFill>
            </a:endParaRPr>
          </a:p>
          <a:p>
            <a:pPr indent="-316706" lvl="0" marL="457200" rtl="0" algn="l">
              <a:spcBef>
                <a:spcPts val="1200"/>
              </a:spcBef>
              <a:spcAft>
                <a:spcPts val="0"/>
              </a:spcAft>
              <a:buClr>
                <a:schemeClr val="lt1"/>
              </a:buClr>
              <a:buSzPct val="100000"/>
              <a:buAutoNum type="arabicPeriod"/>
            </a:pPr>
            <a:r>
              <a:rPr lang="en" sz="1500">
                <a:solidFill>
                  <a:schemeClr val="lt1"/>
                </a:solidFill>
              </a:rPr>
              <a:t>If you’re comfortable with Terminal commands you can use command below: </a:t>
            </a:r>
            <a:endParaRPr sz="1500">
              <a:solidFill>
                <a:schemeClr val="lt1"/>
              </a:solidFill>
            </a:endParaRPr>
          </a:p>
          <a:p>
            <a:pPr indent="-316706" lvl="1" marL="914400" rtl="0" algn="l">
              <a:spcBef>
                <a:spcPts val="0"/>
              </a:spcBef>
              <a:spcAft>
                <a:spcPts val="0"/>
              </a:spcAft>
              <a:buClr>
                <a:schemeClr val="lt1"/>
              </a:buClr>
              <a:buSzPct val="100000"/>
              <a:buAutoNum type="alphaLcPeriod"/>
            </a:pPr>
            <a:r>
              <a:rPr lang="en" sz="1500">
                <a:solidFill>
                  <a:schemeClr val="lt1"/>
                </a:solidFill>
              </a:rPr>
              <a:t>open /System/Library/Image\ Capture/Devices/VirtualScanner.app/Contents/Resources/simpledoc.pdf</a:t>
            </a:r>
            <a:endParaRPr sz="1500">
              <a:solidFill>
                <a:schemeClr val="lt1"/>
              </a:solidFill>
            </a:endParaRPr>
          </a:p>
          <a:p>
            <a:pPr indent="0" lvl="0" marL="914400" rtl="0" algn="l">
              <a:spcBef>
                <a:spcPts val="1200"/>
              </a:spcBef>
              <a:spcAft>
                <a:spcPts val="0"/>
              </a:spcAft>
              <a:buNone/>
            </a:pPr>
            <a:r>
              <a:t/>
            </a:r>
            <a:endParaRPr sz="1500">
              <a:solidFill>
                <a:schemeClr val="lt1"/>
              </a:solidFill>
            </a:endParaRPr>
          </a:p>
          <a:p>
            <a:pPr indent="-316706" lvl="0" marL="457200" rtl="0" algn="l">
              <a:spcBef>
                <a:spcPts val="1200"/>
              </a:spcBef>
              <a:spcAft>
                <a:spcPts val="0"/>
              </a:spcAft>
              <a:buClr>
                <a:schemeClr val="lt1"/>
              </a:buClr>
              <a:buSzPct val="100000"/>
              <a:buAutoNum type="arabicPeriod"/>
            </a:pPr>
            <a:r>
              <a:rPr lang="en" sz="1500">
                <a:solidFill>
                  <a:schemeClr val="lt1"/>
                </a:solidFill>
              </a:rPr>
              <a:t>Alternatively, you can open Finder, click Go at the top, then Computer, then follow the (rather long) path below. </a:t>
            </a:r>
            <a:endParaRPr sz="1500">
              <a:solidFill>
                <a:schemeClr val="lt1"/>
              </a:solidFill>
            </a:endParaRPr>
          </a:p>
          <a:p>
            <a:pPr indent="-316706" lvl="1" marL="914400" rtl="0" algn="l">
              <a:spcBef>
                <a:spcPts val="0"/>
              </a:spcBef>
              <a:spcAft>
                <a:spcPts val="0"/>
              </a:spcAft>
              <a:buClr>
                <a:schemeClr val="lt1"/>
              </a:buClr>
              <a:buSzPct val="100000"/>
              <a:buAutoNum type="alphaLcPeriod"/>
            </a:pPr>
            <a:r>
              <a:rPr lang="en" sz="1500">
                <a:solidFill>
                  <a:schemeClr val="lt1"/>
                </a:solidFill>
              </a:rPr>
              <a:t>Macintosh HD / System / Library / Image Capture / Devices folder</a:t>
            </a:r>
            <a:endParaRPr sz="1500">
              <a:solidFill>
                <a:schemeClr val="lt1"/>
              </a:solidFill>
            </a:endParaRPr>
          </a:p>
          <a:p>
            <a:pPr indent="-316706" lvl="1" marL="914400" rtl="0" algn="l">
              <a:spcBef>
                <a:spcPts val="0"/>
              </a:spcBef>
              <a:spcAft>
                <a:spcPts val="0"/>
              </a:spcAft>
              <a:buClr>
                <a:schemeClr val="lt1"/>
              </a:buClr>
              <a:buSzPct val="100000"/>
              <a:buAutoNum type="alphaLcPeriod"/>
            </a:pPr>
            <a:r>
              <a:rPr lang="en" sz="1500">
                <a:solidFill>
                  <a:schemeClr val="lt1"/>
                </a:solidFill>
              </a:rPr>
              <a:t>Control-click on VirtualScanner.app and click Show Package Contents</a:t>
            </a:r>
            <a:endParaRPr sz="1500">
              <a:solidFill>
                <a:schemeClr val="lt1"/>
              </a:solidFill>
            </a:endParaRPr>
          </a:p>
          <a:p>
            <a:pPr indent="-316706" lvl="1" marL="914400" rtl="0" algn="l">
              <a:spcBef>
                <a:spcPts val="0"/>
              </a:spcBef>
              <a:spcAft>
                <a:spcPts val="0"/>
              </a:spcAft>
              <a:buClr>
                <a:schemeClr val="lt1"/>
              </a:buClr>
              <a:buSzPct val="100000"/>
              <a:buAutoNum type="alphaLcPeriod"/>
            </a:pPr>
            <a:r>
              <a:rPr lang="en" sz="1500">
                <a:solidFill>
                  <a:schemeClr val="lt1"/>
                </a:solidFill>
              </a:rPr>
              <a:t>Contents / Resources / open simpledoc.pdf</a:t>
            </a:r>
            <a:endParaRPr sz="1500">
              <a:solidFill>
                <a:schemeClr val="lt1"/>
              </a:solidFill>
            </a:endParaRPr>
          </a:p>
        </p:txBody>
      </p:sp>
      <p:pic>
        <p:nvPicPr>
          <p:cNvPr id="100" name="Google Shape;100;p17"/>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Bitcoin &amp; bitcoin</a:t>
            </a:r>
            <a:endParaRPr/>
          </a:p>
          <a:p>
            <a:pPr indent="0" lvl="0" marL="0" rtl="0" algn="l">
              <a:spcBef>
                <a:spcPts val="0"/>
              </a:spcBef>
              <a:spcAft>
                <a:spcPts val="0"/>
              </a:spcAft>
              <a:buNone/>
            </a:pPr>
            <a:r>
              <a:rPr lang="en" sz="1650"/>
              <a:t>“network” mentioned 21 times 👀</a:t>
            </a:r>
            <a:endParaRPr sz="1650"/>
          </a:p>
        </p:txBody>
      </p:sp>
      <p:pic>
        <p:nvPicPr>
          <p:cNvPr id="106" name="Google Shape;106;p18"/>
          <p:cNvPicPr preferRelativeResize="0"/>
          <p:nvPr/>
        </p:nvPicPr>
        <p:blipFill>
          <a:blip r:embed="rId3">
            <a:alphaModFix/>
          </a:blip>
          <a:stretch>
            <a:fillRect/>
          </a:stretch>
        </p:blipFill>
        <p:spPr>
          <a:xfrm>
            <a:off x="4883200" y="1304655"/>
            <a:ext cx="2658400" cy="2658375"/>
          </a:xfrm>
          <a:prstGeom prst="rect">
            <a:avLst/>
          </a:prstGeom>
          <a:noFill/>
          <a:ln>
            <a:noFill/>
          </a:ln>
        </p:spPr>
      </p:pic>
      <p:pic>
        <p:nvPicPr>
          <p:cNvPr id="107" name="Google Shape;107;p18"/>
          <p:cNvPicPr preferRelativeResize="0"/>
          <p:nvPr/>
        </p:nvPicPr>
        <p:blipFill>
          <a:blip r:embed="rId4">
            <a:alphaModFix/>
          </a:blip>
          <a:stretch>
            <a:fillRect/>
          </a:stretch>
        </p:blipFill>
        <p:spPr>
          <a:xfrm>
            <a:off x="184150" y="4695625"/>
            <a:ext cx="374483" cy="355476"/>
          </a:xfrm>
          <a:prstGeom prst="rect">
            <a:avLst/>
          </a:prstGeom>
          <a:noFill/>
          <a:ln>
            <a:noFill/>
          </a:ln>
        </p:spPr>
      </p:pic>
      <p:pic>
        <p:nvPicPr>
          <p:cNvPr id="108" name="Google Shape;108;p18"/>
          <p:cNvPicPr preferRelativeResize="0"/>
          <p:nvPr/>
        </p:nvPicPr>
        <p:blipFill>
          <a:blip r:embed="rId5">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9"/>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Pre-History</a:t>
            </a:r>
            <a:endParaRPr/>
          </a:p>
        </p:txBody>
      </p:sp>
      <p:pic>
        <p:nvPicPr>
          <p:cNvPr id="114" name="Google Shape;114;p19"/>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115" name="Google Shape;115;p19"/>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Why Bitcoin Matters for Human Rights in 2 Minutes</a:t>
            </a:r>
            <a:endParaRPr/>
          </a:p>
        </p:txBody>
      </p:sp>
      <p:pic>
        <p:nvPicPr>
          <p:cNvPr descr="A short description of why Bitcoin matters for human rights, narrated by HRF's Alex Gladstein. #HumanRightsFoundation &#10;&#10;Chapters:&#10;00:00:00 - Bitcoin Matters for Human Rights&#10;00:00:13 - The implications of a cashless society&#10;00:00:29 - The Trade-off of Privacy for Comfort and Convenience&#10;00:00:43 - Privacy in Cash Transactions&#10;00:00:56 - Revealing Personal Information and Control&#10;00:01:09 - The revolutionary potential of a peer-to-peer electronic cash system&#10;00:01:20 - Payment Processing Without Intermediaries&#10;00:01:32 - Bitcoin as the People's Money&#10;00:01:46 - The Impact of Bitcoin on Global Economy&#10;00:01:56 - The Importance of Bitcoin for Human Rights&#10;&#10;Learn more about our work at the Human Rights Foundation!&#10;Website: https://hrf.org&#10;X (formerly known as Twitter): https://twitter.com/HRF&#10;Instagram: https://www.instagram.com/hrf/&#10;LinkedIn: https://www.linkedin.com/company/hrf/&#10;Subscribe to HRF’s Substack: https://humanrightsfoundation.substack.com/&#10;&#10;Join us in promoting freedom where it’s most at risk!&#10;Donate today: https://hrf.org/?form=donate&#10;&#10;#Bitcoin #HumanRights #CashlessSociety #FinancialPrivacy #DigitalTransactions #StateControl #CorporateControl #Censorship #Surveillance #SocialEngineering #PeertoPeer #ElectronicCash #AlternativeCurrency #FinancialAutonomy #DigitalAge #FutureOfMoney #Accessibility #Decentralization #Adoption #Empowerment #CryptoRevolution #MoneyEvolution #DigitalFreedom #FinancialInclusion #EconomicLiberation #PrivacyMatters #ResistControl #EmbraceBitcoin #PowerToThePeople #ProtectRights" id="121" name="Google Shape;121;p20" title="Why Bitcoin matters for human rights, in two minutes">
            <a:hlinkClick r:id="rId3"/>
          </p:cNvPr>
          <p:cNvPicPr preferRelativeResize="0"/>
          <p:nvPr/>
        </p:nvPicPr>
        <p:blipFill>
          <a:blip r:embed="rId4">
            <a:alphaModFix/>
          </a:blip>
          <a:stretch>
            <a:fillRect/>
          </a:stretch>
        </p:blipFill>
        <p:spPr>
          <a:xfrm>
            <a:off x="1200175" y="961950"/>
            <a:ext cx="6915800" cy="3890150"/>
          </a:xfrm>
          <a:prstGeom prst="rect">
            <a:avLst/>
          </a:prstGeom>
          <a:noFill/>
          <a:ln>
            <a:noFill/>
          </a:ln>
        </p:spPr>
      </p:pic>
      <p:pic>
        <p:nvPicPr>
          <p:cNvPr id="122" name="Google Shape;122;p20"/>
          <p:cNvPicPr preferRelativeResize="0"/>
          <p:nvPr/>
        </p:nvPicPr>
        <p:blipFill>
          <a:blip r:embed="rId5">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1000"/>
                                        <p:tgtEl>
                                          <p:spTgt spid="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History of Bitcoin (brief overview) </a:t>
            </a:r>
            <a:endParaRPr/>
          </a:p>
        </p:txBody>
      </p:sp>
      <p:pic>
        <p:nvPicPr>
          <p:cNvPr id="128" name="Google Shape;128;p21"/>
          <p:cNvPicPr preferRelativeResize="0"/>
          <p:nvPr/>
        </p:nvPicPr>
        <p:blipFill>
          <a:blip r:embed="rId3">
            <a:alphaModFix/>
          </a:blip>
          <a:stretch>
            <a:fillRect/>
          </a:stretch>
        </p:blipFill>
        <p:spPr>
          <a:xfrm>
            <a:off x="570325" y="993325"/>
            <a:ext cx="4714850" cy="3536125"/>
          </a:xfrm>
          <a:prstGeom prst="rect">
            <a:avLst/>
          </a:prstGeom>
          <a:noFill/>
          <a:ln>
            <a:noFill/>
          </a:ln>
        </p:spPr>
      </p:pic>
      <p:pic>
        <p:nvPicPr>
          <p:cNvPr id="129" name="Google Shape;129;p21"/>
          <p:cNvPicPr preferRelativeResize="0"/>
          <p:nvPr/>
        </p:nvPicPr>
        <p:blipFill>
          <a:blip r:embed="rId4">
            <a:alphaModFix/>
          </a:blip>
          <a:stretch>
            <a:fillRect/>
          </a:stretch>
        </p:blipFill>
        <p:spPr>
          <a:xfrm>
            <a:off x="5591575" y="1094750"/>
            <a:ext cx="3333274" cy="3333276"/>
          </a:xfrm>
          <a:prstGeom prst="rect">
            <a:avLst/>
          </a:prstGeom>
          <a:noFill/>
          <a:ln>
            <a:noFill/>
          </a:ln>
        </p:spPr>
      </p:pic>
      <p:pic>
        <p:nvPicPr>
          <p:cNvPr id="130" name="Google Shape;130;p21"/>
          <p:cNvPicPr preferRelativeResize="0"/>
          <p:nvPr/>
        </p:nvPicPr>
        <p:blipFill>
          <a:blip r:embed="rId5">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Cypherpunks</a:t>
            </a:r>
            <a:endParaRPr/>
          </a:p>
        </p:txBody>
      </p:sp>
      <p:sp>
        <p:nvSpPr>
          <p:cNvPr id="136" name="Google Shape;136;p22"/>
          <p:cNvSpPr txBox="1"/>
          <p:nvPr/>
        </p:nvSpPr>
        <p:spPr>
          <a:xfrm>
            <a:off x="488125" y="1017675"/>
            <a:ext cx="7125900" cy="334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lt1"/>
                </a:solidFill>
                <a:latin typeface="Proxima Nova"/>
                <a:ea typeface="Proxima Nova"/>
                <a:cs typeface="Proxima Nova"/>
                <a:sym typeface="Proxima Nova"/>
              </a:rPr>
              <a:t>“Privacy is necessary for an open society in the electronic age. Privacy is not secrecy. Privacy is the power to selectively reveal oneself to the world…</a:t>
            </a:r>
            <a:endParaRPr sz="1200">
              <a:solidFill>
                <a:schemeClr val="lt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200">
              <a:solidFill>
                <a:schemeClr val="lt1"/>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b="1" lang="en" sz="1200">
                <a:solidFill>
                  <a:schemeClr val="lt1"/>
                </a:solidFill>
                <a:latin typeface="Proxima Nova"/>
                <a:ea typeface="Proxima Nova"/>
                <a:cs typeface="Proxima Nova"/>
                <a:sym typeface="Proxima Nova"/>
              </a:rPr>
              <a:t>Therefore, privacy in an open society requires anonymous transaction systems. Until now, cash has been the primary such system. An anonymous transaction system is not a secret transaction system. An anonymous system empowers individuals to reveal their identity when desired and only when desired; this is the essence of privacy…</a:t>
            </a:r>
            <a:endParaRPr b="1" sz="1200">
              <a:solidFill>
                <a:schemeClr val="lt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200">
              <a:solidFill>
                <a:schemeClr val="lt1"/>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 sz="1200">
                <a:solidFill>
                  <a:schemeClr val="lt1"/>
                </a:solidFill>
                <a:latin typeface="Proxima Nova"/>
                <a:ea typeface="Proxima Nova"/>
                <a:cs typeface="Proxima Nova"/>
                <a:sym typeface="Proxima Nova"/>
              </a:rPr>
              <a:t>We cannot expect governments, corporations, or other large, faceless organizations to grant us privacy out of their beneficence…We must defend our own privacy if we expect to have any. The technologies of the past did not allow for strong privacy, but electronic technologies do…</a:t>
            </a:r>
            <a:endParaRPr sz="1200">
              <a:solidFill>
                <a:schemeClr val="lt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200">
              <a:solidFill>
                <a:schemeClr val="lt1"/>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 sz="1200">
                <a:solidFill>
                  <a:schemeClr val="lt1"/>
                </a:solidFill>
                <a:latin typeface="Proxima Nova"/>
                <a:ea typeface="Proxima Nova"/>
                <a:cs typeface="Proxima Nova"/>
                <a:sym typeface="Proxima Nova"/>
              </a:rPr>
              <a:t>For privacy to be widespread it must be part of a social contract. People must come and together deploy these systems for the common good. Privacy only extends so far as the cooperation of one's fellows in society.” </a:t>
            </a:r>
            <a:r>
              <a:rPr i="1" lang="en" sz="1200">
                <a:solidFill>
                  <a:schemeClr val="lt1"/>
                </a:solidFill>
                <a:latin typeface="Proxima Nova"/>
                <a:ea typeface="Proxima Nova"/>
                <a:cs typeface="Proxima Nova"/>
                <a:sym typeface="Proxima Nova"/>
              </a:rPr>
              <a:t> - A Cypherpunk's Manifesto</a:t>
            </a:r>
            <a:r>
              <a:rPr lang="en" sz="1200">
                <a:solidFill>
                  <a:schemeClr val="lt1"/>
                </a:solidFill>
                <a:latin typeface="Proxima Nova"/>
                <a:ea typeface="Proxima Nova"/>
                <a:cs typeface="Proxima Nova"/>
                <a:sym typeface="Proxima Nova"/>
              </a:rPr>
              <a:t> by Eric Hughes on March 9, 1993. </a:t>
            </a:r>
            <a:endParaRPr sz="1200">
              <a:solidFill>
                <a:schemeClr val="lt1"/>
              </a:solidFill>
              <a:latin typeface="Proxima Nova"/>
              <a:ea typeface="Proxima Nova"/>
              <a:cs typeface="Proxima Nova"/>
              <a:sym typeface="Proxima Nova"/>
            </a:endParaRPr>
          </a:p>
        </p:txBody>
      </p:sp>
      <p:pic>
        <p:nvPicPr>
          <p:cNvPr id="137" name="Google Shape;137;p22"/>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What problem did the whitepaper solve? </a:t>
            </a:r>
            <a:endParaRPr/>
          </a:p>
          <a:p>
            <a:pPr indent="0" lvl="0" marL="0" rtl="0" algn="l">
              <a:spcBef>
                <a:spcPts val="0"/>
              </a:spcBef>
              <a:spcAft>
                <a:spcPts val="0"/>
              </a:spcAft>
              <a:buNone/>
            </a:pPr>
            <a:r>
              <a:t/>
            </a:r>
            <a:endParaRPr sz="2000"/>
          </a:p>
        </p:txBody>
      </p:sp>
      <p:pic>
        <p:nvPicPr>
          <p:cNvPr id="143" name="Google Shape;143;p23"/>
          <p:cNvPicPr preferRelativeResize="0"/>
          <p:nvPr/>
        </p:nvPicPr>
        <p:blipFill>
          <a:blip r:embed="rId3">
            <a:alphaModFix/>
          </a:blip>
          <a:stretch>
            <a:fillRect/>
          </a:stretch>
        </p:blipFill>
        <p:spPr>
          <a:xfrm>
            <a:off x="184150" y="4695625"/>
            <a:ext cx="374483" cy="355476"/>
          </a:xfrm>
          <a:prstGeom prst="rect">
            <a:avLst/>
          </a:prstGeom>
          <a:noFill/>
          <a:ln>
            <a:noFill/>
          </a:ln>
        </p:spPr>
      </p:pic>
      <p:sp>
        <p:nvSpPr>
          <p:cNvPr id="144" name="Google Shape;144;p23"/>
          <p:cNvSpPr txBox="1"/>
          <p:nvPr/>
        </p:nvSpPr>
        <p:spPr>
          <a:xfrm>
            <a:off x="515375" y="2938950"/>
            <a:ext cx="62457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Proxima Nova"/>
                <a:ea typeface="Proxima Nova"/>
                <a:cs typeface="Proxima Nova"/>
                <a:sym typeface="Proxima Nova"/>
              </a:rPr>
              <a:t>Some (historical) context &amp; recap</a:t>
            </a:r>
            <a:endParaRPr sz="1300">
              <a:solidFill>
                <a:schemeClr val="lt1"/>
              </a:solidFill>
              <a:latin typeface="Proxima Nova"/>
              <a:ea typeface="Proxima Nova"/>
              <a:cs typeface="Proxima Nova"/>
              <a:sym typeface="Proxima Nova"/>
            </a:endParaRPr>
          </a:p>
        </p:txBody>
      </p:sp>
      <p:pic>
        <p:nvPicPr>
          <p:cNvPr id="145" name="Google Shape;145;p23"/>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What did (B)bitcoin solve? </a:t>
            </a:r>
            <a:endParaRPr/>
          </a:p>
        </p:txBody>
      </p:sp>
      <p:sp>
        <p:nvSpPr>
          <p:cNvPr id="151" name="Google Shape;151;p24"/>
          <p:cNvSpPr txBox="1"/>
          <p:nvPr/>
        </p:nvSpPr>
        <p:spPr>
          <a:xfrm>
            <a:off x="360925" y="1146775"/>
            <a:ext cx="8271600" cy="338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Barlow"/>
              <a:ea typeface="Barlow"/>
              <a:cs typeface="Barlow"/>
              <a:sym typeface="Barlow"/>
            </a:endParaRPr>
          </a:p>
        </p:txBody>
      </p:sp>
      <p:pic>
        <p:nvPicPr>
          <p:cNvPr id="152" name="Google Shape;152;p24"/>
          <p:cNvPicPr preferRelativeResize="0"/>
          <p:nvPr/>
        </p:nvPicPr>
        <p:blipFill rotWithShape="1">
          <a:blip r:embed="rId3">
            <a:alphaModFix/>
          </a:blip>
          <a:srcRect b="0" l="1296" r="4142" t="0"/>
          <a:stretch/>
        </p:blipFill>
        <p:spPr>
          <a:xfrm>
            <a:off x="559425" y="1322175"/>
            <a:ext cx="8025150" cy="2647950"/>
          </a:xfrm>
          <a:prstGeom prst="rect">
            <a:avLst/>
          </a:prstGeom>
          <a:noFill/>
          <a:ln>
            <a:noFill/>
          </a:ln>
        </p:spPr>
      </p:pic>
      <p:sp>
        <p:nvSpPr>
          <p:cNvPr id="153" name="Google Shape;153;p24"/>
          <p:cNvSpPr txBox="1"/>
          <p:nvPr/>
        </p:nvSpPr>
        <p:spPr>
          <a:xfrm>
            <a:off x="6026425" y="4186000"/>
            <a:ext cx="2606100" cy="2412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lt1"/>
              </a:buClr>
              <a:buSzPts val="1200"/>
              <a:buFont typeface="Proxima Nova"/>
              <a:buChar char="-"/>
            </a:pPr>
            <a:r>
              <a:rPr lang="en" sz="1200">
                <a:solidFill>
                  <a:schemeClr val="lt1"/>
                </a:solidFill>
                <a:latin typeface="Proxima Nova"/>
                <a:ea typeface="Proxima Nova"/>
                <a:cs typeface="Proxima Nova"/>
                <a:sym typeface="Proxima Nova"/>
              </a:rPr>
              <a:t>Satoshi Nakamoto </a:t>
            </a:r>
            <a:r>
              <a:rPr lang="en" sz="1200">
                <a:solidFill>
                  <a:schemeClr val="lt1"/>
                </a:solidFill>
                <a:latin typeface="Proxima Nova"/>
                <a:ea typeface="Proxima Nova"/>
                <a:cs typeface="Proxima Nova"/>
                <a:sym typeface="Proxima Nova"/>
              </a:rPr>
              <a:t>Institute</a:t>
            </a:r>
            <a:endParaRPr sz="1200">
              <a:solidFill>
                <a:schemeClr val="lt1"/>
              </a:solidFill>
              <a:latin typeface="Proxima Nova"/>
              <a:ea typeface="Proxima Nova"/>
              <a:cs typeface="Proxima Nova"/>
              <a:sym typeface="Proxima Nova"/>
            </a:endParaRPr>
          </a:p>
        </p:txBody>
      </p:sp>
      <p:pic>
        <p:nvPicPr>
          <p:cNvPr id="154" name="Google Shape;154;p24"/>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Genesis Block</a:t>
            </a:r>
            <a:endParaRPr/>
          </a:p>
        </p:txBody>
      </p:sp>
      <p:sp>
        <p:nvSpPr>
          <p:cNvPr id="160" name="Google Shape;160;p25"/>
          <p:cNvSpPr txBox="1"/>
          <p:nvPr/>
        </p:nvSpPr>
        <p:spPr>
          <a:xfrm>
            <a:off x="360925" y="1146775"/>
            <a:ext cx="8271600" cy="338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Barlow"/>
              <a:ea typeface="Barlow"/>
              <a:cs typeface="Barlow"/>
              <a:sym typeface="Barlow"/>
            </a:endParaRPr>
          </a:p>
        </p:txBody>
      </p:sp>
      <p:sp>
        <p:nvSpPr>
          <p:cNvPr id="161" name="Google Shape;161;p25"/>
          <p:cNvSpPr txBox="1"/>
          <p:nvPr/>
        </p:nvSpPr>
        <p:spPr>
          <a:xfrm>
            <a:off x="825525" y="1842475"/>
            <a:ext cx="7451100" cy="207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Proxima Nova"/>
                <a:ea typeface="Proxima Nova"/>
                <a:cs typeface="Proxima Nova"/>
                <a:sym typeface="Proxima Nova"/>
              </a:rPr>
              <a:t>“The Times 03/Jan/2009 Chancellor on brink of second bailout for banks”</a:t>
            </a:r>
            <a:endParaRPr sz="3000">
              <a:solidFill>
                <a:schemeClr val="lt1"/>
              </a:solidFill>
              <a:latin typeface="Proxima Nova"/>
              <a:ea typeface="Proxima Nova"/>
              <a:cs typeface="Proxima Nova"/>
              <a:sym typeface="Proxima Nova"/>
            </a:endParaRPr>
          </a:p>
          <a:p>
            <a:pPr indent="0" lvl="0" marL="0" rtl="0" algn="ctr">
              <a:spcBef>
                <a:spcPts val="0"/>
              </a:spcBef>
              <a:spcAft>
                <a:spcPts val="0"/>
              </a:spcAft>
              <a:buNone/>
            </a:pPr>
            <a:r>
              <a:t/>
            </a:r>
            <a:endParaRPr sz="30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500" u="sng">
                <a:solidFill>
                  <a:schemeClr val="lt1"/>
                </a:solidFill>
                <a:latin typeface="Proxima Nova"/>
                <a:ea typeface="Proxima Nova"/>
                <a:cs typeface="Proxima Nova"/>
                <a:sym typeface="Proxima Nova"/>
                <a:hlinkClick r:id="rId3">
                  <a:extLst>
                    <a:ext uri="{A12FA001-AC4F-418D-AE19-62706E023703}">
                      <ahyp:hlinkClr val="tx"/>
                    </a:ext>
                  </a:extLst>
                </a:hlinkClick>
              </a:rPr>
              <a:t>https://mempool.space/block/000000000019d6689c085ae165831e934ff763ae46a2a6c172b3f1b60a8ce26f</a:t>
            </a:r>
            <a:r>
              <a:rPr lang="en" sz="1500">
                <a:solidFill>
                  <a:schemeClr val="lt1"/>
                </a:solidFill>
                <a:latin typeface="Proxima Nova"/>
                <a:ea typeface="Proxima Nova"/>
                <a:cs typeface="Proxima Nova"/>
                <a:sym typeface="Proxima Nova"/>
              </a:rPr>
              <a:t> </a:t>
            </a:r>
            <a:endParaRPr sz="1500">
              <a:solidFill>
                <a:schemeClr val="lt1"/>
              </a:solidFill>
              <a:latin typeface="Proxima Nova"/>
              <a:ea typeface="Proxima Nova"/>
              <a:cs typeface="Proxima Nova"/>
              <a:sym typeface="Proxima Nova"/>
            </a:endParaRPr>
          </a:p>
        </p:txBody>
      </p:sp>
      <p:pic>
        <p:nvPicPr>
          <p:cNvPr id="162" name="Google Shape;162;p25"/>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October 31, 2008</a:t>
            </a:r>
            <a:endParaRPr/>
          </a:p>
        </p:txBody>
      </p:sp>
      <p:sp>
        <p:nvSpPr>
          <p:cNvPr id="168" name="Google Shape;168;p26"/>
          <p:cNvSpPr txBox="1"/>
          <p:nvPr/>
        </p:nvSpPr>
        <p:spPr>
          <a:xfrm>
            <a:off x="360925" y="1146775"/>
            <a:ext cx="8271600" cy="338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Barlow"/>
              <a:ea typeface="Barlow"/>
              <a:cs typeface="Barlow"/>
              <a:sym typeface="Barlow"/>
            </a:endParaRPr>
          </a:p>
        </p:txBody>
      </p:sp>
      <p:pic>
        <p:nvPicPr>
          <p:cNvPr id="169" name="Google Shape;169;p26"/>
          <p:cNvPicPr preferRelativeResize="0"/>
          <p:nvPr/>
        </p:nvPicPr>
        <p:blipFill>
          <a:blip r:embed="rId3">
            <a:alphaModFix/>
          </a:blip>
          <a:stretch>
            <a:fillRect/>
          </a:stretch>
        </p:blipFill>
        <p:spPr>
          <a:xfrm>
            <a:off x="425925" y="1387875"/>
            <a:ext cx="3820924" cy="2727475"/>
          </a:xfrm>
          <a:prstGeom prst="rect">
            <a:avLst/>
          </a:prstGeom>
          <a:noFill/>
          <a:ln>
            <a:noFill/>
          </a:ln>
        </p:spPr>
      </p:pic>
      <p:pic>
        <p:nvPicPr>
          <p:cNvPr id="170" name="Google Shape;170;p26"/>
          <p:cNvPicPr preferRelativeResize="0"/>
          <p:nvPr/>
        </p:nvPicPr>
        <p:blipFill>
          <a:blip r:embed="rId4">
            <a:alphaModFix/>
          </a:blip>
          <a:stretch>
            <a:fillRect/>
          </a:stretch>
        </p:blipFill>
        <p:spPr>
          <a:xfrm>
            <a:off x="4635425" y="1518325"/>
            <a:ext cx="4203825" cy="2466575"/>
          </a:xfrm>
          <a:prstGeom prst="rect">
            <a:avLst/>
          </a:prstGeom>
          <a:noFill/>
          <a:ln>
            <a:noFill/>
          </a:ln>
        </p:spPr>
      </p:pic>
      <p:pic>
        <p:nvPicPr>
          <p:cNvPr id="171" name="Google Shape;171;p26"/>
          <p:cNvPicPr preferRelativeResize="0"/>
          <p:nvPr/>
        </p:nvPicPr>
        <p:blipFill>
          <a:blip r:embed="rId5">
            <a:alphaModFix/>
          </a:blip>
          <a:stretch>
            <a:fillRect/>
          </a:stretch>
        </p:blipFill>
        <p:spPr>
          <a:xfrm>
            <a:off x="8611675" y="4665225"/>
            <a:ext cx="313176" cy="313176"/>
          </a:xfrm>
          <a:prstGeom prst="rect">
            <a:avLst/>
          </a:prstGeom>
          <a:noFill/>
          <a:ln>
            <a:noFill/>
          </a:ln>
        </p:spPr>
      </p:pic>
      <p:sp>
        <p:nvSpPr>
          <p:cNvPr id="172" name="Google Shape;172;p26"/>
          <p:cNvSpPr/>
          <p:nvPr/>
        </p:nvSpPr>
        <p:spPr>
          <a:xfrm>
            <a:off x="594850" y="2943925"/>
            <a:ext cx="3201600" cy="150000"/>
          </a:xfrm>
          <a:prstGeom prst="rect">
            <a:avLst/>
          </a:prstGeom>
          <a:noFill/>
          <a:ln cap="flat" cmpd="sng" w="38100">
            <a:solidFill>
              <a:srgbClr val="B31B1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73" name="Google Shape;173;p26"/>
          <p:cNvSpPr/>
          <p:nvPr/>
        </p:nvSpPr>
        <p:spPr>
          <a:xfrm>
            <a:off x="4826925" y="2996850"/>
            <a:ext cx="3820800" cy="458700"/>
          </a:xfrm>
          <a:prstGeom prst="rect">
            <a:avLst/>
          </a:prstGeom>
          <a:noFill/>
          <a:ln cap="flat" cmpd="sng" w="38100">
            <a:solidFill>
              <a:srgbClr val="B31B1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7"/>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Club Challenge: </a:t>
            </a:r>
            <a:endParaRPr/>
          </a:p>
          <a:p>
            <a:pPr indent="0" lvl="0" marL="0" rtl="0" algn="l">
              <a:spcBef>
                <a:spcPts val="0"/>
              </a:spcBef>
              <a:spcAft>
                <a:spcPts val="0"/>
              </a:spcAft>
              <a:buNone/>
            </a:pPr>
            <a:r>
              <a:rPr lang="en"/>
              <a:t>“timechain, not blockchain”</a:t>
            </a:r>
            <a:endParaRPr/>
          </a:p>
          <a:p>
            <a:pPr indent="0" lvl="0" marL="0" rtl="0" algn="l">
              <a:spcBef>
                <a:spcPts val="0"/>
              </a:spcBef>
              <a:spcAft>
                <a:spcPts val="0"/>
              </a:spcAft>
              <a:buNone/>
            </a:pPr>
            <a:r>
              <a:t/>
            </a:r>
            <a:endParaRPr sz="2000"/>
          </a:p>
        </p:txBody>
      </p:sp>
      <p:pic>
        <p:nvPicPr>
          <p:cNvPr id="179" name="Google Shape;179;p27"/>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180" name="Google Shape;180;p27"/>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8"/>
          <p:cNvSpPr txBox="1"/>
          <p:nvPr>
            <p:ph type="title"/>
          </p:nvPr>
        </p:nvSpPr>
        <p:spPr>
          <a:xfrm>
            <a:off x="460950" y="1735175"/>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Recommended Reading: </a:t>
            </a:r>
            <a:endParaRPr/>
          </a:p>
        </p:txBody>
      </p:sp>
      <p:pic>
        <p:nvPicPr>
          <p:cNvPr id="186" name="Google Shape;186;p28"/>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187" name="Google Shape;187;p28"/>
          <p:cNvPicPr preferRelativeResize="0"/>
          <p:nvPr/>
        </p:nvPicPr>
        <p:blipFill>
          <a:blip r:embed="rId4">
            <a:alphaModFix/>
          </a:blip>
          <a:stretch>
            <a:fillRect/>
          </a:stretch>
        </p:blipFill>
        <p:spPr>
          <a:xfrm>
            <a:off x="558625" y="2691650"/>
            <a:ext cx="5066025" cy="1077750"/>
          </a:xfrm>
          <a:prstGeom prst="rect">
            <a:avLst/>
          </a:prstGeom>
          <a:noFill/>
          <a:ln>
            <a:noFill/>
          </a:ln>
        </p:spPr>
      </p:pic>
      <p:sp>
        <p:nvSpPr>
          <p:cNvPr id="188" name="Google Shape;188;p28"/>
          <p:cNvSpPr txBox="1"/>
          <p:nvPr/>
        </p:nvSpPr>
        <p:spPr>
          <a:xfrm>
            <a:off x="5393125" y="4711800"/>
            <a:ext cx="3000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chemeClr val="lt1"/>
                </a:solidFill>
                <a:latin typeface="Proxima Nova"/>
                <a:ea typeface="Proxima Nova"/>
                <a:cs typeface="Proxima Nova"/>
                <a:sym typeface="Proxima Nova"/>
              </a:rPr>
              <a:t>Source: </a:t>
            </a:r>
            <a:r>
              <a:rPr lang="en" sz="900" u="sng">
                <a:solidFill>
                  <a:schemeClr val="lt1"/>
                </a:solidFill>
                <a:latin typeface="Proxima Nova"/>
                <a:ea typeface="Proxima Nova"/>
                <a:cs typeface="Proxima Nova"/>
                <a:sym typeface="Proxima Nova"/>
                <a:hlinkClick r:id="rId5">
                  <a:extLst>
                    <a:ext uri="{A12FA001-AC4F-418D-AE19-62706E023703}">
                      <ahyp:hlinkClr val="tx"/>
                    </a:ext>
                  </a:extLst>
                </a:hlinkClick>
              </a:rPr>
              <a:t>https://dergigi.com/2021/01/14/bitcoin-is-time/</a:t>
            </a:r>
            <a:r>
              <a:rPr lang="en" sz="900">
                <a:solidFill>
                  <a:schemeClr val="lt1"/>
                </a:solidFill>
                <a:latin typeface="Proxima Nova"/>
                <a:ea typeface="Proxima Nova"/>
                <a:cs typeface="Proxima Nova"/>
                <a:sym typeface="Proxima Nova"/>
              </a:rPr>
              <a:t> </a:t>
            </a:r>
            <a:endParaRPr sz="900">
              <a:solidFill>
                <a:schemeClr val="lt1"/>
              </a:solidFill>
              <a:latin typeface="Proxima Nova"/>
              <a:ea typeface="Proxima Nova"/>
              <a:cs typeface="Proxima Nova"/>
              <a:sym typeface="Proxima Nova"/>
            </a:endParaRPr>
          </a:p>
        </p:txBody>
      </p:sp>
      <p:pic>
        <p:nvPicPr>
          <p:cNvPr id="189" name="Google Shape;189;p28"/>
          <p:cNvPicPr preferRelativeResize="0"/>
          <p:nvPr/>
        </p:nvPicPr>
        <p:blipFill>
          <a:blip r:embed="rId6">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p29"/>
          <p:cNvPicPr preferRelativeResize="0"/>
          <p:nvPr/>
        </p:nvPicPr>
        <p:blipFill>
          <a:blip r:embed="rId3">
            <a:alphaModFix/>
          </a:blip>
          <a:stretch>
            <a:fillRect/>
          </a:stretch>
        </p:blipFill>
        <p:spPr>
          <a:xfrm>
            <a:off x="1167688" y="1042900"/>
            <a:ext cx="6808625" cy="3057701"/>
          </a:xfrm>
          <a:prstGeom prst="rect">
            <a:avLst/>
          </a:prstGeom>
          <a:noFill/>
          <a:ln>
            <a:noFill/>
          </a:ln>
        </p:spPr>
      </p:pic>
      <p:sp>
        <p:nvSpPr>
          <p:cNvPr id="195" name="Google Shape;195;p29"/>
          <p:cNvSpPr txBox="1"/>
          <p:nvPr/>
        </p:nvSpPr>
        <p:spPr>
          <a:xfrm>
            <a:off x="4370050" y="4711800"/>
            <a:ext cx="3000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chemeClr val="lt1"/>
                </a:solidFill>
                <a:latin typeface="Proxima Nova"/>
                <a:ea typeface="Proxima Nova"/>
                <a:cs typeface="Proxima Nova"/>
                <a:sym typeface="Proxima Nova"/>
              </a:rPr>
              <a:t>Source: </a:t>
            </a:r>
            <a:r>
              <a:rPr lang="en" sz="900" u="sng">
                <a:solidFill>
                  <a:schemeClr val="lt1"/>
                </a:solidFill>
                <a:latin typeface="Proxima Nova"/>
                <a:ea typeface="Proxima Nova"/>
                <a:cs typeface="Proxima Nova"/>
                <a:sym typeface="Proxima Nova"/>
                <a:hlinkClick r:id="rId4">
                  <a:extLst>
                    <a:ext uri="{A12FA001-AC4F-418D-AE19-62706E023703}">
                      <ahyp:hlinkClr val="tx"/>
                    </a:ext>
                  </a:extLst>
                </a:hlinkClick>
              </a:rPr>
              <a:t>https://tftc.io/issue-441</a:t>
            </a:r>
            <a:r>
              <a:rPr lang="en" sz="900">
                <a:solidFill>
                  <a:schemeClr val="lt1"/>
                </a:solidFill>
                <a:latin typeface="Proxima Nova"/>
                <a:ea typeface="Proxima Nova"/>
                <a:cs typeface="Proxima Nova"/>
                <a:sym typeface="Proxima Nova"/>
              </a:rPr>
              <a:t> /</a:t>
            </a:r>
            <a:endParaRPr sz="900">
              <a:solidFill>
                <a:schemeClr val="lt1"/>
              </a:solidFill>
              <a:latin typeface="Proxima Nova"/>
              <a:ea typeface="Proxima Nova"/>
              <a:cs typeface="Proxima Nova"/>
              <a:sym typeface="Proxima Nova"/>
            </a:endParaRPr>
          </a:p>
        </p:txBody>
      </p:sp>
      <p:pic>
        <p:nvPicPr>
          <p:cNvPr id="196" name="Google Shape;196;p29"/>
          <p:cNvPicPr preferRelativeResize="0"/>
          <p:nvPr/>
        </p:nvPicPr>
        <p:blipFill>
          <a:blip r:embed="rId5">
            <a:alphaModFix/>
          </a:blip>
          <a:stretch>
            <a:fillRect/>
          </a:stretch>
        </p:blipFill>
        <p:spPr>
          <a:xfrm>
            <a:off x="184150" y="4695625"/>
            <a:ext cx="374483" cy="355476"/>
          </a:xfrm>
          <a:prstGeom prst="rect">
            <a:avLst/>
          </a:prstGeom>
          <a:noFill/>
          <a:ln>
            <a:noFill/>
          </a:ln>
        </p:spPr>
      </p:pic>
      <p:pic>
        <p:nvPicPr>
          <p:cNvPr id="197" name="Google Shape;197;p29"/>
          <p:cNvPicPr preferRelativeResize="0"/>
          <p:nvPr/>
        </p:nvPicPr>
        <p:blipFill>
          <a:blip r:embed="rId6">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30"/>
          <p:cNvPicPr preferRelativeResize="0"/>
          <p:nvPr/>
        </p:nvPicPr>
        <p:blipFill>
          <a:blip r:embed="rId3">
            <a:alphaModFix/>
          </a:blip>
          <a:stretch>
            <a:fillRect/>
          </a:stretch>
        </p:blipFill>
        <p:spPr>
          <a:xfrm>
            <a:off x="579575" y="394925"/>
            <a:ext cx="7795249" cy="1381050"/>
          </a:xfrm>
          <a:prstGeom prst="rect">
            <a:avLst/>
          </a:prstGeom>
          <a:noFill/>
          <a:ln>
            <a:noFill/>
          </a:ln>
        </p:spPr>
      </p:pic>
      <p:pic>
        <p:nvPicPr>
          <p:cNvPr id="203" name="Google Shape;203;p30"/>
          <p:cNvPicPr preferRelativeResize="0"/>
          <p:nvPr/>
        </p:nvPicPr>
        <p:blipFill>
          <a:blip r:embed="rId4">
            <a:alphaModFix/>
          </a:blip>
          <a:stretch>
            <a:fillRect/>
          </a:stretch>
        </p:blipFill>
        <p:spPr>
          <a:xfrm>
            <a:off x="1623463" y="2028238"/>
            <a:ext cx="5707468" cy="2437176"/>
          </a:xfrm>
          <a:prstGeom prst="rect">
            <a:avLst/>
          </a:prstGeom>
          <a:noFill/>
          <a:ln>
            <a:noFill/>
          </a:ln>
        </p:spPr>
      </p:pic>
      <p:pic>
        <p:nvPicPr>
          <p:cNvPr id="204" name="Google Shape;204;p30"/>
          <p:cNvPicPr preferRelativeResize="0"/>
          <p:nvPr/>
        </p:nvPicPr>
        <p:blipFill>
          <a:blip r:embed="rId5">
            <a:alphaModFix/>
          </a:blip>
          <a:stretch>
            <a:fillRect/>
          </a:stretch>
        </p:blipFill>
        <p:spPr>
          <a:xfrm>
            <a:off x="184150" y="4695625"/>
            <a:ext cx="374483" cy="355476"/>
          </a:xfrm>
          <a:prstGeom prst="rect">
            <a:avLst/>
          </a:prstGeom>
          <a:noFill/>
          <a:ln>
            <a:noFill/>
          </a:ln>
        </p:spPr>
      </p:pic>
      <p:sp>
        <p:nvSpPr>
          <p:cNvPr id="205" name="Google Shape;205;p30"/>
          <p:cNvSpPr txBox="1"/>
          <p:nvPr/>
        </p:nvSpPr>
        <p:spPr>
          <a:xfrm>
            <a:off x="5110875" y="4717700"/>
            <a:ext cx="3000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chemeClr val="lt1"/>
                </a:solidFill>
                <a:latin typeface="Proxima Nova"/>
                <a:ea typeface="Proxima Nova"/>
                <a:cs typeface="Proxima Nova"/>
                <a:sym typeface="Proxima Nova"/>
              </a:rPr>
              <a:t>Source: </a:t>
            </a:r>
            <a:r>
              <a:rPr lang="en" sz="900" u="sng">
                <a:solidFill>
                  <a:schemeClr val="lt1"/>
                </a:solidFill>
                <a:latin typeface="Proxima Nova"/>
                <a:ea typeface="Proxima Nova"/>
                <a:cs typeface="Proxima Nova"/>
                <a:sym typeface="Proxima Nova"/>
                <a:hlinkClick r:id="rId6">
                  <a:extLst>
                    <a:ext uri="{A12FA001-AC4F-418D-AE19-62706E023703}">
                      <ahyp:hlinkClr val="tx"/>
                    </a:ext>
                  </a:extLst>
                </a:hlinkClick>
              </a:rPr>
              <a:t>https://dergigi.com/2021/01/14/bitcoin-is-time/</a:t>
            </a:r>
            <a:r>
              <a:rPr lang="en" sz="900">
                <a:solidFill>
                  <a:schemeClr val="lt1"/>
                </a:solidFill>
                <a:latin typeface="Proxima Nova"/>
                <a:ea typeface="Proxima Nova"/>
                <a:cs typeface="Proxima Nova"/>
                <a:sym typeface="Proxima Nova"/>
              </a:rPr>
              <a:t> </a:t>
            </a:r>
            <a:endParaRPr sz="900">
              <a:solidFill>
                <a:schemeClr val="lt1"/>
              </a:solidFill>
              <a:latin typeface="Proxima Nova"/>
              <a:ea typeface="Proxima Nova"/>
              <a:cs typeface="Proxima Nova"/>
              <a:sym typeface="Proxima Nova"/>
            </a:endParaRPr>
          </a:p>
        </p:txBody>
      </p:sp>
      <p:pic>
        <p:nvPicPr>
          <p:cNvPr id="206" name="Google Shape;206;p30"/>
          <p:cNvPicPr preferRelativeResize="0"/>
          <p:nvPr/>
        </p:nvPicPr>
        <p:blipFill>
          <a:blip r:embed="rId7">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31"/>
          <p:cNvPicPr preferRelativeResize="0"/>
          <p:nvPr/>
        </p:nvPicPr>
        <p:blipFill>
          <a:blip r:embed="rId3">
            <a:alphaModFix/>
          </a:blip>
          <a:stretch>
            <a:fillRect/>
          </a:stretch>
        </p:blipFill>
        <p:spPr>
          <a:xfrm>
            <a:off x="270675" y="210025"/>
            <a:ext cx="4963173" cy="1788226"/>
          </a:xfrm>
          <a:prstGeom prst="rect">
            <a:avLst/>
          </a:prstGeom>
          <a:noFill/>
          <a:ln>
            <a:noFill/>
          </a:ln>
        </p:spPr>
      </p:pic>
      <p:pic>
        <p:nvPicPr>
          <p:cNvPr id="212" name="Google Shape;212;p31"/>
          <p:cNvPicPr preferRelativeResize="0"/>
          <p:nvPr/>
        </p:nvPicPr>
        <p:blipFill>
          <a:blip r:embed="rId4">
            <a:alphaModFix/>
          </a:blip>
          <a:stretch>
            <a:fillRect/>
          </a:stretch>
        </p:blipFill>
        <p:spPr>
          <a:xfrm>
            <a:off x="3350025" y="2207350"/>
            <a:ext cx="4767775" cy="2295376"/>
          </a:xfrm>
          <a:prstGeom prst="rect">
            <a:avLst/>
          </a:prstGeom>
          <a:noFill/>
          <a:ln>
            <a:noFill/>
          </a:ln>
        </p:spPr>
      </p:pic>
      <p:pic>
        <p:nvPicPr>
          <p:cNvPr id="213" name="Google Shape;213;p31"/>
          <p:cNvPicPr preferRelativeResize="0"/>
          <p:nvPr/>
        </p:nvPicPr>
        <p:blipFill>
          <a:blip r:embed="rId5">
            <a:alphaModFix/>
          </a:blip>
          <a:stretch>
            <a:fillRect/>
          </a:stretch>
        </p:blipFill>
        <p:spPr>
          <a:xfrm>
            <a:off x="184150" y="4695625"/>
            <a:ext cx="374483" cy="355476"/>
          </a:xfrm>
          <a:prstGeom prst="rect">
            <a:avLst/>
          </a:prstGeom>
          <a:noFill/>
          <a:ln>
            <a:noFill/>
          </a:ln>
        </p:spPr>
      </p:pic>
      <p:sp>
        <p:nvSpPr>
          <p:cNvPr id="214" name="Google Shape;214;p31"/>
          <p:cNvSpPr txBox="1"/>
          <p:nvPr/>
        </p:nvSpPr>
        <p:spPr>
          <a:xfrm>
            <a:off x="4061375" y="4711813"/>
            <a:ext cx="3000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chemeClr val="lt1"/>
                </a:solidFill>
                <a:latin typeface="Proxima Nova"/>
                <a:ea typeface="Proxima Nova"/>
                <a:cs typeface="Proxima Nova"/>
                <a:sym typeface="Proxima Nova"/>
              </a:rPr>
              <a:t>Source: </a:t>
            </a:r>
            <a:r>
              <a:rPr lang="en" sz="900" u="sng">
                <a:solidFill>
                  <a:schemeClr val="lt1"/>
                </a:solidFill>
                <a:latin typeface="Proxima Nova"/>
                <a:ea typeface="Proxima Nova"/>
                <a:cs typeface="Proxima Nova"/>
                <a:sym typeface="Proxima Nova"/>
                <a:hlinkClick r:id="rId6">
                  <a:extLst>
                    <a:ext uri="{A12FA001-AC4F-418D-AE19-62706E023703}">
                      <ahyp:hlinkClr val="tx"/>
                    </a:ext>
                  </a:extLst>
                </a:hlinkClick>
              </a:rPr>
              <a:t>https://dergigi.com/2021/01/14/bitcoin-is-time/</a:t>
            </a:r>
            <a:r>
              <a:rPr lang="en" sz="900">
                <a:solidFill>
                  <a:schemeClr val="lt1"/>
                </a:solidFill>
                <a:latin typeface="Proxima Nova"/>
                <a:ea typeface="Proxima Nova"/>
                <a:cs typeface="Proxima Nova"/>
                <a:sym typeface="Proxima Nova"/>
              </a:rPr>
              <a:t> </a:t>
            </a:r>
            <a:endParaRPr sz="900">
              <a:solidFill>
                <a:schemeClr val="lt1"/>
              </a:solidFill>
              <a:latin typeface="Proxima Nova"/>
              <a:ea typeface="Proxima Nova"/>
              <a:cs typeface="Proxima Nova"/>
              <a:sym typeface="Proxima Nova"/>
            </a:endParaRPr>
          </a:p>
        </p:txBody>
      </p:sp>
      <p:pic>
        <p:nvPicPr>
          <p:cNvPr id="215" name="Google Shape;215;p31"/>
          <p:cNvPicPr preferRelativeResize="0"/>
          <p:nvPr/>
        </p:nvPicPr>
        <p:blipFill>
          <a:blip r:embed="rId7">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History of Bitcoin</a:t>
            </a:r>
            <a:endParaRPr/>
          </a:p>
        </p:txBody>
      </p:sp>
      <p:pic>
        <p:nvPicPr>
          <p:cNvPr id="221" name="Google Shape;221;p32"/>
          <p:cNvPicPr preferRelativeResize="0"/>
          <p:nvPr/>
        </p:nvPicPr>
        <p:blipFill>
          <a:blip r:embed="rId3">
            <a:alphaModFix/>
          </a:blip>
          <a:stretch>
            <a:fillRect/>
          </a:stretch>
        </p:blipFill>
        <p:spPr>
          <a:xfrm>
            <a:off x="2351575" y="997150"/>
            <a:ext cx="3832750" cy="3382775"/>
          </a:xfrm>
          <a:prstGeom prst="rect">
            <a:avLst/>
          </a:prstGeom>
          <a:noFill/>
          <a:ln>
            <a:noFill/>
          </a:ln>
        </p:spPr>
      </p:pic>
      <p:sp>
        <p:nvSpPr>
          <p:cNvPr id="222" name="Google Shape;222;p32"/>
          <p:cNvSpPr txBox="1"/>
          <p:nvPr/>
        </p:nvSpPr>
        <p:spPr>
          <a:xfrm>
            <a:off x="1994400" y="4510800"/>
            <a:ext cx="45471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u="sng">
                <a:solidFill>
                  <a:schemeClr val="lt1"/>
                </a:solidFill>
                <a:hlinkClick r:id="rId4">
                  <a:extLst>
                    <a:ext uri="{A12FA001-AC4F-418D-AE19-62706E023703}">
                      <ahyp:hlinkClr val="tx"/>
                    </a:ext>
                  </a:extLst>
                </a:hlinkClick>
              </a:rPr>
              <a:t>https://x.com/w_s_bitcoin/status/1742551968759816238?s=20</a:t>
            </a:r>
            <a:r>
              <a:rPr lang="en" sz="1100">
                <a:solidFill>
                  <a:schemeClr val="lt1"/>
                </a:solidFill>
              </a:rPr>
              <a:t> </a:t>
            </a:r>
            <a:endParaRPr>
              <a:solidFill>
                <a:schemeClr val="lt1"/>
              </a:solidFill>
            </a:endParaRPr>
          </a:p>
        </p:txBody>
      </p:sp>
      <p:pic>
        <p:nvPicPr>
          <p:cNvPr id="223" name="Google Shape;223;p32"/>
          <p:cNvPicPr preferRelativeResize="0"/>
          <p:nvPr/>
        </p:nvPicPr>
        <p:blipFill>
          <a:blip r:embed="rId5">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Bitcoin is…</a:t>
            </a:r>
            <a:endParaRPr/>
          </a:p>
        </p:txBody>
      </p:sp>
      <p:pic>
        <p:nvPicPr>
          <p:cNvPr id="229" name="Google Shape;229;p33"/>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230" name="Google Shape;230;p33"/>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Studying/Learning Bitcoin is…</a:t>
            </a:r>
            <a:endParaRPr/>
          </a:p>
        </p:txBody>
      </p:sp>
      <p:sp>
        <p:nvSpPr>
          <p:cNvPr id="236" name="Google Shape;236;p34"/>
          <p:cNvSpPr txBox="1"/>
          <p:nvPr/>
        </p:nvSpPr>
        <p:spPr>
          <a:xfrm>
            <a:off x="551400" y="1667750"/>
            <a:ext cx="8041200" cy="226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chemeClr val="lt1"/>
                </a:solidFill>
                <a:latin typeface="Proxima Nova"/>
                <a:ea typeface="Proxima Nova"/>
                <a:cs typeface="Proxima Nova"/>
                <a:sym typeface="Proxima Nova"/>
              </a:rPr>
              <a:t>math, physics, law, energy, history, finance, money, politics, economics, engineering, game theory, human rights, macroeconomics (Austrian), computer science, cryptography, cognitive science, philosophy, psychology, anthropology, freedom, sovereignty, trade, communication, government, sociology, power projection, praxeology, distributed systems, biology, etc…</a:t>
            </a:r>
            <a:endParaRPr sz="2000">
              <a:solidFill>
                <a:schemeClr val="lt1"/>
              </a:solidFill>
              <a:latin typeface="Proxima Nova"/>
              <a:ea typeface="Proxima Nova"/>
              <a:cs typeface="Proxima Nova"/>
              <a:sym typeface="Proxima Nova"/>
            </a:endParaRPr>
          </a:p>
        </p:txBody>
      </p:sp>
      <p:pic>
        <p:nvPicPr>
          <p:cNvPr id="237" name="Google Shape;237;p34"/>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But, mostly, it’s: </a:t>
            </a:r>
            <a:endParaRPr/>
          </a:p>
        </p:txBody>
      </p:sp>
      <p:sp>
        <p:nvSpPr>
          <p:cNvPr id="243" name="Google Shape;243;p35"/>
          <p:cNvSpPr txBox="1"/>
          <p:nvPr/>
        </p:nvSpPr>
        <p:spPr>
          <a:xfrm>
            <a:off x="551400" y="2325450"/>
            <a:ext cx="8041200" cy="1200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000">
                <a:solidFill>
                  <a:schemeClr val="lt1"/>
                </a:solidFill>
                <a:latin typeface="Proxima Nova"/>
                <a:ea typeface="Proxima Nova"/>
                <a:cs typeface="Proxima Nova"/>
                <a:sym typeface="Proxima Nova"/>
              </a:rPr>
              <a:t>curiosity, </a:t>
            </a:r>
            <a:endParaRPr sz="2000">
              <a:solidFill>
                <a:schemeClr val="lt1"/>
              </a:solidFill>
              <a:latin typeface="Proxima Nova"/>
              <a:ea typeface="Proxima Nova"/>
              <a:cs typeface="Proxima Nova"/>
              <a:sym typeface="Proxima Nova"/>
            </a:endParaRPr>
          </a:p>
          <a:p>
            <a:pPr indent="0" lvl="0" marL="0" rtl="0" algn="ctr">
              <a:lnSpc>
                <a:spcPct val="115000"/>
              </a:lnSpc>
              <a:spcBef>
                <a:spcPts val="0"/>
              </a:spcBef>
              <a:spcAft>
                <a:spcPts val="0"/>
              </a:spcAft>
              <a:buNone/>
            </a:pPr>
            <a:r>
              <a:rPr lang="en" sz="2000">
                <a:solidFill>
                  <a:schemeClr val="lt1"/>
                </a:solidFill>
                <a:latin typeface="Proxima Nova"/>
                <a:ea typeface="Proxima Nova"/>
                <a:cs typeface="Proxima Nova"/>
                <a:sym typeface="Proxima Nova"/>
              </a:rPr>
              <a:t>critical thinking, first-principles thinking, </a:t>
            </a:r>
            <a:endParaRPr sz="2000">
              <a:solidFill>
                <a:schemeClr val="lt1"/>
              </a:solidFill>
              <a:latin typeface="Proxima Nova"/>
              <a:ea typeface="Proxima Nova"/>
              <a:cs typeface="Proxima Nova"/>
              <a:sym typeface="Proxima Nova"/>
            </a:endParaRPr>
          </a:p>
          <a:p>
            <a:pPr indent="0" lvl="0" marL="0" rtl="0" algn="ctr">
              <a:lnSpc>
                <a:spcPct val="115000"/>
              </a:lnSpc>
              <a:spcBef>
                <a:spcPts val="0"/>
              </a:spcBef>
              <a:spcAft>
                <a:spcPts val="0"/>
              </a:spcAft>
              <a:buNone/>
            </a:pPr>
            <a:r>
              <a:rPr lang="en" sz="2000">
                <a:solidFill>
                  <a:schemeClr val="lt1"/>
                </a:solidFill>
                <a:latin typeface="Proxima Nova"/>
                <a:ea typeface="Proxima Nova"/>
                <a:cs typeface="Proxima Nova"/>
                <a:sym typeface="Proxima Nova"/>
              </a:rPr>
              <a:t>agency</a:t>
            </a:r>
            <a:endParaRPr sz="2000">
              <a:solidFill>
                <a:schemeClr val="lt1"/>
              </a:solidFill>
              <a:latin typeface="Proxima Nova"/>
              <a:ea typeface="Proxima Nova"/>
              <a:cs typeface="Proxima Nova"/>
              <a:sym typeface="Proxima Nova"/>
            </a:endParaRPr>
          </a:p>
        </p:txBody>
      </p:sp>
      <p:pic>
        <p:nvPicPr>
          <p:cNvPr id="244" name="Google Shape;244;p35"/>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6"/>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Deeper Meanings? </a:t>
            </a:r>
            <a:endParaRPr sz="1983"/>
          </a:p>
        </p:txBody>
      </p:sp>
      <p:pic>
        <p:nvPicPr>
          <p:cNvPr id="250" name="Google Shape;250;p36"/>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251" name="Google Shape;251;p36"/>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7"/>
          <p:cNvSpPr txBox="1"/>
          <p:nvPr>
            <p:ph type="title"/>
          </p:nvPr>
        </p:nvSpPr>
        <p:spPr>
          <a:xfrm>
            <a:off x="460950" y="1811850"/>
            <a:ext cx="8222100" cy="1519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What do </a:t>
            </a:r>
            <a:r>
              <a:rPr lang="en"/>
              <a:t>0, 1, 2, and 6 </a:t>
            </a:r>
            <a:r>
              <a:rPr lang="en"/>
              <a:t>have in common?</a:t>
            </a:r>
            <a:endParaRPr/>
          </a:p>
        </p:txBody>
      </p:sp>
      <p:pic>
        <p:nvPicPr>
          <p:cNvPr id="257" name="Google Shape;257;p37"/>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258" name="Google Shape;258;p37"/>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Numbers: 6102</a:t>
            </a:r>
            <a:endParaRPr/>
          </a:p>
        </p:txBody>
      </p:sp>
      <p:sp>
        <p:nvSpPr>
          <p:cNvPr id="264" name="Google Shape;264;p38"/>
          <p:cNvSpPr txBox="1"/>
          <p:nvPr/>
        </p:nvSpPr>
        <p:spPr>
          <a:xfrm>
            <a:off x="1261050" y="1434100"/>
            <a:ext cx="6410700" cy="2678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lt1"/>
                </a:solidFill>
                <a:latin typeface="Proxima Nova"/>
                <a:ea typeface="Proxima Nova"/>
                <a:cs typeface="Proxima Nova"/>
                <a:sym typeface="Proxima Nova"/>
              </a:rPr>
              <a:t>“Executive Order 6102 is an executive order signed on April 5, 1933, by US President Franklin D. Roosevelt “forbidding the hoarding of gold coin, gold bullion, and gold certificates within the continental United States.” Executive Order 6102 required all persons to deliver on or before May 1, 1933, all but a small amount of gold coin, gold bullion, and gold certificates owned by them to the Federal Reserve in exchange for $20.67 (equivalent to $433 in 2021) per troy ounce” — Executive Order 6102</a:t>
            </a:r>
            <a:endParaRPr sz="1800">
              <a:solidFill>
                <a:schemeClr val="lt1"/>
              </a:solidFill>
              <a:latin typeface="Proxima Nova"/>
              <a:ea typeface="Proxima Nova"/>
              <a:cs typeface="Proxima Nova"/>
              <a:sym typeface="Proxima Nova"/>
            </a:endParaRPr>
          </a:p>
        </p:txBody>
      </p:sp>
      <p:pic>
        <p:nvPicPr>
          <p:cNvPr id="265" name="Google Shape;265;p38"/>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Numbers: 6102</a:t>
            </a:r>
            <a:endParaRPr/>
          </a:p>
        </p:txBody>
      </p:sp>
      <p:sp>
        <p:nvSpPr>
          <p:cNvPr id="271" name="Google Shape;271;p39"/>
          <p:cNvSpPr txBox="1"/>
          <p:nvPr/>
        </p:nvSpPr>
        <p:spPr>
          <a:xfrm>
            <a:off x="996475" y="1517400"/>
            <a:ext cx="51546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Proxima Nova"/>
                <a:ea typeface="Proxima Nova"/>
                <a:cs typeface="Proxima Nova"/>
                <a:sym typeface="Proxima Nova"/>
              </a:rPr>
              <a:t>April 5, 1975 is Satoshi’s Birthday. </a:t>
            </a:r>
            <a:endParaRPr sz="20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25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2500">
              <a:solidFill>
                <a:schemeClr val="lt1"/>
              </a:solidFill>
              <a:latin typeface="Proxima Nova"/>
              <a:ea typeface="Proxima Nova"/>
              <a:cs typeface="Proxima Nova"/>
              <a:sym typeface="Proxima Nova"/>
            </a:endParaRPr>
          </a:p>
        </p:txBody>
      </p:sp>
      <p:sp>
        <p:nvSpPr>
          <p:cNvPr id="272" name="Google Shape;272;p39"/>
          <p:cNvSpPr txBox="1"/>
          <p:nvPr/>
        </p:nvSpPr>
        <p:spPr>
          <a:xfrm>
            <a:off x="944875" y="2325450"/>
            <a:ext cx="5257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Proxima Nova"/>
                <a:ea typeface="Proxima Nova"/>
                <a:cs typeface="Proxima Nova"/>
                <a:sym typeface="Proxima Nova"/>
              </a:rPr>
              <a:t>April 5 from when EO 6102 enacted</a:t>
            </a:r>
            <a:endParaRPr sz="2000">
              <a:solidFill>
                <a:schemeClr val="lt1"/>
              </a:solidFill>
              <a:latin typeface="Proxima Nova"/>
              <a:ea typeface="Proxima Nova"/>
              <a:cs typeface="Proxima Nova"/>
              <a:sym typeface="Proxima Nova"/>
            </a:endParaRPr>
          </a:p>
        </p:txBody>
      </p:sp>
      <p:sp>
        <p:nvSpPr>
          <p:cNvPr id="273" name="Google Shape;273;p39"/>
          <p:cNvSpPr txBox="1"/>
          <p:nvPr/>
        </p:nvSpPr>
        <p:spPr>
          <a:xfrm>
            <a:off x="996475" y="3186275"/>
            <a:ext cx="4131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Proxima Nova"/>
                <a:ea typeface="Proxima Nova"/>
                <a:cs typeface="Proxima Nova"/>
                <a:sym typeface="Proxima Nova"/>
              </a:rPr>
              <a:t>1975 from when EO 6102 repealed</a:t>
            </a:r>
            <a:endParaRPr sz="2000">
              <a:solidFill>
                <a:schemeClr val="lt1"/>
              </a:solidFill>
              <a:latin typeface="Proxima Nova"/>
              <a:ea typeface="Proxima Nova"/>
              <a:cs typeface="Proxima Nova"/>
              <a:sym typeface="Proxima Nova"/>
            </a:endParaRPr>
          </a:p>
        </p:txBody>
      </p:sp>
      <p:pic>
        <p:nvPicPr>
          <p:cNvPr id="274" name="Google Shape;274;p39"/>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Numbers: 2, 1 and 6 0s = 21,000,000</a:t>
            </a:r>
            <a:endParaRPr/>
          </a:p>
        </p:txBody>
      </p:sp>
      <p:pic>
        <p:nvPicPr>
          <p:cNvPr id="280" name="Google Shape;280;p40"/>
          <p:cNvPicPr preferRelativeResize="0"/>
          <p:nvPr/>
        </p:nvPicPr>
        <p:blipFill>
          <a:blip r:embed="rId3">
            <a:alphaModFix/>
          </a:blip>
          <a:stretch>
            <a:fillRect/>
          </a:stretch>
        </p:blipFill>
        <p:spPr>
          <a:xfrm>
            <a:off x="4671975" y="1008775"/>
            <a:ext cx="3730800" cy="3310974"/>
          </a:xfrm>
          <a:prstGeom prst="rect">
            <a:avLst/>
          </a:prstGeom>
          <a:noFill/>
          <a:ln>
            <a:noFill/>
          </a:ln>
        </p:spPr>
      </p:pic>
      <p:pic>
        <p:nvPicPr>
          <p:cNvPr id="281" name="Google Shape;281;p40"/>
          <p:cNvPicPr preferRelativeResize="0"/>
          <p:nvPr/>
        </p:nvPicPr>
        <p:blipFill>
          <a:blip r:embed="rId4">
            <a:alphaModFix/>
          </a:blip>
          <a:stretch>
            <a:fillRect/>
          </a:stretch>
        </p:blipFill>
        <p:spPr>
          <a:xfrm>
            <a:off x="290648" y="1414923"/>
            <a:ext cx="4084475" cy="2830197"/>
          </a:xfrm>
          <a:prstGeom prst="rect">
            <a:avLst/>
          </a:prstGeom>
          <a:noFill/>
          <a:ln>
            <a:noFill/>
          </a:ln>
        </p:spPr>
      </p:pic>
      <p:sp>
        <p:nvSpPr>
          <p:cNvPr id="282" name="Google Shape;282;p40"/>
          <p:cNvSpPr txBox="1"/>
          <p:nvPr/>
        </p:nvSpPr>
        <p:spPr>
          <a:xfrm>
            <a:off x="937325" y="4447475"/>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lt1"/>
                </a:solidFill>
                <a:latin typeface="Proxima Nova"/>
                <a:ea typeface="Proxima Nova"/>
                <a:cs typeface="Proxima Nova"/>
                <a:sym typeface="Proxima Nova"/>
                <a:hlinkClick r:id="rId5">
                  <a:extLst>
                    <a:ext uri="{A12FA001-AC4F-418D-AE19-62706E023703}">
                      <ahyp:hlinkClr val="tx"/>
                    </a:ext>
                  </a:extLst>
                </a:hlinkClick>
              </a:rPr>
              <a:t>https://timechaincalendar.com/en</a:t>
            </a:r>
            <a:r>
              <a:rPr lang="en" sz="1100">
                <a:solidFill>
                  <a:schemeClr val="lt1"/>
                </a:solidFill>
                <a:latin typeface="Proxima Nova"/>
                <a:ea typeface="Proxima Nova"/>
                <a:cs typeface="Proxima Nova"/>
                <a:sym typeface="Proxima Nova"/>
              </a:rPr>
              <a:t> </a:t>
            </a:r>
            <a:endParaRPr sz="1100">
              <a:solidFill>
                <a:schemeClr val="lt1"/>
              </a:solidFill>
              <a:latin typeface="Proxima Nova"/>
              <a:ea typeface="Proxima Nova"/>
              <a:cs typeface="Proxima Nova"/>
              <a:sym typeface="Proxima Nova"/>
            </a:endParaRPr>
          </a:p>
        </p:txBody>
      </p:sp>
      <p:pic>
        <p:nvPicPr>
          <p:cNvPr id="283" name="Google Shape;283;p40"/>
          <p:cNvPicPr preferRelativeResize="0"/>
          <p:nvPr/>
        </p:nvPicPr>
        <p:blipFill>
          <a:blip r:embed="rId6">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Numbers: 2,016</a:t>
            </a:r>
            <a:endParaRPr/>
          </a:p>
        </p:txBody>
      </p:sp>
      <p:sp>
        <p:nvSpPr>
          <p:cNvPr id="289" name="Google Shape;289;p41"/>
          <p:cNvSpPr txBox="1"/>
          <p:nvPr/>
        </p:nvSpPr>
        <p:spPr>
          <a:xfrm>
            <a:off x="1050375" y="1234625"/>
            <a:ext cx="6410700" cy="1569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lt1"/>
                </a:solidFill>
                <a:latin typeface="Proxima Nova"/>
                <a:ea typeface="Proxima Nova"/>
                <a:cs typeface="Proxima Nova"/>
                <a:sym typeface="Proxima Nova"/>
              </a:rPr>
              <a:t>“Bitcoin’s mining difficulty is updated every 2,016 blocks. This is why each 2,016 block interval is called the difficulty epoch, as the network determines whether the activities of miners for the last two weeks have reduced or increased the time it takes to mine a new block” (</a:t>
            </a:r>
            <a:r>
              <a:rPr lang="en" sz="1800" u="sng">
                <a:solidFill>
                  <a:schemeClr val="lt1"/>
                </a:solidFill>
                <a:latin typeface="Proxima Nova"/>
                <a:ea typeface="Proxima Nova"/>
                <a:cs typeface="Proxima Nova"/>
                <a:sym typeface="Proxima Nova"/>
                <a:hlinkClick r:id="rId3">
                  <a:extLst>
                    <a:ext uri="{A12FA001-AC4F-418D-AE19-62706E023703}">
                      <ahyp:hlinkClr val="tx"/>
                    </a:ext>
                  </a:extLst>
                </a:hlinkClick>
              </a:rPr>
              <a:t>source</a:t>
            </a:r>
            <a:r>
              <a:rPr lang="en" sz="1800">
                <a:solidFill>
                  <a:schemeClr val="lt1"/>
                </a:solidFill>
                <a:latin typeface="Proxima Nova"/>
                <a:ea typeface="Proxima Nova"/>
                <a:cs typeface="Proxima Nova"/>
                <a:sym typeface="Proxima Nova"/>
              </a:rPr>
              <a:t>).</a:t>
            </a:r>
            <a:endParaRPr sz="1800">
              <a:solidFill>
                <a:schemeClr val="lt1"/>
              </a:solidFill>
              <a:latin typeface="Proxima Nova"/>
              <a:ea typeface="Proxima Nova"/>
              <a:cs typeface="Proxima Nova"/>
              <a:sym typeface="Proxima Nova"/>
            </a:endParaRPr>
          </a:p>
        </p:txBody>
      </p:sp>
      <p:pic>
        <p:nvPicPr>
          <p:cNvPr id="290" name="Google Shape;290;p41"/>
          <p:cNvPicPr preferRelativeResize="0"/>
          <p:nvPr/>
        </p:nvPicPr>
        <p:blipFill>
          <a:blip r:embed="rId4">
            <a:alphaModFix/>
          </a:blip>
          <a:stretch>
            <a:fillRect/>
          </a:stretch>
        </p:blipFill>
        <p:spPr>
          <a:xfrm>
            <a:off x="2629262" y="2930475"/>
            <a:ext cx="3252925" cy="1951750"/>
          </a:xfrm>
          <a:prstGeom prst="rect">
            <a:avLst/>
          </a:prstGeom>
          <a:noFill/>
          <a:ln>
            <a:noFill/>
          </a:ln>
        </p:spPr>
      </p:pic>
      <p:pic>
        <p:nvPicPr>
          <p:cNvPr id="291" name="Google Shape;291;p41"/>
          <p:cNvPicPr preferRelativeResize="0"/>
          <p:nvPr/>
        </p:nvPicPr>
        <p:blipFill>
          <a:blip r:embed="rId5">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Back to “timechain” | PoW &amp; The Difficulty Adjustment</a:t>
            </a:r>
            <a:endParaRPr/>
          </a:p>
        </p:txBody>
      </p:sp>
      <p:pic>
        <p:nvPicPr>
          <p:cNvPr id="297" name="Google Shape;297;p42"/>
          <p:cNvPicPr preferRelativeResize="0"/>
          <p:nvPr/>
        </p:nvPicPr>
        <p:blipFill>
          <a:blip r:embed="rId3">
            <a:alphaModFix/>
          </a:blip>
          <a:stretch>
            <a:fillRect/>
          </a:stretch>
        </p:blipFill>
        <p:spPr>
          <a:xfrm>
            <a:off x="1040825" y="1258300"/>
            <a:ext cx="7215751" cy="2865676"/>
          </a:xfrm>
          <a:prstGeom prst="rect">
            <a:avLst/>
          </a:prstGeom>
          <a:noFill/>
          <a:ln>
            <a:noFill/>
          </a:ln>
        </p:spPr>
      </p:pic>
      <p:sp>
        <p:nvSpPr>
          <p:cNvPr id="298" name="Google Shape;298;p42"/>
          <p:cNvSpPr txBox="1"/>
          <p:nvPr/>
        </p:nvSpPr>
        <p:spPr>
          <a:xfrm>
            <a:off x="5031525" y="4717675"/>
            <a:ext cx="3000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solidFill>
                  <a:schemeClr val="lt1"/>
                </a:solidFill>
                <a:latin typeface="Proxima Nova"/>
                <a:ea typeface="Proxima Nova"/>
                <a:cs typeface="Proxima Nova"/>
                <a:sym typeface="Proxima Nova"/>
              </a:rPr>
              <a:t>Source: </a:t>
            </a:r>
            <a:r>
              <a:rPr lang="en" sz="900" u="sng">
                <a:solidFill>
                  <a:schemeClr val="lt1"/>
                </a:solidFill>
                <a:latin typeface="Proxima Nova"/>
                <a:ea typeface="Proxima Nova"/>
                <a:cs typeface="Proxima Nova"/>
                <a:sym typeface="Proxima Nova"/>
                <a:hlinkClick r:id="rId4">
                  <a:extLst>
                    <a:ext uri="{A12FA001-AC4F-418D-AE19-62706E023703}">
                      <ahyp:hlinkClr val="tx"/>
                    </a:ext>
                  </a:extLst>
                </a:hlinkClick>
              </a:rPr>
              <a:t>https://dergigi.com/2021/01/14/bitcoin-is-time/</a:t>
            </a:r>
            <a:r>
              <a:rPr lang="en" sz="900">
                <a:solidFill>
                  <a:schemeClr val="lt1"/>
                </a:solidFill>
                <a:latin typeface="Proxima Nova"/>
                <a:ea typeface="Proxima Nova"/>
                <a:cs typeface="Proxima Nova"/>
                <a:sym typeface="Proxima Nova"/>
              </a:rPr>
              <a:t> </a:t>
            </a:r>
            <a:endParaRPr sz="900">
              <a:solidFill>
                <a:schemeClr val="lt1"/>
              </a:solidFill>
              <a:latin typeface="Proxima Nova"/>
              <a:ea typeface="Proxima Nova"/>
              <a:cs typeface="Proxima Nova"/>
              <a:sym typeface="Proxima Nova"/>
            </a:endParaRPr>
          </a:p>
        </p:txBody>
      </p:sp>
      <p:pic>
        <p:nvPicPr>
          <p:cNvPr id="299" name="Google Shape;299;p42"/>
          <p:cNvPicPr preferRelativeResize="0"/>
          <p:nvPr/>
        </p:nvPicPr>
        <p:blipFill>
          <a:blip r:embed="rId5">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3"/>
          <p:cNvSpPr txBox="1"/>
          <p:nvPr/>
        </p:nvSpPr>
        <p:spPr>
          <a:xfrm>
            <a:off x="184150" y="793175"/>
            <a:ext cx="32652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EPOCH 1: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Jan 3, 2009 → November 28, 2012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EPOCH 2: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November 28, 2012 → July 9, 2016</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EPOCH 3: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July 9, 2016 → May 11, 2020</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EPOCH 4: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May 11, 2020 → April 19, 2024</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rPr i="1" lang="en" sz="1500">
                <a:solidFill>
                  <a:schemeClr val="lt1"/>
                </a:solidFill>
                <a:latin typeface="Proxima Nova"/>
                <a:ea typeface="Proxima Nova"/>
                <a:cs typeface="Proxima Nova"/>
                <a:sym typeface="Proxima Nova"/>
              </a:rPr>
              <a:t>*Every 210,000 blocks^</a:t>
            </a:r>
            <a:endParaRPr i="1" sz="1500">
              <a:solidFill>
                <a:schemeClr val="lt1"/>
              </a:solidFill>
              <a:latin typeface="Proxima Nova"/>
              <a:ea typeface="Proxima Nova"/>
              <a:cs typeface="Proxima Nova"/>
              <a:sym typeface="Proxima Nova"/>
            </a:endParaRPr>
          </a:p>
        </p:txBody>
      </p:sp>
      <p:pic>
        <p:nvPicPr>
          <p:cNvPr id="305" name="Google Shape;305;p43"/>
          <p:cNvPicPr preferRelativeResize="0"/>
          <p:nvPr/>
        </p:nvPicPr>
        <p:blipFill>
          <a:blip r:embed="rId3">
            <a:alphaModFix/>
          </a:blip>
          <a:stretch>
            <a:fillRect/>
          </a:stretch>
        </p:blipFill>
        <p:spPr>
          <a:xfrm>
            <a:off x="3629325" y="614175"/>
            <a:ext cx="5328825" cy="3395225"/>
          </a:xfrm>
          <a:prstGeom prst="rect">
            <a:avLst/>
          </a:prstGeom>
          <a:noFill/>
          <a:ln>
            <a:noFill/>
          </a:ln>
        </p:spPr>
      </p:pic>
      <p:pic>
        <p:nvPicPr>
          <p:cNvPr id="306" name="Google Shape;306;p43"/>
          <p:cNvPicPr preferRelativeResize="0"/>
          <p:nvPr/>
        </p:nvPicPr>
        <p:blipFill>
          <a:blip r:embed="rId4">
            <a:alphaModFix/>
          </a:blip>
          <a:stretch>
            <a:fillRect/>
          </a:stretch>
        </p:blipFill>
        <p:spPr>
          <a:xfrm>
            <a:off x="184150" y="4695625"/>
            <a:ext cx="374483" cy="355476"/>
          </a:xfrm>
          <a:prstGeom prst="rect">
            <a:avLst/>
          </a:prstGeom>
          <a:noFill/>
          <a:ln>
            <a:noFill/>
          </a:ln>
        </p:spPr>
      </p:pic>
      <p:pic>
        <p:nvPicPr>
          <p:cNvPr id="307" name="Google Shape;307;p43"/>
          <p:cNvPicPr preferRelativeResize="0"/>
          <p:nvPr/>
        </p:nvPicPr>
        <p:blipFill>
          <a:blip r:embed="rId5">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Interesting Facts: Part I</a:t>
            </a:r>
            <a:endParaRPr/>
          </a:p>
        </p:txBody>
      </p:sp>
      <p:sp>
        <p:nvSpPr>
          <p:cNvPr id="313" name="Google Shape;313;p44"/>
          <p:cNvSpPr txBox="1"/>
          <p:nvPr/>
        </p:nvSpPr>
        <p:spPr>
          <a:xfrm>
            <a:off x="343250" y="947950"/>
            <a:ext cx="77010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1st epoch: 50 bitcoin = reward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lt1"/>
                </a:solidFill>
                <a:latin typeface="Proxima Nova"/>
                <a:ea typeface="Proxima Nova"/>
                <a:cs typeface="Proxima Nova"/>
                <a:sym typeface="Proxima Nova"/>
              </a:rPr>
              <a:t>2nd epoch: 25 bitcoin</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lt1"/>
                </a:solidFill>
                <a:latin typeface="Proxima Nova"/>
                <a:ea typeface="Proxima Nova"/>
                <a:cs typeface="Proxima Nova"/>
                <a:sym typeface="Proxima Nova"/>
              </a:rPr>
              <a:t>3rd epoch: 12.5 bitcoin</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lt1"/>
                </a:solidFill>
                <a:latin typeface="Proxima Nova"/>
                <a:ea typeface="Proxima Nova"/>
                <a:cs typeface="Proxima Nova"/>
                <a:sym typeface="Proxima Nova"/>
              </a:rPr>
              <a:t>4th epoch: 6.25 bitcoin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lt1"/>
                </a:solidFill>
                <a:latin typeface="Proxima Nova"/>
                <a:ea typeface="Proxima Nova"/>
                <a:cs typeface="Proxima Nova"/>
                <a:sym typeface="Proxima Nova"/>
              </a:rPr>
              <a:t>5th epoch: 3.125 bitcoin </a:t>
            </a:r>
            <a:r>
              <a:rPr lang="en">
                <a:solidFill>
                  <a:schemeClr val="lt1"/>
                </a:solidFill>
                <a:latin typeface="Proxima Nova"/>
                <a:ea typeface="Proxima Nova"/>
                <a:cs typeface="Proxima Nova"/>
                <a:sym typeface="Proxima Nova"/>
              </a:rPr>
              <a:t>← where we are currently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lt1"/>
                </a:solidFill>
                <a:latin typeface="Proxima Nova"/>
                <a:ea typeface="Proxima Nova"/>
                <a:cs typeface="Proxima Nova"/>
                <a:sym typeface="Proxima Nova"/>
              </a:rPr>
              <a:t>6th epoch: 1.5625 ← 2028</a:t>
            </a:r>
            <a:r>
              <a:rPr lang="en">
                <a:solidFill>
                  <a:schemeClr val="lt1"/>
                </a:solidFill>
                <a:latin typeface="Proxima Nova"/>
                <a:ea typeface="Proxima Nova"/>
                <a:cs typeface="Proxima Nova"/>
                <a:sym typeface="Proxima Nova"/>
              </a:rPr>
              <a:t>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p:txBody>
      </p:sp>
      <p:sp>
        <p:nvSpPr>
          <p:cNvPr id="314" name="Google Shape;314;p44"/>
          <p:cNvSpPr txBox="1"/>
          <p:nvPr/>
        </p:nvSpPr>
        <p:spPr>
          <a:xfrm>
            <a:off x="343250" y="2542450"/>
            <a:ext cx="7154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In each epoch, block reward = % of bitcoin mined (in that epoch)  </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50% + 25% + 12.5% + 6.25% = 93.75% &lt;- April 19, 2024 </a:t>
            </a:r>
            <a:endParaRPr>
              <a:solidFill>
                <a:schemeClr val="lt1"/>
              </a:solidFill>
              <a:latin typeface="Proxima Nova"/>
              <a:ea typeface="Proxima Nova"/>
              <a:cs typeface="Proxima Nova"/>
              <a:sym typeface="Proxima Nova"/>
            </a:endParaRPr>
          </a:p>
        </p:txBody>
      </p:sp>
      <p:sp>
        <p:nvSpPr>
          <p:cNvPr id="315" name="Google Shape;315;p44"/>
          <p:cNvSpPr txBox="1"/>
          <p:nvPr/>
        </p:nvSpPr>
        <p:spPr>
          <a:xfrm>
            <a:off x="387350" y="3309750"/>
            <a:ext cx="63723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AND how much left to be mined in the future. </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50% mined in 1st epoch and 50% left to be mined</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25% mined in 2nd epoch and (100 -(50+25)) = 25% left to be mined</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etc.</a:t>
            </a:r>
            <a:endParaRPr/>
          </a:p>
        </p:txBody>
      </p:sp>
      <p:pic>
        <p:nvPicPr>
          <p:cNvPr id="316" name="Google Shape;316;p44"/>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Interesting Facts: Part I</a:t>
            </a:r>
            <a:endParaRPr/>
          </a:p>
        </p:txBody>
      </p:sp>
      <p:sp>
        <p:nvSpPr>
          <p:cNvPr id="322" name="Google Shape;322;p45"/>
          <p:cNvSpPr txBox="1"/>
          <p:nvPr/>
        </p:nvSpPr>
        <p:spPr>
          <a:xfrm>
            <a:off x="298875" y="947950"/>
            <a:ext cx="8502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October 31, 2008: The Bitcoin whitepaper was published, sparking an “Economic Reformation.”</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lt1"/>
                </a:solidFill>
                <a:latin typeface="Proxima Nova"/>
                <a:ea typeface="Proxima Nova"/>
                <a:cs typeface="Proxima Nova"/>
                <a:sym typeface="Proxima Nova"/>
              </a:rPr>
              <a:t>October 31, 1517: </a:t>
            </a:r>
            <a:r>
              <a:rPr lang="en" u="sng">
                <a:solidFill>
                  <a:schemeClr val="lt1"/>
                </a:solidFill>
                <a:latin typeface="Proxima Nova"/>
                <a:ea typeface="Proxima Nova"/>
                <a:cs typeface="Proxima Nova"/>
                <a:sym typeface="Proxima Nova"/>
                <a:hlinkClick r:id="rId3">
                  <a:extLst>
                    <a:ext uri="{A12FA001-AC4F-418D-AE19-62706E023703}">
                      <ahyp:hlinkClr val="tx"/>
                    </a:ext>
                  </a:extLst>
                </a:hlinkClick>
              </a:rPr>
              <a:t>Martin Luther publishes</a:t>
            </a:r>
            <a:r>
              <a:rPr lang="en">
                <a:solidFill>
                  <a:schemeClr val="lt1"/>
                </a:solidFill>
                <a:latin typeface="Proxima Nova"/>
                <a:ea typeface="Proxima Nova"/>
                <a:cs typeface="Proxima Nova"/>
                <a:sym typeface="Proxima Nova"/>
              </a:rPr>
              <a:t> the “Disputation on the Power and Efficacy of Indulgences,” also known as “The 95 Theses,” a list of questions and propositions for debate, sparking the Protestant Reformation.</a:t>
            </a:r>
            <a:endParaRPr>
              <a:solidFill>
                <a:schemeClr val="lt1"/>
              </a:solidFill>
              <a:latin typeface="Proxima Nova"/>
              <a:ea typeface="Proxima Nova"/>
              <a:cs typeface="Proxima Nova"/>
              <a:sym typeface="Proxima Nova"/>
            </a:endParaRPr>
          </a:p>
        </p:txBody>
      </p:sp>
      <p:sp>
        <p:nvSpPr>
          <p:cNvPr id="323" name="Google Shape;323;p45"/>
          <p:cNvSpPr txBox="1"/>
          <p:nvPr/>
        </p:nvSpPr>
        <p:spPr>
          <a:xfrm>
            <a:off x="298875" y="2304338"/>
            <a:ext cx="7815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January 3, 2009: The genesis block is mined and the Bitcoin network was created.</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lt1"/>
                </a:solidFill>
                <a:latin typeface="Proxima Nova"/>
                <a:ea typeface="Proxima Nova"/>
                <a:cs typeface="Proxima Nova"/>
                <a:sym typeface="Proxima Nova"/>
              </a:rPr>
              <a:t>January 3, 1521: “Pope Leo X issues the papal bull Decet Romanum Pontificem, which excommunicates Martin Luther from the Catholic Church.” (</a:t>
            </a:r>
            <a:r>
              <a:rPr lang="en" u="sng">
                <a:solidFill>
                  <a:schemeClr val="lt1"/>
                </a:solidFill>
                <a:latin typeface="Proxima Nova"/>
                <a:ea typeface="Proxima Nova"/>
                <a:cs typeface="Proxima Nova"/>
                <a:sym typeface="Proxima Nova"/>
                <a:hlinkClick r:id="rId4">
                  <a:extLst>
                    <a:ext uri="{A12FA001-AC4F-418D-AE19-62706E023703}">
                      <ahyp:hlinkClr val="tx"/>
                    </a:ext>
                  </a:extLst>
                </a:hlinkClick>
              </a:rPr>
              <a:t>Source</a:t>
            </a:r>
            <a:r>
              <a:rPr lang="en">
                <a:solidFill>
                  <a:schemeClr val="lt1"/>
                </a:solidFill>
                <a:latin typeface="Proxima Nova"/>
                <a:ea typeface="Proxima Nova"/>
                <a:cs typeface="Proxima Nova"/>
                <a:sym typeface="Proxima Nova"/>
              </a:rPr>
              <a:t>)</a:t>
            </a:r>
            <a:endParaRPr>
              <a:solidFill>
                <a:schemeClr val="lt1"/>
              </a:solidFill>
              <a:latin typeface="Proxima Nova"/>
              <a:ea typeface="Proxima Nova"/>
              <a:cs typeface="Proxima Nova"/>
              <a:sym typeface="Proxima Nova"/>
            </a:endParaRPr>
          </a:p>
        </p:txBody>
      </p:sp>
      <p:sp>
        <p:nvSpPr>
          <p:cNvPr id="324" name="Google Shape;324;p45"/>
          <p:cNvSpPr txBox="1"/>
          <p:nvPr/>
        </p:nvSpPr>
        <p:spPr>
          <a:xfrm>
            <a:off x="298875" y="3445350"/>
            <a:ext cx="68982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2140: Last bitcoin mined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lt1"/>
                </a:solidFill>
                <a:latin typeface="Proxima Nova"/>
                <a:ea typeface="Proxima Nova"/>
                <a:cs typeface="Proxima Nova"/>
                <a:sym typeface="Proxima Nova"/>
              </a:rPr>
              <a:t>Time duration of bitcoin mining: 2140 - 2009 = 131 years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lt1"/>
                </a:solidFill>
                <a:latin typeface="Proxima Nova"/>
                <a:ea typeface="Proxima Nova"/>
                <a:cs typeface="Proxima Nova"/>
                <a:sym typeface="Proxima Nova"/>
              </a:rPr>
              <a:t>Time duration of </a:t>
            </a:r>
            <a:r>
              <a:rPr lang="en" u="sng">
                <a:solidFill>
                  <a:schemeClr val="lt1"/>
                </a:solidFill>
                <a:latin typeface="Proxima Nova"/>
                <a:ea typeface="Proxima Nova"/>
                <a:cs typeface="Proxima Nova"/>
                <a:sym typeface="Proxima Nova"/>
                <a:hlinkClick r:id="rId5">
                  <a:extLst>
                    <a:ext uri="{A12FA001-AC4F-418D-AE19-62706E023703}">
                      <ahyp:hlinkClr val="tx"/>
                    </a:ext>
                  </a:extLst>
                </a:hlinkClick>
              </a:rPr>
              <a:t>Protestant Reformation</a:t>
            </a:r>
            <a:r>
              <a:rPr lang="en">
                <a:solidFill>
                  <a:schemeClr val="lt1"/>
                </a:solidFill>
                <a:latin typeface="Proxima Nova"/>
                <a:ea typeface="Proxima Nova"/>
                <a:cs typeface="Proxima Nova"/>
                <a:sym typeface="Proxima Nova"/>
              </a:rPr>
              <a:t>: 1648 - 1517 = 131 years </a:t>
            </a:r>
            <a:endParaRPr/>
          </a:p>
        </p:txBody>
      </p:sp>
      <p:pic>
        <p:nvPicPr>
          <p:cNvPr id="325" name="Google Shape;325;p45"/>
          <p:cNvPicPr preferRelativeResize="0"/>
          <p:nvPr/>
        </p:nvPicPr>
        <p:blipFill>
          <a:blip r:embed="rId6">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6"/>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Trivia!</a:t>
            </a:r>
            <a:endParaRPr sz="1983"/>
          </a:p>
        </p:txBody>
      </p:sp>
      <p:pic>
        <p:nvPicPr>
          <p:cNvPr id="331" name="Google Shape;331;p46"/>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332" name="Google Shape;332;p46"/>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Bitcoin &amp; Coinos</a:t>
            </a:r>
            <a:endParaRPr/>
          </a:p>
        </p:txBody>
      </p:sp>
      <p:pic>
        <p:nvPicPr>
          <p:cNvPr id="338" name="Google Shape;338;p47"/>
          <p:cNvPicPr preferRelativeResize="0"/>
          <p:nvPr/>
        </p:nvPicPr>
        <p:blipFill>
          <a:blip r:embed="rId3">
            <a:alphaModFix/>
          </a:blip>
          <a:stretch>
            <a:fillRect/>
          </a:stretch>
        </p:blipFill>
        <p:spPr>
          <a:xfrm>
            <a:off x="584550" y="1080125"/>
            <a:ext cx="3791373" cy="3187674"/>
          </a:xfrm>
          <a:prstGeom prst="rect">
            <a:avLst/>
          </a:prstGeom>
          <a:noFill/>
          <a:ln>
            <a:noFill/>
          </a:ln>
        </p:spPr>
      </p:pic>
      <p:pic>
        <p:nvPicPr>
          <p:cNvPr id="339" name="Google Shape;339;p47"/>
          <p:cNvPicPr preferRelativeResize="0"/>
          <p:nvPr/>
        </p:nvPicPr>
        <p:blipFill>
          <a:blip r:embed="rId4">
            <a:alphaModFix/>
          </a:blip>
          <a:stretch>
            <a:fillRect/>
          </a:stretch>
        </p:blipFill>
        <p:spPr>
          <a:xfrm>
            <a:off x="4645125" y="1147688"/>
            <a:ext cx="3997500" cy="3052550"/>
          </a:xfrm>
          <a:prstGeom prst="rect">
            <a:avLst/>
          </a:prstGeom>
          <a:noFill/>
          <a:ln>
            <a:noFill/>
          </a:ln>
        </p:spPr>
      </p:pic>
      <p:pic>
        <p:nvPicPr>
          <p:cNvPr id="340" name="Google Shape;340;p47"/>
          <p:cNvPicPr preferRelativeResize="0"/>
          <p:nvPr/>
        </p:nvPicPr>
        <p:blipFill>
          <a:blip r:embed="rId5">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8"/>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How many halvings will there be?</a:t>
            </a:r>
            <a:endParaRPr sz="1983"/>
          </a:p>
        </p:txBody>
      </p:sp>
      <p:pic>
        <p:nvPicPr>
          <p:cNvPr id="346" name="Google Shape;346;p48"/>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347" name="Google Shape;347;p48"/>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9"/>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When is Satoshi’s birthday?</a:t>
            </a:r>
            <a:endParaRPr sz="1983"/>
          </a:p>
        </p:txBody>
      </p:sp>
      <p:pic>
        <p:nvPicPr>
          <p:cNvPr id="353" name="Google Shape;353;p49"/>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354" name="Google Shape;354;p49"/>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0"/>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How many pages is the whitepaper? </a:t>
            </a:r>
            <a:endParaRPr sz="1983"/>
          </a:p>
        </p:txBody>
      </p:sp>
      <p:pic>
        <p:nvPicPr>
          <p:cNvPr id="360" name="Google Shape;360;p50"/>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361" name="Google Shape;361;p50"/>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1"/>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How many times is the word “bitcoin” mentioned in the whitepaper?</a:t>
            </a:r>
            <a:endParaRPr sz="1983"/>
          </a:p>
        </p:txBody>
      </p:sp>
      <p:pic>
        <p:nvPicPr>
          <p:cNvPr id="367" name="Google Shape;367;p51"/>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368" name="Google Shape;368;p51"/>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2"/>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What day was the first block mined?</a:t>
            </a:r>
            <a:endParaRPr sz="1983"/>
          </a:p>
        </p:txBody>
      </p:sp>
      <p:pic>
        <p:nvPicPr>
          <p:cNvPr id="374" name="Google Shape;374;p52"/>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375" name="Google Shape;375;p52"/>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3"/>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What were the Cypherpunks protecting? </a:t>
            </a:r>
            <a:endParaRPr sz="1983"/>
          </a:p>
        </p:txBody>
      </p:sp>
      <p:pic>
        <p:nvPicPr>
          <p:cNvPr id="381" name="Google Shape;381;p53"/>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382" name="Google Shape;382;p53"/>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4"/>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What is EO 6102?</a:t>
            </a:r>
            <a:endParaRPr sz="1983"/>
          </a:p>
        </p:txBody>
      </p:sp>
      <p:pic>
        <p:nvPicPr>
          <p:cNvPr id="388" name="Google Shape;388;p54"/>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389" name="Google Shape;389;p54"/>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5"/>
          <p:cNvSpPr txBox="1"/>
          <p:nvPr>
            <p:ph type="title"/>
          </p:nvPr>
        </p:nvSpPr>
        <p:spPr>
          <a:xfrm>
            <a:off x="311025"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How much bitcoin is left to be mined? </a:t>
            </a:r>
            <a:endParaRPr sz="1983"/>
          </a:p>
        </p:txBody>
      </p:sp>
      <p:pic>
        <p:nvPicPr>
          <p:cNvPr id="395" name="Google Shape;395;p55"/>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396" name="Google Shape;396;p55"/>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6"/>
          <p:cNvSpPr txBox="1"/>
          <p:nvPr>
            <p:ph type="title"/>
          </p:nvPr>
        </p:nvSpPr>
        <p:spPr>
          <a:xfrm>
            <a:off x="311025"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How many citations are in the whitepaper? </a:t>
            </a:r>
            <a:endParaRPr sz="1983"/>
          </a:p>
        </p:txBody>
      </p:sp>
      <p:pic>
        <p:nvPicPr>
          <p:cNvPr id="402" name="Google Shape;402;p56"/>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03" name="Google Shape;403;p56"/>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57"/>
          <p:cNvSpPr txBox="1"/>
          <p:nvPr>
            <p:ph type="title"/>
          </p:nvPr>
        </p:nvSpPr>
        <p:spPr>
          <a:xfrm>
            <a:off x="311025"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“Mining” appears in the whitepaper.  (T/F)</a:t>
            </a:r>
            <a:endParaRPr sz="1983"/>
          </a:p>
        </p:txBody>
      </p:sp>
      <p:pic>
        <p:nvPicPr>
          <p:cNvPr id="409" name="Google Shape;409;p57"/>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10" name="Google Shape;410;p57"/>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8"/>
          <p:cNvSpPr txBox="1"/>
          <p:nvPr>
            <p:ph type="title"/>
          </p:nvPr>
        </p:nvSpPr>
        <p:spPr>
          <a:xfrm>
            <a:off x="311025"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How many words are in the whitepaper? </a:t>
            </a:r>
            <a:endParaRPr sz="1983"/>
          </a:p>
        </p:txBody>
      </p:sp>
      <p:pic>
        <p:nvPicPr>
          <p:cNvPr id="416" name="Google Shape;416;p58"/>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17" name="Google Shape;417;p58"/>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59"/>
          <p:cNvSpPr txBox="1"/>
          <p:nvPr>
            <p:ph type="title"/>
          </p:nvPr>
        </p:nvSpPr>
        <p:spPr>
          <a:xfrm>
            <a:off x="311025"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Satoshi wrote the code, then the whitepaper? Or, whitepaper, then code? </a:t>
            </a:r>
            <a:endParaRPr sz="1983"/>
          </a:p>
        </p:txBody>
      </p:sp>
      <p:pic>
        <p:nvPicPr>
          <p:cNvPr id="423" name="Google Shape;423;p59"/>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24" name="Google Shape;424;p59"/>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0"/>
          <p:cNvSpPr txBox="1"/>
          <p:nvPr>
            <p:ph type="title"/>
          </p:nvPr>
        </p:nvSpPr>
        <p:spPr>
          <a:xfrm>
            <a:off x="311025"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What is the most common word in the whitepaper? </a:t>
            </a:r>
            <a:endParaRPr sz="1983"/>
          </a:p>
        </p:txBody>
      </p:sp>
      <p:pic>
        <p:nvPicPr>
          <p:cNvPr id="430" name="Google Shape;430;p60"/>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31" name="Google Shape;431;p60"/>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61"/>
          <p:cNvSpPr txBox="1"/>
          <p:nvPr>
            <p:ph type="title"/>
          </p:nvPr>
        </p:nvSpPr>
        <p:spPr>
          <a:xfrm>
            <a:off x="311025"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At what time was the whitepaper published? </a:t>
            </a:r>
            <a:endParaRPr sz="1983"/>
          </a:p>
        </p:txBody>
      </p:sp>
      <p:pic>
        <p:nvPicPr>
          <p:cNvPr id="437" name="Google Shape;437;p61"/>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38" name="Google Shape;438;p61"/>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62"/>
          <p:cNvSpPr txBox="1"/>
          <p:nvPr>
            <p:ph type="title"/>
          </p:nvPr>
        </p:nvSpPr>
        <p:spPr>
          <a:xfrm>
            <a:off x="311025"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Bitcoin always had a supply cap of 21,000,000. (T/F)</a:t>
            </a:r>
            <a:endParaRPr sz="1983"/>
          </a:p>
        </p:txBody>
      </p:sp>
      <p:pic>
        <p:nvPicPr>
          <p:cNvPr id="444" name="Google Shape;444;p62"/>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45" name="Google Shape;445;p62"/>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pic>
        <p:nvPicPr>
          <p:cNvPr id="450" name="Google Shape;450;p63"/>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51" name="Google Shape;451;p63"/>
          <p:cNvPicPr preferRelativeResize="0"/>
          <p:nvPr/>
        </p:nvPicPr>
        <p:blipFill>
          <a:blip r:embed="rId4">
            <a:alphaModFix/>
          </a:blip>
          <a:stretch>
            <a:fillRect/>
          </a:stretch>
        </p:blipFill>
        <p:spPr>
          <a:xfrm>
            <a:off x="8611675" y="4665225"/>
            <a:ext cx="313176" cy="313176"/>
          </a:xfrm>
          <a:prstGeom prst="rect">
            <a:avLst/>
          </a:prstGeom>
          <a:noFill/>
          <a:ln>
            <a:noFill/>
          </a:ln>
        </p:spPr>
      </p:pic>
      <p:pic>
        <p:nvPicPr>
          <p:cNvPr id="452" name="Google Shape;452;p63"/>
          <p:cNvPicPr preferRelativeResize="0"/>
          <p:nvPr/>
        </p:nvPicPr>
        <p:blipFill>
          <a:blip r:embed="rId5">
            <a:alphaModFix/>
          </a:blip>
          <a:stretch>
            <a:fillRect/>
          </a:stretch>
        </p:blipFill>
        <p:spPr>
          <a:xfrm>
            <a:off x="3136376" y="461075"/>
            <a:ext cx="3062824" cy="4298676"/>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6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Bitcoin’s Values</a:t>
            </a:r>
            <a:endParaRPr/>
          </a:p>
        </p:txBody>
      </p:sp>
      <p:pic>
        <p:nvPicPr>
          <p:cNvPr id="458" name="Google Shape;458;p64"/>
          <p:cNvPicPr preferRelativeResize="0"/>
          <p:nvPr/>
        </p:nvPicPr>
        <p:blipFill>
          <a:blip r:embed="rId3">
            <a:alphaModFix/>
          </a:blip>
          <a:stretch>
            <a:fillRect/>
          </a:stretch>
        </p:blipFill>
        <p:spPr>
          <a:xfrm>
            <a:off x="8611675" y="4665225"/>
            <a:ext cx="313176" cy="313176"/>
          </a:xfrm>
          <a:prstGeom prst="rect">
            <a:avLst/>
          </a:prstGeom>
          <a:noFill/>
          <a:ln>
            <a:noFill/>
          </a:ln>
        </p:spPr>
      </p:pic>
      <p:sp>
        <p:nvSpPr>
          <p:cNvPr id="459" name="Google Shape;459;p64"/>
          <p:cNvSpPr txBox="1"/>
          <p:nvPr/>
        </p:nvSpPr>
        <p:spPr>
          <a:xfrm>
            <a:off x="264350" y="940075"/>
            <a:ext cx="8579400" cy="3618600"/>
          </a:xfrm>
          <a:prstGeom prst="rect">
            <a:avLst/>
          </a:prstGeom>
          <a:noFill/>
          <a:ln>
            <a:noFill/>
          </a:ln>
        </p:spPr>
        <p:txBody>
          <a:bodyPr anchorCtr="0" anchor="t" bIns="91425" lIns="91425" spcFirstLastPara="1" rIns="91425" wrap="square" tIns="91425">
            <a:spAutoFit/>
          </a:bodyPr>
          <a:lstStyle/>
          <a:p>
            <a:pPr indent="-301625" lvl="0" marL="457200" rtl="0" algn="l">
              <a:lnSpc>
                <a:spcPct val="115000"/>
              </a:lnSpc>
              <a:spcBef>
                <a:spcPts val="0"/>
              </a:spcBef>
              <a:spcAft>
                <a:spcPts val="0"/>
              </a:spcAft>
              <a:buClr>
                <a:schemeClr val="lt1"/>
              </a:buClr>
              <a:buSzPts val="1150"/>
              <a:buFont typeface="Proxima Nova"/>
              <a:buChar char="●"/>
            </a:pPr>
            <a:r>
              <a:rPr b="1" lang="en" sz="1150">
                <a:solidFill>
                  <a:schemeClr val="lt1"/>
                </a:solidFill>
                <a:latin typeface="Proxima Nova"/>
                <a:ea typeface="Proxima Nova"/>
                <a:cs typeface="Proxima Nova"/>
                <a:sym typeface="Proxima Nova"/>
              </a:rPr>
              <a:t>Decentralized: </a:t>
            </a:r>
            <a:r>
              <a:rPr lang="en" sz="1150">
                <a:solidFill>
                  <a:schemeClr val="lt1"/>
                </a:solidFill>
                <a:latin typeface="Proxima Nova"/>
                <a:ea typeface="Proxima Nova"/>
                <a:cs typeface="Proxima Nova"/>
                <a:sym typeface="Proxima Nova"/>
              </a:rPr>
              <a:t>Regardless of if you are a developer, miner, node operator, or individual of any standing, there must be community consensus for any change.</a:t>
            </a:r>
            <a:endParaRPr sz="1150">
              <a:solidFill>
                <a:schemeClr val="lt1"/>
              </a:solidFill>
              <a:latin typeface="Proxima Nova"/>
              <a:ea typeface="Proxima Nova"/>
              <a:cs typeface="Proxima Nova"/>
              <a:sym typeface="Proxima Nova"/>
            </a:endParaRPr>
          </a:p>
          <a:p>
            <a:pPr indent="-301625" lvl="0" marL="457200" rtl="0" algn="l">
              <a:lnSpc>
                <a:spcPct val="115000"/>
              </a:lnSpc>
              <a:spcBef>
                <a:spcPts val="0"/>
              </a:spcBef>
              <a:spcAft>
                <a:spcPts val="0"/>
              </a:spcAft>
              <a:buClr>
                <a:schemeClr val="lt1"/>
              </a:buClr>
              <a:buSzPts val="1150"/>
              <a:buFont typeface="Proxima Nova"/>
              <a:buChar char="●"/>
            </a:pPr>
            <a:r>
              <a:rPr b="1" lang="en" sz="1150">
                <a:solidFill>
                  <a:schemeClr val="lt1"/>
                </a:solidFill>
                <a:latin typeface="Proxima Nova"/>
                <a:ea typeface="Proxima Nova"/>
                <a:cs typeface="Proxima Nova"/>
                <a:sym typeface="Proxima Nova"/>
              </a:rPr>
              <a:t>Borderless: </a:t>
            </a:r>
            <a:r>
              <a:rPr lang="en" sz="1150">
                <a:solidFill>
                  <a:schemeClr val="lt1"/>
                </a:solidFill>
                <a:latin typeface="Proxima Nova"/>
                <a:ea typeface="Proxima Nova"/>
                <a:cs typeface="Proxima Nova"/>
                <a:sym typeface="Proxima Nova"/>
              </a:rPr>
              <a:t>Bitcoin exists everywhere and anywhere, outside the borders of nation states.</a:t>
            </a:r>
            <a:endParaRPr sz="1150">
              <a:solidFill>
                <a:schemeClr val="lt1"/>
              </a:solidFill>
              <a:latin typeface="Proxima Nova"/>
              <a:ea typeface="Proxima Nova"/>
              <a:cs typeface="Proxima Nova"/>
              <a:sym typeface="Proxima Nova"/>
            </a:endParaRPr>
          </a:p>
          <a:p>
            <a:pPr indent="-301625" lvl="0" marL="457200" rtl="0" algn="l">
              <a:lnSpc>
                <a:spcPct val="115000"/>
              </a:lnSpc>
              <a:spcBef>
                <a:spcPts val="0"/>
              </a:spcBef>
              <a:spcAft>
                <a:spcPts val="0"/>
              </a:spcAft>
              <a:buClr>
                <a:schemeClr val="lt1"/>
              </a:buClr>
              <a:buSzPts val="1150"/>
              <a:buFont typeface="Proxima Nova"/>
              <a:buChar char="●"/>
            </a:pPr>
            <a:r>
              <a:rPr b="1" lang="en" sz="1150">
                <a:solidFill>
                  <a:schemeClr val="lt1"/>
                </a:solidFill>
                <a:latin typeface="Proxima Nova"/>
                <a:ea typeface="Proxima Nova"/>
                <a:cs typeface="Proxima Nova"/>
                <a:sym typeface="Proxima Nova"/>
              </a:rPr>
              <a:t>Open-Source: </a:t>
            </a:r>
            <a:r>
              <a:rPr lang="en" sz="1150">
                <a:solidFill>
                  <a:schemeClr val="lt1"/>
                </a:solidFill>
                <a:latin typeface="Proxima Nova"/>
                <a:ea typeface="Proxima Nova"/>
                <a:cs typeface="Proxima Nova"/>
                <a:sym typeface="Proxima Nova"/>
              </a:rPr>
              <a:t>Bitcoin is an inclusive, open-source project that is strengthened by the addition of community members, contributing their efforts for the benefit of all network participants. Anyone, of any background or standing, can contribute in any way they see fit.</a:t>
            </a:r>
            <a:endParaRPr sz="1150">
              <a:solidFill>
                <a:schemeClr val="lt1"/>
              </a:solidFill>
              <a:latin typeface="Proxima Nova"/>
              <a:ea typeface="Proxima Nova"/>
              <a:cs typeface="Proxima Nova"/>
              <a:sym typeface="Proxima Nova"/>
            </a:endParaRPr>
          </a:p>
          <a:p>
            <a:pPr indent="-301625" lvl="0" marL="457200" rtl="0" algn="l">
              <a:lnSpc>
                <a:spcPct val="115000"/>
              </a:lnSpc>
              <a:spcBef>
                <a:spcPts val="0"/>
              </a:spcBef>
              <a:spcAft>
                <a:spcPts val="0"/>
              </a:spcAft>
              <a:buClr>
                <a:schemeClr val="lt1"/>
              </a:buClr>
              <a:buSzPts val="1150"/>
              <a:buFont typeface="Proxima Nova"/>
              <a:buChar char="●"/>
            </a:pPr>
            <a:r>
              <a:rPr b="1" lang="en" sz="1150">
                <a:solidFill>
                  <a:schemeClr val="lt1"/>
                </a:solidFill>
                <a:latin typeface="Proxima Nova"/>
                <a:ea typeface="Proxima Nova"/>
                <a:cs typeface="Proxima Nova"/>
                <a:sym typeface="Proxima Nova"/>
              </a:rPr>
              <a:t>Peer-to-peer: </a:t>
            </a:r>
            <a:r>
              <a:rPr lang="en" sz="1150">
                <a:solidFill>
                  <a:schemeClr val="lt1"/>
                </a:solidFill>
                <a:latin typeface="Proxima Nova"/>
                <a:ea typeface="Proxima Nova"/>
                <a:cs typeface="Proxima Nova"/>
                <a:sym typeface="Proxima Nova"/>
              </a:rPr>
              <a:t>As mentioned, bitcoin was created as “a purely peer-to-peer version of electronic cash [that] would allow online payments to be sent directly from one party to another without going through a financial institution.” Notably, “peer-to-peer” could mean everything from you and your friend to Cornell and Ithaca College to the US and Brazil.</a:t>
            </a:r>
            <a:endParaRPr sz="1150">
              <a:solidFill>
                <a:schemeClr val="lt1"/>
              </a:solidFill>
              <a:latin typeface="Proxima Nova"/>
              <a:ea typeface="Proxima Nova"/>
              <a:cs typeface="Proxima Nova"/>
              <a:sym typeface="Proxima Nova"/>
            </a:endParaRPr>
          </a:p>
          <a:p>
            <a:pPr indent="-301625" lvl="0" marL="457200" rtl="0" algn="l">
              <a:lnSpc>
                <a:spcPct val="115000"/>
              </a:lnSpc>
              <a:spcBef>
                <a:spcPts val="0"/>
              </a:spcBef>
              <a:spcAft>
                <a:spcPts val="0"/>
              </a:spcAft>
              <a:buClr>
                <a:schemeClr val="lt1"/>
              </a:buClr>
              <a:buSzPts val="1150"/>
              <a:buFont typeface="Proxima Nova"/>
              <a:buChar char="●"/>
            </a:pPr>
            <a:r>
              <a:rPr b="1" lang="en" sz="1150">
                <a:solidFill>
                  <a:schemeClr val="lt1"/>
                </a:solidFill>
                <a:latin typeface="Proxima Nova"/>
                <a:ea typeface="Proxima Nova"/>
                <a:cs typeface="Proxima Nova"/>
                <a:sym typeface="Proxima Nova"/>
              </a:rPr>
              <a:t>Transparent: </a:t>
            </a:r>
            <a:r>
              <a:rPr lang="en" sz="1150">
                <a:solidFill>
                  <a:schemeClr val="lt1"/>
                </a:solidFill>
                <a:latin typeface="Proxima Nova"/>
                <a:ea typeface="Proxima Nova"/>
                <a:cs typeface="Proxima Nova"/>
                <a:sym typeface="Proxima Nova"/>
              </a:rPr>
              <a:t>Not only is bitcoin’s monetary policy transparent, but so are the on-chain transactions and holdings.</a:t>
            </a:r>
            <a:endParaRPr sz="1150">
              <a:solidFill>
                <a:schemeClr val="lt1"/>
              </a:solidFill>
              <a:latin typeface="Proxima Nova"/>
              <a:ea typeface="Proxima Nova"/>
              <a:cs typeface="Proxima Nova"/>
              <a:sym typeface="Proxima Nova"/>
            </a:endParaRPr>
          </a:p>
          <a:p>
            <a:pPr indent="-301625" lvl="0" marL="457200" rtl="0" algn="l">
              <a:lnSpc>
                <a:spcPct val="115000"/>
              </a:lnSpc>
              <a:spcBef>
                <a:spcPts val="0"/>
              </a:spcBef>
              <a:spcAft>
                <a:spcPts val="0"/>
              </a:spcAft>
              <a:buClr>
                <a:schemeClr val="lt1"/>
              </a:buClr>
              <a:buSzPts val="1150"/>
              <a:buFont typeface="Proxima Nova"/>
              <a:buChar char="●"/>
            </a:pPr>
            <a:r>
              <a:rPr b="1" lang="en" sz="1150">
                <a:solidFill>
                  <a:schemeClr val="lt1"/>
                </a:solidFill>
                <a:latin typeface="Proxima Nova"/>
                <a:ea typeface="Proxima Nova"/>
                <a:cs typeface="Proxima Nova"/>
                <a:sym typeface="Proxima Nova"/>
              </a:rPr>
              <a:t>Auditable: </a:t>
            </a:r>
            <a:r>
              <a:rPr lang="en" sz="1150">
                <a:solidFill>
                  <a:schemeClr val="lt1"/>
                </a:solidFill>
                <a:latin typeface="Proxima Nova"/>
                <a:ea typeface="Proxima Nova"/>
                <a:cs typeface="Proxima Nova"/>
                <a:sym typeface="Proxima Nova"/>
              </a:rPr>
              <a:t>Given the transparency, bitcoin is an investment that can be uniquely audited, reducing the need for trust.</a:t>
            </a:r>
            <a:endParaRPr sz="1150">
              <a:solidFill>
                <a:schemeClr val="lt1"/>
              </a:solidFill>
              <a:latin typeface="Proxima Nova"/>
              <a:ea typeface="Proxima Nova"/>
              <a:cs typeface="Proxima Nova"/>
              <a:sym typeface="Proxima Nova"/>
            </a:endParaRPr>
          </a:p>
          <a:p>
            <a:pPr indent="-301625" lvl="0" marL="457200" rtl="0" algn="l">
              <a:lnSpc>
                <a:spcPct val="115000"/>
              </a:lnSpc>
              <a:spcBef>
                <a:spcPts val="0"/>
              </a:spcBef>
              <a:spcAft>
                <a:spcPts val="0"/>
              </a:spcAft>
              <a:buClr>
                <a:schemeClr val="lt1"/>
              </a:buClr>
              <a:buSzPts val="1150"/>
              <a:buFont typeface="Proxima Nova"/>
              <a:buChar char="●"/>
            </a:pPr>
            <a:r>
              <a:rPr b="1" lang="en" sz="1150">
                <a:solidFill>
                  <a:schemeClr val="lt1"/>
                </a:solidFill>
                <a:latin typeface="Proxima Nova"/>
                <a:ea typeface="Proxima Nova"/>
                <a:cs typeface="Proxima Nova"/>
                <a:sym typeface="Proxima Nova"/>
              </a:rPr>
              <a:t>Immutable &amp; Incorruptible: </a:t>
            </a:r>
            <a:r>
              <a:rPr lang="en" sz="1150">
                <a:solidFill>
                  <a:schemeClr val="lt1"/>
                </a:solidFill>
                <a:latin typeface="Proxima Nova"/>
                <a:ea typeface="Proxima Nova"/>
                <a:cs typeface="Proxima Nova"/>
                <a:sym typeface="Proxima Nova"/>
              </a:rPr>
              <a:t>Critically, bitcoin is immutable, meaning the transparency and auditability cannot be compromised, preventing corruption.</a:t>
            </a:r>
            <a:endParaRPr sz="1150">
              <a:solidFill>
                <a:schemeClr val="lt1"/>
              </a:solidFill>
              <a:latin typeface="Proxima Nova"/>
              <a:ea typeface="Proxima Nova"/>
              <a:cs typeface="Proxima Nova"/>
              <a:sym typeface="Proxima Nova"/>
            </a:endParaRPr>
          </a:p>
          <a:p>
            <a:pPr indent="-301625" lvl="0" marL="457200" rtl="0" algn="l">
              <a:lnSpc>
                <a:spcPct val="115000"/>
              </a:lnSpc>
              <a:spcBef>
                <a:spcPts val="0"/>
              </a:spcBef>
              <a:spcAft>
                <a:spcPts val="0"/>
              </a:spcAft>
              <a:buClr>
                <a:schemeClr val="lt1"/>
              </a:buClr>
              <a:buSzPts val="1150"/>
              <a:buFont typeface="Proxima Nova"/>
              <a:buChar char="●"/>
            </a:pPr>
            <a:r>
              <a:rPr b="1" lang="en" sz="1150">
                <a:solidFill>
                  <a:schemeClr val="lt1"/>
                </a:solidFill>
                <a:latin typeface="Proxima Nova"/>
                <a:ea typeface="Proxima Nova"/>
                <a:cs typeface="Proxima Nova"/>
                <a:sym typeface="Proxima Nova"/>
              </a:rPr>
              <a:t>Trustless: </a:t>
            </a:r>
            <a:r>
              <a:rPr lang="en" sz="1150">
                <a:solidFill>
                  <a:schemeClr val="lt1"/>
                </a:solidFill>
                <a:latin typeface="Proxima Nova"/>
                <a:ea typeface="Proxima Nova"/>
                <a:cs typeface="Proxima Nova"/>
                <a:sym typeface="Proxima Nova"/>
              </a:rPr>
              <a:t>In combination, bitcoin’s features allow network participants to participate without needing to trust and the ability to easily verify.</a:t>
            </a:r>
            <a:endParaRPr sz="1150">
              <a:solidFill>
                <a:schemeClr val="lt1"/>
              </a:solidFill>
              <a:latin typeface="Proxima Nova"/>
              <a:ea typeface="Proxima Nova"/>
              <a:cs typeface="Proxima Nova"/>
              <a:sym typeface="Proxima Nova"/>
            </a:endParaRPr>
          </a:p>
          <a:p>
            <a:pPr indent="-301625" lvl="0" marL="457200" rtl="0" algn="l">
              <a:lnSpc>
                <a:spcPct val="115000"/>
              </a:lnSpc>
              <a:spcBef>
                <a:spcPts val="0"/>
              </a:spcBef>
              <a:spcAft>
                <a:spcPts val="0"/>
              </a:spcAft>
              <a:buClr>
                <a:schemeClr val="lt1"/>
              </a:buClr>
              <a:buSzPts val="1150"/>
              <a:buFont typeface="Proxima Nova"/>
              <a:buChar char="●"/>
            </a:pPr>
            <a:r>
              <a:rPr b="1" lang="en" sz="1150">
                <a:solidFill>
                  <a:schemeClr val="lt1"/>
                </a:solidFill>
                <a:latin typeface="Proxima Nova"/>
                <a:ea typeface="Proxima Nova"/>
                <a:cs typeface="Proxima Nova"/>
                <a:sym typeface="Proxima Nova"/>
              </a:rPr>
              <a:t>Censorship-resistant: </a:t>
            </a:r>
            <a:r>
              <a:rPr lang="en" sz="1150">
                <a:solidFill>
                  <a:schemeClr val="lt1"/>
                </a:solidFill>
                <a:latin typeface="Proxima Nova"/>
                <a:ea typeface="Proxima Nova"/>
                <a:cs typeface="Proxima Nova"/>
                <a:sym typeface="Proxima Nova"/>
              </a:rPr>
              <a:t>Your (economic and literal) voice and your actions cannot be silenced. </a:t>
            </a:r>
            <a:endParaRPr sz="1150">
              <a:solidFill>
                <a:schemeClr val="lt1"/>
              </a:solidFill>
              <a:latin typeface="Proxima Nova"/>
              <a:ea typeface="Proxima Nova"/>
              <a:cs typeface="Proxima Nova"/>
              <a:sym typeface="Proxima Nova"/>
            </a:endParaRPr>
          </a:p>
          <a:p>
            <a:pPr indent="-301625" lvl="0" marL="457200" rtl="0" algn="l">
              <a:lnSpc>
                <a:spcPct val="115000"/>
              </a:lnSpc>
              <a:spcBef>
                <a:spcPts val="0"/>
              </a:spcBef>
              <a:spcAft>
                <a:spcPts val="0"/>
              </a:spcAft>
              <a:buClr>
                <a:schemeClr val="lt1"/>
              </a:buClr>
              <a:buSzPts val="1150"/>
              <a:buFont typeface="Proxima Nova"/>
              <a:buChar char="●"/>
            </a:pPr>
            <a:r>
              <a:rPr b="1" lang="en" sz="1150">
                <a:solidFill>
                  <a:schemeClr val="lt1"/>
                </a:solidFill>
                <a:latin typeface="Proxima Nova"/>
                <a:ea typeface="Proxima Nova"/>
                <a:cs typeface="Proxima Nova"/>
                <a:sym typeface="Proxima Nova"/>
              </a:rPr>
              <a:t>Permissionless: </a:t>
            </a:r>
            <a:r>
              <a:rPr lang="en" sz="1150">
                <a:solidFill>
                  <a:schemeClr val="lt1"/>
                </a:solidFill>
                <a:latin typeface="Proxima Nova"/>
                <a:ea typeface="Proxima Nova"/>
                <a:cs typeface="Proxima Nova"/>
                <a:sym typeface="Proxima Nova"/>
              </a:rPr>
              <a:t>Participating in the network requires no approval.</a:t>
            </a:r>
            <a:endParaRPr sz="1150">
              <a:solidFill>
                <a:schemeClr val="lt1"/>
              </a:solidFill>
              <a:latin typeface="Proxima Nova"/>
              <a:ea typeface="Proxima Nova"/>
              <a:cs typeface="Proxima Nova"/>
              <a:sym typeface="Proxima Nova"/>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65"/>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Important Information &amp; Tasks </a:t>
            </a:r>
            <a:endParaRPr sz="1983"/>
          </a:p>
        </p:txBody>
      </p:sp>
      <p:pic>
        <p:nvPicPr>
          <p:cNvPr id="465" name="Google Shape;465;p65"/>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66" name="Google Shape;466;p65"/>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6"/>
          <p:cNvSpPr/>
          <p:nvPr/>
        </p:nvSpPr>
        <p:spPr>
          <a:xfrm>
            <a:off x="5749400" y="1146450"/>
            <a:ext cx="2912700" cy="2850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pic>
        <p:nvPicPr>
          <p:cNvPr id="472" name="Google Shape;472;p66"/>
          <p:cNvPicPr preferRelativeResize="0"/>
          <p:nvPr/>
        </p:nvPicPr>
        <p:blipFill>
          <a:blip r:embed="rId3">
            <a:alphaModFix/>
          </a:blip>
          <a:stretch>
            <a:fillRect/>
          </a:stretch>
        </p:blipFill>
        <p:spPr>
          <a:xfrm>
            <a:off x="5889263" y="1255263"/>
            <a:ext cx="2632975" cy="2632975"/>
          </a:xfrm>
          <a:prstGeom prst="rect">
            <a:avLst/>
          </a:prstGeom>
          <a:noFill/>
          <a:ln>
            <a:noFill/>
          </a:ln>
        </p:spPr>
      </p:pic>
      <p:sp>
        <p:nvSpPr>
          <p:cNvPr id="473" name="Google Shape;473;p66"/>
          <p:cNvSpPr txBox="1"/>
          <p:nvPr>
            <p:ph idx="4294967295" type="body"/>
          </p:nvPr>
        </p:nvSpPr>
        <p:spPr>
          <a:xfrm>
            <a:off x="620213" y="418813"/>
            <a:ext cx="5067600" cy="43059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1018"/>
              <a:buNone/>
            </a:pPr>
            <a:r>
              <a:rPr b="1" lang="en" sz="1288">
                <a:solidFill>
                  <a:schemeClr val="lt1"/>
                </a:solidFill>
              </a:rPr>
              <a:t>Join: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u="sng">
                <a:solidFill>
                  <a:schemeClr val="lt1"/>
                </a:solidFill>
                <a:hlinkClick r:id="rId4">
                  <a:extLst>
                    <a:ext uri="{A12FA001-AC4F-418D-AE19-62706E023703}">
                      <ahyp:hlinkClr val="tx"/>
                    </a:ext>
                  </a:extLst>
                </a:hlinkClick>
              </a:rPr>
              <a:t>Slack</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u="sng">
                <a:solidFill>
                  <a:schemeClr val="lt1"/>
                </a:solidFill>
                <a:hlinkClick r:id="rId5">
                  <a:extLst>
                    <a:ext uri="{A12FA001-AC4F-418D-AE19-62706E023703}">
                      <ahyp:hlinkClr val="tx"/>
                    </a:ext>
                  </a:extLst>
                </a:hlinkClick>
              </a:rPr>
              <a:t>Gcal</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Twitter (best Bitcoin news source)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Put @CornellBitcoin in your bio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Add your handle </a:t>
            </a:r>
            <a:r>
              <a:rPr lang="en" sz="1288" u="sng">
                <a:solidFill>
                  <a:srgbClr val="0E101A"/>
                </a:solidFill>
                <a:highlight>
                  <a:schemeClr val="lt1"/>
                </a:highlight>
                <a:hlinkClick r:id="rId6">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Forms:</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Review the Constitution &amp; sign </a:t>
            </a:r>
            <a:r>
              <a:rPr lang="en" sz="1288" u="sng">
                <a:solidFill>
                  <a:schemeClr val="hlink"/>
                </a:solidFill>
                <a:highlight>
                  <a:schemeClr val="lt1"/>
                </a:highlight>
                <a:hlinkClick r:id="rId7"/>
              </a:rPr>
              <a:t>here</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Fill out interest joining form </a:t>
            </a:r>
            <a:r>
              <a:rPr lang="en" sz="1288" u="sng">
                <a:solidFill>
                  <a:srgbClr val="0E101A"/>
                </a:solidFill>
                <a:highlight>
                  <a:schemeClr val="lt1"/>
                </a:highlight>
                <a:hlinkClick r:id="rId8">
                  <a:extLst>
                    <a:ext uri="{A12FA001-AC4F-418D-AE19-62706E023703}">
                      <ahyp:hlinkClr val="tx"/>
                    </a:ext>
                  </a:extLst>
                </a:hlinkClick>
              </a:rPr>
              <a:t>here</a:t>
            </a:r>
            <a:r>
              <a:rPr lang="en" sz="1288">
                <a:solidFill>
                  <a:schemeClr val="lt1"/>
                </a:solidFill>
              </a:rPr>
              <a:t> (if haven’t already)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Suggest topics </a:t>
            </a:r>
            <a:r>
              <a:rPr lang="en" sz="1288" u="sng">
                <a:solidFill>
                  <a:srgbClr val="0E101A"/>
                </a:solidFill>
                <a:highlight>
                  <a:schemeClr val="lt1"/>
                </a:highlight>
                <a:hlinkClick r:id="rId9">
                  <a:extLst>
                    <a:ext uri="{A12FA001-AC4F-418D-AE19-62706E023703}">
                      <ahyp:hlinkClr val="tx"/>
                    </a:ext>
                  </a:extLst>
                </a:hlinkClick>
              </a:rPr>
              <a:t>here</a:t>
            </a:r>
            <a:r>
              <a:rPr lang="en" sz="1288">
                <a:solidFill>
                  <a:srgbClr val="0E101A"/>
                </a:solidFill>
                <a:highlight>
                  <a:schemeClr val="lt1"/>
                </a:highlight>
              </a:rPr>
              <a:t> </a:t>
            </a:r>
            <a:endParaRPr b="1" sz="1288">
              <a:solidFill>
                <a:srgbClr val="0E101A"/>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Club playlist: add favorite songs </a:t>
            </a:r>
            <a:r>
              <a:rPr lang="en" sz="1288" u="sng">
                <a:solidFill>
                  <a:srgbClr val="000000"/>
                </a:solidFill>
                <a:highlight>
                  <a:schemeClr val="lt1"/>
                </a:highlight>
                <a:hlinkClick r:id="rId10">
                  <a:extLst>
                    <a:ext uri="{A12FA001-AC4F-418D-AE19-62706E023703}">
                      <ahyp:hlinkClr val="tx"/>
                    </a:ext>
                  </a:extLst>
                </a:hlinkClick>
              </a:rPr>
              <a:t>here</a:t>
            </a:r>
            <a:r>
              <a:rPr lang="en" sz="1288">
                <a:solidFill>
                  <a:srgbClr val="000000"/>
                </a:solidFill>
                <a:highlight>
                  <a:schemeClr val="lt1"/>
                </a:highlight>
              </a:rPr>
              <a:t> </a:t>
            </a:r>
            <a:endParaRPr sz="1288">
              <a:solidFill>
                <a:srgbClr val="000000"/>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Add favorite snacks </a:t>
            </a:r>
            <a:r>
              <a:rPr lang="en" sz="1288" u="sng">
                <a:solidFill>
                  <a:srgbClr val="0E101A"/>
                </a:solidFill>
                <a:highlight>
                  <a:schemeClr val="lt1"/>
                </a:highlight>
                <a:hlinkClick r:id="rId11">
                  <a:extLst>
                    <a:ext uri="{A12FA001-AC4F-418D-AE19-62706E023703}">
                      <ahyp:hlinkClr val="tx"/>
                    </a:ext>
                  </a:extLst>
                </a:hlinkClick>
              </a:rPr>
              <a:t>here</a:t>
            </a:r>
            <a:r>
              <a:rPr lang="en" sz="1288">
                <a:solidFill>
                  <a:schemeClr val="lt1"/>
                </a:solidFill>
              </a:rPr>
              <a:t>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Resume Book </a:t>
            </a:r>
            <a:r>
              <a:rPr lang="en" sz="1288" u="sng">
                <a:solidFill>
                  <a:srgbClr val="0E101A"/>
                </a:solidFill>
                <a:highlight>
                  <a:schemeClr val="lt1"/>
                </a:highlight>
                <a:hlinkClick r:id="rId12">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Follow: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@CornellBitcoin on Twitter</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@CornellBitcoinClub on Instagram</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 Bitcoin Club on LinkedIn</a:t>
            </a:r>
            <a:endParaRPr sz="1288">
              <a:solidFill>
                <a:schemeClr val="lt1"/>
              </a:solidFill>
            </a:endParaRPr>
          </a:p>
        </p:txBody>
      </p:sp>
      <p:pic>
        <p:nvPicPr>
          <p:cNvPr id="474" name="Google Shape;474;p66"/>
          <p:cNvPicPr preferRelativeResize="0"/>
          <p:nvPr/>
        </p:nvPicPr>
        <p:blipFill>
          <a:blip r:embed="rId13">
            <a:alphaModFix/>
          </a:blip>
          <a:stretch>
            <a:fillRect/>
          </a:stretch>
        </p:blipFill>
        <p:spPr>
          <a:xfrm>
            <a:off x="184150" y="4695625"/>
            <a:ext cx="374483" cy="355476"/>
          </a:xfrm>
          <a:prstGeom prst="rect">
            <a:avLst/>
          </a:prstGeom>
          <a:noFill/>
          <a:ln>
            <a:noFill/>
          </a:ln>
        </p:spPr>
      </p:pic>
      <p:pic>
        <p:nvPicPr>
          <p:cNvPr id="475" name="Google Shape;475;p66"/>
          <p:cNvPicPr preferRelativeResize="0"/>
          <p:nvPr/>
        </p:nvPicPr>
        <p:blipFill>
          <a:blip r:embed="rId1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79" name="Shape 479"/>
        <p:cNvGrpSpPr/>
        <p:nvPr/>
      </p:nvGrpSpPr>
      <p:grpSpPr>
        <a:xfrm>
          <a:off x="0" y="0"/>
          <a:ext cx="0" cy="0"/>
          <a:chOff x="0" y="0"/>
          <a:chExt cx="0" cy="0"/>
        </a:xfrm>
      </p:grpSpPr>
      <p:sp>
        <p:nvSpPr>
          <p:cNvPr id="480" name="Google Shape;480;p67"/>
          <p:cNvSpPr txBox="1"/>
          <p:nvPr>
            <p:ph type="title"/>
          </p:nvPr>
        </p:nvSpPr>
        <p:spPr>
          <a:xfrm>
            <a:off x="460950" y="1590000"/>
            <a:ext cx="8222100" cy="1963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t>Thank you!</a:t>
            </a:r>
            <a:endParaRPr b="1" sz="6000">
              <a:solidFill>
                <a:schemeClr val="lt1"/>
              </a:solidFill>
            </a:endParaRPr>
          </a:p>
        </p:txBody>
      </p:sp>
      <p:pic>
        <p:nvPicPr>
          <p:cNvPr id="481" name="Google Shape;481;p67"/>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82" name="Google Shape;482;p67"/>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