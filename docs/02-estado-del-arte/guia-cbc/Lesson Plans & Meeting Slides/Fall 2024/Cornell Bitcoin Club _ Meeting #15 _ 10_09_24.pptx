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5143500" cx="9144000"/>
  <p:notesSz cx="6858000" cy="9144000"/>
  <p:embeddedFontLst>
    <p:embeddedFont>
      <p:font typeface="Proxima Nova"/>
      <p:regular r:id="rId22"/>
      <p:bold r:id="rId23"/>
      <p:italic r:id="rId24"/>
      <p:boldItalic r:id="rId25"/>
    </p:embeddedFont>
    <p:embeddedFont>
      <p:font typeface="Roboto"/>
      <p:regular r:id="rId26"/>
      <p:bold r:id="rId27"/>
      <p:italic r:id="rId28"/>
      <p:boldItalic r:id="rId29"/>
    </p:embeddedFont>
    <p:embeddedFont>
      <p:font typeface="Proxima Nova Semibold"/>
      <p:regular r:id="rId30"/>
      <p:bold r:id="rId31"/>
      <p:boldItalic r:id="rId32"/>
    </p:embeddedFont>
    <p:embeddedFont>
      <p:font typeface="Barlow"/>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ProximaNova-regular.fntdata"/><Relationship Id="rId21" Type="http://schemas.openxmlformats.org/officeDocument/2006/relationships/slide" Target="slides/slide17.xml"/><Relationship Id="rId24" Type="http://schemas.openxmlformats.org/officeDocument/2006/relationships/font" Target="fonts/ProximaNova-italic.fntdata"/><Relationship Id="rId23" Type="http://schemas.openxmlformats.org/officeDocument/2006/relationships/font" Target="fonts/ProximaNova-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regular.fntdata"/><Relationship Id="rId25" Type="http://schemas.openxmlformats.org/officeDocument/2006/relationships/font" Target="fonts/ProximaNova-boldItalic.fntdata"/><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ProximaNovaSemibold-bold.fntdata"/><Relationship Id="rId30" Type="http://schemas.openxmlformats.org/officeDocument/2006/relationships/font" Target="fonts/ProximaNovaSemibold-regular.fntdata"/><Relationship Id="rId11" Type="http://schemas.openxmlformats.org/officeDocument/2006/relationships/slide" Target="slides/slide7.xml"/><Relationship Id="rId33" Type="http://schemas.openxmlformats.org/officeDocument/2006/relationships/font" Target="fonts/Barlow-regular.fntdata"/><Relationship Id="rId10" Type="http://schemas.openxmlformats.org/officeDocument/2006/relationships/slide" Target="slides/slide6.xml"/><Relationship Id="rId32" Type="http://schemas.openxmlformats.org/officeDocument/2006/relationships/font" Target="fonts/ProximaNovaSemibold-boldItalic.fntdata"/><Relationship Id="rId13" Type="http://schemas.openxmlformats.org/officeDocument/2006/relationships/slide" Target="slides/slide9.xml"/><Relationship Id="rId35" Type="http://schemas.openxmlformats.org/officeDocument/2006/relationships/font" Target="fonts/Barlow-italic.fntdata"/><Relationship Id="rId12" Type="http://schemas.openxmlformats.org/officeDocument/2006/relationships/slide" Target="slides/slide8.xml"/><Relationship Id="rId34" Type="http://schemas.openxmlformats.org/officeDocument/2006/relationships/font" Target="fonts/Barlow-bold.fntdata"/><Relationship Id="rId15" Type="http://schemas.openxmlformats.org/officeDocument/2006/relationships/slide" Target="slides/slide11.xml"/><Relationship Id="rId14" Type="http://schemas.openxmlformats.org/officeDocument/2006/relationships/slide" Target="slides/slide10.xml"/><Relationship Id="rId36" Type="http://schemas.openxmlformats.org/officeDocument/2006/relationships/font" Target="fonts/Barlow-bold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866d0df8e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866d0df8e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01c119fa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01c119fa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07a4da73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07a4da73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09ed0bee0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09ed0bee0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09ed0bee0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09ed0bee0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09ed0bee0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09ed0bee0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09ed0bee0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09ed0bee0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09ed0bee00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09ed0bee00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09ed0bee00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09ed0bee00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09ed0bee00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09ed0bee00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09ed0bee00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09ed0bee00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09ed0bee00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09ed0bee00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866d0df8e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866d0df8e3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09ed0bee00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09ed0bee00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059255eafd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059255eafd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6869403eb0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6869403eb0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866d0df8e3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866d0df8e3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Font typeface="Proxima Nova"/>
              <a:buNone/>
              <a:defRPr sz="4800">
                <a:latin typeface="Proxima Nova"/>
                <a:ea typeface="Proxima Nova"/>
                <a:cs typeface="Proxima Nova"/>
                <a:sym typeface="Proxima Nova"/>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Font typeface="Proxima Nova"/>
              <a:buNone/>
              <a:defRPr sz="4200">
                <a:latin typeface="Proxima Nova"/>
                <a:ea typeface="Proxima Nova"/>
                <a:cs typeface="Proxima Nova"/>
                <a:sym typeface="Proxima Nova"/>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Font typeface="Proxima Nova"/>
              <a:buNone/>
              <a:defRPr>
                <a:latin typeface="Proxima Nova"/>
                <a:ea typeface="Proxima Nova"/>
                <a:cs typeface="Proxima Nova"/>
                <a:sym typeface="Proxima Nova"/>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4" name="Google Shape;24;p4"/>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B31B1B"/>
        </a:solidFill>
      </p:bgPr>
    </p:bg>
    <p:spTree>
      <p:nvGrpSpPr>
        <p:cNvPr id="25" name="Shape 25"/>
        <p:cNvGrpSpPr/>
        <p:nvPr/>
      </p:nvGrpSpPr>
      <p:grpSpPr>
        <a:xfrm>
          <a:off x="0" y="0"/>
          <a:ext cx="0" cy="0"/>
          <a:chOff x="0" y="0"/>
          <a:chExt cx="0" cy="0"/>
        </a:xfrm>
      </p:grpSpPr>
      <p:sp>
        <p:nvSpPr>
          <p:cNvPr id="26" name="Google Shape;26;p5"/>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9" name="Google Shape;29;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Font typeface="Arial"/>
              <a:buChar char="●"/>
              <a:defRPr b="1" sz="700">
                <a:latin typeface="Arial"/>
                <a:ea typeface="Arial"/>
                <a:cs typeface="Arial"/>
                <a:sym typeface="Arial"/>
              </a:defRPr>
            </a:lvl1pPr>
            <a:lvl2pPr indent="-317500" lvl="1" marL="914400">
              <a:spcBef>
                <a:spcPts val="0"/>
              </a:spcBef>
              <a:spcAft>
                <a:spcPts val="0"/>
              </a:spcAft>
              <a:buClr>
                <a:srgbClr val="000000"/>
              </a:buClr>
              <a:buSzPts val="1400"/>
              <a:buFont typeface="Arial"/>
              <a:buChar char="○"/>
              <a:defRPr sz="1200"/>
            </a:lvl2pPr>
            <a:lvl3pPr indent="-317500" lvl="2" marL="1371600">
              <a:lnSpc>
                <a:spcPct val="100000"/>
              </a:lnSpc>
              <a:spcBef>
                <a:spcPts val="0"/>
              </a:spcBef>
              <a:spcAft>
                <a:spcPts val="0"/>
              </a:spcAft>
              <a:buClr>
                <a:srgbClr val="000000"/>
              </a:buClr>
              <a:buSzPts val="1400"/>
              <a:buFont typeface="Arial"/>
              <a:buChar char="■"/>
              <a:defRPr sz="700">
                <a:latin typeface="Arial"/>
                <a:ea typeface="Arial"/>
                <a:cs typeface="Arial"/>
                <a:sym typeface="Arial"/>
              </a:defRPr>
            </a:lvl3pPr>
            <a:lvl4pPr indent="-317500" lvl="3" marL="1828800">
              <a:spcBef>
                <a:spcPts val="0"/>
              </a:spcBef>
              <a:spcAft>
                <a:spcPts val="0"/>
              </a:spcAft>
              <a:buClr>
                <a:srgbClr val="000000"/>
              </a:buClr>
              <a:buSzPts val="1400"/>
              <a:buFont typeface="Arial"/>
              <a:buChar char="●"/>
              <a:defRPr sz="1200"/>
            </a:lvl4pPr>
            <a:lvl5pPr indent="-317500" lvl="4" marL="2286000">
              <a:spcBef>
                <a:spcPts val="0"/>
              </a:spcBef>
              <a:spcAft>
                <a:spcPts val="0"/>
              </a:spcAft>
              <a:buClr>
                <a:srgbClr val="000000"/>
              </a:buClr>
              <a:buSzPts val="1400"/>
              <a:buFont typeface="Arial"/>
              <a:buChar char="○"/>
              <a:defRPr sz="1200"/>
            </a:lvl5pPr>
            <a:lvl6pPr indent="-317500" lvl="5" marL="2743200">
              <a:spcBef>
                <a:spcPts val="0"/>
              </a:spcBef>
              <a:spcAft>
                <a:spcPts val="0"/>
              </a:spcAft>
              <a:buClr>
                <a:srgbClr val="000000"/>
              </a:buClr>
              <a:buSzPts val="1400"/>
              <a:buFont typeface="Arial"/>
              <a:buChar char="■"/>
              <a:defRPr sz="1200"/>
            </a:lvl6pPr>
            <a:lvl7pPr indent="-317500" lvl="6" marL="3200400">
              <a:spcBef>
                <a:spcPts val="0"/>
              </a:spcBef>
              <a:spcAft>
                <a:spcPts val="0"/>
              </a:spcAft>
              <a:buClr>
                <a:srgbClr val="000000"/>
              </a:buClr>
              <a:buSzPts val="1400"/>
              <a:buFont typeface="Arial"/>
              <a:buChar char="●"/>
              <a:defRPr sz="1200"/>
            </a:lvl7pPr>
            <a:lvl8pPr indent="-317500" lvl="7" marL="3657600">
              <a:spcBef>
                <a:spcPts val="0"/>
              </a:spcBef>
              <a:spcAft>
                <a:spcPts val="0"/>
              </a:spcAft>
              <a:buClr>
                <a:srgbClr val="000000"/>
              </a:buClr>
              <a:buSzPts val="1400"/>
              <a:buFont typeface="Arial"/>
              <a:buChar char="○"/>
              <a:defRPr sz="1200"/>
            </a:lvl8pPr>
            <a:lvl9pPr indent="-317500" lvl="8" marL="4114800">
              <a:spcBef>
                <a:spcPts val="0"/>
              </a:spcBef>
              <a:spcAft>
                <a:spcPts val="0"/>
              </a:spcAft>
              <a:buClr>
                <a:srgbClr val="000000"/>
              </a:buClr>
              <a:buSzPts val="1400"/>
              <a:buFont typeface="Arial"/>
              <a:buChar char="■"/>
              <a:defRPr sz="1200"/>
            </a:lvl9pPr>
          </a:lstStyle>
          <a:p/>
        </p:txBody>
      </p:sp>
      <p:sp>
        <p:nvSpPr>
          <p:cNvPr id="31" name="Google Shape;31;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2" name="Google Shape;32;p5"/>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rgbClr val="B31B1B"/>
        </a:solidFill>
      </p:bgPr>
    </p:bg>
    <p:spTree>
      <p:nvGrpSpPr>
        <p:cNvPr id="33" name="Shape 33"/>
        <p:cNvGrpSpPr/>
        <p:nvPr/>
      </p:nvGrpSpPr>
      <p:grpSpPr>
        <a:xfrm>
          <a:off x="0" y="0"/>
          <a:ext cx="0" cy="0"/>
          <a:chOff x="0" y="0"/>
          <a:chExt cx="0" cy="0"/>
        </a:xfrm>
      </p:grpSpPr>
      <p:sp>
        <p:nvSpPr>
          <p:cNvPr id="34" name="Google Shape;34;p6"/>
          <p:cNvSpPr/>
          <p:nvPr/>
        </p:nvSpPr>
        <p:spPr>
          <a:xfrm flipH="1" rot="10800000">
            <a:off x="0" y="656400"/>
            <a:ext cx="9144000" cy="4487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 name="Google Shape;37;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8" name="Google Shape;38;p6"/>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txBox="1"/>
          <p:nvPr/>
        </p:nvSpPr>
        <p:spPr>
          <a:xfrm flipH="1" rot="10800000">
            <a:off x="3276600" y="25"/>
            <a:ext cx="5867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4" name="Google Shape;44;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000000"/>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7" name="Google Shape;47;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flipH="1">
            <a:off x="0" y="0"/>
            <a:ext cx="4572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52" name="Google Shape;52;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sp>
        <p:nvSpPr>
          <p:cNvPr id="56" name="Google Shape;56;p10"/>
          <p:cNvSpPr txBox="1"/>
          <p:nvPr/>
        </p:nvSpPr>
        <p:spPr>
          <a:xfrm flipH="1" rot="10800000">
            <a:off x="0" y="0"/>
            <a:ext cx="9144000" cy="46959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Clr>
                <a:schemeClr val="lt1"/>
              </a:buClr>
              <a:buSzPts val="1200"/>
              <a:buNone/>
              <a:defRPr sz="1200">
                <a:solidFill>
                  <a:schemeClr val="lt1"/>
                </a:solidFill>
              </a:defRPr>
            </a:lvl1pPr>
          </a:lstStyle>
          <a:p/>
        </p:txBody>
      </p:sp>
      <p:sp>
        <p:nvSpPr>
          <p:cNvPr id="59" name="Google Shape;59;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450B0C"/>
        </a:solidFill>
      </p:bgPr>
    </p:bg>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62" name="Google Shape;62;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63" name="Google Shape;63;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450B0C"/>
        </a:solidFill>
      </p:bgPr>
    </p:bg>
    <p:spTree>
      <p:nvGrpSpPr>
        <p:cNvPr id="64" name="Shape 64"/>
        <p:cNvGrpSpPr/>
        <p:nvPr/>
      </p:nvGrpSpPr>
      <p:grpSpPr>
        <a:xfrm>
          <a:off x="0" y="0"/>
          <a:ext cx="0" cy="0"/>
          <a:chOff x="0" y="0"/>
          <a:chExt cx="0" cy="0"/>
        </a:xfrm>
      </p:grpSpPr>
      <p:sp>
        <p:nvSpPr>
          <p:cNvPr id="65" name="Google Shape;65;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Proxima Nova"/>
              <a:buNone/>
              <a:defRPr sz="3200">
                <a:solidFill>
                  <a:schemeClr val="lt1"/>
                </a:solidFill>
                <a:latin typeface="Proxima Nova"/>
                <a:ea typeface="Proxima Nova"/>
                <a:cs typeface="Proxima Nova"/>
                <a:sym typeface="Proxima Nova"/>
              </a:defRPr>
            </a:lvl1pPr>
            <a:lvl2pPr lvl="1">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2pPr>
            <a:lvl3pPr lvl="2">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3pPr>
            <a:lvl4pPr lvl="3">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4pPr>
            <a:lvl5pPr lvl="4">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5pPr>
            <a:lvl6pPr lvl="5">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6pPr>
            <a:lvl7pPr lvl="6">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7pPr>
            <a:lvl8pPr lvl="7">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8pPr>
            <a:lvl9pPr lvl="8">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Proxima Nova"/>
              <a:buChar char="●"/>
              <a:defRPr sz="1800">
                <a:solidFill>
                  <a:schemeClr val="lt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1" Type="http://schemas.openxmlformats.org/officeDocument/2006/relationships/hyperlink" Target="https://forms.gle/hYj1Gj3LAqcL7Z5CA" TargetMode="External"/><Relationship Id="rId10" Type="http://schemas.openxmlformats.org/officeDocument/2006/relationships/hyperlink" Target="https://open.spotify.com/playlist/0uFt0RJvfh143lVGQbhWHS?si=95193d92e5094f73&amp;pt=2f012d4e97b62c470b68ca9552905422" TargetMode="External"/><Relationship Id="rId13" Type="http://schemas.openxmlformats.org/officeDocument/2006/relationships/image" Target="../media/image4.png"/><Relationship Id="rId12" Type="http://schemas.openxmlformats.org/officeDocument/2006/relationships/hyperlink" Target="https://forms.gle/xh8JxpqC2XLsb72L7" TargetMode="External"/><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hyperlink" Target="https://join.slack.com/t/cornellbitcoinclub/shared_invite/zt-2bnpz3y01-wOxd_f0NcRRZyRNkzznA5Q" TargetMode="External"/><Relationship Id="rId9" Type="http://schemas.openxmlformats.org/officeDocument/2006/relationships/hyperlink" Target="https://forms.gle/yjLJ1z4EBJXzBLd49" TargetMode="External"/><Relationship Id="rId14" Type="http://schemas.openxmlformats.org/officeDocument/2006/relationships/image" Target="../media/image1.png"/><Relationship Id="rId5" Type="http://schemas.openxmlformats.org/officeDocument/2006/relationships/hyperlink" Target="https://calendar.google.com/calendar/u/0?cid=Y184YjI3M2VlZmYzOTIxMWM1OTA2NGVmOTk5YWRhZDIyNzhjMDg2NDkwMDZhYzRjM2QyZjE4M2E4YzgwMDBhYmE4QGdyb3VwLmNhbGVuZGFyLmdvb2dsZS5jb20" TargetMode="External"/><Relationship Id="rId6" Type="http://schemas.openxmlformats.org/officeDocument/2006/relationships/hyperlink" Target="https://forms.gle/R3wBeLyNpq9vbeXn9" TargetMode="External"/><Relationship Id="rId7" Type="http://schemas.openxmlformats.org/officeDocument/2006/relationships/hyperlink" Target="https://forms.gle/ZwUKC8V61m9v6SWcA" TargetMode="External"/><Relationship Id="rId8" Type="http://schemas.openxmlformats.org/officeDocument/2006/relationships/hyperlink" Target="https://forms.gle/9HEnoXqodNdaPd7W8"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69" name="Shape 69"/>
        <p:cNvGrpSpPr/>
        <p:nvPr/>
      </p:nvGrpSpPr>
      <p:grpSpPr>
        <a:xfrm>
          <a:off x="0" y="0"/>
          <a:ext cx="0" cy="0"/>
          <a:chOff x="0" y="0"/>
          <a:chExt cx="0" cy="0"/>
        </a:xfrm>
      </p:grpSpPr>
      <p:sp>
        <p:nvSpPr>
          <p:cNvPr id="70" name="Google Shape;70;p13"/>
          <p:cNvSpPr txBox="1"/>
          <p:nvPr/>
        </p:nvSpPr>
        <p:spPr>
          <a:xfrm>
            <a:off x="787925" y="3471700"/>
            <a:ext cx="3933300" cy="9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Proxima Nova Semibold"/>
                <a:ea typeface="Proxima Nova Semibold"/>
                <a:cs typeface="Proxima Nova Semibold"/>
                <a:sym typeface="Proxima Nova Semibold"/>
              </a:rPr>
              <a:t>Meeting #15: October 9, 2024</a:t>
            </a:r>
            <a:endParaRPr sz="1600">
              <a:solidFill>
                <a:schemeClr val="lt1"/>
              </a:solidFill>
              <a:latin typeface="Proxima Nova Semibold"/>
              <a:ea typeface="Proxima Nova Semibold"/>
              <a:cs typeface="Proxima Nova Semibold"/>
              <a:sym typeface="Proxima Nova Semibold"/>
            </a:endParaRPr>
          </a:p>
        </p:txBody>
      </p:sp>
      <p:sp>
        <p:nvSpPr>
          <p:cNvPr id="71" name="Google Shape;71;p13"/>
          <p:cNvSpPr txBox="1"/>
          <p:nvPr/>
        </p:nvSpPr>
        <p:spPr>
          <a:xfrm>
            <a:off x="726625" y="1532200"/>
            <a:ext cx="4893000" cy="19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Cornell</a:t>
            </a:r>
            <a:endParaRPr b="1" sz="6000">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Bitcoin</a:t>
            </a:r>
            <a:r>
              <a:rPr b="1" lang="en" sz="6000">
                <a:solidFill>
                  <a:schemeClr val="lt1"/>
                </a:solidFill>
                <a:latin typeface="Proxima Nova"/>
                <a:ea typeface="Proxima Nova"/>
                <a:cs typeface="Proxima Nova"/>
                <a:sym typeface="Proxima Nova"/>
              </a:rPr>
              <a:t> Club</a:t>
            </a:r>
            <a:endParaRPr b="1" sz="6000">
              <a:solidFill>
                <a:schemeClr val="lt1"/>
              </a:solidFill>
              <a:latin typeface="Proxima Nova"/>
              <a:ea typeface="Proxima Nova"/>
              <a:cs typeface="Proxima Nova"/>
              <a:sym typeface="Proxima Nova"/>
            </a:endParaRPr>
          </a:p>
        </p:txBody>
      </p:sp>
      <p:pic>
        <p:nvPicPr>
          <p:cNvPr id="72" name="Google Shape;72;p13"/>
          <p:cNvPicPr preferRelativeResize="0"/>
          <p:nvPr/>
        </p:nvPicPr>
        <p:blipFill>
          <a:blip r:embed="rId3">
            <a:alphaModFix/>
          </a:blip>
          <a:stretch>
            <a:fillRect/>
          </a:stretch>
        </p:blipFill>
        <p:spPr>
          <a:xfrm>
            <a:off x="5619625" y="1129869"/>
            <a:ext cx="3037974" cy="288376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Disclosure</a:t>
            </a:r>
            <a:endParaRPr/>
          </a:p>
        </p:txBody>
      </p:sp>
      <p:sp>
        <p:nvSpPr>
          <p:cNvPr id="78" name="Google Shape;78;p14"/>
          <p:cNvSpPr txBox="1"/>
          <p:nvPr/>
        </p:nvSpPr>
        <p:spPr>
          <a:xfrm>
            <a:off x="909600" y="1919025"/>
            <a:ext cx="7324800" cy="1908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600">
                <a:solidFill>
                  <a:schemeClr val="lt1"/>
                </a:solidFill>
                <a:latin typeface="Proxima Nova"/>
                <a:ea typeface="Proxima Nova"/>
                <a:cs typeface="Proxima Nova"/>
                <a:sym typeface="Proxima Nova"/>
              </a:rPr>
              <a:t>The Cornell Bitcoin Club is an undergraduate student club. The Club’s website and all published and or related materials and audio and visual recordings are not legal, investment, or accounting advice. They are for informational purposes. If any service providers are acknowledged or highlighted, it is for discussion purposes and should not be construed as an endorsement of their services. </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600">
              <a:solidFill>
                <a:schemeClr val="lt1"/>
              </a:solidFill>
              <a:latin typeface="Proxima Nova"/>
              <a:ea typeface="Proxima Nova"/>
              <a:cs typeface="Proxima Nova"/>
              <a:sym typeface="Proxima Nova"/>
            </a:endParaRPr>
          </a:p>
        </p:txBody>
      </p:sp>
      <p:pic>
        <p:nvPicPr>
          <p:cNvPr id="79" name="Google Shape;79;p14"/>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Lesson: </a:t>
            </a:r>
            <a:r>
              <a:rPr lang="en"/>
              <a:t>Bitcoin in EM</a:t>
            </a:r>
            <a:endParaRPr sz="1983"/>
          </a:p>
        </p:txBody>
      </p:sp>
      <p:pic>
        <p:nvPicPr>
          <p:cNvPr id="85" name="Google Shape;85;p15"/>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86" name="Google Shape;86;p15"/>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Why is Bitcoin Relevant in Emerging Markets?</a:t>
            </a:r>
            <a:endParaRPr/>
          </a:p>
        </p:txBody>
      </p:sp>
      <p:sp>
        <p:nvSpPr>
          <p:cNvPr id="92" name="Google Shape;92;p16"/>
          <p:cNvSpPr txBox="1"/>
          <p:nvPr/>
        </p:nvSpPr>
        <p:spPr>
          <a:xfrm>
            <a:off x="909600" y="1919025"/>
            <a:ext cx="73248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Bitcoin as a Tool for Financial Stability</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Bitcoin has become a tool for financial stability in many emerging markets. In countries where currencies are unstable or where banking systems are not accessible to many, Bitcoin offers a decentralized alternative. Let’s explore how this looks in practice, using El Salvador as an example. They recently adopted Bitcoin as legal tender, which is reshaping their economy.</a:t>
            </a:r>
            <a:endParaRPr i="1" sz="1600">
              <a:solidFill>
                <a:schemeClr val="lt1"/>
              </a:solidFill>
              <a:latin typeface="Proxima Nova"/>
              <a:ea typeface="Proxima Nova"/>
              <a:cs typeface="Proxima Nova"/>
              <a:sym typeface="Proxima Nova"/>
            </a:endParaRPr>
          </a:p>
        </p:txBody>
      </p:sp>
      <p:pic>
        <p:nvPicPr>
          <p:cNvPr id="93" name="Google Shape;93;p16"/>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Case Study: El Salvador</a:t>
            </a:r>
            <a:endParaRPr/>
          </a:p>
        </p:txBody>
      </p:sp>
      <p:sp>
        <p:nvSpPr>
          <p:cNvPr id="99" name="Google Shape;99;p17"/>
          <p:cNvSpPr txBox="1"/>
          <p:nvPr/>
        </p:nvSpPr>
        <p:spPr>
          <a:xfrm>
            <a:off x="909600" y="921025"/>
            <a:ext cx="73248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Chivo Wallet: The Salvadoran government launched its own digital wallet app called Chivo to facilitate Bitcoin transactions. The wallet allows citizens to store, receive, and spend Bitcoin with no transaction fees. To encourage adoption, the government offered $30 worth of Bitcoin to every citizen who downloaded and registered on the app.</a:t>
            </a:r>
            <a:endParaRPr i="1" sz="1600">
              <a:solidFill>
                <a:schemeClr val="lt1"/>
              </a:solidFill>
              <a:latin typeface="Proxima Nova"/>
              <a:ea typeface="Proxima Nova"/>
              <a:cs typeface="Proxima Nova"/>
              <a:sym typeface="Proxima Nova"/>
            </a:endParaRPr>
          </a:p>
        </p:txBody>
      </p:sp>
      <p:pic>
        <p:nvPicPr>
          <p:cNvPr id="100" name="Google Shape;100;p17"/>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101" name="Google Shape;101;p17"/>
          <p:cNvPicPr preferRelativeResize="0"/>
          <p:nvPr/>
        </p:nvPicPr>
        <p:blipFill>
          <a:blip r:embed="rId4">
            <a:alphaModFix/>
          </a:blip>
          <a:stretch>
            <a:fillRect/>
          </a:stretch>
        </p:blipFill>
        <p:spPr>
          <a:xfrm>
            <a:off x="2078413" y="2490575"/>
            <a:ext cx="4987167" cy="23481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Case Study: El Salvador</a:t>
            </a:r>
            <a:endParaRPr/>
          </a:p>
        </p:txBody>
      </p:sp>
      <p:sp>
        <p:nvSpPr>
          <p:cNvPr id="107" name="Google Shape;107;p18"/>
          <p:cNvSpPr txBox="1"/>
          <p:nvPr/>
        </p:nvSpPr>
        <p:spPr>
          <a:xfrm>
            <a:off x="909600" y="921025"/>
            <a:ext cx="73248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Bitcoin ATMs: The government installed over 200 Bitcoin ATMs nationwide and internationally (e.g., in the U.S.) to facilitate easy conversion between Bitcoin and USD. These ATMs are integrated with the Chivo Wallet, allowing users to withdraw cash directly.</a:t>
            </a:r>
            <a:endParaRPr i="1" sz="1600">
              <a:solidFill>
                <a:schemeClr val="lt1"/>
              </a:solidFill>
              <a:latin typeface="Proxima Nova"/>
              <a:ea typeface="Proxima Nova"/>
              <a:cs typeface="Proxima Nova"/>
              <a:sym typeface="Proxima Nova"/>
            </a:endParaRPr>
          </a:p>
        </p:txBody>
      </p:sp>
      <p:pic>
        <p:nvPicPr>
          <p:cNvPr id="108" name="Google Shape;108;p18"/>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109" name="Google Shape;109;p18"/>
          <p:cNvPicPr preferRelativeResize="0"/>
          <p:nvPr/>
        </p:nvPicPr>
        <p:blipFill>
          <a:blip r:embed="rId4">
            <a:alphaModFix/>
          </a:blip>
          <a:stretch>
            <a:fillRect/>
          </a:stretch>
        </p:blipFill>
        <p:spPr>
          <a:xfrm>
            <a:off x="2752175" y="2134475"/>
            <a:ext cx="3518748" cy="2747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Case Study: El Salvador</a:t>
            </a:r>
            <a:endParaRPr/>
          </a:p>
        </p:txBody>
      </p:sp>
      <p:sp>
        <p:nvSpPr>
          <p:cNvPr id="115" name="Google Shape;115;p19"/>
          <p:cNvSpPr txBox="1"/>
          <p:nvPr/>
        </p:nvSpPr>
        <p:spPr>
          <a:xfrm>
            <a:off x="909600" y="921025"/>
            <a:ext cx="73248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Bitcoin Bond Initiative: The government launched the concept of Bitcoin Bonds, also known as "Volcano Bonds," to raise $1 billion for building a Bitcoin City and investing in Bitcoin mining infrastructure powered by renewable energy (geothermal energy from the country's volcanoes).</a:t>
            </a:r>
            <a:endParaRPr i="1" sz="1600">
              <a:solidFill>
                <a:schemeClr val="lt1"/>
              </a:solidFill>
              <a:latin typeface="Proxima Nova"/>
              <a:ea typeface="Proxima Nova"/>
              <a:cs typeface="Proxima Nova"/>
              <a:sym typeface="Proxima Nova"/>
            </a:endParaRPr>
          </a:p>
        </p:txBody>
      </p:sp>
      <p:pic>
        <p:nvPicPr>
          <p:cNvPr id="116" name="Google Shape;116;p19"/>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117" name="Google Shape;117;p19"/>
          <p:cNvPicPr preferRelativeResize="0"/>
          <p:nvPr/>
        </p:nvPicPr>
        <p:blipFill>
          <a:blip r:embed="rId4">
            <a:alphaModFix/>
          </a:blip>
          <a:stretch>
            <a:fillRect/>
          </a:stretch>
        </p:blipFill>
        <p:spPr>
          <a:xfrm>
            <a:off x="1451750" y="2230425"/>
            <a:ext cx="6119603" cy="27479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Case Study: El Salvador</a:t>
            </a:r>
            <a:endParaRPr/>
          </a:p>
        </p:txBody>
      </p:sp>
      <p:sp>
        <p:nvSpPr>
          <p:cNvPr id="123" name="Google Shape;123;p20"/>
          <p:cNvSpPr txBox="1"/>
          <p:nvPr/>
        </p:nvSpPr>
        <p:spPr>
          <a:xfrm>
            <a:off x="909600" y="921025"/>
            <a:ext cx="7324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With Sal!</a:t>
            </a:r>
            <a:endParaRPr i="1" sz="1600">
              <a:solidFill>
                <a:schemeClr val="lt1"/>
              </a:solidFill>
              <a:latin typeface="Proxima Nova"/>
              <a:ea typeface="Proxima Nova"/>
              <a:cs typeface="Proxima Nova"/>
              <a:sym typeface="Proxima Nova"/>
            </a:endParaRPr>
          </a:p>
        </p:txBody>
      </p:sp>
      <p:pic>
        <p:nvPicPr>
          <p:cNvPr id="124" name="Google Shape;124;p20"/>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125" name="Google Shape;125;p20"/>
          <p:cNvPicPr preferRelativeResize="0"/>
          <p:nvPr/>
        </p:nvPicPr>
        <p:blipFill>
          <a:blip r:embed="rId4">
            <a:alphaModFix/>
          </a:blip>
          <a:stretch>
            <a:fillRect/>
          </a:stretch>
        </p:blipFill>
        <p:spPr>
          <a:xfrm>
            <a:off x="2901885" y="1406950"/>
            <a:ext cx="3219325" cy="2845249"/>
          </a:xfrm>
          <a:prstGeom prst="rect">
            <a:avLst/>
          </a:prstGeom>
          <a:noFill/>
          <a:ln>
            <a:noFill/>
          </a:ln>
        </p:spPr>
      </p:pic>
      <p:pic>
        <p:nvPicPr>
          <p:cNvPr id="126" name="Google Shape;126;p20"/>
          <p:cNvPicPr preferRelativeResize="0"/>
          <p:nvPr/>
        </p:nvPicPr>
        <p:blipFill>
          <a:blip r:embed="rId5">
            <a:alphaModFix/>
          </a:blip>
          <a:stretch>
            <a:fillRect/>
          </a:stretch>
        </p:blipFill>
        <p:spPr>
          <a:xfrm>
            <a:off x="6782202" y="1352123"/>
            <a:ext cx="754350" cy="754350"/>
          </a:xfrm>
          <a:prstGeom prst="rect">
            <a:avLst/>
          </a:prstGeom>
          <a:noFill/>
          <a:ln>
            <a:noFill/>
          </a:ln>
        </p:spPr>
      </p:pic>
      <p:pic>
        <p:nvPicPr>
          <p:cNvPr id="127" name="Google Shape;127;p20"/>
          <p:cNvPicPr preferRelativeResize="0"/>
          <p:nvPr/>
        </p:nvPicPr>
        <p:blipFill>
          <a:blip r:embed="rId5">
            <a:alphaModFix/>
          </a:blip>
          <a:stretch>
            <a:fillRect/>
          </a:stretch>
        </p:blipFill>
        <p:spPr>
          <a:xfrm>
            <a:off x="8018952" y="2387373"/>
            <a:ext cx="754350" cy="754350"/>
          </a:xfrm>
          <a:prstGeom prst="rect">
            <a:avLst/>
          </a:prstGeom>
          <a:noFill/>
          <a:ln>
            <a:noFill/>
          </a:ln>
        </p:spPr>
      </p:pic>
      <p:pic>
        <p:nvPicPr>
          <p:cNvPr id="128" name="Google Shape;128;p20"/>
          <p:cNvPicPr preferRelativeResize="0"/>
          <p:nvPr/>
        </p:nvPicPr>
        <p:blipFill>
          <a:blip r:embed="rId5">
            <a:alphaModFix/>
          </a:blip>
          <a:stretch>
            <a:fillRect/>
          </a:stretch>
        </p:blipFill>
        <p:spPr>
          <a:xfrm>
            <a:off x="6875902" y="3497848"/>
            <a:ext cx="754350" cy="754350"/>
          </a:xfrm>
          <a:prstGeom prst="rect">
            <a:avLst/>
          </a:prstGeom>
          <a:noFill/>
          <a:ln>
            <a:noFill/>
          </a:ln>
        </p:spPr>
      </p:pic>
      <p:pic>
        <p:nvPicPr>
          <p:cNvPr id="129" name="Google Shape;129;p20"/>
          <p:cNvPicPr preferRelativeResize="0"/>
          <p:nvPr/>
        </p:nvPicPr>
        <p:blipFill>
          <a:blip r:embed="rId5">
            <a:alphaModFix/>
          </a:blip>
          <a:stretch>
            <a:fillRect/>
          </a:stretch>
        </p:blipFill>
        <p:spPr>
          <a:xfrm>
            <a:off x="1702452" y="1406948"/>
            <a:ext cx="754350" cy="754350"/>
          </a:xfrm>
          <a:prstGeom prst="rect">
            <a:avLst/>
          </a:prstGeom>
          <a:noFill/>
          <a:ln>
            <a:noFill/>
          </a:ln>
        </p:spPr>
      </p:pic>
      <p:pic>
        <p:nvPicPr>
          <p:cNvPr id="130" name="Google Shape;130;p20"/>
          <p:cNvPicPr preferRelativeResize="0"/>
          <p:nvPr/>
        </p:nvPicPr>
        <p:blipFill>
          <a:blip r:embed="rId5">
            <a:alphaModFix/>
          </a:blip>
          <a:stretch>
            <a:fillRect/>
          </a:stretch>
        </p:blipFill>
        <p:spPr>
          <a:xfrm>
            <a:off x="357877" y="2387373"/>
            <a:ext cx="754350" cy="754350"/>
          </a:xfrm>
          <a:prstGeom prst="rect">
            <a:avLst/>
          </a:prstGeom>
          <a:noFill/>
          <a:ln>
            <a:noFill/>
          </a:ln>
        </p:spPr>
      </p:pic>
      <p:pic>
        <p:nvPicPr>
          <p:cNvPr id="131" name="Google Shape;131;p20"/>
          <p:cNvPicPr preferRelativeResize="0"/>
          <p:nvPr/>
        </p:nvPicPr>
        <p:blipFill>
          <a:blip r:embed="rId5">
            <a:alphaModFix/>
          </a:blip>
          <a:stretch>
            <a:fillRect/>
          </a:stretch>
        </p:blipFill>
        <p:spPr>
          <a:xfrm>
            <a:off x="1702452" y="3497848"/>
            <a:ext cx="754350" cy="754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Case Study: Argentina</a:t>
            </a:r>
            <a:endParaRPr/>
          </a:p>
        </p:txBody>
      </p:sp>
      <p:sp>
        <p:nvSpPr>
          <p:cNvPr id="137" name="Google Shape;137;p21"/>
          <p:cNvSpPr txBox="1"/>
          <p:nvPr/>
        </p:nvSpPr>
        <p:spPr>
          <a:xfrm>
            <a:off x="909600" y="921025"/>
            <a:ext cx="73248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Everyday Savings: Many Argentines use Bitcoin as a store of value to protect their savings from inflation, which has reached over 100% annually. They convert their Argentine pesos (ARS) into Bitcoin to avoid losing purchasing power, as the peso devalues quickly against other currencies.</a:t>
            </a:r>
            <a:endParaRPr i="1" sz="1600">
              <a:solidFill>
                <a:schemeClr val="lt1"/>
              </a:solidFill>
              <a:latin typeface="Proxima Nova"/>
              <a:ea typeface="Proxima Nova"/>
              <a:cs typeface="Proxima Nova"/>
              <a:sym typeface="Proxima Nova"/>
            </a:endParaRPr>
          </a:p>
        </p:txBody>
      </p:sp>
      <p:pic>
        <p:nvPicPr>
          <p:cNvPr id="138" name="Google Shape;138;p21"/>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139" name="Google Shape;139;p21"/>
          <p:cNvPicPr preferRelativeResize="0"/>
          <p:nvPr/>
        </p:nvPicPr>
        <p:blipFill>
          <a:blip r:embed="rId4">
            <a:alphaModFix/>
          </a:blip>
          <a:stretch>
            <a:fillRect/>
          </a:stretch>
        </p:blipFill>
        <p:spPr>
          <a:xfrm>
            <a:off x="680338" y="2392700"/>
            <a:ext cx="7662424" cy="1995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Case Study: Argentina</a:t>
            </a:r>
            <a:endParaRPr/>
          </a:p>
        </p:txBody>
      </p:sp>
      <p:sp>
        <p:nvSpPr>
          <p:cNvPr id="145" name="Google Shape;145;p22"/>
          <p:cNvSpPr txBox="1"/>
          <p:nvPr/>
        </p:nvSpPr>
        <p:spPr>
          <a:xfrm>
            <a:off x="909600" y="921025"/>
            <a:ext cx="73248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Sending Money Abroad: Bitcoin is used by Argentines to send and receive remittances without going through traditional banking systems, which often have high fees and restrictions. For example, platforms like Bitso and Ripio provide low-cost, fast ways to convert Bitcoin into local currency or other crypto assets.</a:t>
            </a:r>
            <a:endParaRPr i="1" sz="1600">
              <a:solidFill>
                <a:schemeClr val="lt1"/>
              </a:solidFill>
              <a:latin typeface="Proxima Nova"/>
              <a:ea typeface="Proxima Nova"/>
              <a:cs typeface="Proxima Nova"/>
              <a:sym typeface="Proxima Nova"/>
            </a:endParaRPr>
          </a:p>
        </p:txBody>
      </p:sp>
      <p:pic>
        <p:nvPicPr>
          <p:cNvPr id="146" name="Google Shape;146;p22"/>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147" name="Google Shape;147;p22"/>
          <p:cNvPicPr preferRelativeResize="0"/>
          <p:nvPr/>
        </p:nvPicPr>
        <p:blipFill>
          <a:blip r:embed="rId4">
            <a:alphaModFix/>
          </a:blip>
          <a:stretch>
            <a:fillRect/>
          </a:stretch>
        </p:blipFill>
        <p:spPr>
          <a:xfrm>
            <a:off x="2968713" y="2337025"/>
            <a:ext cx="3206567" cy="2501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Case Study: Argentina</a:t>
            </a:r>
            <a:endParaRPr/>
          </a:p>
        </p:txBody>
      </p:sp>
      <p:sp>
        <p:nvSpPr>
          <p:cNvPr id="153" name="Google Shape;153;p23"/>
          <p:cNvSpPr txBox="1"/>
          <p:nvPr/>
        </p:nvSpPr>
        <p:spPr>
          <a:xfrm>
            <a:off x="909600" y="921025"/>
            <a:ext cx="73248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Buying and Selling Goods: Some businesses and individuals accept Bitcoin directly as payment for goods and services. This includes everything from electronics stores and car dealerships to small local shops and cafes.</a:t>
            </a:r>
            <a:endParaRPr i="1" sz="1600">
              <a:solidFill>
                <a:schemeClr val="lt1"/>
              </a:solidFill>
              <a:latin typeface="Proxima Nova"/>
              <a:ea typeface="Proxima Nova"/>
              <a:cs typeface="Proxima Nova"/>
              <a:sym typeface="Proxima Nova"/>
            </a:endParaRPr>
          </a:p>
        </p:txBody>
      </p:sp>
      <p:pic>
        <p:nvPicPr>
          <p:cNvPr id="154" name="Google Shape;154;p23"/>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155" name="Google Shape;155;p23"/>
          <p:cNvPicPr preferRelativeResize="0"/>
          <p:nvPr/>
        </p:nvPicPr>
        <p:blipFill>
          <a:blip r:embed="rId4">
            <a:alphaModFix/>
          </a:blip>
          <a:stretch>
            <a:fillRect/>
          </a:stretch>
        </p:blipFill>
        <p:spPr>
          <a:xfrm>
            <a:off x="2868238" y="2146400"/>
            <a:ext cx="3286626" cy="21004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Pros &amp; Cons of Bitcoin in EM</a:t>
            </a:r>
            <a:endParaRPr/>
          </a:p>
        </p:txBody>
      </p:sp>
      <p:sp>
        <p:nvSpPr>
          <p:cNvPr id="161" name="Google Shape;161;p24"/>
          <p:cNvSpPr txBox="1"/>
          <p:nvPr/>
        </p:nvSpPr>
        <p:spPr>
          <a:xfrm>
            <a:off x="909600" y="1141725"/>
            <a:ext cx="73248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Pros: </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Financial inclusion</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Protection against inflation</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Remittance efficiency</a:t>
            </a:r>
            <a:endParaRPr i="1" sz="1600">
              <a:solidFill>
                <a:schemeClr val="lt1"/>
              </a:solidFill>
              <a:latin typeface="Proxima Nova"/>
              <a:ea typeface="Proxima Nova"/>
              <a:cs typeface="Proxima Nova"/>
              <a:sym typeface="Proxima Nova"/>
            </a:endParaRPr>
          </a:p>
        </p:txBody>
      </p:sp>
      <p:pic>
        <p:nvPicPr>
          <p:cNvPr id="162" name="Google Shape;162;p24"/>
          <p:cNvPicPr preferRelativeResize="0"/>
          <p:nvPr/>
        </p:nvPicPr>
        <p:blipFill>
          <a:blip r:embed="rId3">
            <a:alphaModFix/>
          </a:blip>
          <a:stretch>
            <a:fillRect/>
          </a:stretch>
        </p:blipFill>
        <p:spPr>
          <a:xfrm>
            <a:off x="8611675" y="4665225"/>
            <a:ext cx="313176" cy="313176"/>
          </a:xfrm>
          <a:prstGeom prst="rect">
            <a:avLst/>
          </a:prstGeom>
          <a:noFill/>
          <a:ln>
            <a:noFill/>
          </a:ln>
        </p:spPr>
      </p:pic>
      <p:sp>
        <p:nvSpPr>
          <p:cNvPr id="163" name="Google Shape;163;p24"/>
          <p:cNvSpPr txBox="1"/>
          <p:nvPr/>
        </p:nvSpPr>
        <p:spPr>
          <a:xfrm>
            <a:off x="909600" y="2647225"/>
            <a:ext cx="73248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Cons: </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Volatility</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Regulatory pushback</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Tech infrastructure limits</a:t>
            </a:r>
            <a:endParaRPr i="1" sz="1600">
              <a:solidFill>
                <a:schemeClr val="lt1"/>
              </a:solidFill>
              <a:latin typeface="Proxima Nova"/>
              <a:ea typeface="Proxima Nova"/>
              <a:cs typeface="Proxima Nova"/>
              <a:sym typeface="Proxima Nov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5"/>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Interactive Debate: Bitcoin’s Impact on Emerging Markets</a:t>
            </a:r>
            <a:endParaRPr sz="1983"/>
          </a:p>
        </p:txBody>
      </p:sp>
      <p:pic>
        <p:nvPicPr>
          <p:cNvPr id="169" name="Google Shape;169;p25"/>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170" name="Google Shape;170;p25"/>
          <p:cNvPicPr preferRelativeResize="0"/>
          <p:nvPr/>
        </p:nvPicPr>
        <p:blipFill>
          <a:blip r:embed="rId4">
            <a:alphaModFix/>
          </a:blip>
          <a:stretch>
            <a:fillRect/>
          </a:stretch>
        </p:blipFill>
        <p:spPr>
          <a:xfrm>
            <a:off x="8611675" y="4665225"/>
            <a:ext cx="313176" cy="313176"/>
          </a:xfrm>
          <a:prstGeom prst="rect">
            <a:avLst/>
          </a:prstGeom>
          <a:noFill/>
          <a:ln>
            <a:noFill/>
          </a:ln>
        </p:spPr>
      </p:pic>
      <p:sp>
        <p:nvSpPr>
          <p:cNvPr id="171" name="Google Shape;171;p25"/>
          <p:cNvSpPr txBox="1"/>
          <p:nvPr/>
        </p:nvSpPr>
        <p:spPr>
          <a:xfrm>
            <a:off x="621725" y="3243250"/>
            <a:ext cx="7324800" cy="6771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lt1"/>
              </a:buClr>
              <a:buSzPts val="1600"/>
              <a:buFont typeface="Proxima Nova"/>
              <a:buChar char="●"/>
            </a:pPr>
            <a:r>
              <a:rPr i="1" lang="en" sz="1600">
                <a:solidFill>
                  <a:schemeClr val="lt1"/>
                </a:solidFill>
                <a:latin typeface="Proxima Nova"/>
                <a:ea typeface="Proxima Nova"/>
                <a:cs typeface="Proxima Nova"/>
                <a:sym typeface="Proxima Nova"/>
              </a:rPr>
              <a:t>Group A: “Bitcoin is a positive force in emerging markets.” </a:t>
            </a:r>
            <a:endParaRPr i="1" sz="1600">
              <a:solidFill>
                <a:schemeClr val="lt1"/>
              </a:solidFill>
              <a:latin typeface="Proxima Nova"/>
              <a:ea typeface="Proxima Nova"/>
              <a:cs typeface="Proxima Nova"/>
              <a:sym typeface="Proxima Nova"/>
            </a:endParaRPr>
          </a:p>
          <a:p>
            <a:pPr indent="-330200" lvl="0" marL="457200" rtl="0" algn="l">
              <a:spcBef>
                <a:spcPts val="0"/>
              </a:spcBef>
              <a:spcAft>
                <a:spcPts val="0"/>
              </a:spcAft>
              <a:buClr>
                <a:schemeClr val="lt1"/>
              </a:buClr>
              <a:buSzPts val="1600"/>
              <a:buFont typeface="Proxima Nova"/>
              <a:buChar char="●"/>
            </a:pPr>
            <a:r>
              <a:rPr i="1" lang="en" sz="1600">
                <a:solidFill>
                  <a:schemeClr val="lt1"/>
                </a:solidFill>
                <a:latin typeface="Proxima Nova"/>
                <a:ea typeface="Proxima Nova"/>
                <a:cs typeface="Proxima Nova"/>
                <a:sym typeface="Proxima Nova"/>
              </a:rPr>
              <a:t>Group B: “Bitcoin presents significant risks in emerging markets.”</a:t>
            </a:r>
            <a:endParaRPr i="1" sz="1600">
              <a:solidFill>
                <a:schemeClr val="lt1"/>
              </a:solidFill>
              <a:latin typeface="Proxima Nova"/>
              <a:ea typeface="Proxima Nova"/>
              <a:cs typeface="Proxima Nova"/>
              <a:sym typeface="Proxima Nov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6"/>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Debrief: Key Takeaways from the Debate</a:t>
            </a:r>
            <a:endParaRPr sz="1983"/>
          </a:p>
        </p:txBody>
      </p:sp>
      <p:pic>
        <p:nvPicPr>
          <p:cNvPr id="177" name="Google Shape;177;p26"/>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178" name="Google Shape;178;p26"/>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Attendance</a:t>
            </a:r>
            <a:endParaRPr/>
          </a:p>
        </p:txBody>
      </p:sp>
      <p:pic>
        <p:nvPicPr>
          <p:cNvPr id="184" name="Google Shape;184;p27"/>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185" name="Google Shape;185;p27"/>
          <p:cNvPicPr preferRelativeResize="0"/>
          <p:nvPr/>
        </p:nvPicPr>
        <p:blipFill rotWithShape="1">
          <a:blip r:embed="rId4">
            <a:alphaModFix/>
          </a:blip>
          <a:srcRect b="31503" l="6111" r="6834" t="3274"/>
          <a:stretch/>
        </p:blipFill>
        <p:spPr>
          <a:xfrm>
            <a:off x="2981175" y="1511925"/>
            <a:ext cx="2615675" cy="27523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8"/>
          <p:cNvSpPr/>
          <p:nvPr/>
        </p:nvSpPr>
        <p:spPr>
          <a:xfrm>
            <a:off x="5749400" y="1146450"/>
            <a:ext cx="2912700" cy="2850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pic>
        <p:nvPicPr>
          <p:cNvPr id="191" name="Google Shape;191;p28"/>
          <p:cNvPicPr preferRelativeResize="0"/>
          <p:nvPr/>
        </p:nvPicPr>
        <p:blipFill>
          <a:blip r:embed="rId3">
            <a:alphaModFix/>
          </a:blip>
          <a:stretch>
            <a:fillRect/>
          </a:stretch>
        </p:blipFill>
        <p:spPr>
          <a:xfrm>
            <a:off x="5889263" y="1255263"/>
            <a:ext cx="2632975" cy="2632975"/>
          </a:xfrm>
          <a:prstGeom prst="rect">
            <a:avLst/>
          </a:prstGeom>
          <a:noFill/>
          <a:ln>
            <a:noFill/>
          </a:ln>
        </p:spPr>
      </p:pic>
      <p:sp>
        <p:nvSpPr>
          <p:cNvPr id="192" name="Google Shape;192;p28"/>
          <p:cNvSpPr txBox="1"/>
          <p:nvPr>
            <p:ph idx="4294967295" type="body"/>
          </p:nvPr>
        </p:nvSpPr>
        <p:spPr>
          <a:xfrm>
            <a:off x="620213" y="418813"/>
            <a:ext cx="5067600" cy="43059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1018"/>
              <a:buNone/>
            </a:pPr>
            <a:r>
              <a:rPr b="1" lang="en" sz="1288">
                <a:solidFill>
                  <a:schemeClr val="lt1"/>
                </a:solidFill>
              </a:rPr>
              <a:t>Join: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u="sng">
                <a:solidFill>
                  <a:schemeClr val="lt1"/>
                </a:solidFill>
                <a:hlinkClick r:id="rId4">
                  <a:extLst>
                    <a:ext uri="{A12FA001-AC4F-418D-AE19-62706E023703}">
                      <ahyp:hlinkClr val="tx"/>
                    </a:ext>
                  </a:extLst>
                </a:hlinkClick>
              </a:rPr>
              <a:t>Slack</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u="sng">
                <a:solidFill>
                  <a:schemeClr val="lt1"/>
                </a:solidFill>
                <a:hlinkClick r:id="rId5">
                  <a:extLst>
                    <a:ext uri="{A12FA001-AC4F-418D-AE19-62706E023703}">
                      <ahyp:hlinkClr val="tx"/>
                    </a:ext>
                  </a:extLst>
                </a:hlinkClick>
              </a:rPr>
              <a:t>Gcal</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Twitter (best Bitcoin news source)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Put @CornellBitcoin in your bio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Add your handle </a:t>
            </a:r>
            <a:r>
              <a:rPr lang="en" sz="1288" u="sng">
                <a:solidFill>
                  <a:srgbClr val="0E101A"/>
                </a:solidFill>
                <a:highlight>
                  <a:schemeClr val="lt1"/>
                </a:highlight>
                <a:hlinkClick r:id="rId6">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Forms:</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Review the Constitution &amp; sign </a:t>
            </a:r>
            <a:r>
              <a:rPr lang="en" sz="1288" u="sng">
                <a:solidFill>
                  <a:schemeClr val="hlink"/>
                </a:solidFill>
                <a:highlight>
                  <a:schemeClr val="lt1"/>
                </a:highlight>
                <a:hlinkClick r:id="rId7"/>
              </a:rPr>
              <a:t>here</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Fill out interest joining form </a:t>
            </a:r>
            <a:r>
              <a:rPr lang="en" sz="1288" u="sng">
                <a:solidFill>
                  <a:srgbClr val="0E101A"/>
                </a:solidFill>
                <a:highlight>
                  <a:schemeClr val="lt1"/>
                </a:highlight>
                <a:hlinkClick r:id="rId8">
                  <a:extLst>
                    <a:ext uri="{A12FA001-AC4F-418D-AE19-62706E023703}">
                      <ahyp:hlinkClr val="tx"/>
                    </a:ext>
                  </a:extLst>
                </a:hlinkClick>
              </a:rPr>
              <a:t>here</a:t>
            </a:r>
            <a:r>
              <a:rPr lang="en" sz="1288">
                <a:solidFill>
                  <a:schemeClr val="lt1"/>
                </a:solidFill>
              </a:rPr>
              <a:t> (if haven’t already)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Suggest topics </a:t>
            </a:r>
            <a:r>
              <a:rPr lang="en" sz="1288" u="sng">
                <a:solidFill>
                  <a:srgbClr val="0E101A"/>
                </a:solidFill>
                <a:highlight>
                  <a:schemeClr val="lt1"/>
                </a:highlight>
                <a:hlinkClick r:id="rId9">
                  <a:extLst>
                    <a:ext uri="{A12FA001-AC4F-418D-AE19-62706E023703}">
                      <ahyp:hlinkClr val="tx"/>
                    </a:ext>
                  </a:extLst>
                </a:hlinkClick>
              </a:rPr>
              <a:t>here</a:t>
            </a:r>
            <a:r>
              <a:rPr lang="en" sz="1288">
                <a:solidFill>
                  <a:srgbClr val="0E101A"/>
                </a:solidFill>
                <a:highlight>
                  <a:schemeClr val="lt1"/>
                </a:highlight>
              </a:rPr>
              <a:t> </a:t>
            </a:r>
            <a:endParaRPr b="1" sz="1288">
              <a:solidFill>
                <a:srgbClr val="0E101A"/>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Club playlist: add favorite songs </a:t>
            </a:r>
            <a:r>
              <a:rPr lang="en" sz="1288" u="sng">
                <a:solidFill>
                  <a:srgbClr val="000000"/>
                </a:solidFill>
                <a:highlight>
                  <a:schemeClr val="lt1"/>
                </a:highlight>
                <a:hlinkClick r:id="rId10">
                  <a:extLst>
                    <a:ext uri="{A12FA001-AC4F-418D-AE19-62706E023703}">
                      <ahyp:hlinkClr val="tx"/>
                    </a:ext>
                  </a:extLst>
                </a:hlinkClick>
              </a:rPr>
              <a:t>here</a:t>
            </a:r>
            <a:r>
              <a:rPr lang="en" sz="1288">
                <a:solidFill>
                  <a:srgbClr val="000000"/>
                </a:solidFill>
                <a:highlight>
                  <a:schemeClr val="lt1"/>
                </a:highlight>
              </a:rPr>
              <a:t> </a:t>
            </a:r>
            <a:endParaRPr sz="1288">
              <a:solidFill>
                <a:srgbClr val="000000"/>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Add favorite snacks </a:t>
            </a:r>
            <a:r>
              <a:rPr lang="en" sz="1288" u="sng">
                <a:solidFill>
                  <a:srgbClr val="0E101A"/>
                </a:solidFill>
                <a:highlight>
                  <a:schemeClr val="lt1"/>
                </a:highlight>
                <a:hlinkClick r:id="rId11">
                  <a:extLst>
                    <a:ext uri="{A12FA001-AC4F-418D-AE19-62706E023703}">
                      <ahyp:hlinkClr val="tx"/>
                    </a:ext>
                  </a:extLst>
                </a:hlinkClick>
              </a:rPr>
              <a:t>here</a:t>
            </a:r>
            <a:r>
              <a:rPr lang="en" sz="1288">
                <a:solidFill>
                  <a:schemeClr val="lt1"/>
                </a:solidFill>
              </a:rPr>
              <a:t>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Resume Book </a:t>
            </a:r>
            <a:r>
              <a:rPr lang="en" sz="1288" u="sng">
                <a:solidFill>
                  <a:srgbClr val="0E101A"/>
                </a:solidFill>
                <a:highlight>
                  <a:schemeClr val="lt1"/>
                </a:highlight>
                <a:hlinkClick r:id="rId12">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Follow: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@CornellBitcoin on Twitter</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@CornellBitcoinClub on Instagram</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 Bitcoin Club on LinkedIn</a:t>
            </a:r>
            <a:endParaRPr sz="1288">
              <a:solidFill>
                <a:schemeClr val="lt1"/>
              </a:solidFill>
            </a:endParaRPr>
          </a:p>
        </p:txBody>
      </p:sp>
      <p:pic>
        <p:nvPicPr>
          <p:cNvPr id="193" name="Google Shape;193;p28"/>
          <p:cNvPicPr preferRelativeResize="0"/>
          <p:nvPr/>
        </p:nvPicPr>
        <p:blipFill>
          <a:blip r:embed="rId13">
            <a:alphaModFix/>
          </a:blip>
          <a:stretch>
            <a:fillRect/>
          </a:stretch>
        </p:blipFill>
        <p:spPr>
          <a:xfrm>
            <a:off x="184150" y="4695625"/>
            <a:ext cx="374483" cy="355476"/>
          </a:xfrm>
          <a:prstGeom prst="rect">
            <a:avLst/>
          </a:prstGeom>
          <a:noFill/>
          <a:ln>
            <a:noFill/>
          </a:ln>
        </p:spPr>
      </p:pic>
      <p:pic>
        <p:nvPicPr>
          <p:cNvPr id="194" name="Google Shape;194;p28"/>
          <p:cNvPicPr preferRelativeResize="0"/>
          <p:nvPr/>
        </p:nvPicPr>
        <p:blipFill>
          <a:blip r:embed="rId1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98" name="Shape 198"/>
        <p:cNvGrpSpPr/>
        <p:nvPr/>
      </p:nvGrpSpPr>
      <p:grpSpPr>
        <a:xfrm>
          <a:off x="0" y="0"/>
          <a:ext cx="0" cy="0"/>
          <a:chOff x="0" y="0"/>
          <a:chExt cx="0" cy="0"/>
        </a:xfrm>
      </p:grpSpPr>
      <p:sp>
        <p:nvSpPr>
          <p:cNvPr id="199" name="Google Shape;199;p29"/>
          <p:cNvSpPr txBox="1"/>
          <p:nvPr>
            <p:ph type="title"/>
          </p:nvPr>
        </p:nvSpPr>
        <p:spPr>
          <a:xfrm>
            <a:off x="460950" y="1590000"/>
            <a:ext cx="8222100" cy="1963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t>Thank you!</a:t>
            </a:r>
            <a:endParaRPr b="1" sz="6000">
              <a:solidFill>
                <a:schemeClr val="lt1"/>
              </a:solidFill>
            </a:endParaRPr>
          </a:p>
        </p:txBody>
      </p:sp>
      <p:pic>
        <p:nvPicPr>
          <p:cNvPr id="200" name="Google Shape;200;p29"/>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201" name="Google Shape;201;p29"/>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