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144000"/>
  <p:embeddedFontLst>
    <p:embeddedFont>
      <p:font typeface="Proxima Nova"/>
      <p:regular r:id="rId25"/>
      <p:bold r:id="rId26"/>
      <p:italic r:id="rId27"/>
      <p:boldItalic r:id="rId28"/>
    </p:embeddedFont>
    <p:embeddedFont>
      <p:font typeface="Roboto"/>
      <p:regular r:id="rId29"/>
      <p:bold r:id="rId30"/>
      <p:italic r:id="rId31"/>
      <p:boldItalic r:id="rId32"/>
    </p:embeddedFont>
    <p:embeddedFont>
      <p:font typeface="Proxima Nova Semibold"/>
      <p:regular r:id="rId33"/>
      <p:bold r:id="rId34"/>
      <p:boldItalic r:id="rId35"/>
    </p:embeddedFont>
    <p:embeddedFont>
      <p:font typeface="Barlow"/>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roximaNova-bold.fntdata"/><Relationship Id="rId25" Type="http://schemas.openxmlformats.org/officeDocument/2006/relationships/font" Target="fonts/ProximaNova-regular.fntdata"/><Relationship Id="rId28" Type="http://schemas.openxmlformats.org/officeDocument/2006/relationships/font" Target="fonts/ProximaNova-boldItalic.fntdata"/><Relationship Id="rId27" Type="http://schemas.openxmlformats.org/officeDocument/2006/relationships/font" Target="fonts/ProximaNova-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oboto-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italic.fntdata"/><Relationship Id="rId30" Type="http://schemas.openxmlformats.org/officeDocument/2006/relationships/font" Target="fonts/Roboto-bold.fntdata"/><Relationship Id="rId11" Type="http://schemas.openxmlformats.org/officeDocument/2006/relationships/slide" Target="slides/slide5.xml"/><Relationship Id="rId33" Type="http://schemas.openxmlformats.org/officeDocument/2006/relationships/font" Target="fonts/ProximaNovaSemibold-regular.fntdata"/><Relationship Id="rId10" Type="http://schemas.openxmlformats.org/officeDocument/2006/relationships/slide" Target="slides/slide4.xml"/><Relationship Id="rId32" Type="http://schemas.openxmlformats.org/officeDocument/2006/relationships/font" Target="fonts/Roboto-boldItalic.fntdata"/><Relationship Id="rId13" Type="http://schemas.openxmlformats.org/officeDocument/2006/relationships/slide" Target="slides/slide7.xml"/><Relationship Id="rId35" Type="http://schemas.openxmlformats.org/officeDocument/2006/relationships/font" Target="fonts/ProximaNovaSemibold-boldItalic.fntdata"/><Relationship Id="rId12" Type="http://schemas.openxmlformats.org/officeDocument/2006/relationships/slide" Target="slides/slide6.xml"/><Relationship Id="rId34" Type="http://schemas.openxmlformats.org/officeDocument/2006/relationships/font" Target="fonts/ProximaNovaSemibold-bold.fntdata"/><Relationship Id="rId15" Type="http://schemas.openxmlformats.org/officeDocument/2006/relationships/slide" Target="slides/slide9.xml"/><Relationship Id="rId37" Type="http://schemas.openxmlformats.org/officeDocument/2006/relationships/font" Target="fonts/Barlow-bold.fntdata"/><Relationship Id="rId14" Type="http://schemas.openxmlformats.org/officeDocument/2006/relationships/slide" Target="slides/slide8.xml"/><Relationship Id="rId36" Type="http://schemas.openxmlformats.org/officeDocument/2006/relationships/font" Target="fonts/Barlow-regular.fntdata"/><Relationship Id="rId17" Type="http://schemas.openxmlformats.org/officeDocument/2006/relationships/slide" Target="slides/slide11.xml"/><Relationship Id="rId39" Type="http://schemas.openxmlformats.org/officeDocument/2006/relationships/font" Target="fonts/Barlow-boldItalic.fntdata"/><Relationship Id="rId16" Type="http://schemas.openxmlformats.org/officeDocument/2006/relationships/slide" Target="slides/slide10.xml"/><Relationship Id="rId38" Type="http://schemas.openxmlformats.org/officeDocument/2006/relationships/font" Target="fonts/Barlow-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plus.plus/hash"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0ba6cb8a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0ba6cb8a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0db5a2ea9c_2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0db5a2ea9c_2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12556059b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12556059b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12556059bd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12556059bd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12556059b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12556059b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12556059b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12556059b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12556059bd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12556059b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12556059b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12556059b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12556059b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12556059b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12556059b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12556059b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12556059b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12556059b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12556059bd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12556059bd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12556059bd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12556059bd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u="sng">
                <a:solidFill>
                  <a:srgbClr val="1155CC"/>
                </a:solidFill>
                <a:hlinkClick r:id="rId2">
                  <a:extLst>
                    <a:ext uri="{A12FA001-AC4F-418D-AE19-62706E023703}">
                      <ahyp:hlinkClr val="tx"/>
                    </a:ext>
                  </a:extLst>
                </a:hlinkClick>
              </a:rPr>
              <a:t>https://dplus.plus/hash</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12556059bd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12556059bd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https://dplus.plus/mine.html</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12556059bd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12556059bd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0ba6cb8af5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0ba6cb8af5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0ba6cb8af5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0ba6cb8af5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0ba6cb8af5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0ba6cb8af5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54" name="Shape 54"/>
        <p:cNvGrpSpPr/>
        <p:nvPr/>
      </p:nvGrpSpPr>
      <p:grpSpPr>
        <a:xfrm>
          <a:off x="0" y="0"/>
          <a:ext cx="0" cy="0"/>
          <a:chOff x="0" y="0"/>
          <a:chExt cx="0" cy="0"/>
        </a:xfrm>
      </p:grpSpPr>
      <p:sp>
        <p:nvSpPr>
          <p:cNvPr id="55" name="Google Shape;55;p14"/>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4"/>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4"/>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8" name="Google Shape;58;p14"/>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59" name="Google Shape;59;p1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5"/>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62" name="Google Shape;62;p1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6"/>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6"/>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67" name="Google Shape;67;p1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8" name="Google Shape;68;p1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69" name="Google Shape;69;p1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70" name="Shape 70"/>
        <p:cNvGrpSpPr/>
        <p:nvPr/>
      </p:nvGrpSpPr>
      <p:grpSpPr>
        <a:xfrm>
          <a:off x="0" y="0"/>
          <a:ext cx="0" cy="0"/>
          <a:chOff x="0" y="0"/>
          <a:chExt cx="0" cy="0"/>
        </a:xfrm>
      </p:grpSpPr>
      <p:sp>
        <p:nvSpPr>
          <p:cNvPr id="71" name="Google Shape;71;p17"/>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74" name="Google Shape;74;p17"/>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5" name="Google Shape;75;p17"/>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76" name="Google Shape;76;p1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77" name="Google Shape;77;p17"/>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78" name="Shape 78"/>
        <p:cNvGrpSpPr/>
        <p:nvPr/>
      </p:nvGrpSpPr>
      <p:grpSpPr>
        <a:xfrm>
          <a:off x="0" y="0"/>
          <a:ext cx="0" cy="0"/>
          <a:chOff x="0" y="0"/>
          <a:chExt cx="0" cy="0"/>
        </a:xfrm>
      </p:grpSpPr>
      <p:sp>
        <p:nvSpPr>
          <p:cNvPr id="79" name="Google Shape;79;p18"/>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8"/>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8"/>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2" name="Google Shape;82;p1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83" name="Google Shape;83;p18"/>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4" name="Shape 84"/>
        <p:cNvGrpSpPr/>
        <p:nvPr/>
      </p:nvGrpSpPr>
      <p:grpSpPr>
        <a:xfrm>
          <a:off x="0" y="0"/>
          <a:ext cx="0" cy="0"/>
          <a:chOff x="0" y="0"/>
          <a:chExt cx="0" cy="0"/>
        </a:xfrm>
      </p:grpSpPr>
      <p:sp>
        <p:nvSpPr>
          <p:cNvPr id="85" name="Google Shape;85;p19"/>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9"/>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8" name="Google Shape;88;p19"/>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89" name="Google Shape;89;p1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90" name="Shape 90"/>
        <p:cNvGrpSpPr/>
        <p:nvPr/>
      </p:nvGrpSpPr>
      <p:grpSpPr>
        <a:xfrm>
          <a:off x="0" y="0"/>
          <a:ext cx="0" cy="0"/>
          <a:chOff x="0" y="0"/>
          <a:chExt cx="0" cy="0"/>
        </a:xfrm>
      </p:grpSpPr>
      <p:sp>
        <p:nvSpPr>
          <p:cNvPr id="91" name="Google Shape;91;p20"/>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92" name="Google Shape;92;p2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3" name="Shape 93"/>
        <p:cNvGrpSpPr/>
        <p:nvPr/>
      </p:nvGrpSpPr>
      <p:grpSpPr>
        <a:xfrm>
          <a:off x="0" y="0"/>
          <a:ext cx="0" cy="0"/>
          <a:chOff x="0" y="0"/>
          <a:chExt cx="0" cy="0"/>
        </a:xfrm>
      </p:grpSpPr>
      <p:sp>
        <p:nvSpPr>
          <p:cNvPr id="94" name="Google Shape;94;p21"/>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1"/>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97" name="Google Shape;97;p21"/>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8" name="Google Shape;98;p21"/>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99" name="Google Shape;99;p2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0" name="Shape 100"/>
        <p:cNvGrpSpPr/>
        <p:nvPr/>
      </p:nvGrpSpPr>
      <p:grpSpPr>
        <a:xfrm>
          <a:off x="0" y="0"/>
          <a:ext cx="0" cy="0"/>
          <a:chOff x="0" y="0"/>
          <a:chExt cx="0" cy="0"/>
        </a:xfrm>
      </p:grpSpPr>
      <p:sp>
        <p:nvSpPr>
          <p:cNvPr id="101" name="Google Shape;101;p22"/>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2"/>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2"/>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104" name="Google Shape;104;p2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105" name="Shape 105"/>
        <p:cNvGrpSpPr/>
        <p:nvPr/>
      </p:nvGrpSpPr>
      <p:grpSpPr>
        <a:xfrm>
          <a:off x="0" y="0"/>
          <a:ext cx="0" cy="0"/>
          <a:chOff x="0" y="0"/>
          <a:chExt cx="0" cy="0"/>
        </a:xfrm>
      </p:grpSpPr>
      <p:sp>
        <p:nvSpPr>
          <p:cNvPr id="106" name="Google Shape;106;p23"/>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107" name="Google Shape;107;p23"/>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108" name="Google Shape;108;p2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109" name="Shape 109"/>
        <p:cNvGrpSpPr/>
        <p:nvPr/>
      </p:nvGrpSpPr>
      <p:grpSpPr>
        <a:xfrm>
          <a:off x="0" y="0"/>
          <a:ext cx="0" cy="0"/>
          <a:chOff x="0" y="0"/>
          <a:chExt cx="0" cy="0"/>
        </a:xfrm>
      </p:grpSpPr>
      <p:sp>
        <p:nvSpPr>
          <p:cNvPr id="110" name="Google Shape;110;p2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52" name="Google Shape;52;p13"/>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53" name="Google Shape;53;p13"/>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5.xml"/><Relationship Id="rId3" Type="http://schemas.openxmlformats.org/officeDocument/2006/relationships/hyperlink" Target="https://www.bitcoinjenga.com/hom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3.png"/><Relationship Id="rId5" Type="http://schemas.openxmlformats.org/officeDocument/2006/relationships/image" Target="../media/image8.png"/></Relationships>
</file>

<file path=ppt/slides/_rels/slide17.xml.rels><?xml version="1.0" encoding="UTF-8" standalone="yes"?><Relationships xmlns="http://schemas.openxmlformats.org/package/2006/relationships"><Relationship Id="rId11" Type="http://schemas.openxmlformats.org/officeDocument/2006/relationships/hyperlink" Target="https://forms.gle/yjLJ1z4EBJXzBLd49" TargetMode="External"/><Relationship Id="rId10" Type="http://schemas.openxmlformats.org/officeDocument/2006/relationships/hyperlink" Target="https://forms.gle/9HEnoXqodNdaPd7W8" TargetMode="External"/><Relationship Id="rId13" Type="http://schemas.openxmlformats.org/officeDocument/2006/relationships/hyperlink" Target="https://forms.gle/hYj1Gj3LAqcL7Z5CA" TargetMode="External"/><Relationship Id="rId12" Type="http://schemas.openxmlformats.org/officeDocument/2006/relationships/hyperlink" Target="https://open.spotify.com/playlist/0uFt0RJvfh143lVGQbhWHS?si=95193d92e5094f73&amp;pt=2f012d4e97b62c470b68ca9552905422" TargetMode="External"/><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hyperlink" Target="https://forms.gle/ZwUKC8V61m9v6SWcA" TargetMode="External"/><Relationship Id="rId15" Type="http://schemas.openxmlformats.org/officeDocument/2006/relationships/image" Target="../media/image9.png"/><Relationship Id="rId14" Type="http://schemas.openxmlformats.org/officeDocument/2006/relationships/hyperlink" Target="https://forms.gle/xh8JxpqC2XLsb72L7" TargetMode="External"/><Relationship Id="rId5" Type="http://schemas.openxmlformats.org/officeDocument/2006/relationships/image" Target="../media/image10.png"/><Relationship Id="rId6" Type="http://schemas.openxmlformats.org/officeDocument/2006/relationships/hyperlink" Target="https://join.slack.com/t/cornellbitcoinclub/shared_invite/zt-2bnpz3y01-wOxd_f0NcRRZyRNkzznA5Q" TargetMode="External"/><Relationship Id="rId7" Type="http://schemas.openxmlformats.org/officeDocument/2006/relationships/hyperlink" Target="https://calendar.google.com/calendar/u/0?cid=Y184YjI3M2VlZmYzOTIxMWM1OTA2NGVmOTk5YWRhZDIyNzhjMDg2NDkwMDZhYzRjM2QyZjE4M2E4YzgwMDBhYmE4QGdyb3VwLmNhbGVuZGFyLmdvb2dsZS5jb20" TargetMode="External"/><Relationship Id="rId8" Type="http://schemas.openxmlformats.org/officeDocument/2006/relationships/hyperlink" Target="https://forms.gle/R3wBeLyNpq9vbeXn9"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114" name="Shape 114"/>
        <p:cNvGrpSpPr/>
        <p:nvPr/>
      </p:nvGrpSpPr>
      <p:grpSpPr>
        <a:xfrm>
          <a:off x="0" y="0"/>
          <a:ext cx="0" cy="0"/>
          <a:chOff x="0" y="0"/>
          <a:chExt cx="0" cy="0"/>
        </a:xfrm>
      </p:grpSpPr>
      <p:sp>
        <p:nvSpPr>
          <p:cNvPr id="115" name="Google Shape;115;p25"/>
          <p:cNvSpPr txBox="1"/>
          <p:nvPr/>
        </p:nvSpPr>
        <p:spPr>
          <a:xfrm>
            <a:off x="787925" y="3471700"/>
            <a:ext cx="3933300" cy="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#19: November 6, 2024</a:t>
            </a:r>
            <a:endParaRPr sz="1600">
              <a:solidFill>
                <a:schemeClr val="lt1"/>
              </a:solidFill>
              <a:latin typeface="Proxima Nova Semibold"/>
              <a:ea typeface="Proxima Nova Semibold"/>
              <a:cs typeface="Proxima Nova Semibold"/>
              <a:sym typeface="Proxima Nova Semibold"/>
            </a:endParaRPr>
          </a:p>
        </p:txBody>
      </p:sp>
      <p:sp>
        <p:nvSpPr>
          <p:cNvPr id="116" name="Google Shape;116;p25"/>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 Club</a:t>
            </a:r>
            <a:endParaRPr b="1" sz="6000">
              <a:solidFill>
                <a:schemeClr val="lt1"/>
              </a:solidFill>
              <a:latin typeface="Proxima Nova"/>
              <a:ea typeface="Proxima Nova"/>
              <a:cs typeface="Proxima Nova"/>
              <a:sym typeface="Proxima Nova"/>
            </a:endParaRPr>
          </a:p>
        </p:txBody>
      </p:sp>
      <p:pic>
        <p:nvPicPr>
          <p:cNvPr id="117" name="Google Shape;117;p25"/>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123" name="Google Shape;123;p26"/>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pic>
        <p:nvPicPr>
          <p:cNvPr id="124" name="Google Shape;124;p26"/>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Agenda</a:t>
            </a:r>
            <a:endParaRPr/>
          </a:p>
        </p:txBody>
      </p:sp>
      <p:sp>
        <p:nvSpPr>
          <p:cNvPr id="130" name="Google Shape;130;p27"/>
          <p:cNvSpPr txBox="1"/>
          <p:nvPr/>
        </p:nvSpPr>
        <p:spPr>
          <a:xfrm>
            <a:off x="390600" y="1400450"/>
            <a:ext cx="57528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Mining Bitcoin</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Privacy Jenga</a:t>
            </a:r>
            <a:endParaRPr sz="1800">
              <a:solidFill>
                <a:schemeClr val="lt1"/>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How does mining work?</a:t>
            </a:r>
            <a:endParaRPr/>
          </a:p>
        </p:txBody>
      </p:sp>
      <p:sp>
        <p:nvSpPr>
          <p:cNvPr id="136" name="Google Shape;136;p28"/>
          <p:cNvSpPr txBox="1"/>
          <p:nvPr/>
        </p:nvSpPr>
        <p:spPr>
          <a:xfrm>
            <a:off x="390600" y="1400450"/>
            <a:ext cx="5752800" cy="1569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Explain how mining works simply</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How the media portrays mining:</a:t>
            </a:r>
            <a:endParaRPr sz="1800">
              <a:solidFill>
                <a:schemeClr val="lt1"/>
              </a:solidFill>
              <a:latin typeface="Proxima Nova"/>
              <a:ea typeface="Proxima Nova"/>
              <a:cs typeface="Proxima Nova"/>
              <a:sym typeface="Proxima Nova"/>
            </a:endParaRPr>
          </a:p>
          <a:p>
            <a:pPr indent="-342900" lvl="1" marL="9144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Complicated mathematical problems</a:t>
            </a:r>
            <a:endParaRPr sz="1800">
              <a:solidFill>
                <a:schemeClr val="lt1"/>
              </a:solidFill>
              <a:latin typeface="Proxima Nova"/>
              <a:ea typeface="Proxima Nova"/>
              <a:cs typeface="Proxima Nova"/>
              <a:sym typeface="Proxima Nova"/>
            </a:endParaRPr>
          </a:p>
          <a:p>
            <a:pPr indent="-342900" lvl="1" marL="9144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Cryptographic puzzles</a:t>
            </a:r>
            <a:endParaRPr sz="1800">
              <a:solidFill>
                <a:schemeClr val="lt1"/>
              </a:solidFill>
              <a:latin typeface="Proxima Nova"/>
              <a:ea typeface="Proxima Nova"/>
              <a:cs typeface="Proxima Nova"/>
              <a:sym typeface="Proxima Nova"/>
            </a:endParaRPr>
          </a:p>
          <a:p>
            <a:pPr indent="-342900" lvl="1" marL="9144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etc</a:t>
            </a:r>
            <a:endParaRPr sz="1800">
              <a:solidFill>
                <a:schemeClr val="lt1"/>
              </a:solidFill>
              <a:latin typeface="Proxima Nova"/>
              <a:ea typeface="Proxima Nova"/>
              <a:cs typeface="Proxima Nova"/>
              <a:sym typeface="Proxima Nova"/>
            </a:endParaRPr>
          </a:p>
        </p:txBody>
      </p:sp>
      <p:pic>
        <p:nvPicPr>
          <p:cNvPr id="137" name="Google Shape;137;p28"/>
          <p:cNvPicPr preferRelativeResize="0"/>
          <p:nvPr/>
        </p:nvPicPr>
        <p:blipFill>
          <a:blip r:embed="rId3">
            <a:alphaModFix/>
          </a:blip>
          <a:stretch>
            <a:fillRect/>
          </a:stretch>
        </p:blipFill>
        <p:spPr>
          <a:xfrm>
            <a:off x="5571844" y="3043400"/>
            <a:ext cx="2790931" cy="1569901"/>
          </a:xfrm>
          <a:prstGeom prst="rect">
            <a:avLst/>
          </a:prstGeom>
          <a:noFill/>
          <a:ln>
            <a:noFill/>
          </a:ln>
        </p:spPr>
      </p:pic>
      <p:pic>
        <p:nvPicPr>
          <p:cNvPr id="138" name="Google Shape;138;p28"/>
          <p:cNvPicPr preferRelativeResize="0"/>
          <p:nvPr/>
        </p:nvPicPr>
        <p:blipFill>
          <a:blip r:embed="rId4">
            <a:alphaModFix/>
          </a:blip>
          <a:stretch>
            <a:fillRect/>
          </a:stretch>
        </p:blipFill>
        <p:spPr>
          <a:xfrm>
            <a:off x="5664139" y="1169325"/>
            <a:ext cx="2648087" cy="14893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9"/>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4800"/>
              <a:t>Mining is a simple comparison game of two numbers.</a:t>
            </a:r>
            <a:endParaRPr sz="4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Which number is smaller?</a:t>
            </a:r>
            <a:endParaRPr/>
          </a:p>
        </p:txBody>
      </p:sp>
      <p:sp>
        <p:nvSpPr>
          <p:cNvPr id="149" name="Google Shape;149;p30"/>
          <p:cNvSpPr txBox="1"/>
          <p:nvPr/>
        </p:nvSpPr>
        <p:spPr>
          <a:xfrm>
            <a:off x="1695600" y="2219425"/>
            <a:ext cx="57528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4800">
                <a:solidFill>
                  <a:schemeClr val="lt1"/>
                </a:solidFill>
                <a:latin typeface="Proxima Nova"/>
                <a:ea typeface="Proxima Nova"/>
                <a:cs typeface="Proxima Nova"/>
                <a:sym typeface="Proxima Nova"/>
              </a:rPr>
              <a:t>28 vs. 132</a:t>
            </a:r>
            <a:endParaRPr sz="4800">
              <a:solidFill>
                <a:schemeClr val="lt1"/>
              </a:solidFill>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 bit of a harder example</a:t>
            </a:r>
            <a:endParaRPr/>
          </a:p>
        </p:txBody>
      </p:sp>
      <p:sp>
        <p:nvSpPr>
          <p:cNvPr id="155" name="Google Shape;155;p31"/>
          <p:cNvSpPr txBox="1"/>
          <p:nvPr/>
        </p:nvSpPr>
        <p:spPr>
          <a:xfrm>
            <a:off x="787350" y="2229400"/>
            <a:ext cx="74484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chemeClr val="lt1"/>
                </a:solidFill>
                <a:latin typeface="Proxima Nova"/>
                <a:ea typeface="Proxima Nova"/>
                <a:cs typeface="Proxima Nova"/>
                <a:sym typeface="Proxima Nova"/>
              </a:rPr>
              <a:t>37228382834 </a:t>
            </a:r>
            <a:r>
              <a:rPr lang="en" sz="3000">
                <a:solidFill>
                  <a:schemeClr val="lt1"/>
                </a:solidFill>
                <a:latin typeface="Proxima Nova"/>
                <a:ea typeface="Proxima Nova"/>
                <a:cs typeface="Proxima Nova"/>
                <a:sym typeface="Proxima Nova"/>
              </a:rPr>
              <a:t>vs. 3787342892</a:t>
            </a:r>
            <a:endParaRPr sz="3000">
              <a:solidFill>
                <a:schemeClr val="lt1"/>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 bit of a harder example</a:t>
            </a:r>
            <a:endParaRPr/>
          </a:p>
        </p:txBody>
      </p:sp>
      <p:sp>
        <p:nvSpPr>
          <p:cNvPr id="161" name="Google Shape;161;p32"/>
          <p:cNvSpPr txBox="1"/>
          <p:nvPr/>
        </p:nvSpPr>
        <p:spPr>
          <a:xfrm>
            <a:off x="787350" y="2229400"/>
            <a:ext cx="74484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chemeClr val="lt1"/>
                </a:solidFill>
                <a:latin typeface="Proxima Nova"/>
                <a:ea typeface="Proxima Nova"/>
                <a:cs typeface="Proxima Nova"/>
                <a:sym typeface="Proxima Nova"/>
              </a:rPr>
              <a:t>37228382834 </a:t>
            </a:r>
            <a:endParaRPr sz="3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3000">
                <a:solidFill>
                  <a:schemeClr val="lt1"/>
                </a:solidFill>
                <a:latin typeface="Proxima Nova"/>
                <a:ea typeface="Proxima Nova"/>
                <a:cs typeface="Proxima Nova"/>
                <a:sym typeface="Proxima Nova"/>
              </a:rPr>
              <a:t>  3787342892</a:t>
            </a:r>
            <a:endParaRPr sz="3000">
              <a:solidFill>
                <a:schemeClr val="lt1"/>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 bit of a harder example</a:t>
            </a:r>
            <a:endParaRPr/>
          </a:p>
        </p:txBody>
      </p:sp>
      <p:sp>
        <p:nvSpPr>
          <p:cNvPr id="167" name="Google Shape;167;p33"/>
          <p:cNvSpPr txBox="1"/>
          <p:nvPr/>
        </p:nvSpPr>
        <p:spPr>
          <a:xfrm>
            <a:off x="787350" y="2229400"/>
            <a:ext cx="74484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3000">
                <a:solidFill>
                  <a:schemeClr val="lt1"/>
                </a:solidFill>
                <a:latin typeface="Proxima Nova"/>
                <a:ea typeface="Proxima Nova"/>
                <a:cs typeface="Proxima Nova"/>
                <a:sym typeface="Proxima Nova"/>
              </a:rPr>
              <a:t>37228382834 </a:t>
            </a:r>
            <a:endParaRPr sz="3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3000">
                <a:solidFill>
                  <a:schemeClr val="lt1"/>
                </a:solidFill>
                <a:latin typeface="Proxima Nova"/>
                <a:ea typeface="Proxima Nova"/>
                <a:cs typeface="Proxima Nova"/>
                <a:sym typeface="Proxima Nova"/>
              </a:rPr>
              <a:t>03787342892</a:t>
            </a:r>
            <a:endParaRPr sz="3000">
              <a:solidFill>
                <a:schemeClr val="lt1"/>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Which number is smaller?</a:t>
            </a:r>
            <a:endParaRPr/>
          </a:p>
        </p:txBody>
      </p:sp>
      <p:sp>
        <p:nvSpPr>
          <p:cNvPr id="173" name="Google Shape;173;p34"/>
          <p:cNvSpPr txBox="1"/>
          <p:nvPr/>
        </p:nvSpPr>
        <p:spPr>
          <a:xfrm>
            <a:off x="787350" y="2229400"/>
            <a:ext cx="74484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3d2e9b1fad0d15a679e033a1c2fa645e7a47a3d08e4ac6 VS.</a:t>
            </a:r>
            <a:endParaRPr sz="18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007d0f2c98a1f4b4ad3e8af6b89f2c4620de2e76f8e9f5f</a:t>
            </a:r>
            <a:endParaRPr sz="1800">
              <a:solidFill>
                <a:schemeClr val="lt1"/>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5"/>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Hashing</a:t>
            </a:r>
            <a:endParaRPr/>
          </a:p>
        </p:txBody>
      </p:sp>
      <p:sp>
        <p:nvSpPr>
          <p:cNvPr id="179" name="Google Shape;179;p35"/>
          <p:cNvSpPr txBox="1"/>
          <p:nvPr/>
        </p:nvSpPr>
        <p:spPr>
          <a:xfrm>
            <a:off x="440550" y="901075"/>
            <a:ext cx="8019900" cy="26781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A mathematical function that takes something in and spits something out. </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The input can be anything</a:t>
            </a:r>
            <a:endParaRPr sz="1800">
              <a:solidFill>
                <a:schemeClr val="lt1"/>
              </a:solidFill>
              <a:latin typeface="Proxima Nova"/>
              <a:ea typeface="Proxima Nova"/>
              <a:cs typeface="Proxima Nova"/>
              <a:sym typeface="Proxima Nova"/>
            </a:endParaRPr>
          </a:p>
          <a:p>
            <a:pPr indent="-342900" lvl="1" marL="9144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A word</a:t>
            </a:r>
            <a:endParaRPr sz="1800">
              <a:solidFill>
                <a:schemeClr val="lt1"/>
              </a:solidFill>
              <a:latin typeface="Proxima Nova"/>
              <a:ea typeface="Proxima Nova"/>
              <a:cs typeface="Proxima Nova"/>
              <a:sym typeface="Proxima Nova"/>
            </a:endParaRPr>
          </a:p>
          <a:p>
            <a:pPr indent="-342900" lvl="1" marL="9144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A sentence</a:t>
            </a:r>
            <a:endParaRPr sz="1800">
              <a:solidFill>
                <a:schemeClr val="lt1"/>
              </a:solidFill>
              <a:latin typeface="Proxima Nova"/>
              <a:ea typeface="Proxima Nova"/>
              <a:cs typeface="Proxima Nova"/>
              <a:sym typeface="Proxima Nova"/>
            </a:endParaRPr>
          </a:p>
          <a:p>
            <a:pPr indent="-342900" lvl="1" marL="9144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A photo</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T</a:t>
            </a:r>
            <a:r>
              <a:rPr lang="en" sz="1800">
                <a:solidFill>
                  <a:schemeClr val="lt1"/>
                </a:solidFill>
                <a:latin typeface="Proxima Nova"/>
                <a:ea typeface="Proxima Nova"/>
                <a:cs typeface="Proxima Nova"/>
                <a:sym typeface="Proxima Nova"/>
              </a:rPr>
              <a:t>he output will always be of fixed length</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Analogy:</a:t>
            </a:r>
            <a:endParaRPr sz="1800">
              <a:solidFill>
                <a:schemeClr val="lt1"/>
              </a:solidFill>
              <a:latin typeface="Proxima Nova"/>
              <a:ea typeface="Proxima Nova"/>
              <a:cs typeface="Proxima Nova"/>
              <a:sym typeface="Proxima Nova"/>
            </a:endParaRPr>
          </a:p>
          <a:p>
            <a:pPr indent="-342900" lvl="1" marL="9144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Falling through a trapped door</a:t>
            </a:r>
            <a:endParaRPr sz="1800">
              <a:solidFill>
                <a:schemeClr val="lt1"/>
              </a:solidFill>
              <a:latin typeface="Proxima Nova"/>
              <a:ea typeface="Proxima Nova"/>
              <a:cs typeface="Proxima Nova"/>
              <a:sym typeface="Proxima Nova"/>
            </a:endParaRPr>
          </a:p>
          <a:p>
            <a:pPr indent="-342900" lvl="1" marL="9144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Blending a smoothie</a:t>
            </a:r>
            <a:endParaRPr sz="1800">
              <a:solidFill>
                <a:schemeClr val="lt1"/>
              </a:solidFill>
              <a:latin typeface="Proxima Nova"/>
              <a:ea typeface="Proxima Nova"/>
              <a:cs typeface="Proxima Nova"/>
              <a:sym typeface="Proxima Nova"/>
            </a:endParaRPr>
          </a:p>
        </p:txBody>
      </p:sp>
      <p:sp>
        <p:nvSpPr>
          <p:cNvPr id="180" name="Google Shape;180;p35"/>
          <p:cNvSpPr txBox="1"/>
          <p:nvPr/>
        </p:nvSpPr>
        <p:spPr>
          <a:xfrm>
            <a:off x="562050" y="4049675"/>
            <a:ext cx="8019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lt1"/>
                </a:solidFill>
                <a:latin typeface="Proxima Nova"/>
                <a:ea typeface="Proxima Nova"/>
                <a:cs typeface="Proxima Nova"/>
                <a:sym typeface="Proxima Nova"/>
              </a:rPr>
              <a:t>A unique identifier to data</a:t>
            </a:r>
            <a:endParaRPr sz="1800">
              <a:solidFill>
                <a:schemeClr val="lt1"/>
              </a:solidFill>
              <a:latin typeface="Proxima Nova"/>
              <a:ea typeface="Proxima Nova"/>
              <a:cs typeface="Proxima Nova"/>
              <a:sym typeface="Proxima Nova"/>
            </a:endParaRPr>
          </a:p>
        </p:txBody>
      </p:sp>
      <p:pic>
        <p:nvPicPr>
          <p:cNvPr id="181" name="Google Shape;181;p35"/>
          <p:cNvPicPr preferRelativeResize="0"/>
          <p:nvPr/>
        </p:nvPicPr>
        <p:blipFill>
          <a:blip r:embed="rId3">
            <a:alphaModFix/>
          </a:blip>
          <a:stretch>
            <a:fillRect/>
          </a:stretch>
        </p:blipFill>
        <p:spPr>
          <a:xfrm>
            <a:off x="5048450" y="2955925"/>
            <a:ext cx="1686025" cy="963450"/>
          </a:xfrm>
          <a:prstGeom prst="rect">
            <a:avLst/>
          </a:prstGeom>
          <a:noFill/>
          <a:ln>
            <a:noFill/>
          </a:ln>
        </p:spPr>
      </p:pic>
      <p:pic>
        <p:nvPicPr>
          <p:cNvPr id="182" name="Google Shape;182;p35"/>
          <p:cNvPicPr preferRelativeResize="0"/>
          <p:nvPr/>
        </p:nvPicPr>
        <p:blipFill>
          <a:blip r:embed="rId4">
            <a:alphaModFix/>
          </a:blip>
          <a:stretch>
            <a:fillRect/>
          </a:stretch>
        </p:blipFill>
        <p:spPr>
          <a:xfrm>
            <a:off x="7535600" y="2873687"/>
            <a:ext cx="1503900" cy="1127925"/>
          </a:xfrm>
          <a:prstGeom prst="rect">
            <a:avLst/>
          </a:prstGeom>
          <a:noFill/>
          <a:ln>
            <a:noFill/>
          </a:ln>
        </p:spPr>
      </p:pic>
      <p:cxnSp>
        <p:nvCxnSpPr>
          <p:cNvPr id="183" name="Google Shape;183;p35"/>
          <p:cNvCxnSpPr/>
          <p:nvPr/>
        </p:nvCxnSpPr>
        <p:spPr>
          <a:xfrm flipH="1" rot="10800000">
            <a:off x="6795575" y="3579175"/>
            <a:ext cx="559200" cy="3000"/>
          </a:xfrm>
          <a:prstGeom prst="straightConnector1">
            <a:avLst/>
          </a:prstGeom>
          <a:noFill/>
          <a:ln cap="flat" cmpd="sng" w="28575">
            <a:solidFill>
              <a:schemeClr val="lt1"/>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6"/>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3600"/>
              <a:t>Bitcoin uses SHA-256</a:t>
            </a:r>
            <a:endParaRPr sz="3600"/>
          </a:p>
          <a:p>
            <a:pPr indent="0" lvl="0" marL="0" rtl="0" algn="l">
              <a:spcBef>
                <a:spcPts val="0"/>
              </a:spcBef>
              <a:spcAft>
                <a:spcPts val="0"/>
              </a:spcAft>
              <a:buNone/>
            </a:pPr>
            <a:r>
              <a:rPr lang="en" sz="1800"/>
              <a:t>“Secure Hash Algorithm”</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7"/>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4800"/>
              <a:t>Hashing Demo</a:t>
            </a:r>
            <a:endParaRPr sz="4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4800"/>
              <a:t>Mining Demo</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9"/>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Privacy Jenga</a:t>
            </a:r>
            <a:endParaRPr/>
          </a:p>
          <a:p>
            <a:pPr indent="-342900" lvl="0" marL="457200" rtl="0" algn="l">
              <a:spcBef>
                <a:spcPts val="0"/>
              </a:spcBef>
              <a:spcAft>
                <a:spcPts val="0"/>
              </a:spcAft>
              <a:buSzPts val="1800"/>
              <a:buChar char="●"/>
            </a:pPr>
            <a:r>
              <a:rPr lang="en" sz="1800"/>
              <a:t>Integrate best privacy practices into your usage of bitcoin</a:t>
            </a:r>
            <a:endParaRPr sz="1800"/>
          </a:p>
          <a:p>
            <a:pPr indent="-342900" lvl="0" marL="457200" rtl="0" algn="l">
              <a:spcBef>
                <a:spcPts val="0"/>
              </a:spcBef>
              <a:spcAft>
                <a:spcPts val="0"/>
              </a:spcAft>
              <a:buSzPts val="1800"/>
              <a:buChar char="●"/>
            </a:pPr>
            <a:r>
              <a:rPr lang="en" sz="1800" u="sng">
                <a:solidFill>
                  <a:schemeClr val="hlink"/>
                </a:solidFill>
                <a:hlinkClick r:id="rId3"/>
              </a:rPr>
              <a:t>https://www.bitcoinjenga.com/home</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40"/>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209" name="Google Shape;209;p40"/>
          <p:cNvPicPr preferRelativeResize="0"/>
          <p:nvPr/>
        </p:nvPicPr>
        <p:blipFill>
          <a:blip r:embed="rId4">
            <a:alphaModFix/>
          </a:blip>
          <a:stretch>
            <a:fillRect/>
          </a:stretch>
        </p:blipFill>
        <p:spPr>
          <a:xfrm>
            <a:off x="0" y="0"/>
            <a:ext cx="9144001" cy="5143500"/>
          </a:xfrm>
          <a:prstGeom prst="rect">
            <a:avLst/>
          </a:prstGeom>
          <a:noFill/>
          <a:ln>
            <a:noFill/>
          </a:ln>
        </p:spPr>
      </p:pic>
      <p:sp>
        <p:nvSpPr>
          <p:cNvPr id="210" name="Google Shape;210;p40"/>
          <p:cNvSpPr txBox="1"/>
          <p:nvPr/>
        </p:nvSpPr>
        <p:spPr>
          <a:xfrm>
            <a:off x="217175" y="9872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Attendance</a:t>
            </a:r>
            <a:endParaRPr/>
          </a:p>
        </p:txBody>
      </p:sp>
      <p:pic>
        <p:nvPicPr>
          <p:cNvPr id="211" name="Google Shape;211;p40"/>
          <p:cNvPicPr preferRelativeResize="0"/>
          <p:nvPr/>
        </p:nvPicPr>
        <p:blipFill rotWithShape="1">
          <a:blip r:embed="rId5">
            <a:alphaModFix/>
          </a:blip>
          <a:srcRect b="31503" l="6111" r="6834" t="3274"/>
          <a:stretch/>
        </p:blipFill>
        <p:spPr>
          <a:xfrm>
            <a:off x="3356325" y="1531675"/>
            <a:ext cx="2615675" cy="2752300"/>
          </a:xfrm>
          <a:prstGeom prst="rect">
            <a:avLst/>
          </a:prstGeom>
          <a:noFill/>
          <a:ln>
            <a:noFill/>
          </a:ln>
        </p:spPr>
      </p:pic>
      <p:pic>
        <p:nvPicPr>
          <p:cNvPr id="212" name="Google Shape;212;p40"/>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41"/>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18" name="Google Shape;218;p41"/>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219" name="Google Shape;219;p41"/>
          <p:cNvPicPr preferRelativeResize="0"/>
          <p:nvPr/>
        </p:nvPicPr>
        <p:blipFill>
          <a:blip r:embed="rId5">
            <a:alphaModFix/>
          </a:blip>
          <a:stretch>
            <a:fillRect/>
          </a:stretch>
        </p:blipFill>
        <p:spPr>
          <a:xfrm>
            <a:off x="0" y="0"/>
            <a:ext cx="9144000" cy="5143500"/>
          </a:xfrm>
          <a:prstGeom prst="rect">
            <a:avLst/>
          </a:prstGeom>
          <a:noFill/>
          <a:ln>
            <a:noFill/>
          </a:ln>
        </p:spPr>
      </p:pic>
      <p:sp>
        <p:nvSpPr>
          <p:cNvPr id="220" name="Google Shape;220;p41"/>
          <p:cNvSpPr txBox="1"/>
          <p:nvPr/>
        </p:nvSpPr>
        <p:spPr>
          <a:xfrm>
            <a:off x="819400" y="322125"/>
            <a:ext cx="4195800" cy="43431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0"/>
              </a:spcAft>
              <a:buNone/>
            </a:pPr>
            <a:r>
              <a:rPr b="1" lang="en" sz="1288">
                <a:solidFill>
                  <a:schemeClr val="lt1"/>
                </a:solidFill>
                <a:latin typeface="Proxima Nova"/>
                <a:ea typeface="Proxima Nova"/>
                <a:cs typeface="Proxima Nova"/>
                <a:sym typeface="Proxima Nova"/>
              </a:rPr>
              <a:t>Join: </a:t>
            </a:r>
            <a:endParaRPr b="1" sz="1288">
              <a:solidFill>
                <a:schemeClr val="lt1"/>
              </a:solidFill>
              <a:latin typeface="Proxima Nova"/>
              <a:ea typeface="Proxima Nova"/>
              <a:cs typeface="Proxima Nova"/>
              <a:sym typeface="Proxima Nova"/>
            </a:endParaRPr>
          </a:p>
          <a:p>
            <a:pPr indent="-310356" lvl="0" marL="457200" rtl="0" algn="l">
              <a:lnSpc>
                <a:spcPct val="95000"/>
              </a:lnSpc>
              <a:spcBef>
                <a:spcPts val="1200"/>
              </a:spcBef>
              <a:spcAft>
                <a:spcPts val="0"/>
              </a:spcAft>
              <a:buClr>
                <a:schemeClr val="lt1"/>
              </a:buClr>
              <a:buSzPts val="1288"/>
              <a:buFont typeface="Proxima Nova"/>
              <a:buChar char="-"/>
            </a:pPr>
            <a:r>
              <a:rPr lang="en" sz="1288" u="sng">
                <a:solidFill>
                  <a:schemeClr val="lt1"/>
                </a:solidFill>
                <a:latin typeface="Proxima Nova"/>
                <a:ea typeface="Proxima Nova"/>
                <a:cs typeface="Proxima Nova"/>
                <a:sym typeface="Proxima Nova"/>
                <a:hlinkClick r:id="rId6">
                  <a:extLst>
                    <a:ext uri="{A12FA001-AC4F-418D-AE19-62706E023703}">
                      <ahyp:hlinkClr val="tx"/>
                    </a:ext>
                  </a:extLst>
                </a:hlinkClick>
              </a:rPr>
              <a:t>Slack</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u="sng">
                <a:solidFill>
                  <a:schemeClr val="lt1"/>
                </a:solidFill>
                <a:latin typeface="Proxima Nova"/>
                <a:ea typeface="Proxima Nova"/>
                <a:cs typeface="Proxima Nova"/>
                <a:sym typeface="Proxima Nova"/>
                <a:hlinkClick r:id="rId7">
                  <a:extLst>
                    <a:ext uri="{A12FA001-AC4F-418D-AE19-62706E023703}">
                      <ahyp:hlinkClr val="tx"/>
                    </a:ext>
                  </a:extLst>
                </a:hlinkClick>
              </a:rPr>
              <a:t>Gcal</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Twitter (best Bitcoin news source) </a:t>
            </a:r>
            <a:endParaRPr sz="1288">
              <a:solidFill>
                <a:schemeClr val="lt1"/>
              </a:solidFill>
              <a:latin typeface="Proxima Nova"/>
              <a:ea typeface="Proxima Nova"/>
              <a:cs typeface="Proxima Nova"/>
              <a:sym typeface="Proxima Nova"/>
            </a:endParaRPr>
          </a:p>
          <a:p>
            <a:pPr indent="-310356" lvl="1" marL="9144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Put @CornellBitcoin in your bio </a:t>
            </a:r>
            <a:endParaRPr sz="1288">
              <a:solidFill>
                <a:schemeClr val="lt1"/>
              </a:solidFill>
              <a:latin typeface="Proxima Nova"/>
              <a:ea typeface="Proxima Nova"/>
              <a:cs typeface="Proxima Nova"/>
              <a:sym typeface="Proxima Nova"/>
            </a:endParaRPr>
          </a:p>
          <a:p>
            <a:pPr indent="-310356" lvl="1" marL="9144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Add your handle </a:t>
            </a:r>
            <a:r>
              <a:rPr lang="en" sz="1288" u="sng">
                <a:solidFill>
                  <a:srgbClr val="0E101A"/>
                </a:solidFill>
                <a:highlight>
                  <a:schemeClr val="lt1"/>
                </a:highlight>
                <a:latin typeface="Proxima Nova"/>
                <a:ea typeface="Proxima Nova"/>
                <a:cs typeface="Proxima Nova"/>
                <a:sym typeface="Proxima Nova"/>
                <a:hlinkClick r:id="rId8">
                  <a:extLst>
                    <a:ext uri="{A12FA001-AC4F-418D-AE19-62706E023703}">
                      <ahyp:hlinkClr val="tx"/>
                    </a:ext>
                  </a:extLst>
                </a:hlinkClick>
              </a:rPr>
              <a:t>here</a:t>
            </a:r>
            <a:endParaRPr sz="1288">
              <a:solidFill>
                <a:srgbClr val="0E101A"/>
              </a:solidFill>
              <a:highlight>
                <a:schemeClr val="lt1"/>
              </a:highlight>
              <a:latin typeface="Proxima Nova"/>
              <a:ea typeface="Proxima Nova"/>
              <a:cs typeface="Proxima Nova"/>
              <a:sym typeface="Proxima Nova"/>
            </a:endParaRPr>
          </a:p>
          <a:p>
            <a:pPr indent="0" lvl="0" marL="0" rtl="0" algn="l">
              <a:lnSpc>
                <a:spcPct val="95000"/>
              </a:lnSpc>
              <a:spcBef>
                <a:spcPts val="1200"/>
              </a:spcBef>
              <a:spcAft>
                <a:spcPts val="0"/>
              </a:spcAft>
              <a:buNone/>
            </a:pPr>
            <a:r>
              <a:rPr b="1" lang="en" sz="1288">
                <a:solidFill>
                  <a:schemeClr val="lt1"/>
                </a:solidFill>
                <a:latin typeface="Proxima Nova"/>
                <a:ea typeface="Proxima Nova"/>
                <a:cs typeface="Proxima Nova"/>
                <a:sym typeface="Proxima Nova"/>
              </a:rPr>
              <a:t>Forms:</a:t>
            </a:r>
            <a:endParaRPr b="1" sz="1288">
              <a:solidFill>
                <a:schemeClr val="lt1"/>
              </a:solidFill>
              <a:latin typeface="Proxima Nova"/>
              <a:ea typeface="Proxima Nova"/>
              <a:cs typeface="Proxima Nova"/>
              <a:sym typeface="Proxima Nova"/>
            </a:endParaRPr>
          </a:p>
          <a:p>
            <a:pPr indent="-310356" lvl="0" marL="457200" rtl="0" algn="l">
              <a:lnSpc>
                <a:spcPct val="95000"/>
              </a:lnSpc>
              <a:spcBef>
                <a:spcPts val="120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Review the Constitution &amp; sign </a:t>
            </a:r>
            <a:r>
              <a:rPr lang="en" sz="1288" u="sng">
                <a:solidFill>
                  <a:srgbClr val="1A237E"/>
                </a:solidFill>
                <a:highlight>
                  <a:schemeClr val="lt1"/>
                </a:highlight>
                <a:latin typeface="Proxima Nova"/>
                <a:ea typeface="Proxima Nova"/>
                <a:cs typeface="Proxima Nova"/>
                <a:sym typeface="Proxima Nova"/>
                <a:hlinkClick r:id="rId9">
                  <a:extLst>
                    <a:ext uri="{A12FA001-AC4F-418D-AE19-62706E023703}">
                      <ahyp:hlinkClr val="tx"/>
                    </a:ext>
                  </a:extLst>
                </a:hlinkClick>
              </a:rPr>
              <a:t>here</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Fill out interest joining form </a:t>
            </a:r>
            <a:r>
              <a:rPr lang="en" sz="1288" u="sng">
                <a:solidFill>
                  <a:srgbClr val="0E101A"/>
                </a:solidFill>
                <a:highlight>
                  <a:schemeClr val="lt1"/>
                </a:highlight>
                <a:latin typeface="Proxima Nova"/>
                <a:ea typeface="Proxima Nova"/>
                <a:cs typeface="Proxima Nova"/>
                <a:sym typeface="Proxima Nova"/>
                <a:hlinkClick r:id="rId10">
                  <a:extLst>
                    <a:ext uri="{A12FA001-AC4F-418D-AE19-62706E023703}">
                      <ahyp:hlinkClr val="tx"/>
                    </a:ext>
                  </a:extLst>
                </a:hlinkClick>
              </a:rPr>
              <a:t>here</a:t>
            </a:r>
            <a:r>
              <a:rPr lang="en" sz="1288">
                <a:solidFill>
                  <a:schemeClr val="lt1"/>
                </a:solidFill>
                <a:latin typeface="Proxima Nova"/>
                <a:ea typeface="Proxima Nova"/>
                <a:cs typeface="Proxima Nova"/>
                <a:sym typeface="Proxima Nova"/>
              </a:rPr>
              <a:t> (if haven’t already) </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Suggest topics </a:t>
            </a:r>
            <a:r>
              <a:rPr lang="en" sz="1288" u="sng">
                <a:solidFill>
                  <a:srgbClr val="0E101A"/>
                </a:solidFill>
                <a:highlight>
                  <a:schemeClr val="lt1"/>
                </a:highlight>
                <a:latin typeface="Proxima Nova"/>
                <a:ea typeface="Proxima Nova"/>
                <a:cs typeface="Proxima Nova"/>
                <a:sym typeface="Proxima Nova"/>
                <a:hlinkClick r:id="rId11">
                  <a:extLst>
                    <a:ext uri="{A12FA001-AC4F-418D-AE19-62706E023703}">
                      <ahyp:hlinkClr val="tx"/>
                    </a:ext>
                  </a:extLst>
                </a:hlinkClick>
              </a:rPr>
              <a:t>here</a:t>
            </a:r>
            <a:r>
              <a:rPr lang="en" sz="1288">
                <a:solidFill>
                  <a:srgbClr val="0E101A"/>
                </a:solidFill>
                <a:highlight>
                  <a:schemeClr val="lt1"/>
                </a:highlight>
                <a:latin typeface="Proxima Nova"/>
                <a:ea typeface="Proxima Nova"/>
                <a:cs typeface="Proxima Nova"/>
                <a:sym typeface="Proxima Nova"/>
              </a:rPr>
              <a:t> </a:t>
            </a:r>
            <a:endParaRPr b="1" sz="1288">
              <a:solidFill>
                <a:srgbClr val="0E101A"/>
              </a:solidFill>
              <a:highlight>
                <a:schemeClr val="lt1"/>
              </a:highlight>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Club playlist: add favorite songs </a:t>
            </a:r>
            <a:r>
              <a:rPr lang="en" sz="1288" u="sng">
                <a:solidFill>
                  <a:schemeClr val="dk1"/>
                </a:solidFill>
                <a:highlight>
                  <a:schemeClr val="lt1"/>
                </a:highlight>
                <a:latin typeface="Proxima Nova"/>
                <a:ea typeface="Proxima Nova"/>
                <a:cs typeface="Proxima Nova"/>
                <a:sym typeface="Proxima Nova"/>
                <a:hlinkClick r:id="rId12">
                  <a:extLst>
                    <a:ext uri="{A12FA001-AC4F-418D-AE19-62706E023703}">
                      <ahyp:hlinkClr val="tx"/>
                    </a:ext>
                  </a:extLst>
                </a:hlinkClick>
              </a:rPr>
              <a:t>here</a:t>
            </a:r>
            <a:r>
              <a:rPr lang="en" sz="1288">
                <a:solidFill>
                  <a:schemeClr val="dk1"/>
                </a:solidFill>
                <a:highlight>
                  <a:schemeClr val="lt1"/>
                </a:highlight>
                <a:latin typeface="Proxima Nova"/>
                <a:ea typeface="Proxima Nova"/>
                <a:cs typeface="Proxima Nova"/>
                <a:sym typeface="Proxima Nova"/>
              </a:rPr>
              <a:t> </a:t>
            </a:r>
            <a:endParaRPr sz="1288">
              <a:solidFill>
                <a:schemeClr val="dk1"/>
              </a:solidFill>
              <a:highlight>
                <a:schemeClr val="lt1"/>
              </a:highlight>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Add favorite snacks </a:t>
            </a:r>
            <a:r>
              <a:rPr lang="en" sz="1288" u="sng">
                <a:solidFill>
                  <a:srgbClr val="0E101A"/>
                </a:solidFill>
                <a:highlight>
                  <a:schemeClr val="lt1"/>
                </a:highlight>
                <a:latin typeface="Proxima Nova"/>
                <a:ea typeface="Proxima Nova"/>
                <a:cs typeface="Proxima Nova"/>
                <a:sym typeface="Proxima Nova"/>
                <a:hlinkClick r:id="rId13">
                  <a:extLst>
                    <a:ext uri="{A12FA001-AC4F-418D-AE19-62706E023703}">
                      <ahyp:hlinkClr val="tx"/>
                    </a:ext>
                  </a:extLst>
                </a:hlinkClick>
              </a:rPr>
              <a:t>here</a:t>
            </a:r>
            <a:r>
              <a:rPr lang="en" sz="1288">
                <a:solidFill>
                  <a:schemeClr val="lt1"/>
                </a:solidFill>
                <a:latin typeface="Proxima Nova"/>
                <a:ea typeface="Proxima Nova"/>
                <a:cs typeface="Proxima Nova"/>
                <a:sym typeface="Proxima Nova"/>
              </a:rPr>
              <a:t> </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Resume Book </a:t>
            </a:r>
            <a:r>
              <a:rPr lang="en" sz="1288" u="sng">
                <a:solidFill>
                  <a:srgbClr val="0E101A"/>
                </a:solidFill>
                <a:highlight>
                  <a:schemeClr val="lt1"/>
                </a:highlight>
                <a:latin typeface="Proxima Nova"/>
                <a:ea typeface="Proxima Nova"/>
                <a:cs typeface="Proxima Nova"/>
                <a:sym typeface="Proxima Nova"/>
                <a:hlinkClick r:id="rId14">
                  <a:extLst>
                    <a:ext uri="{A12FA001-AC4F-418D-AE19-62706E023703}">
                      <ahyp:hlinkClr val="tx"/>
                    </a:ext>
                  </a:extLst>
                </a:hlinkClick>
              </a:rPr>
              <a:t>here</a:t>
            </a:r>
            <a:endParaRPr sz="1288">
              <a:solidFill>
                <a:srgbClr val="0E101A"/>
              </a:solidFill>
              <a:highlight>
                <a:schemeClr val="lt1"/>
              </a:highlight>
              <a:latin typeface="Proxima Nova"/>
              <a:ea typeface="Proxima Nova"/>
              <a:cs typeface="Proxima Nova"/>
              <a:sym typeface="Proxima Nova"/>
            </a:endParaRPr>
          </a:p>
          <a:p>
            <a:pPr indent="0" lvl="0" marL="0" rtl="0" algn="l">
              <a:lnSpc>
                <a:spcPct val="95000"/>
              </a:lnSpc>
              <a:spcBef>
                <a:spcPts val="1200"/>
              </a:spcBef>
              <a:spcAft>
                <a:spcPts val="0"/>
              </a:spcAft>
              <a:buNone/>
            </a:pPr>
            <a:r>
              <a:rPr b="1" lang="en" sz="1288">
                <a:solidFill>
                  <a:schemeClr val="lt1"/>
                </a:solidFill>
                <a:latin typeface="Proxima Nova"/>
                <a:ea typeface="Proxima Nova"/>
                <a:cs typeface="Proxima Nova"/>
                <a:sym typeface="Proxima Nova"/>
              </a:rPr>
              <a:t>Follow: </a:t>
            </a:r>
            <a:endParaRPr b="1" sz="1288">
              <a:solidFill>
                <a:schemeClr val="lt1"/>
              </a:solidFill>
              <a:latin typeface="Proxima Nova"/>
              <a:ea typeface="Proxima Nova"/>
              <a:cs typeface="Proxima Nova"/>
              <a:sym typeface="Proxima Nova"/>
            </a:endParaRPr>
          </a:p>
          <a:p>
            <a:pPr indent="-310356" lvl="0" marL="457200" rtl="0" algn="l">
              <a:lnSpc>
                <a:spcPct val="95000"/>
              </a:lnSpc>
              <a:spcBef>
                <a:spcPts val="120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@CornellBitcoin on Twitter</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@CornellBitcoinClub on Instagram</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Cornell Bitcoin Club on LinkedIn</a:t>
            </a:r>
            <a:endParaRPr/>
          </a:p>
        </p:txBody>
      </p:sp>
      <p:pic>
        <p:nvPicPr>
          <p:cNvPr id="221" name="Google Shape;221;p41"/>
          <p:cNvPicPr preferRelativeResize="0"/>
          <p:nvPr/>
        </p:nvPicPr>
        <p:blipFill>
          <a:blip r:embed="rId15">
            <a:alphaModFix/>
          </a:blip>
          <a:stretch>
            <a:fillRect/>
          </a:stretch>
        </p:blipFill>
        <p:spPr>
          <a:xfrm>
            <a:off x="4936225" y="1061727"/>
            <a:ext cx="3432100" cy="3331473"/>
          </a:xfrm>
          <a:prstGeom prst="rect">
            <a:avLst/>
          </a:prstGeom>
          <a:noFill/>
          <a:ln>
            <a:noFill/>
          </a:ln>
        </p:spPr>
      </p:pic>
      <p:pic>
        <p:nvPicPr>
          <p:cNvPr id="222" name="Google Shape;222;p41"/>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id="227" name="Google Shape;227;p42"/>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28" name="Google Shape;228;p42"/>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229" name="Google Shape;229;p42"/>
          <p:cNvPicPr preferRelativeResize="0"/>
          <p:nvPr/>
        </p:nvPicPr>
        <p:blipFill>
          <a:blip r:embed="rId5">
            <a:alphaModFix/>
          </a:blip>
          <a:stretch>
            <a:fillRect/>
          </a:stretch>
        </p:blipFill>
        <p:spPr>
          <a:xfrm>
            <a:off x="0" y="0"/>
            <a:ext cx="9144000" cy="5143500"/>
          </a:xfrm>
          <a:prstGeom prst="rect">
            <a:avLst/>
          </a:prstGeom>
          <a:noFill/>
          <a:ln>
            <a:noFill/>
          </a:ln>
        </p:spPr>
      </p:pic>
      <p:sp>
        <p:nvSpPr>
          <p:cNvPr id="230" name="Google Shape;230;p42"/>
          <p:cNvSpPr txBox="1"/>
          <p:nvPr/>
        </p:nvSpPr>
        <p:spPr>
          <a:xfrm>
            <a:off x="460950" y="1590000"/>
            <a:ext cx="8222100" cy="19635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FFFFFF"/>
                </a:solidFill>
                <a:latin typeface="Proxima Nova"/>
                <a:ea typeface="Proxima Nova"/>
                <a:cs typeface="Proxima Nova"/>
                <a:sym typeface="Proxima Nova"/>
              </a:rPr>
              <a:t>Thank you!</a:t>
            </a:r>
            <a:endParaRPr b="1" sz="6000">
              <a:solidFill>
                <a:srgbClr val="FFFFFF"/>
              </a:solidFill>
              <a:latin typeface="Proxima Nova"/>
              <a:ea typeface="Proxima Nova"/>
              <a:cs typeface="Proxima Nova"/>
              <a:sym typeface="Proxima Nova"/>
            </a:endParaRPr>
          </a:p>
        </p:txBody>
      </p:sp>
      <p:pic>
        <p:nvPicPr>
          <p:cNvPr id="231" name="Google Shape;231;p42"/>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